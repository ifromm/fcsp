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408" r:id="rId3"/>
    <p:sldId id="346" r:id="rId4"/>
    <p:sldId id="257" r:id="rId5"/>
    <p:sldId id="307" r:id="rId6"/>
    <p:sldId id="308" r:id="rId7"/>
    <p:sldId id="309" r:id="rId8"/>
    <p:sldId id="409" r:id="rId9"/>
    <p:sldId id="311" r:id="rId10"/>
    <p:sldId id="312" r:id="rId11"/>
    <p:sldId id="313" r:id="rId12"/>
    <p:sldId id="315" r:id="rId13"/>
    <p:sldId id="314" r:id="rId14"/>
    <p:sldId id="316" r:id="rId15"/>
    <p:sldId id="317" r:id="rId16"/>
    <p:sldId id="318" r:id="rId17"/>
    <p:sldId id="410" r:id="rId18"/>
    <p:sldId id="319" r:id="rId19"/>
    <p:sldId id="320" r:id="rId20"/>
    <p:sldId id="321" r:id="rId21"/>
    <p:sldId id="322" r:id="rId22"/>
    <p:sldId id="323" r:id="rId23"/>
    <p:sldId id="327" r:id="rId24"/>
    <p:sldId id="324" r:id="rId25"/>
    <p:sldId id="325" r:id="rId26"/>
    <p:sldId id="326" r:id="rId27"/>
    <p:sldId id="411" r:id="rId28"/>
    <p:sldId id="328" r:id="rId29"/>
    <p:sldId id="329" r:id="rId30"/>
    <p:sldId id="330" r:id="rId31"/>
    <p:sldId id="331" r:id="rId32"/>
    <p:sldId id="412" r:id="rId33"/>
    <p:sldId id="332" r:id="rId34"/>
    <p:sldId id="333" r:id="rId35"/>
    <p:sldId id="334" r:id="rId36"/>
    <p:sldId id="335" r:id="rId37"/>
    <p:sldId id="393" r:id="rId38"/>
    <p:sldId id="401" r:id="rId39"/>
    <p:sldId id="402" r:id="rId40"/>
    <p:sldId id="403" r:id="rId41"/>
    <p:sldId id="413" r:id="rId42"/>
    <p:sldId id="404" r:id="rId43"/>
    <p:sldId id="405" r:id="rId44"/>
    <p:sldId id="406" r:id="rId45"/>
    <p:sldId id="407" r:id="rId46"/>
  </p:sldIdLst>
  <p:sldSz cx="9144000" cy="6858000" type="screen4x3"/>
  <p:notesSz cx="7099300" cy="10234613"/>
  <p:embeddedFontLst>
    <p:embeddedFont>
      <p:font typeface="Blackadder ITC" pitchFamily="82" charset="77"/>
      <p:regular r:id="rId48"/>
    </p:embeddedFont>
    <p:embeddedFont>
      <p:font typeface="Cambria Math" panose="02040503050406030204" pitchFamily="18" charset="0"/>
      <p:regular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7CD"/>
    <a:srgbClr val="D3242A"/>
    <a:srgbClr val="E2F0D9"/>
    <a:srgbClr val="DAE3F3"/>
    <a:srgbClr val="FCECE8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 autoAdjust="0"/>
    <p:restoredTop sz="94562" autoAdjust="0"/>
  </p:normalViewPr>
  <p:slideViewPr>
    <p:cSldViewPr snapToGrid="0">
      <p:cViewPr varScale="1">
        <p:scale>
          <a:sx n="149" d="100"/>
          <a:sy n="149" d="100"/>
        </p:scale>
        <p:origin x="176" y="200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7B267BF3-D29C-422C-BEA8-B809E2F52C7B}"/>
    <pc:docChg chg="modSld">
      <pc:chgData name="Ingo Frommholz" userId="ee3b4549-206f-4e4f-93a1-b7ff676f0af7" providerId="ADAL" clId="{7B267BF3-D29C-422C-BEA8-B809E2F52C7B}" dt="2026-09-29T13:45:51.675" v="3" actId="20577"/>
      <pc:docMkLst>
        <pc:docMk/>
      </pc:docMkLst>
      <pc:sldChg chg="modSp mod">
        <pc:chgData name="Ingo Frommholz" userId="ee3b4549-206f-4e4f-93a1-b7ff676f0af7" providerId="ADAL" clId="{7B267BF3-D29C-422C-BEA8-B809E2F52C7B}" dt="2026-09-29T13:45:51.675" v="3" actId="20577"/>
        <pc:sldMkLst>
          <pc:docMk/>
          <pc:sldMk cId="1451008" sldId="335"/>
        </pc:sldMkLst>
        <pc:spChg chg="mod">
          <ac:chgData name="Ingo Frommholz" userId="ee3b4549-206f-4e4f-93a1-b7ff676f0af7" providerId="ADAL" clId="{7B267BF3-D29C-422C-BEA8-B809E2F52C7B}" dt="2026-09-29T13:45:51.675" v="3" actId="20577"/>
          <ac:spMkLst>
            <pc:docMk/>
            <pc:sldMk cId="1451008" sldId="335"/>
            <ac:spMk id="10" creationId="{1E82E73F-9AD9-40FC-B0B3-CA8107A53E5E}"/>
          </ac:spMkLst>
        </pc:spChg>
      </pc:sldChg>
    </pc:docChg>
  </pc:docChgLst>
  <pc:docChgLst>
    <pc:chgData name="Ingo Frommholz" userId="ee3b4549-206f-4e4f-93a1-b7ff676f0af7" providerId="ADAL" clId="{5F8971C4-3D52-5FAB-A951-9912A46CDBB0}"/>
    <pc:docChg chg="undo custSel modSld">
      <pc:chgData name="Ingo Frommholz" userId="ee3b4549-206f-4e4f-93a1-b7ff676f0af7" providerId="ADAL" clId="{5F8971C4-3D52-5FAB-A951-9912A46CDBB0}" dt="2026-09-30T19:41:43.043" v="64" actId="478"/>
      <pc:docMkLst>
        <pc:docMk/>
      </pc:docMkLst>
      <pc:sldChg chg="modSp mod">
        <pc:chgData name="Ingo Frommholz" userId="ee3b4549-206f-4e4f-93a1-b7ff676f0af7" providerId="ADAL" clId="{5F8971C4-3D52-5FAB-A951-9912A46CDBB0}" dt="2026-09-30T19:36:17.087" v="2" actId="1038"/>
        <pc:sldMkLst>
          <pc:docMk/>
          <pc:sldMk cId="0" sldId="256"/>
        </pc:sldMkLst>
        <pc:picChg chg="mod">
          <ac:chgData name="Ingo Frommholz" userId="ee3b4549-206f-4e4f-93a1-b7ff676f0af7" providerId="ADAL" clId="{5F8971C4-3D52-5FAB-A951-9912A46CDBB0}" dt="2026-09-30T19:36:17.087" v="2" actId="1038"/>
          <ac:picMkLst>
            <pc:docMk/>
            <pc:sldMk cId="0" sldId="256"/>
            <ac:picMk id="78" creationId="{00000000-0000-0000-0000-000000000000}"/>
          </ac:picMkLst>
        </pc:picChg>
      </pc:sldChg>
      <pc:sldChg chg="delSp modSp mod delAnim modAnim">
        <pc:chgData name="Ingo Frommholz" userId="ee3b4549-206f-4e4f-93a1-b7ff676f0af7" providerId="ADAL" clId="{5F8971C4-3D52-5FAB-A951-9912A46CDBB0}" dt="2026-09-30T19:40:58.138" v="52"/>
        <pc:sldMkLst>
          <pc:docMk/>
          <pc:sldMk cId="3755149301" sldId="315"/>
        </pc:sldMkLst>
        <pc:spChg chg="del">
          <ac:chgData name="Ingo Frommholz" userId="ee3b4549-206f-4e4f-93a1-b7ff676f0af7" providerId="ADAL" clId="{5F8971C4-3D52-5FAB-A951-9912A46CDBB0}" dt="2026-09-30T19:40:42.445" v="47" actId="478"/>
          <ac:spMkLst>
            <pc:docMk/>
            <pc:sldMk cId="3755149301" sldId="315"/>
            <ac:spMk id="5" creationId="{33EF1B8D-63FD-4EEA-B303-3A71FFC5E748}"/>
          </ac:spMkLst>
        </pc:spChg>
        <pc:spChg chg="del">
          <ac:chgData name="Ingo Frommholz" userId="ee3b4549-206f-4e4f-93a1-b7ff676f0af7" providerId="ADAL" clId="{5F8971C4-3D52-5FAB-A951-9912A46CDBB0}" dt="2026-09-30T19:40:43.523" v="48" actId="478"/>
          <ac:spMkLst>
            <pc:docMk/>
            <pc:sldMk cId="3755149301" sldId="315"/>
            <ac:spMk id="6" creationId="{9A5AEFFB-553A-4E4F-BF1F-3A339268E2D8}"/>
          </ac:spMkLst>
        </pc:spChg>
        <pc:spChg chg="mod">
          <ac:chgData name="Ingo Frommholz" userId="ee3b4549-206f-4e4f-93a1-b7ff676f0af7" providerId="ADAL" clId="{5F8971C4-3D52-5FAB-A951-9912A46CDBB0}" dt="2026-09-30T19:40:38.419" v="46" actId="20577"/>
          <ac:spMkLst>
            <pc:docMk/>
            <pc:sldMk cId="3755149301" sldId="315"/>
            <ac:spMk id="11" creationId="{13A65EBB-A1A5-407F-BBD0-068D3FAF0CFF}"/>
          </ac:spMkLst>
        </pc:spChg>
        <pc:spChg chg="del">
          <ac:chgData name="Ingo Frommholz" userId="ee3b4549-206f-4e4f-93a1-b7ff676f0af7" providerId="ADAL" clId="{5F8971C4-3D52-5FAB-A951-9912A46CDBB0}" dt="2026-09-30T19:40:44.259" v="49" actId="478"/>
          <ac:spMkLst>
            <pc:docMk/>
            <pc:sldMk cId="3755149301" sldId="315"/>
            <ac:spMk id="12" creationId="{901E0993-4620-4758-BD9E-A52C1629510A}"/>
          </ac:spMkLst>
        </pc:spChg>
      </pc:sldChg>
      <pc:sldChg chg="delSp modSp mod delAnim modAnim">
        <pc:chgData name="Ingo Frommholz" userId="ee3b4549-206f-4e4f-93a1-b7ff676f0af7" providerId="ADAL" clId="{5F8971C4-3D52-5FAB-A951-9912A46CDBB0}" dt="2026-09-30T19:41:08.330" v="60" actId="20577"/>
        <pc:sldMkLst>
          <pc:docMk/>
          <pc:sldMk cId="2329703887" sldId="316"/>
        </pc:sldMkLst>
        <pc:spChg chg="del mod">
          <ac:chgData name="Ingo Frommholz" userId="ee3b4549-206f-4e4f-93a1-b7ff676f0af7" providerId="ADAL" clId="{5F8971C4-3D52-5FAB-A951-9912A46CDBB0}" dt="2026-09-30T19:38:10.940" v="19" actId="478"/>
          <ac:spMkLst>
            <pc:docMk/>
            <pc:sldMk cId="2329703887" sldId="316"/>
            <ac:spMk id="2" creationId="{BAE9629E-B9B7-453A-9A1A-71B368A4AA39}"/>
          </ac:spMkLst>
        </pc:spChg>
        <pc:spChg chg="del">
          <ac:chgData name="Ingo Frommholz" userId="ee3b4549-206f-4e4f-93a1-b7ff676f0af7" providerId="ADAL" clId="{5F8971C4-3D52-5FAB-A951-9912A46CDBB0}" dt="2026-09-30T19:37:14.374" v="11" actId="478"/>
          <ac:spMkLst>
            <pc:docMk/>
            <pc:sldMk cId="2329703887" sldId="316"/>
            <ac:spMk id="5" creationId="{33EF1B8D-63FD-4EEA-B303-3A71FFC5E748}"/>
          </ac:spMkLst>
        </pc:spChg>
        <pc:spChg chg="del">
          <ac:chgData name="Ingo Frommholz" userId="ee3b4549-206f-4e4f-93a1-b7ff676f0af7" providerId="ADAL" clId="{5F8971C4-3D52-5FAB-A951-9912A46CDBB0}" dt="2026-09-30T19:37:15.677" v="12" actId="478"/>
          <ac:spMkLst>
            <pc:docMk/>
            <pc:sldMk cId="2329703887" sldId="316"/>
            <ac:spMk id="6" creationId="{9A5AEFFB-553A-4E4F-BF1F-3A339268E2D8}"/>
          </ac:spMkLst>
        </pc:spChg>
        <pc:spChg chg="mod">
          <ac:chgData name="Ingo Frommholz" userId="ee3b4549-206f-4e4f-93a1-b7ff676f0af7" providerId="ADAL" clId="{5F8971C4-3D52-5FAB-A951-9912A46CDBB0}" dt="2026-09-30T19:41:08.330" v="60" actId="20577"/>
          <ac:spMkLst>
            <pc:docMk/>
            <pc:sldMk cId="2329703887" sldId="316"/>
            <ac:spMk id="11" creationId="{13A65EBB-A1A5-407F-BBD0-068D3FAF0CFF}"/>
          </ac:spMkLst>
        </pc:spChg>
        <pc:spChg chg="del">
          <ac:chgData name="Ingo Frommholz" userId="ee3b4549-206f-4e4f-93a1-b7ff676f0af7" providerId="ADAL" clId="{5F8971C4-3D52-5FAB-A951-9912A46CDBB0}" dt="2026-09-30T19:37:16.671" v="13" actId="478"/>
          <ac:spMkLst>
            <pc:docMk/>
            <pc:sldMk cId="2329703887" sldId="316"/>
            <ac:spMk id="12" creationId="{901E0993-4620-4758-BD9E-A52C1629510A}"/>
          </ac:spMkLst>
        </pc:spChg>
      </pc:sldChg>
      <pc:sldChg chg="delSp modSp mod delAnim modAnim">
        <pc:chgData name="Ingo Frommholz" userId="ee3b4549-206f-4e4f-93a1-b7ff676f0af7" providerId="ADAL" clId="{5F8971C4-3D52-5FAB-A951-9912A46CDBB0}" dt="2026-09-30T19:36:57.105" v="10"/>
        <pc:sldMkLst>
          <pc:docMk/>
          <pc:sldMk cId="4043486984" sldId="318"/>
        </pc:sldMkLst>
        <pc:spChg chg="del">
          <ac:chgData name="Ingo Frommholz" userId="ee3b4549-206f-4e4f-93a1-b7ff676f0af7" providerId="ADAL" clId="{5F8971C4-3D52-5FAB-A951-9912A46CDBB0}" dt="2026-09-30T19:36:28.908" v="4" actId="478"/>
          <ac:spMkLst>
            <pc:docMk/>
            <pc:sldMk cId="4043486984" sldId="318"/>
            <ac:spMk id="5" creationId="{33EF1B8D-63FD-4EEA-B303-3A71FFC5E748}"/>
          </ac:spMkLst>
        </pc:spChg>
        <pc:spChg chg="del">
          <ac:chgData name="Ingo Frommholz" userId="ee3b4549-206f-4e4f-93a1-b7ff676f0af7" providerId="ADAL" clId="{5F8971C4-3D52-5FAB-A951-9912A46CDBB0}" dt="2026-09-30T19:36:28" v="3" actId="478"/>
          <ac:spMkLst>
            <pc:docMk/>
            <pc:sldMk cId="4043486984" sldId="318"/>
            <ac:spMk id="6" creationId="{9A5AEFFB-553A-4E4F-BF1F-3A339268E2D8}"/>
          </ac:spMkLst>
        </pc:spChg>
        <pc:spChg chg="mod">
          <ac:chgData name="Ingo Frommholz" userId="ee3b4549-206f-4e4f-93a1-b7ff676f0af7" providerId="ADAL" clId="{5F8971C4-3D52-5FAB-A951-9912A46CDBB0}" dt="2026-09-30T19:36:30.096" v="5" actId="20577"/>
          <ac:spMkLst>
            <pc:docMk/>
            <pc:sldMk cId="4043486984" sldId="318"/>
            <ac:spMk id="11" creationId="{13A65EBB-A1A5-407F-BBD0-068D3FAF0CFF}"/>
          </ac:spMkLst>
        </pc:spChg>
        <pc:spChg chg="del mod">
          <ac:chgData name="Ingo Frommholz" userId="ee3b4549-206f-4e4f-93a1-b7ff676f0af7" providerId="ADAL" clId="{5F8971C4-3D52-5FAB-A951-9912A46CDBB0}" dt="2026-09-30T19:36:32.256" v="7" actId="478"/>
          <ac:spMkLst>
            <pc:docMk/>
            <pc:sldMk cId="4043486984" sldId="318"/>
            <ac:spMk id="12" creationId="{901E0993-4620-4758-BD9E-A52C1629510A}"/>
          </ac:spMkLst>
        </pc:spChg>
      </pc:sldChg>
      <pc:sldChg chg="delSp modSp mod delAnim modAnim">
        <pc:chgData name="Ingo Frommholz" userId="ee3b4549-206f-4e4f-93a1-b7ff676f0af7" providerId="ADAL" clId="{5F8971C4-3D52-5FAB-A951-9912A46CDBB0}" dt="2026-09-30T19:39:08.839" v="34" actId="20577"/>
        <pc:sldMkLst>
          <pc:docMk/>
          <pc:sldMk cId="1797633994" sldId="326"/>
        </pc:sldMkLst>
        <pc:spChg chg="del">
          <ac:chgData name="Ingo Frommholz" userId="ee3b4549-206f-4e4f-93a1-b7ff676f0af7" providerId="ADAL" clId="{5F8971C4-3D52-5FAB-A951-9912A46CDBB0}" dt="2026-09-30T19:38:41.946" v="21" actId="478"/>
          <ac:spMkLst>
            <pc:docMk/>
            <pc:sldMk cId="1797633994" sldId="326"/>
            <ac:spMk id="5" creationId="{33EF1B8D-63FD-4EEA-B303-3A71FFC5E748}"/>
          </ac:spMkLst>
        </pc:spChg>
        <pc:spChg chg="del">
          <ac:chgData name="Ingo Frommholz" userId="ee3b4549-206f-4e4f-93a1-b7ff676f0af7" providerId="ADAL" clId="{5F8971C4-3D52-5FAB-A951-9912A46CDBB0}" dt="2026-09-30T19:38:42.889" v="22" actId="478"/>
          <ac:spMkLst>
            <pc:docMk/>
            <pc:sldMk cId="1797633994" sldId="326"/>
            <ac:spMk id="6" creationId="{9A5AEFFB-553A-4E4F-BF1F-3A339268E2D8}"/>
          </ac:spMkLst>
        </pc:spChg>
        <pc:spChg chg="mod">
          <ac:chgData name="Ingo Frommholz" userId="ee3b4549-206f-4e4f-93a1-b7ff676f0af7" providerId="ADAL" clId="{5F8971C4-3D52-5FAB-A951-9912A46CDBB0}" dt="2026-09-30T19:39:08.839" v="34" actId="20577"/>
          <ac:spMkLst>
            <pc:docMk/>
            <pc:sldMk cId="1797633994" sldId="326"/>
            <ac:spMk id="11" creationId="{13A65EBB-A1A5-407F-BBD0-068D3FAF0CFF}"/>
          </ac:spMkLst>
        </pc:spChg>
        <pc:spChg chg="del">
          <ac:chgData name="Ingo Frommholz" userId="ee3b4549-206f-4e4f-93a1-b7ff676f0af7" providerId="ADAL" clId="{5F8971C4-3D52-5FAB-A951-9912A46CDBB0}" dt="2026-09-30T19:38:43.882" v="23" actId="478"/>
          <ac:spMkLst>
            <pc:docMk/>
            <pc:sldMk cId="1797633994" sldId="326"/>
            <ac:spMk id="12" creationId="{901E0993-4620-4758-BD9E-A52C1629510A}"/>
          </ac:spMkLst>
        </pc:spChg>
      </pc:sldChg>
      <pc:sldChg chg="delSp modSp mod">
        <pc:chgData name="Ingo Frommholz" userId="ee3b4549-206f-4e4f-93a1-b7ff676f0af7" providerId="ADAL" clId="{5F8971C4-3D52-5FAB-A951-9912A46CDBB0}" dt="2026-09-30T19:41:43.043" v="64" actId="478"/>
        <pc:sldMkLst>
          <pc:docMk/>
          <pc:sldMk cId="2956098148" sldId="331"/>
        </pc:sldMkLst>
        <pc:spChg chg="mod">
          <ac:chgData name="Ingo Frommholz" userId="ee3b4549-206f-4e4f-93a1-b7ff676f0af7" providerId="ADAL" clId="{5F8971C4-3D52-5FAB-A951-9912A46CDBB0}" dt="2026-09-30T19:41:34.562" v="63" actId="1076"/>
          <ac:spMkLst>
            <pc:docMk/>
            <pc:sldMk cId="2956098148" sldId="331"/>
            <ac:spMk id="5" creationId="{0069A3E8-1602-4627-9F24-57C38B6A5E2E}"/>
          </ac:spMkLst>
        </pc:spChg>
        <pc:spChg chg="del mod">
          <ac:chgData name="Ingo Frommholz" userId="ee3b4549-206f-4e4f-93a1-b7ff676f0af7" providerId="ADAL" clId="{5F8971C4-3D52-5FAB-A951-9912A46CDBB0}" dt="2026-09-30T19:41:43.043" v="64" actId="478"/>
          <ac:spMkLst>
            <pc:docMk/>
            <pc:sldMk cId="2956098148" sldId="331"/>
            <ac:spMk id="87" creationId="{00000000-0000-0000-0000-000000000000}"/>
          </ac:spMkLst>
        </pc:spChg>
      </pc:sldChg>
      <pc:sldChg chg="modSp">
        <pc:chgData name="Ingo Frommholz" userId="ee3b4549-206f-4e4f-93a1-b7ff676f0af7" providerId="ADAL" clId="{5F8971C4-3D52-5FAB-A951-9912A46CDBB0}" dt="2026-09-30T19:39:46.174" v="42" actId="20577"/>
        <pc:sldMkLst>
          <pc:docMk/>
          <pc:sldMk cId="2623662279" sldId="404"/>
        </pc:sldMkLst>
        <pc:spChg chg="mod">
          <ac:chgData name="Ingo Frommholz" userId="ee3b4549-206f-4e4f-93a1-b7ff676f0af7" providerId="ADAL" clId="{5F8971C4-3D52-5FAB-A951-9912A46CDBB0}" dt="2026-09-30T19:39:46.174" v="42" actId="20577"/>
          <ac:spMkLst>
            <pc:docMk/>
            <pc:sldMk cId="2623662279" sldId="404"/>
            <ac:spMk id="6" creationId="{339D5007-997B-4D49-9DD6-35427979A6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33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543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5857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3342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4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2453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365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033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926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246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7678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712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8486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6236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391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7610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143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71242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7613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40060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41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2495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621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94602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288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455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60885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1057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9143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3065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44017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3748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70776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6825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8483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9916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46043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06801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29591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0955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58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44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3" Type="http://schemas.openxmlformats.org/officeDocument/2006/relationships/slide" Target="slide3.xml"/><Relationship Id="rId7" Type="http://schemas.openxmlformats.org/officeDocument/2006/relationships/slide" Target="slide3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7.xml"/><Relationship Id="rId5" Type="http://schemas.openxmlformats.org/officeDocument/2006/relationships/slide" Target="slide17.xml"/><Relationship Id="rId10" Type="http://schemas.openxmlformats.org/officeDocument/2006/relationships/slide" Target="slide44.xml"/><Relationship Id="rId4" Type="http://schemas.openxmlformats.org/officeDocument/2006/relationships/slide" Target="slide8.xml"/><Relationship Id="rId9" Type="http://schemas.openxmlformats.org/officeDocument/2006/relationships/slide" Target="slide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23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3078373" y="5302785"/>
            <a:ext cx="2702719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2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Logic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Propositions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Logical operators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Implication and biconditional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Operator precedence and truth tables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Logical equivalence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More on logical equivalence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0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5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Introduction to logic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The rules of logic give precise meaning to mathematical statements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These rules allow to distinguish between valid and invalid arguments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Logic has numerous applications in computer science: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Design of computer circuits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Construction of computer programs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Verification of program correctness</a:t>
            </a:r>
          </a:p>
          <a:p>
            <a:pPr marL="457200" lvl="1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Propositions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599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1: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 proposition is a statement that is either true or false, but not both.</a:t>
            </a:r>
          </a:p>
          <a:p>
            <a:pPr marL="0" indent="0">
              <a:spcBef>
                <a:spcPts val="640"/>
              </a:spcBef>
            </a:pPr>
            <a:endParaRPr lang="en-US" sz="1800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2393491"/>
            <a:ext cx="822960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1: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statements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Vienna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capital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Austria.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Munich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capital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Germany.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2 + 2 = 4.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2 + 3 = 6.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ropositions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1 and 3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whereas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2 and 4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527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Propositions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BAEFC6-E69D-402C-9665-402F39D22AC8}"/>
              </a:ext>
            </a:extLst>
          </p:cNvPr>
          <p:cNvSpPr txBox="1"/>
          <p:nvPr/>
        </p:nvSpPr>
        <p:spPr>
          <a:xfrm>
            <a:off x="457200" y="1605600"/>
            <a:ext cx="8229600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2: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Not all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sentences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carefully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x + 2 = 4.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x + y = 6.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Sentences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1 and 2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statements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Sentences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3 and 4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neither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since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variables in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sentences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(x and y)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been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assigned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119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 bit of notation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BAEFC6-E69D-402C-9665-402F39D22AC8}"/>
              </a:ext>
            </a:extLst>
          </p:cNvPr>
          <p:cNvSpPr txBox="1"/>
          <p:nvPr/>
        </p:nvSpPr>
        <p:spPr>
          <a:xfrm>
            <a:off x="457200" y="16056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letters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denote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p, q, r, s, …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denoted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denoted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F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761850"/>
            <a:ext cx="8229600" cy="248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3: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Truth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36E0692F-5F4F-4193-A526-E5F360E8F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154970"/>
              </p:ext>
            </p:extLst>
          </p:nvPr>
        </p:nvGraphicFramePr>
        <p:xfrm>
          <a:off x="1893806" y="3153418"/>
          <a:ext cx="5492116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8830">
                  <a:extLst>
                    <a:ext uri="{9D8B030D-6E8A-4147-A177-3AD203B41FA5}">
                      <a16:colId xmlns:a16="http://schemas.microsoft.com/office/drawing/2014/main" val="3696566426"/>
                    </a:ext>
                  </a:extLst>
                </a:gridCol>
                <a:gridCol w="3375343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de-AT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Truth </a:t>
                      </a:r>
                      <a:r>
                        <a:rPr lang="de-DE" sz="1800" b="1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value</a:t>
                      </a:r>
                      <a:endParaRPr lang="de-AT" sz="18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de-DE" sz="1400" dirty="0"/>
                        <a:t> 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Vienna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capital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Austria.</a:t>
                      </a:r>
                      <a:endParaRPr lang="de-DE" sz="1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Munich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capital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Germany.</a:t>
                      </a:r>
                      <a:endParaRPr lang="de-AT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endPara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+ 2 = 4</a:t>
                      </a:r>
                      <a:endParaRPr lang="de-AT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</a:t>
                      </a:r>
                      <a:endPara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+ 3 = 6</a:t>
                      </a:r>
                      <a:endParaRPr lang="de-AT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73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22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Logical operators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91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Compound propositions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BAEFC6-E69D-402C-9665-402F39D22AC8}"/>
              </a:ext>
            </a:extLst>
          </p:cNvPr>
          <p:cNvSpPr txBox="1"/>
          <p:nvPr/>
        </p:nvSpPr>
        <p:spPr>
          <a:xfrm>
            <a:off x="457200" y="1605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construct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combining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These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new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called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compound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propositions</a:t>
            </a:r>
            <a:endParaRPr lang="de-DE" sz="1800" b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3429000"/>
            <a:ext cx="8229600" cy="2113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negation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65A26A7F-EBC5-4B1D-83F7-3B6EB73BDE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2294583"/>
                <a:ext cx="8229600" cy="10769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:r>
                  <a:rPr lang="en-US" sz="1800" b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Definition 2: 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proposition. The statement “It is not the case that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.” is another proposition, called the </a:t>
                </a:r>
                <a:r>
                  <a:rPr lang="en-US" sz="1800" b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negation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We denote negation of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read it as “not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”.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65A26A7F-EBC5-4B1D-83F7-3B6EB73BDE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94583"/>
                <a:ext cx="8229600" cy="1076996"/>
              </a:xfrm>
              <a:prstGeom prst="rect">
                <a:avLst/>
              </a:prstGeom>
              <a:blipFill>
                <a:blip r:embed="rId3"/>
                <a:stretch>
                  <a:fillRect l="-667" r="-74" b="-56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922565"/>
              </p:ext>
            </p:extLst>
          </p:nvPr>
        </p:nvGraphicFramePr>
        <p:xfrm>
          <a:off x="959326" y="3864136"/>
          <a:ext cx="7225348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75343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3850005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Negation </a:t>
                      </a:r>
                      <a:r>
                        <a:rPr lang="de-DE" sz="1800" b="1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DE" sz="18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1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proposition</a:t>
                      </a:r>
                      <a:endParaRPr lang="de-AT" sz="1800" b="1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Today </a:t>
                      </a:r>
                      <a:r>
                        <a:rPr lang="de-DE" sz="1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Friday.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Today </a:t>
                      </a:r>
                      <a:r>
                        <a:rPr lang="de-DE" sz="1800" b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not Friday.</a:t>
                      </a:r>
                      <a:endParaRPr lang="de-AT" sz="1800" b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Munich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capital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Germany.</a:t>
                      </a:r>
                      <a:endParaRPr lang="de-AT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Munich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not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capital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Germany.</a:t>
                      </a:r>
                      <a:endParaRPr lang="de-AT" sz="18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raining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today</a:t>
                      </a:r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de-AT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not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raining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today</a:t>
                      </a:r>
                      <a:r>
                        <a:rPr lang="de-DE" sz="18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lang="de-AT" sz="18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4765"/>
                  </a:ext>
                </a:extLst>
              </a:tr>
            </a:tbl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E5F81BA5-65FB-466E-B14B-186B19AFB194}"/>
              </a:ext>
            </a:extLst>
          </p:cNvPr>
          <p:cNvSpPr/>
          <p:nvPr/>
        </p:nvSpPr>
        <p:spPr>
          <a:xfrm>
            <a:off x="4398654" y="4303314"/>
            <a:ext cx="2023814" cy="255685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071BFC4-20C3-4519-8D3C-3236BEA7C043}"/>
              </a:ext>
            </a:extLst>
          </p:cNvPr>
          <p:cNvSpPr/>
          <p:nvPr/>
        </p:nvSpPr>
        <p:spPr>
          <a:xfrm>
            <a:off x="4398654" y="4655310"/>
            <a:ext cx="3583928" cy="25568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E9C70E3-8056-452B-9440-4CE8ADC4D7EA}"/>
              </a:ext>
            </a:extLst>
          </p:cNvPr>
          <p:cNvSpPr/>
          <p:nvPr/>
        </p:nvSpPr>
        <p:spPr>
          <a:xfrm>
            <a:off x="4398653" y="5061321"/>
            <a:ext cx="2110487" cy="255685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B49774-9D54-47D7-BCA3-8205D654BB7C}"/>
              </a:ext>
            </a:extLst>
          </p:cNvPr>
          <p:cNvSpPr/>
          <p:nvPr/>
        </p:nvSpPr>
        <p:spPr>
          <a:xfrm>
            <a:off x="997461" y="4292565"/>
            <a:ext cx="2023814" cy="255685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EE14AF9-AA48-456E-A0D7-DC1B37B948E3}"/>
              </a:ext>
            </a:extLst>
          </p:cNvPr>
          <p:cNvSpPr/>
          <p:nvPr/>
        </p:nvSpPr>
        <p:spPr>
          <a:xfrm>
            <a:off x="1027797" y="4655309"/>
            <a:ext cx="3168765" cy="25568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5F86C25-8D8B-42E5-92FD-488789F55A46}"/>
              </a:ext>
            </a:extLst>
          </p:cNvPr>
          <p:cNvSpPr/>
          <p:nvPr/>
        </p:nvSpPr>
        <p:spPr>
          <a:xfrm>
            <a:off x="1027797" y="5061321"/>
            <a:ext cx="2110487" cy="255685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88006B6-D510-4EC1-B59B-B2300E79141F}"/>
              </a:ext>
            </a:extLst>
          </p:cNvPr>
          <p:cNvSpPr txBox="1"/>
          <p:nvPr/>
        </p:nvSpPr>
        <p:spPr>
          <a:xfrm>
            <a:off x="457200" y="5638511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George Boole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introduced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compound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(The Laws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Thought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de-DE" sz="1800" b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3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Truth tables and unary logical operators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BAEFC6-E69D-402C-9665-402F39D22AC8}"/>
              </a:ext>
            </a:extLst>
          </p:cNvPr>
          <p:cNvSpPr txBox="1"/>
          <p:nvPr/>
        </p:nvSpPr>
        <p:spPr>
          <a:xfrm>
            <a:off x="457200" y="1605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Truth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displays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Especially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valuable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determining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compound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propositions</a:t>
            </a:r>
            <a:endParaRPr lang="de-DE" sz="1800" b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375923"/>
            <a:ext cx="82296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negation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753280"/>
                  </p:ext>
                </p:extLst>
              </p:nvPr>
            </p:nvGraphicFramePr>
            <p:xfrm>
              <a:off x="3802200" y="2845730"/>
              <a:ext cx="1359176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7012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68905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noProof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endParaRPr lang="de-AT" sz="1800" b="1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753280"/>
                  </p:ext>
                </p:extLst>
              </p:nvPr>
            </p:nvGraphicFramePr>
            <p:xfrm>
              <a:off x="3802200" y="2845730"/>
              <a:ext cx="1359176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7012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68905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97368" t="-9836" r="-350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Google Shape;87;p2">
            <a:extLst>
              <a:ext uri="{FF2B5EF4-FFF2-40B4-BE49-F238E27FC236}">
                <a16:creationId xmlns:a16="http://schemas.microsoft.com/office/drawing/2014/main" id="{ABEE0D1E-BC1E-4A49-BC7E-5EA36842F665}"/>
              </a:ext>
            </a:extLst>
          </p:cNvPr>
          <p:cNvSpPr txBox="1">
            <a:spLocks/>
          </p:cNvSpPr>
          <p:nvPr/>
        </p:nvSpPr>
        <p:spPr>
          <a:xfrm>
            <a:off x="455700" y="4348732"/>
            <a:ext cx="8229600" cy="1076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1: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can consider the negation of a proposition as a result of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negation operator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on a proposition. The negation operator constructs a new proposition from a single existing proposition, i.e., this operator is a unary operator.</a:t>
            </a: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5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Binary logical operators (connectives): Conjunction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869960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53313"/>
              </p:ext>
            </p:extLst>
          </p:nvPr>
        </p:nvGraphicFramePr>
        <p:xfrm>
          <a:off x="3303830" y="3218425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∧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076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3: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be propositions. The statement “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” denoted by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∧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, is the proposition that is true when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both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 true and is false otherwise. The proposition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∧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ca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lled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conjunction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logical and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  <p:sp>
        <p:nvSpPr>
          <p:cNvPr id="10" name="Google Shape;87;p2">
            <a:extLst>
              <a:ext uri="{FF2B5EF4-FFF2-40B4-BE49-F238E27FC236}">
                <a16:creationId xmlns:a16="http://schemas.microsoft.com/office/drawing/2014/main" id="{C2163BB4-D0D3-46B9-9136-6699537815AE}"/>
              </a:ext>
            </a:extLst>
          </p:cNvPr>
          <p:cNvSpPr txBox="1">
            <a:spLocks/>
          </p:cNvSpPr>
          <p:nvPr/>
        </p:nvSpPr>
        <p:spPr>
          <a:xfrm>
            <a:off x="455700" y="5466818"/>
            <a:ext cx="8229600" cy="5742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2: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Conjunction of two propositions is a binary logical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33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13A65EBB-A1A5-407F-BBD0-068D3FAF0CFF}"/>
              </a:ext>
            </a:extLst>
          </p:cNvPr>
          <p:cNvSpPr txBox="1"/>
          <p:nvPr/>
        </p:nvSpPr>
        <p:spPr>
          <a:xfrm>
            <a:off x="457200" y="1605600"/>
            <a:ext cx="8229600" cy="1754326"/>
          </a:xfrm>
          <a:prstGeom prst="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5: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„Today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Friday“ and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raining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∧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de-DE" sz="1800" i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„Today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Friday and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raining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.“</a:t>
            </a: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∧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de-AT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True on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rainy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Fridays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Friday and on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Fridays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without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rain</a:t>
            </a:r>
            <a:endParaRPr lang="de-AT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Conjunction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9373"/>
              </p:ext>
            </p:extLst>
          </p:nvPr>
        </p:nvGraphicFramePr>
        <p:xfrm>
          <a:off x="457199" y="3454542"/>
          <a:ext cx="82296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5637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2100375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4263588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: Today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Friday</a:t>
                      </a:r>
                      <a:endParaRPr lang="de-DE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raining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today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∧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q 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Today is Friday and it is </a:t>
                      </a:r>
                      <a:r>
                        <a:rPr lang="en-US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raning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today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14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Disjunction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843958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45119"/>
              </p:ext>
            </p:extLst>
          </p:nvPr>
        </p:nvGraphicFramePr>
        <p:xfrm>
          <a:off x="3303830" y="3218425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∨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076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4: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be propositions. The statement “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” denoted by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∨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, is the proposition that is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when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both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 false and is true otherwise. The proposition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∨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ca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lled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disjunction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logical or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2B3DBA76-86B7-4A00-BBC4-1005D6F1B7FF}"/>
              </a:ext>
            </a:extLst>
          </p:cNvPr>
          <p:cNvSpPr txBox="1">
            <a:spLocks/>
          </p:cNvSpPr>
          <p:nvPr/>
        </p:nvSpPr>
        <p:spPr>
          <a:xfrm>
            <a:off x="455700" y="5466818"/>
            <a:ext cx="8229600" cy="574289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3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Disjunction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two propositions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is also 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binary logical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97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13A65EBB-A1A5-407F-BBD0-068D3FAF0CFF}"/>
              </a:ext>
            </a:extLst>
          </p:cNvPr>
          <p:cNvSpPr txBox="1"/>
          <p:nvPr/>
        </p:nvSpPr>
        <p:spPr>
          <a:xfrm>
            <a:off x="457200" y="1605600"/>
            <a:ext cx="8229600" cy="1754326"/>
          </a:xfrm>
          <a:prstGeom prst="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6: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„Today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Friday“ and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raining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∨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de-DE" sz="1800" i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„Today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Friday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raining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.“</a:t>
            </a: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∨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de-AT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True on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Friday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rainy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including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rainy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Fridays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days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Friday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does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not rain</a:t>
            </a:r>
            <a:endParaRPr lang="de-AT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Disjunction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81547"/>
              </p:ext>
            </p:extLst>
          </p:nvPr>
        </p:nvGraphicFramePr>
        <p:xfrm>
          <a:off x="457199" y="3454542"/>
          <a:ext cx="82296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5637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2100375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4263588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: Today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Friday</a:t>
                      </a:r>
                      <a:endParaRPr lang="de-DE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raining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today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∨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q 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Today is Friday or it is </a:t>
                      </a:r>
                      <a:r>
                        <a:rPr lang="en-US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raning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today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105D8C41-AB0B-4103-ADE8-A5754AD1140A}"/>
              </a:ext>
            </a:extLst>
          </p:cNvPr>
          <p:cNvSpPr txBox="1">
            <a:spLocks/>
          </p:cNvSpPr>
          <p:nvPr/>
        </p:nvSpPr>
        <p:spPr>
          <a:xfrm>
            <a:off x="455700" y="5618491"/>
            <a:ext cx="8229600" cy="77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4: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use of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disjunction corresponds to an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inclusive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way, i.e., a disjunction is true when either of the two propositions is true or when both are true.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0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Exclusive 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OR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3611012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exclusive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propositions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287658"/>
              </p:ext>
            </p:extLst>
          </p:nvPr>
        </p:nvGraphicFramePr>
        <p:xfrm>
          <a:off x="3303830" y="3985479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⊕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372654"/>
            <a:ext cx="8229600" cy="1076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5: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be propositions.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exclusive or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denoted by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⊕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, is the proposition that is true when exactly one of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true and is false otherwise.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B208AB0-BD12-4E6E-9BA5-46E3F7093895}"/>
              </a:ext>
            </a:extLst>
          </p:cNvPr>
          <p:cNvSpPr txBox="1"/>
          <p:nvPr/>
        </p:nvSpPr>
        <p:spPr>
          <a:xfrm>
            <a:off x="457200" y="1605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 in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disjunction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was in an inclusive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way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also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 in English, i.e., „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(but not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)“</a:t>
            </a:r>
          </a:p>
        </p:txBody>
      </p:sp>
    </p:spTree>
    <p:extLst>
      <p:ext uri="{BB962C8B-B14F-4D97-AF65-F5344CB8AC3E}">
        <p14:creationId xmlns:p14="http://schemas.microsoft.com/office/powerpoint/2010/main" val="3609419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13A65EBB-A1A5-407F-BBD0-068D3FAF0CFF}"/>
              </a:ext>
            </a:extLst>
          </p:cNvPr>
          <p:cNvSpPr txBox="1"/>
          <p:nvPr/>
        </p:nvSpPr>
        <p:spPr>
          <a:xfrm>
            <a:off x="457200" y="1605600"/>
            <a:ext cx="8229600" cy="1477328"/>
          </a:xfrm>
          <a:prstGeom prst="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7: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propositions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„Mary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singer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 and </a:t>
            </a:r>
            <a:r>
              <a:rPr lang="de-DE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„Mary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writer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⊕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DE" sz="1800" i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„Mary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writer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.“</a:t>
            </a:r>
          </a:p>
          <a:p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⊕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de-AT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True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Mary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writer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(but not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both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Mary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neither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writer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both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a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writer</a:t>
            </a:r>
            <a:endParaRPr lang="de-AT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Exclusive 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OR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34357"/>
              </p:ext>
            </p:extLst>
          </p:nvPr>
        </p:nvGraphicFramePr>
        <p:xfrm>
          <a:off x="797338" y="3459983"/>
          <a:ext cx="7650067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5131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2005496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3579440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: Mary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a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singer</a:t>
                      </a:r>
                      <a:endParaRPr lang="de-DE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Mary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a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writer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⊕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Mary is a singer or a writer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48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Implication and biconditional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06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Implication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3142977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propositions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414411"/>
              </p:ext>
            </p:extLst>
          </p:nvPr>
        </p:nvGraphicFramePr>
        <p:xfrm>
          <a:off x="3303830" y="3517444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4062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6: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be propositions.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, is the proposition that is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when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true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false and true otherwise. In this implication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ca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lled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(or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antecedent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premise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called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conclusion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(or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consequence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4909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Implication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7"/>
            <a:ext cx="8229600" cy="378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Implications arise in many places in mathematical reasoning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 wide variety of terminology is used to express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then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impli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only 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is sufficient for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if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whenever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is necessary for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</a:p>
          <a:p>
            <a:pPr marL="457200" lvl="1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F3BC74B-2A29-4613-9F65-A2968A103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07311"/>
              </p:ext>
            </p:extLst>
          </p:nvPr>
        </p:nvGraphicFramePr>
        <p:xfrm>
          <a:off x="4850942" y="2858729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548E3E19-A831-4D60-AB5A-A48476482AA7}"/>
              </a:ext>
            </a:extLst>
          </p:cNvPr>
          <p:cNvSpPr txBox="1">
            <a:spLocks/>
          </p:cNvSpPr>
          <p:nvPr/>
        </p:nvSpPr>
        <p:spPr>
          <a:xfrm>
            <a:off x="455700" y="5466818"/>
            <a:ext cx="8229600" cy="829974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5: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lang="en-US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 false only if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is true and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is false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Hence, it is true when both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are true, and when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false (no matter the truth value of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32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Implication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7"/>
            <a:ext cx="8229600" cy="129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mplication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is true when its hypothesis is false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We can think of it as a contract or an obligation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condition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specified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contract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obligation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00EE3C5-65CC-4AD5-AA84-C586672F7B37}"/>
              </a:ext>
            </a:extLst>
          </p:cNvPr>
          <p:cNvSpPr txBox="1"/>
          <p:nvPr/>
        </p:nvSpPr>
        <p:spPr>
          <a:xfrm>
            <a:off x="457200" y="3052208"/>
            <a:ext cx="8229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8: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obligation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25,000€,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must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tax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specify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anything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someone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making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25,000€.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violate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obligation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25,000€ and do not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871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Implication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548E3E19-A831-4D60-AB5A-A48476482AA7}"/>
              </a:ext>
            </a:extLst>
          </p:cNvPr>
          <p:cNvSpPr txBox="1">
            <a:spLocks/>
          </p:cNvSpPr>
          <p:nvPr/>
        </p:nvSpPr>
        <p:spPr>
          <a:xfrm>
            <a:off x="457200" y="1605600"/>
            <a:ext cx="8229600" cy="1189604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6: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We have defined implications more generally than their meaning in the English language. 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In English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. In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exist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88FED7C-5CDD-415E-81FA-E6AE89E3F09C}"/>
              </a:ext>
            </a:extLst>
          </p:cNvPr>
          <p:cNvSpPr txBox="1"/>
          <p:nvPr/>
        </p:nvSpPr>
        <p:spPr>
          <a:xfrm>
            <a:off x="457200" y="2888255"/>
            <a:ext cx="8229600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9: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sunny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beach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“.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clear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causal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sunny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going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beach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 This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valid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unless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sunny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but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do not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beach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: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Friday,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 + 2 = 4“. </a:t>
            </a: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Clearly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direct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cause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-and-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Indeed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regardless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Morover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whole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truth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hypothesis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not matter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CBD9028D-FAEB-4AF1-A3BD-CBB6A72DA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92645"/>
              </p:ext>
            </p:extLst>
          </p:nvPr>
        </p:nvGraphicFramePr>
        <p:xfrm>
          <a:off x="6654579" y="3500110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83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13A65EBB-A1A5-407F-BBD0-068D3FAF0CFF}"/>
              </a:ext>
            </a:extLst>
          </p:cNvPr>
          <p:cNvSpPr txBox="1"/>
          <p:nvPr/>
        </p:nvSpPr>
        <p:spPr>
          <a:xfrm>
            <a:off x="457200" y="1605600"/>
            <a:ext cx="8229600" cy="2308324"/>
          </a:xfrm>
          <a:prstGeom prst="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Determine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whether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each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following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implications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false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 + 1 = 2,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2 + 2 = 5.	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False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+ 1 = 3,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 + 2 = 4.	True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+ 1 = 3,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 + 2 = 5.	True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pigs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+ 1 = 3.	True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+ 1 = 3,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pigs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	True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+ 1 = 2,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pigs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fly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	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2 + 2 = 4,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1 + 2 =3.		True</a:t>
            </a:r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Implication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3EF1B8D-63FD-4EEA-B303-3A71FFC5E748}"/>
              </a:ext>
            </a:extLst>
          </p:cNvPr>
          <p:cNvSpPr/>
          <p:nvPr/>
        </p:nvSpPr>
        <p:spPr>
          <a:xfrm>
            <a:off x="4166242" y="1958440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D095996C-6B3B-474D-A210-7C8EBC61C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53219"/>
              </p:ext>
            </p:extLst>
          </p:nvPr>
        </p:nvGraphicFramePr>
        <p:xfrm>
          <a:off x="6296770" y="1958440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0BB3A327-6D03-4568-B580-53071901638A}"/>
              </a:ext>
            </a:extLst>
          </p:cNvPr>
          <p:cNvSpPr/>
          <p:nvPr/>
        </p:nvSpPr>
        <p:spPr>
          <a:xfrm>
            <a:off x="4166242" y="2226370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A3CC45B-0889-4379-B6A2-606B8166EFE6}"/>
              </a:ext>
            </a:extLst>
          </p:cNvPr>
          <p:cNvSpPr/>
          <p:nvPr/>
        </p:nvSpPr>
        <p:spPr>
          <a:xfrm>
            <a:off x="4173186" y="2529197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06C99F6-E246-49B0-88DD-40B8DB00D9F6}"/>
              </a:ext>
            </a:extLst>
          </p:cNvPr>
          <p:cNvSpPr/>
          <p:nvPr/>
        </p:nvSpPr>
        <p:spPr>
          <a:xfrm>
            <a:off x="4166242" y="2749030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B14BD39-3DC2-478E-8788-480443B50608}"/>
              </a:ext>
            </a:extLst>
          </p:cNvPr>
          <p:cNvSpPr/>
          <p:nvPr/>
        </p:nvSpPr>
        <p:spPr>
          <a:xfrm>
            <a:off x="4152471" y="3076982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14FD64A-941A-4A55-8E1C-C7E0A985DE24}"/>
              </a:ext>
            </a:extLst>
          </p:cNvPr>
          <p:cNvSpPr/>
          <p:nvPr/>
        </p:nvSpPr>
        <p:spPr>
          <a:xfrm>
            <a:off x="4135859" y="3336153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F9E3CC-8B27-4243-A7ED-01B62C167D5D}"/>
              </a:ext>
            </a:extLst>
          </p:cNvPr>
          <p:cNvSpPr/>
          <p:nvPr/>
        </p:nvSpPr>
        <p:spPr>
          <a:xfrm>
            <a:off x="4205486" y="3580652"/>
            <a:ext cx="639874" cy="27302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820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Converse, inverse, and contrapositive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779723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converse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inverse,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contrapositive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implication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090212"/>
                  </p:ext>
                </p:extLst>
              </p:nvPr>
            </p:nvGraphicFramePr>
            <p:xfrm>
              <a:off x="2436313" y="3171379"/>
              <a:ext cx="4101651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325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9414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87754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863574">
                      <a:extLst>
                        <a:ext uri="{9D8B030D-6E8A-4147-A177-3AD203B41FA5}">
                          <a16:colId xmlns:a16="http://schemas.microsoft.com/office/drawing/2014/main" val="3144834561"/>
                        </a:ext>
                      </a:extLst>
                    </a:gridCol>
                    <a:gridCol w="845507">
                      <a:extLst>
                        <a:ext uri="{9D8B030D-6E8A-4147-A177-3AD203B41FA5}">
                          <a16:colId xmlns:a16="http://schemas.microsoft.com/office/drawing/2014/main" val="76349857"/>
                        </a:ext>
                      </a:extLst>
                    </a:gridCol>
                    <a:gridCol w="832358">
                      <a:extLst>
                        <a:ext uri="{9D8B030D-6E8A-4147-A177-3AD203B41FA5}">
                          <a16:colId xmlns:a16="http://schemas.microsoft.com/office/drawing/2014/main" val="2107096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p 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090212"/>
                  </p:ext>
                </p:extLst>
              </p:nvPr>
            </p:nvGraphicFramePr>
            <p:xfrm>
              <a:off x="2436313" y="3171379"/>
              <a:ext cx="4101651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325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9414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87754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863574">
                      <a:extLst>
                        <a:ext uri="{9D8B030D-6E8A-4147-A177-3AD203B41FA5}">
                          <a16:colId xmlns:a16="http://schemas.microsoft.com/office/drawing/2014/main" val="3144834561"/>
                        </a:ext>
                      </a:extLst>
                    </a:gridCol>
                    <a:gridCol w="845507">
                      <a:extLst>
                        <a:ext uri="{9D8B030D-6E8A-4147-A177-3AD203B41FA5}">
                          <a16:colId xmlns:a16="http://schemas.microsoft.com/office/drawing/2014/main" val="76349857"/>
                        </a:ext>
                      </a:extLst>
                    </a:gridCol>
                    <a:gridCol w="832358">
                      <a:extLst>
                        <a:ext uri="{9D8B030D-6E8A-4147-A177-3AD203B41FA5}">
                          <a16:colId xmlns:a16="http://schemas.microsoft.com/office/drawing/2014/main" val="2107096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p 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87050" t="-11475" r="-101439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392701" t="-11475" r="-2920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87;p2">
                <a:extLst>
                  <a:ext uri="{FF2B5EF4-FFF2-40B4-BE49-F238E27FC236}">
                    <a16:creationId xmlns:a16="http://schemas.microsoft.com/office/drawing/2014/main" id="{C7D1ADFE-A6D5-4342-A221-03DEBB45B85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0937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spcBef>
                    <a:spcPts val="640"/>
                  </a:spcBef>
                </a:pPr>
                <a:r>
                  <a:rPr lang="en-US" sz="1800" b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Definition 7: 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 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 propositions and let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q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be their implication. The implication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 called the </a:t>
                </a: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converse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of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q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 called </a:t>
                </a: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inverse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q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and the implication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 called </a:t>
                </a:r>
                <a:r>
                  <a:rPr lang="en-US" sz="18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contrapositive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of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q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Google Shape;87;p2">
                <a:extLst>
                  <a:ext uri="{FF2B5EF4-FFF2-40B4-BE49-F238E27FC236}">
                    <a16:creationId xmlns:a16="http://schemas.microsoft.com/office/drawing/2014/main" id="{C7D1ADFE-A6D5-4342-A221-03DEBB45B85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093759"/>
              </a:xfrm>
              <a:prstGeom prst="rect">
                <a:avLst/>
              </a:prstGeom>
              <a:blipFill>
                <a:blip r:embed="rId4"/>
                <a:stretch>
                  <a:fillRect l="-667" b="-3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008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Biconditional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610622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biconditional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propositions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81746"/>
              </p:ext>
            </p:extLst>
          </p:nvPr>
        </p:nvGraphicFramePr>
        <p:xfrm>
          <a:off x="3303830" y="2985089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↔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8495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be propositions. The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biconditional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↔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, is the proposition that is true when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have the same truth values and is false otherwise.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058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Biconditional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7"/>
            <a:ext cx="8229600" cy="378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Biconditional is true when both implications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p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are true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Terminology used to express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↔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if and only </a:t>
            </a:r>
            <a:r>
              <a:rPr lang="en-US" sz="18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necessary and sufficient for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endParaRPr lang="en-US" sz="1800" i="1" noProof="0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then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and conversely</a:t>
            </a:r>
          </a:p>
          <a:p>
            <a:pPr marL="457200" lvl="1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477E2D1D-6BFC-464C-974D-D0FF53D61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407970"/>
              </p:ext>
            </p:extLst>
          </p:nvPr>
        </p:nvGraphicFramePr>
        <p:xfrm>
          <a:off x="5364361" y="2690727"/>
          <a:ext cx="2299579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2456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654381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022742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↔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32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13A65EBB-A1A5-407F-BBD0-068D3FAF0CFF}"/>
              </a:ext>
            </a:extLst>
          </p:cNvPr>
          <p:cNvSpPr txBox="1"/>
          <p:nvPr/>
        </p:nvSpPr>
        <p:spPr>
          <a:xfrm>
            <a:off x="457200" y="1605599"/>
            <a:ext cx="8229600" cy="2031325"/>
          </a:xfrm>
          <a:prstGeom prst="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11: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Find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biconditional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propositions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„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below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freezing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“ and 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q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„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snowing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“.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When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biconditional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when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it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false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/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↔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q</a:t>
            </a:r>
            <a:r>
              <a:rPr kumimoji="0" lang="de-DE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: „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below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freezing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only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snowing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.“</a:t>
            </a:r>
          </a:p>
          <a:p>
            <a:pPr lvl="0"/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↔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q</a:t>
            </a:r>
            <a:r>
              <a:rPr kumimoji="0" lang="de-AT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: True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both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below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freezing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and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snowing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neither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below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freezing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	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nor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snowing</a:t>
            </a:r>
            <a:endParaRPr kumimoji="0" lang="de-AT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lvl="0"/>
            <a:r>
              <a:rPr lang="de-AT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 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False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otherwise</a:t>
            </a:r>
            <a:endParaRPr kumimoji="0" lang="de-AT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Biconditional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F3C206A-D024-46FD-8052-A9F074631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3575"/>
              </p:ext>
            </p:extLst>
          </p:nvPr>
        </p:nvGraphicFramePr>
        <p:xfrm>
          <a:off x="505238" y="3695979"/>
          <a:ext cx="8114666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9968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1678305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4156393">
                  <a:extLst>
                    <a:ext uri="{9D8B030D-6E8A-4147-A177-3AD203B41FA5}">
                      <a16:colId xmlns:a16="http://schemas.microsoft.com/office/drawing/2014/main" val="260138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: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below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freezing</a:t>
                      </a:r>
                      <a:endParaRPr lang="de-DE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It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is</a:t>
                      </a:r>
                      <a:r>
                        <a:rPr lang="de-DE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DE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snowing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↔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: It is below freezing </a:t>
                      </a:r>
                      <a:r>
                        <a:rPr lang="en-US" sz="1800" b="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iff</a:t>
                      </a:r>
                      <a:r>
                        <a:rPr lang="en-US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it is snowing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Operator precedence and</a:t>
            </a:r>
            <a:b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truth tables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69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Compound propositions with &gt;2 propositions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6217"/>
                <a:ext cx="8229600" cy="3485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Connectives can be used to construct compound propositions with &gt;2 propositions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have to take care of operator precedence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more complex cases we can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also use parentheses (): highest precedence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Precedence of logical operators:</a:t>
                </a: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Negation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/>
                    </m:acc>
                  </m:oMath>
                </a14:m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Conjunction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∧</a:t>
                </a: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Disjunction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Implication and biconditional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↔</a:t>
                </a:r>
                <a:endParaRPr lang="en-US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In case of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equal precedence the operand associates to the right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6217"/>
                <a:ext cx="8229600" cy="3485613"/>
              </a:xfrm>
              <a:prstGeom prst="rect">
                <a:avLst/>
              </a:prstGeom>
              <a:blipFill>
                <a:blip r:embed="rId3"/>
                <a:stretch>
                  <a:fillRect l="-148" r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70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Operator precedence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5667" y="1605600"/>
            <a:ext cx="8229600" cy="3445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12: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Operator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precedence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B40BC84B-106A-4BE6-B73C-9E163B41D4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2318731"/>
                  </p:ext>
                </p:extLst>
              </p:nvPr>
            </p:nvGraphicFramePr>
            <p:xfrm>
              <a:off x="2539742" y="2164634"/>
              <a:ext cx="3786823" cy="25958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78268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408555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Proposition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Parenthesized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version</a:t>
                          </a:r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((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:r>
                            <a:rPr lang="en-US" sz="180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14:m>
                            <m:oMath xmlns:m="http://schemas.openxmlformats.org/officeDocument/2006/math">
                              <m:r>
                                <a:rPr lang="de-DE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))</m:t>
                              </m: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228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↔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↔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0211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B40BC84B-106A-4BE6-B73C-9E163B41D4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2318731"/>
                  </p:ext>
                </p:extLst>
              </p:nvPr>
            </p:nvGraphicFramePr>
            <p:xfrm>
              <a:off x="2539742" y="2164634"/>
              <a:ext cx="3786823" cy="25958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78268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408555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Proposition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Parenthesized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version</a:t>
                          </a:r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2" t="-108197" r="-176991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57323" t="-108197" r="-1010" b="-5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2" t="-208197" r="-176991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57323" t="-208197" r="-1010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228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↔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↔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))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02118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772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Truth tables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6217"/>
                <a:ext cx="8229600" cy="3485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use truth tables for compounds with &gt;2 individual props.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always list all possible combinations of truth values of individual props.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individual props.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combinations of truth values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Hence, with 3 variables we have 8 rows in the table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Therefore, truth tables are rarely used for more than 3 variables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6217"/>
                <a:ext cx="8229600" cy="3485613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778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Truth tables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69A3E8-1602-4627-9F24-57C38B6A5E2E}"/>
              </a:ext>
            </a:extLst>
          </p:cNvPr>
          <p:cNvSpPr txBox="1"/>
          <p:nvPr/>
        </p:nvSpPr>
        <p:spPr>
          <a:xfrm>
            <a:off x="457200" y="1605600"/>
            <a:ext cx="8229600" cy="453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13: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Construct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proposition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r</a:t>
            </a:r>
            <a:r>
              <a:rPr lang="de-AT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>
              <a:defRPr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sing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our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precendence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rules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parenthesized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version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 (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r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0A3A8028-8BCD-42D9-A316-F000FA729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30022"/>
              </p:ext>
            </p:extLst>
          </p:nvPr>
        </p:nvGraphicFramePr>
        <p:xfrm>
          <a:off x="2539742" y="2628096"/>
          <a:ext cx="4101779" cy="3337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3033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583033">
                  <a:extLst>
                    <a:ext uri="{9D8B030D-6E8A-4147-A177-3AD203B41FA5}">
                      <a16:colId xmlns:a16="http://schemas.microsoft.com/office/drawing/2014/main" val="1408991516"/>
                    </a:ext>
                  </a:extLst>
                </a:gridCol>
                <a:gridCol w="583033">
                  <a:extLst>
                    <a:ext uri="{9D8B030D-6E8A-4147-A177-3AD203B41FA5}">
                      <a16:colId xmlns:a16="http://schemas.microsoft.com/office/drawing/2014/main" val="1161540315"/>
                    </a:ext>
                  </a:extLst>
                </a:gridCol>
                <a:gridCol w="1018862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333818">
                  <a:extLst>
                    <a:ext uri="{9D8B030D-6E8A-4147-A177-3AD203B41FA5}">
                      <a16:colId xmlns:a16="http://schemas.microsoft.com/office/drawing/2014/main" val="3406451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</a:t>
                      </a:r>
                      <a:endParaRPr lang="de-DE" sz="1800" b="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</a:t>
                      </a:r>
                      <a:endParaRPr lang="de-DE" sz="1800" b="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</a:t>
                      </a:r>
                      <a:endParaRPr lang="de-DE" sz="1800" b="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</a:t>
                      </a:r>
                      <a:endParaRPr lang="de-AT" sz="1800" b="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(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q 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sz="18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r</a:t>
                      </a:r>
                      <a:r>
                        <a:rPr lang="en-US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endParaRPr lang="de-AT" sz="1800" b="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F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F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3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21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2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211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36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de-AT" sz="18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de-AT" sz="1800" b="0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44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098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Logical equivalence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52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Tautology and contradiction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3161766"/>
            <a:ext cx="82296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tautology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and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contradiction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682621"/>
                  </p:ext>
                </p:extLst>
              </p:nvPr>
            </p:nvGraphicFramePr>
            <p:xfrm>
              <a:off x="3285041" y="3605126"/>
              <a:ext cx="2426827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3083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5293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77622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766827">
                      <a:extLst>
                        <a:ext uri="{9D8B030D-6E8A-4147-A177-3AD203B41FA5}">
                          <a16:colId xmlns:a16="http://schemas.microsoft.com/office/drawing/2014/main" val="10051206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𝑝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8682621"/>
                  </p:ext>
                </p:extLst>
              </p:nvPr>
            </p:nvGraphicFramePr>
            <p:xfrm>
              <a:off x="3285041" y="3605126"/>
              <a:ext cx="2426827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3083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5293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77622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766827">
                      <a:extLst>
                        <a:ext uri="{9D8B030D-6E8A-4147-A177-3AD203B41FA5}">
                          <a16:colId xmlns:a16="http://schemas.microsoft.com/office/drawing/2014/main" val="10051206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97297" t="-9836" r="-350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14063" t="-9836" r="-102344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17460" t="-9836" r="-396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13943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9: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 compound proposition that is always true, no matter what the truth values of the individual propositions that occur in it, is called a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tautology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. A compound proposition that is always false is called a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contradiction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. Finally, a proposition that is neither a tautology nor a contradiction is called a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contingency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3600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Logical equivalence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C7D1ADFE-A6D5-4342-A221-03DEBB45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8495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The propositions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are called </a:t>
            </a:r>
            <a:r>
              <a:rPr lang="en-US" sz="1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logically equivalent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if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↔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is a tautology. The notation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⇔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denotes that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i="1" noProof="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q</a:t>
            </a: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 are logically equivalent.</a:t>
            </a:r>
          </a:p>
          <a:p>
            <a:pPr marL="0" indent="0">
              <a:spcBef>
                <a:spcPts val="640"/>
              </a:spcBef>
            </a:pPr>
            <a:endParaRPr lang="en-US" noProof="0" dirty="0"/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67D2E7C6-2835-48A2-A565-A1A38D60D3A5}"/>
              </a:ext>
            </a:extLst>
          </p:cNvPr>
          <p:cNvSpPr txBox="1">
            <a:spLocks/>
          </p:cNvSpPr>
          <p:nvPr/>
        </p:nvSpPr>
        <p:spPr>
          <a:xfrm>
            <a:off x="428244" y="2392472"/>
            <a:ext cx="8229600" cy="79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One way to determine the equivalence is with truth tables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 and q are equivalent if and only if the columns of their truth values agree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919446-1299-4A98-B4BB-FAFA6355C062}"/>
                  </a:ext>
                </a:extLst>
              </p:cNvPr>
              <p:cNvSpPr txBox="1"/>
              <p:nvPr/>
            </p:nvSpPr>
            <p:spPr>
              <a:xfrm>
                <a:off x="457200" y="3265294"/>
                <a:ext cx="8229600" cy="273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13: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de-DE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DE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∧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are logically equivalent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This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equivalence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one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De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Morgan‘s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laws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propositions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919446-1299-4A98-B4BB-FAFA635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65294"/>
                <a:ext cx="8229600" cy="2736000"/>
              </a:xfrm>
              <a:prstGeom prst="rect">
                <a:avLst/>
              </a:prstGeom>
              <a:blipFill>
                <a:blip r:embed="rId3"/>
                <a:stretch>
                  <a:fillRect l="-593" t="-178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elle 10">
                <a:extLst>
                  <a:ext uri="{FF2B5EF4-FFF2-40B4-BE49-F238E27FC236}">
                    <a16:creationId xmlns:a16="http://schemas.microsoft.com/office/drawing/2014/main" id="{413C52DB-E3A5-4333-8AC8-4108A3E4F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118429"/>
                  </p:ext>
                </p:extLst>
              </p:nvPr>
            </p:nvGraphicFramePr>
            <p:xfrm>
              <a:off x="2642467" y="3993429"/>
              <a:ext cx="365467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626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56269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673418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62258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414274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416814">
                      <a:extLst>
                        <a:ext uri="{9D8B030D-6E8A-4147-A177-3AD203B41FA5}">
                          <a16:colId xmlns:a16="http://schemas.microsoft.com/office/drawing/2014/main" val="2940717108"/>
                        </a:ext>
                      </a:extLst>
                    </a:gridCol>
                    <a:gridCol w="815044">
                      <a:extLst>
                        <a:ext uri="{9D8B030D-6E8A-4147-A177-3AD203B41FA5}">
                          <a16:colId xmlns:a16="http://schemas.microsoft.com/office/drawing/2014/main" val="29725943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1800" b="0" i="0" dirty="0" smtClean="0">
                                        <a:latin typeface="Calibri" panose="020F0502020204030204" pitchFamily="34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∨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q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1800" b="0" i="0" dirty="0" smtClean="0">
                                        <a:latin typeface="Calibri" panose="020F0502020204030204" pitchFamily="34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𝑞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∧</a:t>
                          </a:r>
                          <a:r>
                            <a:rPr lang="en-US" sz="18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</m:oMath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elle 10">
                <a:extLst>
                  <a:ext uri="{FF2B5EF4-FFF2-40B4-BE49-F238E27FC236}">
                    <a16:creationId xmlns:a16="http://schemas.microsoft.com/office/drawing/2014/main" id="{413C52DB-E3A5-4333-8AC8-4108A3E4F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8118429"/>
                  </p:ext>
                </p:extLst>
              </p:nvPr>
            </p:nvGraphicFramePr>
            <p:xfrm>
              <a:off x="2642467" y="3993429"/>
              <a:ext cx="365467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626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56269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673418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62258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414274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416814">
                      <a:extLst>
                        <a:ext uri="{9D8B030D-6E8A-4147-A177-3AD203B41FA5}">
                          <a16:colId xmlns:a16="http://schemas.microsoft.com/office/drawing/2014/main" val="2940717108"/>
                        </a:ext>
                      </a:extLst>
                    </a:gridCol>
                    <a:gridCol w="815044">
                      <a:extLst>
                        <a:ext uri="{9D8B030D-6E8A-4147-A177-3AD203B41FA5}">
                          <a16:colId xmlns:a16="http://schemas.microsoft.com/office/drawing/2014/main" val="29725943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24510" t="-11475" r="-269608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486765" t="-11475" r="-304412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586765" t="-11475" r="-204412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48507" t="-11475" r="-3731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76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Logical equivalence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919446-1299-4A98-B4BB-FAFA6355C062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273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14: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de-DE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DE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are logically equivalent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This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equivalence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second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De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Morgan‘s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law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propositions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919446-1299-4A98-B4BB-FAFA635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2736000"/>
              </a:xfrm>
              <a:prstGeom prst="rect">
                <a:avLst/>
              </a:prstGeom>
              <a:blipFill>
                <a:blip r:embed="rId3"/>
                <a:stretch>
                  <a:fillRect l="-593" t="-155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elle 10">
                <a:extLst>
                  <a:ext uri="{FF2B5EF4-FFF2-40B4-BE49-F238E27FC236}">
                    <a16:creationId xmlns:a16="http://schemas.microsoft.com/office/drawing/2014/main" id="{413C52DB-E3A5-4333-8AC8-4108A3E4F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9827723"/>
                  </p:ext>
                </p:extLst>
              </p:nvPr>
            </p:nvGraphicFramePr>
            <p:xfrm>
              <a:off x="2642467" y="2371312"/>
              <a:ext cx="365467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626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56269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673418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62258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414274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416814">
                      <a:extLst>
                        <a:ext uri="{9D8B030D-6E8A-4147-A177-3AD203B41FA5}">
                          <a16:colId xmlns:a16="http://schemas.microsoft.com/office/drawing/2014/main" val="2940717108"/>
                        </a:ext>
                      </a:extLst>
                    </a:gridCol>
                    <a:gridCol w="815044">
                      <a:extLst>
                        <a:ext uri="{9D8B030D-6E8A-4147-A177-3AD203B41FA5}">
                          <a16:colId xmlns:a16="http://schemas.microsoft.com/office/drawing/2014/main" val="29725943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1800" b="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∧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q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1800" b="0" i="0" dirty="0" smtClean="0">
                                        <a:latin typeface="Calibri" panose="020F0502020204030204" pitchFamily="34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elle 10">
                <a:extLst>
                  <a:ext uri="{FF2B5EF4-FFF2-40B4-BE49-F238E27FC236}">
                    <a16:creationId xmlns:a16="http://schemas.microsoft.com/office/drawing/2014/main" id="{413C52DB-E3A5-4333-8AC8-4108A3E4F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9827723"/>
                  </p:ext>
                </p:extLst>
              </p:nvPr>
            </p:nvGraphicFramePr>
            <p:xfrm>
              <a:off x="2642467" y="2371312"/>
              <a:ext cx="365467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6269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56269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673418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62258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414274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416814">
                      <a:extLst>
                        <a:ext uri="{9D8B030D-6E8A-4147-A177-3AD203B41FA5}">
                          <a16:colId xmlns:a16="http://schemas.microsoft.com/office/drawing/2014/main" val="2940717108"/>
                        </a:ext>
                      </a:extLst>
                    </a:gridCol>
                    <a:gridCol w="815044">
                      <a:extLst>
                        <a:ext uri="{9D8B030D-6E8A-4147-A177-3AD203B41FA5}">
                          <a16:colId xmlns:a16="http://schemas.microsoft.com/office/drawing/2014/main" val="29725943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24510" t="-11475" r="-26960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486765" t="-11475" r="-30441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586765" t="-11475" r="-20441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48507" t="-11475" r="-373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7136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Equivalences of converse, inverse, and contrapositive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231CB50-5029-459A-9C78-B4F9C8D2604F}"/>
              </a:ext>
            </a:extLst>
          </p:cNvPr>
          <p:cNvSpPr txBox="1"/>
          <p:nvPr/>
        </p:nvSpPr>
        <p:spPr>
          <a:xfrm>
            <a:off x="457200" y="2779723"/>
            <a:ext cx="8229600" cy="2473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converse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inverse,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contrapositive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implication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468923"/>
                  </p:ext>
                </p:extLst>
              </p:nvPr>
            </p:nvGraphicFramePr>
            <p:xfrm>
              <a:off x="2436313" y="3171379"/>
              <a:ext cx="4057201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325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9414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87754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863574">
                      <a:extLst>
                        <a:ext uri="{9D8B030D-6E8A-4147-A177-3AD203B41FA5}">
                          <a16:colId xmlns:a16="http://schemas.microsoft.com/office/drawing/2014/main" val="3144834561"/>
                        </a:ext>
                      </a:extLst>
                    </a:gridCol>
                    <a:gridCol w="845507">
                      <a:extLst>
                        <a:ext uri="{9D8B030D-6E8A-4147-A177-3AD203B41FA5}">
                          <a16:colId xmlns:a16="http://schemas.microsoft.com/office/drawing/2014/main" val="76349857"/>
                        </a:ext>
                      </a:extLst>
                    </a:gridCol>
                    <a:gridCol w="787908">
                      <a:extLst>
                        <a:ext uri="{9D8B030D-6E8A-4147-A177-3AD203B41FA5}">
                          <a16:colId xmlns:a16="http://schemas.microsoft.com/office/drawing/2014/main" val="2107096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p 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→</a:t>
                          </a:r>
                          <a:r>
                            <a:rPr lang="en-US" sz="1800" b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→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DF3C206A-D024-46FD-8052-A9F0746315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468923"/>
                  </p:ext>
                </p:extLst>
              </p:nvPr>
            </p:nvGraphicFramePr>
            <p:xfrm>
              <a:off x="2436313" y="3171379"/>
              <a:ext cx="4057201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325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9414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877544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  <a:gridCol w="863574">
                      <a:extLst>
                        <a:ext uri="{9D8B030D-6E8A-4147-A177-3AD203B41FA5}">
                          <a16:colId xmlns:a16="http://schemas.microsoft.com/office/drawing/2014/main" val="3144834561"/>
                        </a:ext>
                      </a:extLst>
                    </a:gridCol>
                    <a:gridCol w="845507">
                      <a:extLst>
                        <a:ext uri="{9D8B030D-6E8A-4147-A177-3AD203B41FA5}">
                          <a16:colId xmlns:a16="http://schemas.microsoft.com/office/drawing/2014/main" val="76349857"/>
                        </a:ext>
                      </a:extLst>
                    </a:gridCol>
                    <a:gridCol w="787908">
                      <a:extLst>
                        <a:ext uri="{9D8B030D-6E8A-4147-A177-3AD203B41FA5}">
                          <a16:colId xmlns:a16="http://schemas.microsoft.com/office/drawing/2014/main" val="2107096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</a:t>
                          </a:r>
                          <a:r>
                            <a:rPr lang="en-US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→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p 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87050" t="-9836" r="-96403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13846" t="-9836" r="-3077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87;p2">
            <a:extLst>
              <a:ext uri="{FF2B5EF4-FFF2-40B4-BE49-F238E27FC236}">
                <a16:creationId xmlns:a16="http://schemas.microsoft.com/office/drawing/2014/main" id="{1E82E73F-9AD9-40FC-B0B3-CA8107A53E5E}"/>
              </a:ext>
            </a:extLst>
          </p:cNvPr>
          <p:cNvSpPr txBox="1">
            <a:spLocks/>
          </p:cNvSpPr>
          <p:nvPr/>
        </p:nvSpPr>
        <p:spPr>
          <a:xfrm>
            <a:off x="457200" y="1605600"/>
            <a:ext cx="8229600" cy="1037392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7: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Recollect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converse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inverse and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contrapositive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implication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p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→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q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 Converse and inverse are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logically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equivalent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so is the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implication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i</a:t>
            </a:r>
            <a:r>
              <a:rPr lang="en-GB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ts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contrapositive</a:t>
            </a:r>
            <a:r>
              <a:rPr lang="de-DE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1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b="1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532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20032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de-DE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de-DE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truth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tables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these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logical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equivalences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de-DE" sz="18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de-DE" sz="18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T</a:t>
                </a:r>
                <a:endParaRPr lang="de-DE" sz="1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∧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a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⇔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F</m:t>
                    </m: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de-DE" sz="18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endParaRPr lang="de-AT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200329"/>
              </a:xfrm>
              <a:prstGeom prst="rect">
                <a:avLst/>
              </a:prstGeom>
              <a:blipFill>
                <a:blip r:embed="rId3"/>
                <a:stretch>
                  <a:fillRect l="-593" t="-2538" b="-710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746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605599"/>
            <a:ext cx="8229600" cy="38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2: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show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these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logical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equivalences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>
              <a:defRPr/>
            </a:pPr>
            <a:endParaRPr lang="de-AT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832AE00-6D78-4FC1-B5A9-E451B6E83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435228"/>
                  </p:ext>
                </p:extLst>
              </p:nvPr>
            </p:nvGraphicFramePr>
            <p:xfrm>
              <a:off x="2772894" y="2251931"/>
              <a:ext cx="3597911" cy="308260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6874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Logical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</a:t>
                          </a:r>
                          <a:endParaRPr lang="de-DE" sz="1800" b="1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T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F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31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T ⇔ T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F ⇔ F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Domination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4035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Idempotent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184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de-AT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AT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𝑝</m:t>
                                      </m:r>
                                    </m:e>
                                  </m:bar>
                                </m:e>
                              </m:bar>
                            </m:oMath>
                          </a14:m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Double Negation Law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995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832AE00-6D78-4FC1-B5A9-E451B6E83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435228"/>
                  </p:ext>
                </p:extLst>
              </p:nvPr>
            </p:nvGraphicFramePr>
            <p:xfrm>
              <a:off x="2772894" y="2251931"/>
              <a:ext cx="3597911" cy="308260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6874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Logical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</a:t>
                          </a:r>
                          <a:endParaRPr lang="de-DE" sz="1800" b="1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T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F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317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T ⇔ T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F ⇔ F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Domination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40356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Idempotent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184584"/>
                      </a:ext>
                    </a:extLst>
                  </a:tr>
                  <a:tr h="420688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4" t="-642029" r="-164889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Double Negation Law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995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2279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614067"/>
            <a:ext cx="8229600" cy="4525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show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these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logical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equivalences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do not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show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equivalences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Morgan‘s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Laws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>
              <a:defRPr/>
            </a:pPr>
            <a:endParaRPr lang="de-AT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64BFD6C8-7A5F-44C3-ACD6-5D8C0B6A76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973691"/>
                  </p:ext>
                </p:extLst>
              </p:nvPr>
            </p:nvGraphicFramePr>
            <p:xfrm>
              <a:off x="1825965" y="2528930"/>
              <a:ext cx="5587048" cy="3302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357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Logical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</a:t>
                          </a:r>
                          <a:endParaRPr lang="de-DE" sz="1800" b="1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Commutative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3379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Associative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991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de-DE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Distributive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91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18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∧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q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1800" i="0" dirty="0">
                                      <a:latin typeface="Calibri" panose="020F0502020204030204" pitchFamily="34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de-AT" sz="180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de-AT" sz="18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∨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q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1800" i="0" dirty="0">
                                      <a:latin typeface="Calibri" panose="020F0502020204030204" pitchFamily="34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de-AT" sz="180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AT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𝑞</m:t>
                                  </m:r>
                                </m:e>
                              </m:bar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Morgan‘s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951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64BFD6C8-7A5F-44C3-ACD6-5D8C0B6A76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973691"/>
                  </p:ext>
                </p:extLst>
              </p:nvPr>
            </p:nvGraphicFramePr>
            <p:xfrm>
              <a:off x="1825965" y="2528930"/>
              <a:ext cx="5587048" cy="3302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357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Logical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Equivalence</a:t>
                          </a:r>
                          <a:endParaRPr lang="de-DE" sz="1800" b="1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 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Commutative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33797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Associative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99128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de-DE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(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⇔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∧ </a:t>
                          </a:r>
                          <a:r>
                            <a:rPr 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q</a:t>
                          </a:r>
                          <a:r>
                            <a:rPr 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 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∨ (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</a:t>
                          </a:r>
                          <a: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∧ </a:t>
                          </a:r>
                          <a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 </a:t>
                          </a:r>
                          <a:r>
                            <a:rPr lang="en-US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Distributive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9173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81" t="-421905" r="-67029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Morgan‘s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9518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3239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More on logical equivalence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82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Working with logical equivalences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>
            <a:extLst>
              <a:ext uri="{FF2B5EF4-FFF2-40B4-BE49-F238E27FC236}">
                <a16:creationId xmlns:a16="http://schemas.microsoft.com/office/drawing/2014/main" id="{1E82E73F-9AD9-40FC-B0B3-CA8107A53E5E}"/>
              </a:ext>
            </a:extLst>
          </p:cNvPr>
          <p:cNvSpPr txBox="1">
            <a:spLocks/>
          </p:cNvSpPr>
          <p:nvPr/>
        </p:nvSpPr>
        <p:spPr>
          <a:xfrm>
            <a:off x="457200" y="1605600"/>
            <a:ext cx="8229600" cy="8568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8: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basic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logical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equivalences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that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we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have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already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proved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we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can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prove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further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logical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equivalences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without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truth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tables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39D5007-997B-4D49-9DD6-35427979A6A3}"/>
                  </a:ext>
                </a:extLst>
              </p:cNvPr>
              <p:cNvSpPr txBox="1"/>
              <p:nvPr/>
            </p:nvSpPr>
            <p:spPr>
              <a:xfrm>
                <a:off x="457200" y="2650680"/>
                <a:ext cx="8229600" cy="302871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15: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bar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(</m:t>
                        </m:r>
                        <m:bar>
                          <m:barPr>
                            <m:pos m:val="top"/>
                            <m:ctrlPr>
                              <a:rPr lang="de-AT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</m:ba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∧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are logically equivalent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∨</m:t>
                        </m:r>
                        <m:r>
                          <m:rPr>
                            <m:nor/>
                          </m:rPr>
                          <a: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(</m:t>
                        </m:r>
                        <m:bar>
                          <m:barPr>
                            <m:pos m:val="top"/>
                            <m:ctrlPr>
                              <a:rPr lang="de-AT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</m:bar>
                        <m:r>
                          <m:rPr>
                            <m:nor/>
                          </m:rPr>
                          <a: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de-AT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</m:ba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		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 </a:t>
                </a:r>
                <a:r>
                  <a:rPr kumimoji="0" lang="de-DE" sz="1800" b="0" i="0" u="none" strike="noStrike" kern="0" cap="none" spc="0" normalizeH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Morgan‘s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Law</a:t>
                </a:r>
                <a:endParaRPr kumimoji="0" lang="de-DE" sz="18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bar>
                          <m:barPr>
                            <m:pos m:val="top"/>
                            <m:ctrlP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</m:bar>
                      </m:e>
                    </m:bar>
                    <m:r>
                      <m:rPr>
                        <m:nor/>
                      </m:rPr>
                      <a:rPr lang="de-A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		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De </a:t>
                </a:r>
                <a:r>
                  <a:rPr kumimoji="0" lang="de-DE" sz="1800" b="0" i="0" u="none" strike="noStrike" kern="0" cap="none" spc="0" normalizeH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Morgan‘s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Law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⇔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de-DE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		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Double Negation Law</a:t>
                </a:r>
                <a:endParaRPr lang="de-DE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(</m:t>
                    </m:r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	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Distributive Law</a:t>
                </a: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(</m:t>
                    </m:r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		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Task 1: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∧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a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⇔</m:t>
                    </m: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F</m:t>
                    </m:r>
                  </m:oMath>
                </a14:m>
                <a:endParaRPr lang="de-DE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		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Commutative Law Disjunction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		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Identity Law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39D5007-997B-4D49-9DD6-35427979A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50680"/>
                <a:ext cx="8229600" cy="3028714"/>
              </a:xfrm>
              <a:prstGeom prst="rect">
                <a:avLst/>
              </a:prstGeom>
              <a:blipFill>
                <a:blip r:embed="rId3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662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Working with logical equivalences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39D5007-997B-4D49-9DD6-35427979A6A3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34561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16: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∧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tautology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show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that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statement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tautology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will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use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logical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equivalences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demonstrate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that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logically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equivalent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T.</a:t>
                </a:r>
              </a:p>
              <a:p>
                <a:pPr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∧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de-AT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AT" sz="1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	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1: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endParaRPr kumimoji="0" lang="de-DE" sz="18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	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1</a:t>
                </a:r>
                <a:r>
                  <a:rPr kumimoji="0" lang="de-DE" sz="18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st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De </a:t>
                </a:r>
                <a:r>
                  <a:rPr kumimoji="0" lang="de-DE" sz="1800" b="0" i="0" u="none" strike="noStrike" kern="0" cap="none" spc="0" normalizeH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Morgan‘s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Law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defRPr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⇔  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  <m:r>
                      <m:rPr>
                        <m:nor/>
                      </m:rPr>
                      <a:rPr lang="de-AT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Associative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Commutative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Laws</a:t>
                </a:r>
                <a:endParaRPr lang="de-DE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</a:t>
                </a:r>
                <a14:m>
                  <m:oMath xmlns:m="http://schemas.openxmlformats.org/officeDocument/2006/math">
                    <m: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T</m:t>
                    </m:r>
                  </m:oMath>
                </a14:m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	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Commutative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Laws and </a:t>
                </a:r>
              </a:p>
              <a:p>
                <a:pPr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			Task 1: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∨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T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	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⇔  </a:t>
                </a:r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			</a:t>
                </a:r>
                <a:r>
                  <a:rPr lang="de-AT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Domination Law</a:t>
                </a:r>
                <a:endParaRPr lang="de-DE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39D5007-997B-4D49-9DD6-35427979A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3456139"/>
              </a:xfrm>
              <a:prstGeom prst="rect">
                <a:avLst/>
              </a:prstGeom>
              <a:blipFill>
                <a:blip r:embed="rId3"/>
                <a:stretch>
                  <a:fillRect l="-593" t="-123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818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b="1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79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230832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4: 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each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following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implications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tautology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without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truth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tables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(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p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∧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→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→ (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q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p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→ </m:t>
                        </m:r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DE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ar>
                  </m:oMath>
                </a14:m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∨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</a:t>
                </a: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∧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 → (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q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</a:t>
                </a: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p </m:t>
                        </m:r>
                        <m:r>
                          <m:rPr>
                            <m:nor/>
                          </m:rPr>
                          <a:rPr lang="en-US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→ </m:t>
                        </m:r>
                        <m:r>
                          <m:rPr>
                            <m:nor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de-DE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ar>
                  </m:oMath>
                </a14:m>
                <a:r>
                  <a:rPr lang="de-AT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→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ba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2308324"/>
              </a:xfrm>
              <a:prstGeom prst="rect">
                <a:avLst/>
              </a:prstGeom>
              <a:blipFill>
                <a:blip r:embed="rId3"/>
                <a:stretch>
                  <a:fillRect l="-667" t="-1319" b="-316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79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3574</Words>
  <Application>Microsoft Macintosh PowerPoint</Application>
  <PresentationFormat>On-screen Show (4:3)</PresentationFormat>
  <Paragraphs>754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Blackadder ITC</vt:lpstr>
      <vt:lpstr>Calibri</vt:lpstr>
      <vt:lpstr>Cambria Math</vt:lpstr>
      <vt:lpstr>Wingdings</vt:lpstr>
      <vt:lpstr>Arial</vt:lpstr>
      <vt:lpstr>Office Theme</vt:lpstr>
      <vt:lpstr>Fundamentals of Computer Science and Programming </vt:lpstr>
      <vt:lpstr>Outline</vt:lpstr>
      <vt:lpstr>Propositions</vt:lpstr>
      <vt:lpstr>Introduction to logic</vt:lpstr>
      <vt:lpstr>Propositions</vt:lpstr>
      <vt:lpstr>Propositions</vt:lpstr>
      <vt:lpstr>A bit of notation</vt:lpstr>
      <vt:lpstr>Logical operators</vt:lpstr>
      <vt:lpstr>Compound propositions</vt:lpstr>
      <vt:lpstr>Truth tables and unary logical operators</vt:lpstr>
      <vt:lpstr>Binary logical operators (connectives): Conjunction</vt:lpstr>
      <vt:lpstr>Conjunction</vt:lpstr>
      <vt:lpstr>Disjunction</vt:lpstr>
      <vt:lpstr>Disjunction</vt:lpstr>
      <vt:lpstr>Exclusive OR</vt:lpstr>
      <vt:lpstr>Exclusive OR</vt:lpstr>
      <vt:lpstr>Implication and biconditional</vt:lpstr>
      <vt:lpstr>Implication</vt:lpstr>
      <vt:lpstr>Implication</vt:lpstr>
      <vt:lpstr>Implication</vt:lpstr>
      <vt:lpstr>Implication</vt:lpstr>
      <vt:lpstr>Implication</vt:lpstr>
      <vt:lpstr>Converse, inverse, and contrapositive</vt:lpstr>
      <vt:lpstr>Biconditional</vt:lpstr>
      <vt:lpstr>Biconditional</vt:lpstr>
      <vt:lpstr>Biconditional</vt:lpstr>
      <vt:lpstr>Operator precedence and truth tables</vt:lpstr>
      <vt:lpstr>Compound propositions with &gt;2 propositions</vt:lpstr>
      <vt:lpstr>Operator precedence</vt:lpstr>
      <vt:lpstr>Truth tables</vt:lpstr>
      <vt:lpstr>Truth tables</vt:lpstr>
      <vt:lpstr>Logical equivalence</vt:lpstr>
      <vt:lpstr>Tautology and contradiction</vt:lpstr>
      <vt:lpstr>Logical equivalence</vt:lpstr>
      <vt:lpstr>Logical equivalence</vt:lpstr>
      <vt:lpstr>Equivalences of converse, inverse, and contrapositive</vt:lpstr>
      <vt:lpstr>Exercise</vt:lpstr>
      <vt:lpstr>Student task</vt:lpstr>
      <vt:lpstr>Student task</vt:lpstr>
      <vt:lpstr>Student task</vt:lpstr>
      <vt:lpstr>More on logical equivalence</vt:lpstr>
      <vt:lpstr>Working with logical equivalences</vt:lpstr>
      <vt:lpstr>Working with logical equivalences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737</cp:revision>
  <dcterms:modified xsi:type="dcterms:W3CDTF">2026-09-30T19:41:51Z</dcterms:modified>
</cp:coreProperties>
</file>