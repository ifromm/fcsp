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37"/>
  </p:notesMasterIdLst>
  <p:sldIdLst>
    <p:sldId id="256" r:id="rId3"/>
    <p:sldId id="408" r:id="rId4"/>
    <p:sldId id="499" r:id="rId5"/>
    <p:sldId id="398" r:id="rId6"/>
    <p:sldId id="399" r:id="rId7"/>
    <p:sldId id="576" r:id="rId8"/>
    <p:sldId id="577" r:id="rId9"/>
    <p:sldId id="578" r:id="rId10"/>
    <p:sldId id="579" r:id="rId11"/>
    <p:sldId id="581" r:id="rId12"/>
    <p:sldId id="587" r:id="rId13"/>
    <p:sldId id="582" r:id="rId14"/>
    <p:sldId id="583" r:id="rId15"/>
    <p:sldId id="584" r:id="rId16"/>
    <p:sldId id="585" r:id="rId17"/>
    <p:sldId id="586" r:id="rId18"/>
    <p:sldId id="588" r:id="rId19"/>
    <p:sldId id="589" r:id="rId20"/>
    <p:sldId id="590" r:id="rId21"/>
    <p:sldId id="591" r:id="rId22"/>
    <p:sldId id="592" r:id="rId23"/>
    <p:sldId id="593" r:id="rId24"/>
    <p:sldId id="594" r:id="rId25"/>
    <p:sldId id="595" r:id="rId26"/>
    <p:sldId id="596" r:id="rId27"/>
    <p:sldId id="597" r:id="rId28"/>
    <p:sldId id="598" r:id="rId29"/>
    <p:sldId id="599" r:id="rId30"/>
    <p:sldId id="600" r:id="rId31"/>
    <p:sldId id="601" r:id="rId32"/>
    <p:sldId id="602" r:id="rId33"/>
    <p:sldId id="603" r:id="rId34"/>
    <p:sldId id="607" r:id="rId35"/>
    <p:sldId id="606" r:id="rId36"/>
  </p:sldIdLst>
  <p:sldSz cx="9144000" cy="6858000" type="screen4x3"/>
  <p:notesSz cx="7099300" cy="10234613"/>
  <p:embeddedFontLst>
    <p:embeddedFont>
      <p:font typeface="Blackadder ITC" pitchFamily="82" charset="77"/>
      <p:regular r:id="rId38"/>
    </p:embeddedFont>
    <p:embeddedFont>
      <p:font typeface="Cambria Math" panose="02040503050406030204" pitchFamily="18" charset="0"/>
      <p:regular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CECE8"/>
    <a:srgbClr val="F8D7CD"/>
    <a:srgbClr val="BFBFBF"/>
    <a:srgbClr val="32CD32"/>
    <a:srgbClr val="1E90FF"/>
    <a:srgbClr val="D3242A"/>
    <a:srgbClr val="EDEDED"/>
    <a:srgbClr val="ED7D31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C65F18-AA31-6F40-A7C5-40F1E05D8108}" v="3" dt="2025-12-02T20:09:36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585" autoAdjust="0"/>
  </p:normalViewPr>
  <p:slideViewPr>
    <p:cSldViewPr snapToGrid="0">
      <p:cViewPr varScale="1">
        <p:scale>
          <a:sx n="144" d="100"/>
          <a:sy n="144" d="100"/>
        </p:scale>
        <p:origin x="2480" y="192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84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82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8" Type="http://schemas.openxmlformats.org/officeDocument/2006/relationships/slide" Target="slides/slide6.xml"/><Relationship Id="rId80" Type="http://customschemas.google.com/relationships/presentationmetadata" Target="metadata"/><Relationship Id="rId85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modSld">
      <pc:chgData name="Ingo Frommholz" userId="ee3b4549-206f-4e4f-93a1-b7ff676f0af7" providerId="ADAL" clId="{5F8971C4-3D52-5FAB-A951-9912A46CDBB0}" dt="2025-12-02T20:14:28.753" v="76"/>
      <pc:docMkLst>
        <pc:docMk/>
      </pc:docMkLst>
      <pc:sldChg chg="modSp mod">
        <pc:chgData name="Ingo Frommholz" userId="ee3b4549-206f-4e4f-93a1-b7ff676f0af7" providerId="ADAL" clId="{5F8971C4-3D52-5FAB-A951-9912A46CDBB0}" dt="2025-12-02T18:04:44.418" v="5" actId="1037"/>
        <pc:sldMkLst>
          <pc:docMk/>
          <pc:sldMk cId="0" sldId="256"/>
        </pc:sldMkLst>
        <pc:spChg chg="mod">
          <ac:chgData name="Ingo Frommholz" userId="ee3b4549-206f-4e4f-93a1-b7ff676f0af7" providerId="ADAL" clId="{5F8971C4-3D52-5FAB-A951-9912A46CDBB0}" dt="2025-12-02T18:04:40.914" v="3" actId="20577"/>
          <ac:spMkLst>
            <pc:docMk/>
            <pc:sldMk cId="0" sldId="256"/>
            <ac:spMk id="80" creationId="{00000000-0000-0000-0000-000000000000}"/>
          </ac:spMkLst>
        </pc:spChg>
        <pc:picChg chg="mod">
          <ac:chgData name="Ingo Frommholz" userId="ee3b4549-206f-4e4f-93a1-b7ff676f0af7" providerId="ADAL" clId="{5F8971C4-3D52-5FAB-A951-9912A46CDBB0}" dt="2025-12-02T18:04:44.418" v="5" actId="1037"/>
          <ac:picMkLst>
            <pc:docMk/>
            <pc:sldMk cId="0" sldId="256"/>
            <ac:picMk id="78" creationId="{00000000-0000-0000-0000-000000000000}"/>
          </ac:picMkLst>
        </pc:picChg>
      </pc:sldChg>
      <pc:sldChg chg="addSp delSp modSp mod">
        <pc:chgData name="Ingo Frommholz" userId="ee3b4549-206f-4e4f-93a1-b7ff676f0af7" providerId="ADAL" clId="{5F8971C4-3D52-5FAB-A951-9912A46CDBB0}" dt="2025-12-02T18:53:56.850" v="8"/>
        <pc:sldMkLst>
          <pc:docMk/>
          <pc:sldMk cId="624770642" sldId="581"/>
        </pc:sldMkLst>
        <pc:spChg chg="add del mod">
          <ac:chgData name="Ingo Frommholz" userId="ee3b4549-206f-4e4f-93a1-b7ff676f0af7" providerId="ADAL" clId="{5F8971C4-3D52-5FAB-A951-9912A46CDBB0}" dt="2025-12-02T18:53:56.850" v="8"/>
          <ac:spMkLst>
            <pc:docMk/>
            <pc:sldMk cId="624770642" sldId="581"/>
            <ac:spMk id="3" creationId="{A797BD3F-802D-E240-3F9F-F09FC0BBC925}"/>
          </ac:spMkLst>
        </pc:spChg>
      </pc:sldChg>
      <pc:sldChg chg="addSp modSp mod">
        <pc:chgData name="Ingo Frommholz" userId="ee3b4549-206f-4e4f-93a1-b7ff676f0af7" providerId="ADAL" clId="{5F8971C4-3D52-5FAB-A951-9912A46CDBB0}" dt="2025-12-02T18:54:48.429" v="30" actId="1076"/>
        <pc:sldMkLst>
          <pc:docMk/>
          <pc:sldMk cId="3397521875" sldId="589"/>
        </pc:sldMkLst>
        <pc:spChg chg="add mod">
          <ac:chgData name="Ingo Frommholz" userId="ee3b4549-206f-4e4f-93a1-b7ff676f0af7" providerId="ADAL" clId="{5F8971C4-3D52-5FAB-A951-9912A46CDBB0}" dt="2025-12-02T18:54:48.429" v="30" actId="1076"/>
          <ac:spMkLst>
            <pc:docMk/>
            <pc:sldMk cId="3397521875" sldId="589"/>
            <ac:spMk id="3" creationId="{BA6AFED5-8BDE-36AD-A3E1-DFCD44634618}"/>
          </ac:spMkLst>
        </pc:spChg>
      </pc:sldChg>
      <pc:sldChg chg="modSp mod">
        <pc:chgData name="Ingo Frommholz" userId="ee3b4549-206f-4e4f-93a1-b7ff676f0af7" providerId="ADAL" clId="{5F8971C4-3D52-5FAB-A951-9912A46CDBB0}" dt="2025-12-02T18:58:21.368" v="34" actId="113"/>
        <pc:sldMkLst>
          <pc:docMk/>
          <pc:sldMk cId="553286327" sldId="591"/>
        </pc:sldMkLst>
        <pc:spChg chg="mod">
          <ac:chgData name="Ingo Frommholz" userId="ee3b4549-206f-4e4f-93a1-b7ff676f0af7" providerId="ADAL" clId="{5F8971C4-3D52-5FAB-A951-9912A46CDBB0}" dt="2025-12-02T18:58:21.368" v="34" actId="113"/>
          <ac:spMkLst>
            <pc:docMk/>
            <pc:sldMk cId="553286327" sldId="591"/>
            <ac:spMk id="10" creationId="{9254B13C-19D7-4861-A881-548D1903C1E4}"/>
          </ac:spMkLst>
        </pc:spChg>
      </pc:sldChg>
      <pc:sldChg chg="modSp mod">
        <pc:chgData name="Ingo Frommholz" userId="ee3b4549-206f-4e4f-93a1-b7ff676f0af7" providerId="ADAL" clId="{5F8971C4-3D52-5FAB-A951-9912A46CDBB0}" dt="2025-12-02T18:58:04.457" v="32" actId="20577"/>
        <pc:sldMkLst>
          <pc:docMk/>
          <pc:sldMk cId="3012784512" sldId="594"/>
        </pc:sldMkLst>
        <pc:spChg chg="mod">
          <ac:chgData name="Ingo Frommholz" userId="ee3b4549-206f-4e4f-93a1-b7ff676f0af7" providerId="ADAL" clId="{5F8971C4-3D52-5FAB-A951-9912A46CDBB0}" dt="2025-12-02T18:58:04.457" v="32" actId="20577"/>
          <ac:spMkLst>
            <pc:docMk/>
            <pc:sldMk cId="3012784512" sldId="594"/>
            <ac:spMk id="10" creationId="{9254B13C-19D7-4861-A881-548D1903C1E4}"/>
          </ac:spMkLst>
        </pc:spChg>
      </pc:sldChg>
      <pc:sldChg chg="modSp mod">
        <pc:chgData name="Ingo Frommholz" userId="ee3b4549-206f-4e4f-93a1-b7ff676f0af7" providerId="ADAL" clId="{5F8971C4-3D52-5FAB-A951-9912A46CDBB0}" dt="2025-12-02T19:24:06.675" v="73" actId="20577"/>
        <pc:sldMkLst>
          <pc:docMk/>
          <pc:sldMk cId="2055161380" sldId="601"/>
        </pc:sldMkLst>
        <pc:spChg chg="mod">
          <ac:chgData name="Ingo Frommholz" userId="ee3b4549-206f-4e4f-93a1-b7ff676f0af7" providerId="ADAL" clId="{5F8971C4-3D52-5FAB-A951-9912A46CDBB0}" dt="2025-12-02T19:24:06.675" v="73" actId="20577"/>
          <ac:spMkLst>
            <pc:docMk/>
            <pc:sldMk cId="2055161380" sldId="601"/>
            <ac:spMk id="10" creationId="{9254B13C-19D7-4861-A881-548D1903C1E4}"/>
          </ac:spMkLst>
        </pc:spChg>
      </pc:sldChg>
      <pc:sldChg chg="addSp delSp modSp mod">
        <pc:chgData name="Ingo Frommholz" userId="ee3b4549-206f-4e4f-93a1-b7ff676f0af7" providerId="ADAL" clId="{5F8971C4-3D52-5FAB-A951-9912A46CDBB0}" dt="2025-12-02T20:14:28.753" v="76"/>
        <pc:sldMkLst>
          <pc:docMk/>
          <pc:sldMk cId="3286686798" sldId="606"/>
        </pc:sldMkLst>
        <pc:spChg chg="add del mod">
          <ac:chgData name="Ingo Frommholz" userId="ee3b4549-206f-4e4f-93a1-b7ff676f0af7" providerId="ADAL" clId="{5F8971C4-3D52-5FAB-A951-9912A46CDBB0}" dt="2025-12-02T20:14:28.753" v="76"/>
          <ac:spMkLst>
            <pc:docMk/>
            <pc:sldMk cId="3286686798" sldId="606"/>
            <ac:spMk id="3" creationId="{4D12DA1B-713F-FF88-21EE-7B6540A9EF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322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557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083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636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4913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65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380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313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29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511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487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118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1430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541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0229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070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9449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7280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086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0700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437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8884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020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7981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771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3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14466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4479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7844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590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33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213993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34758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baseline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baseline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33</a:t>
            </a:r>
          </a:p>
        </p:txBody>
      </p:sp>
    </p:spTree>
    <p:extLst>
      <p:ext uri="{BB962C8B-B14F-4D97-AF65-F5344CB8AC3E}">
        <p14:creationId xmlns:p14="http://schemas.microsoft.com/office/powerpoint/2010/main" val="114847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lackadder ITC" panose="04020505051007020D02" pitchFamily="8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727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3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5" Type="http://schemas.openxmlformats.org/officeDocument/2006/relationships/slide" Target="slide17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015200" y="5175674"/>
            <a:ext cx="73944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10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Algorithms and Complexity, Part I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Algorithms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Insertion 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Analyzing algorithms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B5A47C-54F3-6F4A-8172-D85A93D52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5600"/>
            <a:ext cx="7692887" cy="1243735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Description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simple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steps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Flow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specifies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step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executed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Such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endParaRPr lang="de-AT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87;p2">
            <a:extLst>
              <a:ext uri="{FF2B5EF4-FFF2-40B4-BE49-F238E27FC236}">
                <a16:creationId xmlns:a16="http://schemas.microsoft.com/office/drawing/2014/main" id="{A2631455-C22E-4DC9-9A61-C9088D9EB4E8}"/>
              </a:ext>
            </a:extLst>
          </p:cNvPr>
          <p:cNvSpPr txBox="1">
            <a:spLocks noGrp="1"/>
          </p:cNvSpPr>
          <p:nvPr/>
        </p:nvSpPr>
        <p:spPr>
          <a:xfrm>
            <a:off x="457200" y="2933251"/>
            <a:ext cx="8229600" cy="10754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Definition 1: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algorithm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 a finite list of instructions that describe a computation that when executed on a provided set of inputs will proceed through a set of well-defined states and eventually produce an output.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731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Square root algorithm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7200" y="1605600"/>
            <a:ext cx="8229600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1: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basic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algorithm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components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in a simple recipe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computing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square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root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x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 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Start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guess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being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equal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0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 ⋅ g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close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x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,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stop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say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that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answer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Otherwise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create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new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guess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by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adding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ste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p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equal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0.1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g,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i.e.,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 + 0.1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new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guess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repeat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process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until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g ⋅ g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close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enough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x.</a:t>
            </a:r>
          </a:p>
        </p:txBody>
      </p:sp>
      <p:sp>
        <p:nvSpPr>
          <p:cNvPr id="8" name="Google Shape;87;p2">
            <a:extLst>
              <a:ext uri="{FF2B5EF4-FFF2-40B4-BE49-F238E27FC236}">
                <a16:creationId xmlns:a16="http://schemas.microsoft.com/office/drawing/2014/main" id="{ABEE0D1E-BC1E-4A49-BC7E-5EA36842F665}"/>
              </a:ext>
            </a:extLst>
          </p:cNvPr>
          <p:cNvSpPr txBox="1">
            <a:spLocks/>
          </p:cNvSpPr>
          <p:nvPr/>
        </p:nvSpPr>
        <p:spPr>
          <a:xfrm>
            <a:off x="456900" y="5229089"/>
            <a:ext cx="8229600" cy="114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Remark 2: 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algorithmic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technique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called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guess</a:t>
            </a:r>
            <a:r>
              <a:rPr kumimoji="0" lang="de-AT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and check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In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fact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special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variant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guess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and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chec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k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called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exhaustive </a:t>
            </a:r>
            <a:r>
              <a:rPr kumimoji="0" lang="de-A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enumeration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enumerate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all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possibilities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until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right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answer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exhaust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space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possibilities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38A363D1-1827-4756-A6EF-4862CAD03EF3}"/>
              </a:ext>
            </a:extLst>
          </p:cNvPr>
          <p:cNvSpPr/>
          <p:nvPr/>
        </p:nvSpPr>
        <p:spPr>
          <a:xfrm>
            <a:off x="1767687" y="3689509"/>
            <a:ext cx="1209216" cy="321616"/>
          </a:xfrm>
          <a:prstGeom prst="wedgeRectCallout">
            <a:avLst>
              <a:gd name="adj1" fmla="val -62526"/>
              <a:gd name="adj2" fmla="val -9640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Instruction</a:t>
            </a: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9DFD321D-A7F0-4058-875C-D6C8F7BD263A}"/>
              </a:ext>
            </a:extLst>
          </p:cNvPr>
          <p:cNvSpPr/>
          <p:nvPr/>
        </p:nvSpPr>
        <p:spPr>
          <a:xfrm>
            <a:off x="794583" y="904706"/>
            <a:ext cx="2272863" cy="525897"/>
          </a:xfrm>
          <a:prstGeom prst="wedgeRectCallout">
            <a:avLst>
              <a:gd name="adj1" fmla="val -57853"/>
              <a:gd name="adj2" fmla="val 24477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Finite </a:t>
            </a: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list</a:t>
            </a: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of</a:t>
            </a: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instructions</a:t>
            </a: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describing</a:t>
            </a: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a </a:t>
            </a: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computation</a:t>
            </a: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8F42758-EB0B-4553-B779-E083FFEEA481}"/>
              </a:ext>
            </a:extLst>
          </p:cNvPr>
          <p:cNvSpPr/>
          <p:nvPr/>
        </p:nvSpPr>
        <p:spPr>
          <a:xfrm>
            <a:off x="437982" y="2481492"/>
            <a:ext cx="356601" cy="1175617"/>
          </a:xfrm>
          <a:prstGeom prst="roundRect">
            <a:avLst/>
          </a:prstGeom>
          <a:solidFill>
            <a:srgbClr val="ED7D31">
              <a:alpha val="20000"/>
            </a:srgbClr>
          </a:solidFill>
          <a:ln>
            <a:solidFill>
              <a:srgbClr val="AE5A2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49943264-15CA-4C18-8112-4EC83698DB7F}"/>
              </a:ext>
            </a:extLst>
          </p:cNvPr>
          <p:cNvSpPr/>
          <p:nvPr/>
        </p:nvSpPr>
        <p:spPr>
          <a:xfrm>
            <a:off x="4573167" y="1102886"/>
            <a:ext cx="862786" cy="321616"/>
          </a:xfrm>
          <a:prstGeom prst="wedgeRectCallout">
            <a:avLst>
              <a:gd name="adj1" fmla="val -64082"/>
              <a:gd name="adj2" fmla="val 189871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Input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4FA9A911-23E5-4D00-8983-E3EC584857E9}"/>
              </a:ext>
            </a:extLst>
          </p:cNvPr>
          <p:cNvSpPr/>
          <p:nvPr/>
        </p:nvSpPr>
        <p:spPr>
          <a:xfrm>
            <a:off x="1791711" y="2506716"/>
            <a:ext cx="2370385" cy="26170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DAAABD0-C208-4844-9FB4-326C170BDDDB}"/>
              </a:ext>
            </a:extLst>
          </p:cNvPr>
          <p:cNvSpPr/>
          <p:nvPr/>
        </p:nvSpPr>
        <p:spPr>
          <a:xfrm>
            <a:off x="1048631" y="2794979"/>
            <a:ext cx="1568446" cy="26170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D73E3DE-5F63-4262-A65C-0DFCCDE347A0}"/>
              </a:ext>
            </a:extLst>
          </p:cNvPr>
          <p:cNvSpPr/>
          <p:nvPr/>
        </p:nvSpPr>
        <p:spPr>
          <a:xfrm>
            <a:off x="7277363" y="3056687"/>
            <a:ext cx="818006" cy="26170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8C59DCD-709A-4FE7-8C26-EC7E386F61AF}"/>
              </a:ext>
            </a:extLst>
          </p:cNvPr>
          <p:cNvSpPr/>
          <p:nvPr/>
        </p:nvSpPr>
        <p:spPr>
          <a:xfrm>
            <a:off x="5331596" y="3341993"/>
            <a:ext cx="2399814" cy="26170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47D3F2AF-A8CC-43E2-910C-F88D3D5859FB}"/>
              </a:ext>
            </a:extLst>
          </p:cNvPr>
          <p:cNvSpPr/>
          <p:nvPr/>
        </p:nvSpPr>
        <p:spPr>
          <a:xfrm>
            <a:off x="3546675" y="2788608"/>
            <a:ext cx="2267647" cy="261708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Sprechblase: rechteckig 18">
            <a:extLst>
              <a:ext uri="{FF2B5EF4-FFF2-40B4-BE49-F238E27FC236}">
                <a16:creationId xmlns:a16="http://schemas.microsoft.com/office/drawing/2014/main" id="{AE573A19-FE78-4F77-8D2C-CA68D53239CD}"/>
              </a:ext>
            </a:extLst>
          </p:cNvPr>
          <p:cNvSpPr/>
          <p:nvPr/>
        </p:nvSpPr>
        <p:spPr>
          <a:xfrm>
            <a:off x="1326406" y="1997900"/>
            <a:ext cx="1209216" cy="321616"/>
          </a:xfrm>
          <a:prstGeom prst="wedgeRectCallout">
            <a:avLst>
              <a:gd name="adj1" fmla="val -72435"/>
              <a:gd name="adj2" fmla="val 11928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Instruction</a:t>
            </a: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" name="Sprechblase: rechteckig 19">
            <a:extLst>
              <a:ext uri="{FF2B5EF4-FFF2-40B4-BE49-F238E27FC236}">
                <a16:creationId xmlns:a16="http://schemas.microsoft.com/office/drawing/2014/main" id="{52C3D813-FE57-40CF-8726-1531373D6301}"/>
              </a:ext>
            </a:extLst>
          </p:cNvPr>
          <p:cNvSpPr/>
          <p:nvPr/>
        </p:nvSpPr>
        <p:spPr>
          <a:xfrm>
            <a:off x="3263178" y="3689509"/>
            <a:ext cx="1209216" cy="321616"/>
          </a:xfrm>
          <a:prstGeom prst="wedgeRectCallout">
            <a:avLst>
              <a:gd name="adj1" fmla="val -51053"/>
              <a:gd name="adj2" fmla="val -26503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Instruction</a:t>
            </a: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Sprechblase: rechteckig 20">
            <a:extLst>
              <a:ext uri="{FF2B5EF4-FFF2-40B4-BE49-F238E27FC236}">
                <a16:creationId xmlns:a16="http://schemas.microsoft.com/office/drawing/2014/main" id="{AEA928D7-AEBD-4227-92E4-B5E2BA46EEDB}"/>
              </a:ext>
            </a:extLst>
          </p:cNvPr>
          <p:cNvSpPr/>
          <p:nvPr/>
        </p:nvSpPr>
        <p:spPr>
          <a:xfrm>
            <a:off x="6672755" y="2491266"/>
            <a:ext cx="1209216" cy="321616"/>
          </a:xfrm>
          <a:prstGeom prst="wedgeRectCallout">
            <a:avLst>
              <a:gd name="adj1" fmla="val -54703"/>
              <a:gd name="adj2" fmla="val 13693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Instruction</a:t>
            </a:r>
            <a:endParaRPr kumimoji="0" lang="de-AT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" name="Sprechblase: rechteckig 21">
            <a:extLst>
              <a:ext uri="{FF2B5EF4-FFF2-40B4-BE49-F238E27FC236}">
                <a16:creationId xmlns:a16="http://schemas.microsoft.com/office/drawing/2014/main" id="{93B0FDB4-AC4C-40CF-9978-4476555CB3F1}"/>
              </a:ext>
            </a:extLst>
          </p:cNvPr>
          <p:cNvSpPr/>
          <p:nvPr/>
        </p:nvSpPr>
        <p:spPr>
          <a:xfrm>
            <a:off x="4814982" y="2047748"/>
            <a:ext cx="862786" cy="321616"/>
          </a:xfrm>
          <a:prstGeom prst="wedgeRectCallout">
            <a:avLst>
              <a:gd name="adj1" fmla="val -61158"/>
              <a:gd name="adj2" fmla="val 168302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Output</a:t>
            </a:r>
          </a:p>
        </p:txBody>
      </p:sp>
      <p:sp>
        <p:nvSpPr>
          <p:cNvPr id="23" name="Sprechblase: rechteckig 22">
            <a:extLst>
              <a:ext uri="{FF2B5EF4-FFF2-40B4-BE49-F238E27FC236}">
                <a16:creationId xmlns:a16="http://schemas.microsoft.com/office/drawing/2014/main" id="{6AAF432E-963A-4481-A2F7-68CBD2C0A1F6}"/>
              </a:ext>
            </a:extLst>
          </p:cNvPr>
          <p:cNvSpPr/>
          <p:nvPr/>
        </p:nvSpPr>
        <p:spPr>
          <a:xfrm>
            <a:off x="3299310" y="1108761"/>
            <a:ext cx="862786" cy="321616"/>
          </a:xfrm>
          <a:prstGeom prst="wedgeRectCallout">
            <a:avLst>
              <a:gd name="adj1" fmla="val -120362"/>
              <a:gd name="adj2" fmla="val 358499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State</a:t>
            </a:r>
          </a:p>
        </p:txBody>
      </p:sp>
      <p:sp>
        <p:nvSpPr>
          <p:cNvPr id="24" name="Sprechblase: rechteckig 23">
            <a:extLst>
              <a:ext uri="{FF2B5EF4-FFF2-40B4-BE49-F238E27FC236}">
                <a16:creationId xmlns:a16="http://schemas.microsoft.com/office/drawing/2014/main" id="{47A72049-F736-4D35-9029-9B5D7D81DD57}"/>
              </a:ext>
            </a:extLst>
          </p:cNvPr>
          <p:cNvSpPr/>
          <p:nvPr/>
        </p:nvSpPr>
        <p:spPr>
          <a:xfrm>
            <a:off x="5884895" y="2051891"/>
            <a:ext cx="862786" cy="321616"/>
          </a:xfrm>
          <a:prstGeom prst="wedgeRectCallout">
            <a:avLst>
              <a:gd name="adj1" fmla="val -20227"/>
              <a:gd name="adj2" fmla="val 329087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State</a:t>
            </a:r>
          </a:p>
        </p:txBody>
      </p:sp>
      <p:sp>
        <p:nvSpPr>
          <p:cNvPr id="25" name="Sprechblase: rechteckig 24">
            <a:extLst>
              <a:ext uri="{FF2B5EF4-FFF2-40B4-BE49-F238E27FC236}">
                <a16:creationId xmlns:a16="http://schemas.microsoft.com/office/drawing/2014/main" id="{5C76B9FC-CAEE-42A4-854F-97362AA9D9EB}"/>
              </a:ext>
            </a:extLst>
          </p:cNvPr>
          <p:cNvSpPr/>
          <p:nvPr/>
        </p:nvSpPr>
        <p:spPr>
          <a:xfrm>
            <a:off x="513057" y="3692515"/>
            <a:ext cx="862786" cy="321616"/>
          </a:xfrm>
          <a:prstGeom prst="wedgeRectCallout">
            <a:avLst>
              <a:gd name="adj1" fmla="val 47017"/>
              <a:gd name="adj2" fmla="val -233659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State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9682D03D-365F-495B-A21C-AAA16505274F}"/>
              </a:ext>
            </a:extLst>
          </p:cNvPr>
          <p:cNvSpPr/>
          <p:nvPr/>
        </p:nvSpPr>
        <p:spPr>
          <a:xfrm>
            <a:off x="3487333" y="1957910"/>
            <a:ext cx="985062" cy="261708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de-AT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7" name="Sprechblase: rechteckig 26">
            <a:extLst>
              <a:ext uri="{FF2B5EF4-FFF2-40B4-BE49-F238E27FC236}">
                <a16:creationId xmlns:a16="http://schemas.microsoft.com/office/drawing/2014/main" id="{AD0F9FAD-3302-4299-BC05-63BCC390D943}"/>
              </a:ext>
            </a:extLst>
          </p:cNvPr>
          <p:cNvSpPr/>
          <p:nvPr/>
        </p:nvSpPr>
        <p:spPr>
          <a:xfrm>
            <a:off x="7817594" y="2047748"/>
            <a:ext cx="862786" cy="321616"/>
          </a:xfrm>
          <a:prstGeom prst="wedgeRectCallout">
            <a:avLst>
              <a:gd name="adj1" fmla="val -31922"/>
              <a:gd name="adj2" fmla="val 24869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AT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State</a:t>
            </a:r>
          </a:p>
        </p:txBody>
      </p:sp>
      <p:sp>
        <p:nvSpPr>
          <p:cNvPr id="28" name="Google Shape;87;p2">
            <a:extLst>
              <a:ext uri="{FF2B5EF4-FFF2-40B4-BE49-F238E27FC236}">
                <a16:creationId xmlns:a16="http://schemas.microsoft.com/office/drawing/2014/main" id="{8A522EF5-8CA2-43AB-8B76-EFBB1AC377E3}"/>
              </a:ext>
            </a:extLst>
          </p:cNvPr>
          <p:cNvSpPr txBox="1">
            <a:spLocks noGrp="1"/>
          </p:cNvSpPr>
          <p:nvPr/>
        </p:nvSpPr>
        <p:spPr>
          <a:xfrm>
            <a:off x="457200" y="4105757"/>
            <a:ext cx="8229600" cy="10754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Definition 1: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algorithm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 a finite list of instructions that describe a computation that when executed on a provided set of inputs will proceed through a set of well-defined states and eventually produce an output.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43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5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Studying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87;p2">
                <a:extLst>
                  <a:ext uri="{FF2B5EF4-FFF2-40B4-BE49-F238E27FC236}">
                    <a16:creationId xmlns:a16="http://schemas.microsoft.com/office/drawing/2014/main" id="{A2631455-C22E-4DC9-9A61-C9088D9EB4E8}"/>
                  </a:ext>
                </a:extLst>
              </p:cNvPr>
              <p:cNvSpPr txBox="1">
                <a:spLocks noGrp="1"/>
              </p:cNvSpPr>
              <p:nvPr/>
            </p:nvSpPr>
            <p:spPr>
              <a:xfrm>
                <a:off x="456900" y="2170800"/>
                <a:ext cx="8229600" cy="15804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Definition 2: Sorting </a:t>
                </a: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problem.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Input: 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 sequence of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</m:oMath>
                </a14:m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numbers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…,</m:t>
                        </m:r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lvl="0" indent="0">
                  <a:spcBef>
                    <a:spcPts val="640"/>
                  </a:spcBef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Output: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 permutation (reordering)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de-AT" sz="18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de-AT" sz="18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 …,</m:t>
                        </m:r>
                        <m:sSubSup>
                          <m:sSubSupPr>
                            <m:ctrlPr>
                              <a:rPr lang="de-AT" sz="18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of the input sequence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bSup>
                      <m:sSubSup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  <m: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…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bSup>
                      <m:sSubSup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  <m: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Google Shape;87;p2">
                <a:extLst>
                  <a:ext uri="{FF2B5EF4-FFF2-40B4-BE49-F238E27FC236}">
                    <a16:creationId xmlns:a16="http://schemas.microsoft.com/office/drawing/2014/main" id="{A2631455-C22E-4DC9-9A61-C9088D9EB4E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00" y="2170800"/>
                <a:ext cx="8229600" cy="1580400"/>
              </a:xfrm>
              <a:prstGeom prst="rect">
                <a:avLst/>
              </a:prstGeom>
              <a:blipFill>
                <a:blip r:embed="rId3"/>
                <a:stretch>
                  <a:fillRect l="-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feld 2">
            <a:extLst>
              <a:ext uri="{FF2B5EF4-FFF2-40B4-BE49-F238E27FC236}">
                <a16:creationId xmlns:a16="http://schemas.microsoft.com/office/drawing/2014/main" id="{06C09BE1-3FBC-4C9D-BF0F-28F322F061F3}"/>
              </a:ext>
            </a:extLst>
          </p:cNvPr>
          <p:cNvSpPr txBox="1"/>
          <p:nvPr/>
        </p:nvSpPr>
        <p:spPr>
          <a:xfrm>
            <a:off x="457200" y="1605600"/>
            <a:ext cx="82296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Sorting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problem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Sorting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an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ascending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order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 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9" name="Textfeld 2">
            <a:extLst>
              <a:ext uri="{FF2B5EF4-FFF2-40B4-BE49-F238E27FC236}">
                <a16:creationId xmlns:a16="http://schemas.microsoft.com/office/drawing/2014/main" id="{32B58B8C-6B9B-418E-AEAC-84A1081DDCE0}"/>
              </a:ext>
            </a:extLst>
          </p:cNvPr>
          <p:cNvSpPr txBox="1"/>
          <p:nvPr/>
        </p:nvSpPr>
        <p:spPr>
          <a:xfrm>
            <a:off x="456900" y="4083600"/>
            <a:ext cx="82296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3: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Given an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(31, 41, 59, 26, 41, 58),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returns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(26, 31, 41, 41, 58, 59)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 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900" y="4832669"/>
            <a:ext cx="8229300" cy="1243735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 err="1"/>
              <a:t>Sorting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a fundamental </a:t>
            </a:r>
            <a:r>
              <a:rPr lang="de-AT" dirty="0" err="1"/>
              <a:t>operation</a:t>
            </a:r>
            <a:r>
              <a:rPr lang="de-AT" dirty="0"/>
              <a:t> in </a:t>
            </a:r>
            <a:r>
              <a:rPr lang="de-AT" dirty="0" err="1"/>
              <a:t>computer</a:t>
            </a:r>
            <a:r>
              <a:rPr lang="de-AT" dirty="0"/>
              <a:t> </a:t>
            </a:r>
            <a:r>
              <a:rPr lang="de-AT" dirty="0" err="1"/>
              <a:t>science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programs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 intermediate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step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endParaRPr lang="de-AT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45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Studying algorithms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00" y="2744669"/>
            <a:ext cx="8229300" cy="2266531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/>
              <a:t>The </a:t>
            </a:r>
            <a:r>
              <a:rPr lang="de-AT" dirty="0" err="1"/>
              <a:t>sequence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example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called</a:t>
            </a:r>
            <a:r>
              <a:rPr lang="de-AT" dirty="0"/>
              <a:t> an </a:t>
            </a:r>
            <a:r>
              <a:rPr lang="de-AT" b="1" dirty="0" err="1"/>
              <a:t>instance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sorting</a:t>
            </a:r>
            <a:r>
              <a:rPr lang="de-AT" dirty="0"/>
              <a:t> </a:t>
            </a:r>
            <a:r>
              <a:rPr lang="de-AT" dirty="0" err="1"/>
              <a:t>problem</a:t>
            </a:r>
            <a:endParaRPr lang="de-AT" dirty="0"/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/>
              <a:t>An </a:t>
            </a:r>
            <a:r>
              <a:rPr lang="de-AT" dirty="0" err="1"/>
              <a:t>instance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 </a:t>
            </a:r>
            <a:r>
              <a:rPr lang="de-AT" dirty="0" err="1"/>
              <a:t>problem</a:t>
            </a:r>
            <a:r>
              <a:rPr lang="de-AT" dirty="0"/>
              <a:t> </a:t>
            </a:r>
            <a:r>
              <a:rPr lang="de-AT" dirty="0" err="1"/>
              <a:t>consists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all </a:t>
            </a:r>
            <a:r>
              <a:rPr lang="de-AT" dirty="0" err="1"/>
              <a:t>inputs</a:t>
            </a:r>
            <a:r>
              <a:rPr lang="de-AT" dirty="0"/>
              <a:t> </a:t>
            </a:r>
            <a:r>
              <a:rPr lang="de-AT" dirty="0" err="1"/>
              <a:t>needed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compute</a:t>
            </a:r>
            <a:r>
              <a:rPr lang="de-AT" dirty="0"/>
              <a:t> a </a:t>
            </a:r>
            <a:r>
              <a:rPr lang="de-AT" dirty="0" err="1"/>
              <a:t>solution</a:t>
            </a:r>
            <a:endParaRPr lang="de-AT" dirty="0"/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every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instance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halts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lang="de-AT" dirty="0" err="1"/>
              <a:t>gorithm</a:t>
            </a:r>
            <a:r>
              <a:rPr lang="de-AT" dirty="0"/>
              <a:t> </a:t>
            </a:r>
            <a:r>
              <a:rPr lang="de-AT" b="1" dirty="0" err="1"/>
              <a:t>solves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given</a:t>
            </a:r>
            <a:r>
              <a:rPr lang="de-AT" dirty="0"/>
              <a:t> </a:t>
            </a:r>
            <a:r>
              <a:rPr lang="de-AT" dirty="0" err="1"/>
              <a:t>computational</a:t>
            </a:r>
            <a:r>
              <a:rPr lang="de-AT" dirty="0"/>
              <a:t> </a:t>
            </a:r>
            <a:r>
              <a:rPr lang="de-AT" dirty="0" err="1"/>
              <a:t>problem</a:t>
            </a:r>
            <a:endParaRPr lang="de-AT" dirty="0"/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incorrect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AT" dirty="0"/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May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never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halt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Halts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incorrect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feld 2">
            <a:extLst>
              <a:ext uri="{FF2B5EF4-FFF2-40B4-BE49-F238E27FC236}">
                <a16:creationId xmlns:a16="http://schemas.microsoft.com/office/drawing/2014/main" id="{8BE96BDE-593C-4FEF-8468-F1717192A801}"/>
              </a:ext>
            </a:extLst>
          </p:cNvPr>
          <p:cNvSpPr txBox="1"/>
          <p:nvPr/>
        </p:nvSpPr>
        <p:spPr>
          <a:xfrm>
            <a:off x="564600" y="1758369"/>
            <a:ext cx="82296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3: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Given an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(31, 41, 59, 26, 41, 58),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returns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(26, 31, 41, 41, 58, 59)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 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011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500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4"/>
            <a:ext cx="8229300" cy="2266531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 err="1"/>
              <a:t>We</a:t>
            </a:r>
            <a:r>
              <a:rPr lang="de-AT" dirty="0"/>
              <a:t> will </a:t>
            </a:r>
            <a:r>
              <a:rPr lang="de-AT" dirty="0" err="1"/>
              <a:t>start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b="1" dirty="0" err="1"/>
              <a:t>insertion</a:t>
            </a:r>
            <a:r>
              <a:rPr lang="de-AT" b="1" dirty="0"/>
              <a:t> </a:t>
            </a:r>
            <a:r>
              <a:rPr lang="de-AT" b="1" dirty="0" err="1"/>
              <a:t>sort</a:t>
            </a:r>
            <a:endParaRPr lang="de-AT" b="1" dirty="0"/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small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elements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Insertion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works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way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dirty="0" err="1"/>
              <a:t>hand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cards</a:t>
            </a:r>
            <a:endParaRPr lang="de-AT" dirty="0"/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empty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hand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and a deck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cards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pick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at a time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cards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hand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card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insert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card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2B6371B-578A-4E1C-A49C-68E97BB7C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841" y="3919665"/>
            <a:ext cx="3163830" cy="238658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0455014-D33F-4281-892C-A3CA3ED3BAF0}"/>
              </a:ext>
            </a:extLst>
          </p:cNvPr>
          <p:cNvSpPr txBox="1"/>
          <p:nvPr/>
        </p:nvSpPr>
        <p:spPr>
          <a:xfrm>
            <a:off x="1836966" y="6242400"/>
            <a:ext cx="5469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https://www.linux-magazine.com/Issues/2020/233/Sorted/%28offset%29/3</a:t>
            </a:r>
          </a:p>
        </p:txBody>
      </p:sp>
    </p:spTree>
    <p:extLst>
      <p:ext uri="{BB962C8B-B14F-4D97-AF65-F5344CB8AC3E}">
        <p14:creationId xmlns:p14="http://schemas.microsoft.com/office/powerpoint/2010/main" val="772765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0D2DAD-F52E-4539-9FBD-EC4A76C69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436235"/>
              </p:ext>
            </p:extLst>
          </p:nvPr>
        </p:nvGraphicFramePr>
        <p:xfrm>
          <a:off x="1639200" y="4644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77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0D2DAD-F52E-4539-9FBD-EC4A76C69F3F}"/>
              </a:ext>
            </a:extLst>
          </p:cNvPr>
          <p:cNvGraphicFramePr>
            <a:graphicFrameLocks noGrp="1"/>
          </p:cNvGraphicFramePr>
          <p:nvPr/>
        </p:nvGraphicFramePr>
        <p:xfrm>
          <a:off x="1639200" y="4644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5B535821-6567-4EC6-9C45-50559106B8C1}"/>
              </a:ext>
            </a:extLst>
          </p:cNvPr>
          <p:cNvSpPr/>
          <p:nvPr/>
        </p:nvSpPr>
        <p:spPr>
          <a:xfrm flipH="1">
            <a:off x="1908000" y="5385880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D31BCB6E-E0E7-420E-83EC-0E95EDC124A4}"/>
              </a:ext>
            </a:extLst>
          </p:cNvPr>
          <p:cNvSpPr/>
          <p:nvPr/>
        </p:nvSpPr>
        <p:spPr>
          <a:xfrm>
            <a:off x="2347405" y="5385880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7653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0D2DAD-F52E-4539-9FBD-EC4A76C69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17569"/>
              </p:ext>
            </p:extLst>
          </p:nvPr>
        </p:nvGraphicFramePr>
        <p:xfrm>
          <a:off x="1639200" y="4644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5B535821-6567-4EC6-9C45-50559106B8C1}"/>
              </a:ext>
            </a:extLst>
          </p:cNvPr>
          <p:cNvSpPr/>
          <p:nvPr/>
        </p:nvSpPr>
        <p:spPr>
          <a:xfrm flipH="1">
            <a:off x="2887200" y="5385880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D31BCB6E-E0E7-420E-83EC-0E95EDC124A4}"/>
              </a:ext>
            </a:extLst>
          </p:cNvPr>
          <p:cNvSpPr/>
          <p:nvPr/>
        </p:nvSpPr>
        <p:spPr>
          <a:xfrm>
            <a:off x="3283405" y="5385880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8492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0D2DAD-F52E-4539-9FBD-EC4A76C69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153818"/>
              </p:ext>
            </p:extLst>
          </p:nvPr>
        </p:nvGraphicFramePr>
        <p:xfrm>
          <a:off x="1639200" y="4644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5B535821-6567-4EC6-9C45-50559106B8C1}"/>
              </a:ext>
            </a:extLst>
          </p:cNvPr>
          <p:cNvSpPr/>
          <p:nvPr/>
        </p:nvSpPr>
        <p:spPr>
          <a:xfrm flipH="1">
            <a:off x="4838400" y="5385880"/>
            <a:ext cx="7920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02172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0D2DAD-F52E-4539-9FBD-EC4A76C69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19553"/>
              </p:ext>
            </p:extLst>
          </p:nvPr>
        </p:nvGraphicFramePr>
        <p:xfrm>
          <a:off x="1639200" y="4644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5B535821-6567-4EC6-9C45-50559106B8C1}"/>
              </a:ext>
            </a:extLst>
          </p:cNvPr>
          <p:cNvSpPr/>
          <p:nvPr/>
        </p:nvSpPr>
        <p:spPr>
          <a:xfrm flipH="1">
            <a:off x="1814400" y="5385880"/>
            <a:ext cx="47592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F90D12DB-5FBF-45C8-B665-A5D408408829}"/>
              </a:ext>
            </a:extLst>
          </p:cNvPr>
          <p:cNvSpPr/>
          <p:nvPr/>
        </p:nvSpPr>
        <p:spPr>
          <a:xfrm>
            <a:off x="2311405" y="5373681"/>
            <a:ext cx="791590" cy="2373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4E286182-2CC5-429E-BF60-1D381A1D9095}"/>
              </a:ext>
            </a:extLst>
          </p:cNvPr>
          <p:cNvSpPr/>
          <p:nvPr/>
        </p:nvSpPr>
        <p:spPr>
          <a:xfrm>
            <a:off x="3376953" y="536643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3EEC3B42-7ACE-4454-AB36-FAE27A5E3ABA}"/>
              </a:ext>
            </a:extLst>
          </p:cNvPr>
          <p:cNvSpPr/>
          <p:nvPr/>
        </p:nvSpPr>
        <p:spPr>
          <a:xfrm>
            <a:off x="4389728" y="5366481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1143AE1-F40C-4E0F-B028-56FAAF48B9D3}"/>
              </a:ext>
            </a:extLst>
          </p:cNvPr>
          <p:cNvSpPr/>
          <p:nvPr/>
        </p:nvSpPr>
        <p:spPr>
          <a:xfrm>
            <a:off x="5402503" y="5366481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1403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0D2DAD-F52E-4539-9FBD-EC4A76C69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86782"/>
              </p:ext>
            </p:extLst>
          </p:nvPr>
        </p:nvGraphicFramePr>
        <p:xfrm>
          <a:off x="1639200" y="4644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5B535821-6567-4EC6-9C45-50559106B8C1}"/>
              </a:ext>
            </a:extLst>
          </p:cNvPr>
          <p:cNvSpPr/>
          <p:nvPr/>
        </p:nvSpPr>
        <p:spPr>
          <a:xfrm flipH="1">
            <a:off x="3981600" y="5385880"/>
            <a:ext cx="35232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3EEC3B42-7ACE-4454-AB36-FAE27A5E3ABA}"/>
              </a:ext>
            </a:extLst>
          </p:cNvPr>
          <p:cNvSpPr/>
          <p:nvPr/>
        </p:nvSpPr>
        <p:spPr>
          <a:xfrm>
            <a:off x="4389728" y="5366481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1143AE1-F40C-4E0F-B028-56FAAF48B9D3}"/>
              </a:ext>
            </a:extLst>
          </p:cNvPr>
          <p:cNvSpPr/>
          <p:nvPr/>
        </p:nvSpPr>
        <p:spPr>
          <a:xfrm>
            <a:off x="5402503" y="5366481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23B1796C-F520-4572-9BA4-65E3D4D462A7}"/>
              </a:ext>
            </a:extLst>
          </p:cNvPr>
          <p:cNvSpPr/>
          <p:nvPr/>
        </p:nvSpPr>
        <p:spPr>
          <a:xfrm>
            <a:off x="6453651" y="5354581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59768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0D2DAD-F52E-4539-9FBD-EC4A76C69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099644"/>
              </p:ext>
            </p:extLst>
          </p:nvPr>
        </p:nvGraphicFramePr>
        <p:xfrm>
          <a:off x="1639200" y="4644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198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488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1477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1: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table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previous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model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illustrate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operation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insertion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sort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on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(31, 41, 59, 26, 41, 58).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de-DE" sz="18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Task 2: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Rewrite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insertion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sort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procedure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sort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into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descending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nonincreasing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order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ascending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nondecreasing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order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AFED5-8BDE-36AD-A3E1-DFCD44634618}"/>
              </a:ext>
            </a:extLst>
          </p:cNvPr>
          <p:cNvSpPr txBox="1"/>
          <p:nvPr/>
        </p:nvSpPr>
        <p:spPr>
          <a:xfrm>
            <a:off x="457200" y="3844031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See Python Notebook!</a:t>
            </a:r>
          </a:p>
        </p:txBody>
      </p:sp>
    </p:spTree>
    <p:extLst>
      <p:ext uri="{BB962C8B-B14F-4D97-AF65-F5344CB8AC3E}">
        <p14:creationId xmlns:p14="http://schemas.microsoft.com/office/powerpoint/2010/main" val="3397521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Analyzing algorithms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 algorithms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90734"/>
            <a:ext cx="8229300" cy="350926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want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predict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needs</a:t>
            </a:r>
            <a:endParaRPr lang="de-AT" dirty="0"/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b="1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interested</a:t>
            </a:r>
            <a:r>
              <a:rPr lang="de-AT" dirty="0"/>
              <a:t> in </a:t>
            </a:r>
            <a:r>
              <a:rPr lang="de-AT" dirty="0" err="1"/>
              <a:t>efficient</a:t>
            </a:r>
            <a:r>
              <a:rPr lang="de-AT" dirty="0"/>
              <a:t> </a:t>
            </a:r>
            <a:r>
              <a:rPr lang="de-AT" dirty="0" err="1"/>
              <a:t>algorithms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do not </a:t>
            </a:r>
            <a:r>
              <a:rPr lang="de-AT" dirty="0" err="1"/>
              <a:t>require</a:t>
            </a:r>
            <a:r>
              <a:rPr lang="de-AT" dirty="0"/>
              <a:t> a </a:t>
            </a:r>
            <a:r>
              <a:rPr lang="de-AT" dirty="0" err="1"/>
              <a:t>lot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resources</a:t>
            </a:r>
            <a:endParaRPr lang="de-AT" dirty="0"/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dirty="0" err="1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de-AT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computation</a:t>
            </a:r>
            <a:r>
              <a:rPr lang="de-AT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b="1" dirty="0" err="1"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lang="de-AT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Random-access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machine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(RAM)</a:t>
            </a: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Instructions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executed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after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another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 err="1"/>
              <a:t>Analyzing</a:t>
            </a:r>
            <a:r>
              <a:rPr lang="de-AT" dirty="0"/>
              <a:t> </a:t>
            </a:r>
            <a:r>
              <a:rPr lang="de-AT" dirty="0" err="1"/>
              <a:t>algorithms</a:t>
            </a:r>
            <a:r>
              <a:rPr lang="de-AT" dirty="0"/>
              <a:t> </a:t>
            </a:r>
            <a:r>
              <a:rPr lang="de-AT" dirty="0" err="1"/>
              <a:t>requires</a:t>
            </a:r>
            <a:r>
              <a:rPr lang="de-AT" dirty="0"/>
              <a:t> sophisticated </a:t>
            </a:r>
            <a:r>
              <a:rPr lang="de-AT" b="1" dirty="0" err="1"/>
              <a:t>mathematical</a:t>
            </a:r>
            <a:r>
              <a:rPr lang="de-AT" b="1" dirty="0"/>
              <a:t> </a:t>
            </a:r>
            <a:r>
              <a:rPr lang="de-AT" b="1" dirty="0" err="1"/>
              <a:t>tools</a:t>
            </a:r>
            <a:r>
              <a:rPr lang="de-AT" dirty="0"/>
              <a:t>: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Combinatorics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Algebra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Asymptotic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86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 insertion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90734"/>
            <a:ext cx="8229300" cy="210526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The time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taken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insertion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depends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thousand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takes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longer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Even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same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take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different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times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Depending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nearly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already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endParaRPr lang="de-AT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nearly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take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time</a:t>
            </a: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 err="1"/>
              <a:t>Hence</a:t>
            </a:r>
            <a:r>
              <a:rPr lang="de-AT" dirty="0"/>
              <a:t>,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need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define</a:t>
            </a:r>
            <a:r>
              <a:rPr lang="de-AT" dirty="0"/>
              <a:t> </a:t>
            </a:r>
            <a:r>
              <a:rPr lang="de-AT" dirty="0" err="1"/>
              <a:t>terms</a:t>
            </a:r>
            <a:r>
              <a:rPr lang="de-AT" dirty="0"/>
              <a:t> </a:t>
            </a:r>
            <a:r>
              <a:rPr lang="de-AT" b="1" dirty="0" err="1"/>
              <a:t>running</a:t>
            </a:r>
            <a:r>
              <a:rPr lang="de-AT" b="1" dirty="0"/>
              <a:t> time </a:t>
            </a:r>
            <a:r>
              <a:rPr lang="de-AT" dirty="0"/>
              <a:t>and </a:t>
            </a:r>
            <a:r>
              <a:rPr lang="de-AT" b="1" dirty="0" err="1"/>
              <a:t>input</a:t>
            </a:r>
            <a:r>
              <a:rPr lang="de-AT" b="1" dirty="0"/>
              <a:t> </a:t>
            </a:r>
            <a:r>
              <a:rPr lang="de-AT" b="1" dirty="0" err="1"/>
              <a:t>size</a:t>
            </a:r>
            <a:endParaRPr lang="de-A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081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Defining input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0124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best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notion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depend</a:t>
                </a:r>
                <a:r>
                  <a:rPr lang="de-AT" dirty="0" err="1"/>
                  <a:t>s</a:t>
                </a:r>
                <a:r>
                  <a:rPr lang="de-AT" dirty="0"/>
                  <a:t> on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problem</a:t>
                </a:r>
                <a:r>
                  <a:rPr lang="de-AT" dirty="0"/>
                  <a:t> </a:t>
                </a:r>
                <a:r>
                  <a:rPr lang="de-AT" dirty="0" err="1"/>
                  <a:t>being</a:t>
                </a:r>
                <a:r>
                  <a:rPr lang="de-AT" dirty="0"/>
                  <a:t> </a:t>
                </a:r>
                <a:r>
                  <a:rPr lang="de-AT" dirty="0" err="1"/>
                  <a:t>solved</a:t>
                </a:r>
                <a:endParaRPr lang="de-AT" dirty="0"/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many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problems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sorting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285750">
                  <a:buFont typeface="Wingdings" panose="05000000000000000000" pitchFamily="2" charset="2"/>
                  <a:buChar char="v"/>
                </a:pP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items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endParaRPr lang="de-AT" sz="1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Length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many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other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problems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multiplying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integers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285750">
                  <a:buFont typeface="Wingdings" panose="05000000000000000000" pitchFamily="2" charset="2"/>
                  <a:buChar char="v"/>
                </a:pP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Total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bits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represent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integers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Sometimes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more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nodes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links</a:t>
                </a: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always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indicate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input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measure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using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01246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649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Defining running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0124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running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time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primitive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executed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execution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steps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/>
                  <a:t>We</a:t>
                </a:r>
                <a:r>
                  <a:rPr lang="de-AT" dirty="0"/>
                  <a:t> </a:t>
                </a:r>
                <a:r>
                  <a:rPr lang="de-AT" dirty="0" err="1"/>
                  <a:t>want</a:t>
                </a:r>
                <a:r>
                  <a:rPr lang="de-AT" dirty="0"/>
                  <a:t> </a:t>
                </a:r>
                <a:r>
                  <a:rPr lang="de-AT" dirty="0" err="1"/>
                  <a:t>to</a:t>
                </a:r>
                <a:r>
                  <a:rPr lang="de-AT" dirty="0"/>
                  <a:t> </a:t>
                </a:r>
                <a:r>
                  <a:rPr lang="de-AT" dirty="0" err="1"/>
                  <a:t>define</a:t>
                </a:r>
                <a:r>
                  <a:rPr lang="de-AT" dirty="0"/>
                  <a:t> </a:t>
                </a:r>
                <a:r>
                  <a:rPr lang="de-AT" dirty="0" err="1"/>
                  <a:t>number</a:t>
                </a:r>
                <a:r>
                  <a:rPr lang="de-AT" dirty="0"/>
                  <a:t> </a:t>
                </a:r>
                <a:r>
                  <a:rPr lang="de-AT" dirty="0" err="1"/>
                  <a:t>of</a:t>
                </a:r>
                <a:r>
                  <a:rPr lang="de-AT" dirty="0"/>
                  <a:t> </a:t>
                </a:r>
                <a:r>
                  <a:rPr lang="de-AT" dirty="0" err="1"/>
                  <a:t>steps</a:t>
                </a:r>
                <a:r>
                  <a:rPr lang="de-AT" dirty="0"/>
                  <a:t> in a </a:t>
                </a:r>
                <a:r>
                  <a:rPr lang="de-AT" dirty="0" err="1"/>
                  <a:t>machine</a:t>
                </a:r>
                <a:r>
                  <a:rPr lang="de-AT" dirty="0"/>
                  <a:t> </a:t>
                </a:r>
                <a:r>
                  <a:rPr lang="de-AT" dirty="0" err="1"/>
                  <a:t>independent</a:t>
                </a:r>
                <a:r>
                  <a:rPr lang="de-AT" dirty="0"/>
                  <a:t> </a:t>
                </a:r>
                <a:r>
                  <a:rPr lang="de-AT" dirty="0" err="1"/>
                  <a:t>way</a:t>
                </a:r>
                <a:endParaRPr lang="de-AT" dirty="0"/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constant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amount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time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needed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execute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line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code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One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line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take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different time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other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line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take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amount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time</a:t>
                </a:r>
              </a:p>
              <a:p>
                <a:pPr marL="1314450" lvl="2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These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differences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typically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neglibile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/>
                  <a:t>This </a:t>
                </a:r>
                <a:r>
                  <a:rPr lang="de-AT" dirty="0" err="1"/>
                  <a:t>model</a:t>
                </a:r>
                <a:r>
                  <a:rPr lang="de-AT" dirty="0"/>
                  <a:t> </a:t>
                </a:r>
                <a:r>
                  <a:rPr lang="de-AT" dirty="0" err="1"/>
                  <a:t>is</a:t>
                </a:r>
                <a:r>
                  <a:rPr lang="de-AT" dirty="0"/>
                  <a:t> </a:t>
                </a:r>
                <a:r>
                  <a:rPr lang="de-AT" dirty="0" err="1"/>
                  <a:t>compatible</a:t>
                </a:r>
                <a:r>
                  <a:rPr lang="de-AT" dirty="0"/>
                  <a:t> </a:t>
                </a:r>
                <a:r>
                  <a:rPr lang="de-AT" dirty="0" err="1"/>
                  <a:t>with</a:t>
                </a:r>
                <a:r>
                  <a:rPr lang="de-AT" dirty="0"/>
                  <a:t> </a:t>
                </a:r>
                <a:r>
                  <a:rPr lang="de-AT" dirty="0" err="1"/>
                  <a:t>the</a:t>
                </a:r>
                <a:r>
                  <a:rPr lang="de-AT" dirty="0"/>
                  <a:t> RAM </a:t>
                </a:r>
                <a:r>
                  <a:rPr lang="de-AT" dirty="0" err="1"/>
                  <a:t>computation</a:t>
                </a:r>
                <a:r>
                  <a:rPr lang="de-AT" dirty="0"/>
                  <a:t> </a:t>
                </a:r>
                <a:r>
                  <a:rPr lang="de-AT" dirty="0" err="1"/>
                  <a:t>model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01246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784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Running time of 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494001"/>
            <a:ext cx="5539344" cy="4162048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for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in range(1,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len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(l)):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800" spc="-1" dirty="0">
                <a:latin typeface="Consolas" panose="020B0609020204030204" pitchFamily="49" charset="0"/>
              </a:rPr>
              <a:t>   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current_value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= l[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800" spc="-1" dirty="0">
                <a:latin typeface="Consolas" panose="020B0609020204030204" pitchFamily="49" charset="0"/>
              </a:rPr>
              <a:t>    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j =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–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while j &gt;= 0 and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current_value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&lt; l[j]: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800" spc="-1" dirty="0"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    l[j + 1] = l[j]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800" spc="-1" dirty="0"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    j -=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800" spc="-1" dirty="0"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l[j + 1] =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current_value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e 2">
                <a:extLst>
                  <a:ext uri="{FF2B5EF4-FFF2-40B4-BE49-F238E27FC236}">
                    <a16:creationId xmlns:a16="http://schemas.microsoft.com/office/drawing/2014/main" id="{E3A66D2C-ABFF-4578-8F6B-14BE799DEE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3478402"/>
                  </p:ext>
                </p:extLst>
              </p:nvPr>
            </p:nvGraphicFramePr>
            <p:xfrm>
              <a:off x="67402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e 2">
                <a:extLst>
                  <a:ext uri="{FF2B5EF4-FFF2-40B4-BE49-F238E27FC236}">
                    <a16:creationId xmlns:a16="http://schemas.microsoft.com/office/drawing/2014/main" id="{E3A66D2C-ABFF-4578-8F6B-14BE799DEE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3478402"/>
                  </p:ext>
                </p:extLst>
              </p:nvPr>
            </p:nvGraphicFramePr>
            <p:xfrm>
              <a:off x="67402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08333" r="-143662" b="-10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1500" t="-108333" r="-2000" b="-10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04" t="-208333" r="-143662" b="-9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1500" t="-208333" r="-2000" b="-9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04" t="-308333" r="-143662" b="-8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1500" t="-308333" r="-2000" b="-8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72535" r="-143662" b="-243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1500" t="-172535" r="-2000" b="-243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04" t="-274468" r="-143662" b="-145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1500" t="-274468" r="-2000" b="-145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04" t="-371831" r="-143662" b="-4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1500" t="-371831" r="-2000" b="-4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04" t="-1116667" r="-143662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1500" t="-1116667" r="-200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18DDECCF-F341-4392-8EA0-69D74BB0428F}"/>
              </a:ext>
            </a:extLst>
          </p:cNvPr>
          <p:cNvCxnSpPr>
            <a:cxnSpLocks/>
          </p:cNvCxnSpPr>
          <p:nvPr/>
        </p:nvCxnSpPr>
        <p:spPr>
          <a:xfrm>
            <a:off x="645456" y="1857600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80931F6-63E3-4AD2-AF65-30FD11CF2A0C}"/>
              </a:ext>
            </a:extLst>
          </p:cNvPr>
          <p:cNvCxnSpPr>
            <a:cxnSpLocks/>
          </p:cNvCxnSpPr>
          <p:nvPr/>
        </p:nvCxnSpPr>
        <p:spPr>
          <a:xfrm>
            <a:off x="645456" y="2247600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5339F03-2E75-4EAB-A438-36604805F932}"/>
              </a:ext>
            </a:extLst>
          </p:cNvPr>
          <p:cNvCxnSpPr>
            <a:cxnSpLocks/>
          </p:cNvCxnSpPr>
          <p:nvPr/>
        </p:nvCxnSpPr>
        <p:spPr>
          <a:xfrm>
            <a:off x="645456" y="2600400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1A48DDEE-D297-46E9-9B4A-6073EBCFBB1A}"/>
              </a:ext>
            </a:extLst>
          </p:cNvPr>
          <p:cNvCxnSpPr>
            <a:cxnSpLocks/>
          </p:cNvCxnSpPr>
          <p:nvPr/>
        </p:nvCxnSpPr>
        <p:spPr>
          <a:xfrm>
            <a:off x="645456" y="3493200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1961DE9-2476-4D57-90F0-C8B3F88D4189}"/>
              </a:ext>
            </a:extLst>
          </p:cNvPr>
          <p:cNvCxnSpPr>
            <a:cxnSpLocks/>
          </p:cNvCxnSpPr>
          <p:nvPr/>
        </p:nvCxnSpPr>
        <p:spPr>
          <a:xfrm>
            <a:off x="645456" y="4321200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28A0333-DA7D-48BC-BE91-FC5C23BFD98D}"/>
              </a:ext>
            </a:extLst>
          </p:cNvPr>
          <p:cNvCxnSpPr>
            <a:cxnSpLocks/>
          </p:cNvCxnSpPr>
          <p:nvPr/>
        </p:nvCxnSpPr>
        <p:spPr>
          <a:xfrm>
            <a:off x="645456" y="5205869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127EAD8-80FD-4BF3-948A-8F57A9E2E6BB}"/>
              </a:ext>
            </a:extLst>
          </p:cNvPr>
          <p:cNvCxnSpPr>
            <a:cxnSpLocks/>
          </p:cNvCxnSpPr>
          <p:nvPr/>
        </p:nvCxnSpPr>
        <p:spPr>
          <a:xfrm>
            <a:off x="645456" y="5540849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68DB050-BB58-49A4-8451-C5A4CF008E55}"/>
              </a:ext>
            </a:extLst>
          </p:cNvPr>
          <p:cNvCxnSpPr>
            <a:cxnSpLocks/>
          </p:cNvCxnSpPr>
          <p:nvPr/>
        </p:nvCxnSpPr>
        <p:spPr>
          <a:xfrm>
            <a:off x="645456" y="1494001"/>
            <a:ext cx="609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54468D8E-523D-463C-BFA9-61678A4453F6}"/>
              </a:ext>
            </a:extLst>
          </p:cNvPr>
          <p:cNvSpPr/>
          <p:nvPr/>
        </p:nvSpPr>
        <p:spPr>
          <a:xfrm>
            <a:off x="6825600" y="1526070"/>
            <a:ext cx="684000" cy="306930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92FB459-FB85-444A-9522-7CFF18DD0E55}"/>
              </a:ext>
            </a:extLst>
          </p:cNvPr>
          <p:cNvSpPr/>
          <p:nvPr/>
        </p:nvSpPr>
        <p:spPr>
          <a:xfrm>
            <a:off x="7878000" y="1546005"/>
            <a:ext cx="684000" cy="306930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BAD2D12-402B-4AD0-9C35-D781570E38CC}"/>
              </a:ext>
            </a:extLst>
          </p:cNvPr>
          <p:cNvSpPr/>
          <p:nvPr/>
        </p:nvSpPr>
        <p:spPr>
          <a:xfrm>
            <a:off x="6873846" y="2290470"/>
            <a:ext cx="684000" cy="251130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3056A4A-FCD6-45A9-88F3-8992CE742F66}"/>
              </a:ext>
            </a:extLst>
          </p:cNvPr>
          <p:cNvSpPr/>
          <p:nvPr/>
        </p:nvSpPr>
        <p:spPr>
          <a:xfrm>
            <a:off x="7814544" y="2247600"/>
            <a:ext cx="684000" cy="262197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4DAE3BC-2C77-412A-B239-11F6063822E5}"/>
              </a:ext>
            </a:extLst>
          </p:cNvPr>
          <p:cNvSpPr/>
          <p:nvPr/>
        </p:nvSpPr>
        <p:spPr>
          <a:xfrm>
            <a:off x="6825600" y="3544529"/>
            <a:ext cx="684000" cy="306930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D072AA9-B1FD-4246-BA4D-BE222C12881A}"/>
              </a:ext>
            </a:extLst>
          </p:cNvPr>
          <p:cNvSpPr/>
          <p:nvPr/>
        </p:nvSpPr>
        <p:spPr>
          <a:xfrm>
            <a:off x="7723056" y="3511800"/>
            <a:ext cx="1024944" cy="757800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CF7C039-E6ED-4E3B-8B39-49DA1E39F328}"/>
              </a:ext>
            </a:extLst>
          </p:cNvPr>
          <p:cNvSpPr/>
          <p:nvPr/>
        </p:nvSpPr>
        <p:spPr>
          <a:xfrm>
            <a:off x="6842112" y="5233920"/>
            <a:ext cx="684000" cy="251130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69D3F19-B9A6-457E-817D-56F5FB3CA438}"/>
              </a:ext>
            </a:extLst>
          </p:cNvPr>
          <p:cNvSpPr/>
          <p:nvPr/>
        </p:nvSpPr>
        <p:spPr>
          <a:xfrm>
            <a:off x="7893528" y="5216939"/>
            <a:ext cx="684000" cy="268111"/>
          </a:xfrm>
          <a:prstGeom prst="rect">
            <a:avLst/>
          </a:prstGeom>
          <a:solidFill>
            <a:srgbClr val="F8D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A6812B0-5A9A-48F8-A94D-215B43037A3A}"/>
              </a:ext>
            </a:extLst>
          </p:cNvPr>
          <p:cNvSpPr/>
          <p:nvPr/>
        </p:nvSpPr>
        <p:spPr>
          <a:xfrm>
            <a:off x="7893528" y="1891606"/>
            <a:ext cx="684000" cy="306930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685A1AD-E386-4527-BAB6-76A4BC9285EF}"/>
              </a:ext>
            </a:extLst>
          </p:cNvPr>
          <p:cNvSpPr/>
          <p:nvPr/>
        </p:nvSpPr>
        <p:spPr>
          <a:xfrm>
            <a:off x="6856362" y="1908270"/>
            <a:ext cx="684000" cy="306930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854475-4010-4CFF-84B4-2E4BA77A4A46}"/>
              </a:ext>
            </a:extLst>
          </p:cNvPr>
          <p:cNvSpPr/>
          <p:nvPr/>
        </p:nvSpPr>
        <p:spPr>
          <a:xfrm>
            <a:off x="6825600" y="2701171"/>
            <a:ext cx="684000" cy="306930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E06CB4B-00C6-4896-83C8-9BCA9B4A2D09}"/>
              </a:ext>
            </a:extLst>
          </p:cNvPr>
          <p:cNvSpPr/>
          <p:nvPr/>
        </p:nvSpPr>
        <p:spPr>
          <a:xfrm>
            <a:off x="6825600" y="4396558"/>
            <a:ext cx="684000" cy="306930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07C232D-D06D-43E5-8EED-EEE12B193761}"/>
              </a:ext>
            </a:extLst>
          </p:cNvPr>
          <p:cNvSpPr/>
          <p:nvPr/>
        </p:nvSpPr>
        <p:spPr>
          <a:xfrm>
            <a:off x="7893528" y="2646808"/>
            <a:ext cx="684000" cy="757799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1F28BC72-BE9C-4ED4-B2E4-62929E22019D}"/>
              </a:ext>
            </a:extLst>
          </p:cNvPr>
          <p:cNvSpPr/>
          <p:nvPr/>
        </p:nvSpPr>
        <p:spPr>
          <a:xfrm>
            <a:off x="7723056" y="4376792"/>
            <a:ext cx="1024944" cy="784347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3096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Running time of insertion sort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494734"/>
                <a:ext cx="6073200" cy="34804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Total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running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time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sum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running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times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statement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executed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statement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takes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steps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executed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times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takes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total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time</a:t>
                </a: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/>
                  <a:t>To</a:t>
                </a:r>
                <a:r>
                  <a:rPr lang="de-AT" dirty="0"/>
                  <a:t> </a:t>
                </a:r>
                <a:r>
                  <a:rPr lang="de-AT" dirty="0" err="1"/>
                  <a:t>compute</a:t>
                </a:r>
                <a:r>
                  <a:rPr lang="de-AT" dirty="0"/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de-AT" dirty="0"/>
                  <a:t>, </a:t>
                </a:r>
                <a:r>
                  <a:rPr lang="de-AT" dirty="0" err="1"/>
                  <a:t>the</a:t>
                </a:r>
                <a:r>
                  <a:rPr lang="de-AT" dirty="0"/>
                  <a:t> total </a:t>
                </a:r>
                <a:r>
                  <a:rPr lang="de-AT" dirty="0" err="1"/>
                  <a:t>running</a:t>
                </a:r>
                <a:r>
                  <a:rPr lang="de-AT" dirty="0"/>
                  <a:t> time on </a:t>
                </a:r>
                <a:r>
                  <a:rPr lang="de-AT" dirty="0" err="1"/>
                  <a:t>input</a:t>
                </a:r>
                <a:r>
                  <a:rPr lang="de-AT" dirty="0"/>
                  <a:t> </a:t>
                </a:r>
                <a:r>
                  <a:rPr lang="de-AT" dirty="0" err="1"/>
                  <a:t>size</a:t>
                </a:r>
                <a:r>
                  <a:rPr lang="de-AT" dirty="0"/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AT" dirty="0"/>
                  <a:t>:</a:t>
                </a:r>
              </a:p>
              <a:p>
                <a:pPr marL="114300" indent="0"/>
                <a:endParaRPr lang="de-AT" dirty="0"/>
              </a:p>
              <a:p>
                <a:pPr marL="114300" indent="0"/>
                <a:endParaRPr lang="de-AT" dirty="0"/>
              </a:p>
              <a:p>
                <a:pPr marL="11430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b="0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de-AT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−1)+ </m:t>
                              </m:r>
                            </m:e>
                          </m:nary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de-AT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−1)</m:t>
                      </m:r>
                    </m:oMath>
                  </m:oMathPara>
                </a14:m>
                <a:endParaRPr lang="de-AT" b="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94734"/>
                <a:ext cx="6073200" cy="3480466"/>
              </a:xfrm>
              <a:blipFill>
                <a:blip r:embed="rId3"/>
                <a:stretch>
                  <a:fillRect r="-502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4319715"/>
                  </p:ext>
                </p:extLst>
              </p:nvPr>
            </p:nvGraphicFramePr>
            <p:xfrm>
              <a:off x="67402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4319715"/>
                  </p:ext>
                </p:extLst>
              </p:nvPr>
            </p:nvGraphicFramePr>
            <p:xfrm>
              <a:off x="67402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04" t="-108333" r="-143662" b="-10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1500" t="-108333" r="-2000" b="-10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04" t="-208333" r="-143662" b="-9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1500" t="-208333" r="-2000" b="-9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04" t="-308333" r="-143662" b="-8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1500" t="-308333" r="-2000" b="-8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04" t="-172535" r="-143662" b="-243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1500" t="-172535" r="-2000" b="-243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04" t="-274468" r="-143662" b="-145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1500" t="-274468" r="-2000" b="-145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04" t="-371831" r="-143662" b="-4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1500" t="-371831" r="-2000" b="-4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04" t="-1116667" r="-143662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1500" t="-1116667" r="-200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7733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Best case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14800" y="1418400"/>
                <a:ext cx="6670800" cy="4968450"/>
              </a:xfrm>
            </p:spPr>
            <p:txBody>
              <a:bodyPr/>
              <a:lstStyle/>
              <a:p>
                <a:pPr marL="11430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−1)+ </m:t>
                              </m:r>
                            </m:e>
                          </m:nary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−1)</m:t>
                      </m:r>
                    </m:oMath>
                  </m:oMathPara>
                </a14:m>
                <a:endParaRPr lang="de-AT" dirty="0">
                  <a:ea typeface="Calibri" panose="020F0502020204030204" pitchFamily="34" charset="0"/>
                </a:endParaRPr>
              </a:p>
              <a:p>
                <a:pPr marL="114300" indent="0"/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b="0" dirty="0">
                    <a:ea typeface="Calibri" panose="020F0502020204030204" pitchFamily="34" charset="0"/>
                  </a:rPr>
                  <a:t>Best </a:t>
                </a:r>
                <a:r>
                  <a:rPr lang="de-AT" b="0" dirty="0" err="1">
                    <a:ea typeface="Calibri" panose="020F0502020204030204" pitchFamily="34" charset="0"/>
                  </a:rPr>
                  <a:t>case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is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when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the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list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is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already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sorted</a:t>
                </a: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>
                    <a:solidFill>
                      <a:schemeClr val="tx1"/>
                    </a:solidFill>
                    <a:highlight>
                      <a:srgbClr val="DAE3F3"/>
                    </a:highlight>
                    <a:latin typeface="Consolas" panose="020B0609020204030204" pitchFamily="49" charset="0"/>
                    <a:ea typeface="Calibri" panose="020F0502020204030204" pitchFamily="34" charset="0"/>
                  </a:rPr>
                  <a:t>while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condition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is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executed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only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once</a:t>
                </a:r>
                <a:r>
                  <a:rPr lang="de-AT" dirty="0">
                    <a:ea typeface="Calibri" panose="020F0502020204030204" pitchFamily="34" charset="0"/>
                  </a:rPr>
                  <a:t> in </a:t>
                </a:r>
                <a:r>
                  <a:rPr lang="de-AT" dirty="0" err="1">
                    <a:ea typeface="Calibri" panose="020F0502020204030204" pitchFamily="34" charset="0"/>
                  </a:rPr>
                  <a:t>each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iteration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of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highlight>
                      <a:srgbClr val="DAE3F3"/>
                    </a:highlight>
                    <a:latin typeface="Consolas" panose="020B0609020204030204" pitchFamily="49" charset="0"/>
                    <a:ea typeface="Calibri" panose="020F0502020204030204" pitchFamily="34" charset="0"/>
                  </a:rPr>
                  <a:t>for</a:t>
                </a:r>
                <a:endParaRPr lang="de-AT" dirty="0">
                  <a:highlight>
                    <a:srgbClr val="DAE3F3"/>
                  </a:highlight>
                  <a:latin typeface="Consolas" panose="020B0609020204030204" pitchFamily="49" charset="0"/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b="0" dirty="0">
                    <a:ea typeface="Calibri" panose="020F0502020204030204" pitchFamily="34" charset="0"/>
                  </a:rPr>
                  <a:t>Statements in </a:t>
                </a:r>
                <a:r>
                  <a:rPr lang="de-AT" b="0" dirty="0" err="1">
                    <a:ea typeface="Calibri" panose="020F0502020204030204" pitchFamily="34" charset="0"/>
                  </a:rPr>
                  <a:t>the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whil</a:t>
                </a:r>
                <a:r>
                  <a:rPr lang="de-AT" dirty="0" err="1">
                    <a:ea typeface="Calibri" panose="020F0502020204030204" pitchFamily="34" charset="0"/>
                  </a:rPr>
                  <a:t>e</a:t>
                </a:r>
                <a:r>
                  <a:rPr lang="de-AT" dirty="0">
                    <a:ea typeface="Calibri" panose="020F0502020204030204" pitchFamily="34" charset="0"/>
                  </a:rPr>
                  <a:t> loop </a:t>
                </a:r>
                <a:r>
                  <a:rPr lang="de-AT" dirty="0" err="1">
                    <a:ea typeface="Calibri" panose="020F0502020204030204" pitchFamily="34" charset="0"/>
                  </a:rPr>
                  <a:t>are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never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executed</a:t>
                </a:r>
                <a:endParaRPr lang="de-AT" dirty="0">
                  <a:ea typeface="Calibri" panose="020F0502020204030204" pitchFamily="34" charset="0"/>
                </a:endParaRPr>
              </a:p>
              <a:p>
                <a:pPr marL="114300" indent="0"/>
                <a:endParaRPr lang="de-AT" b="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4800" y="1418400"/>
                <a:ext cx="6670800" cy="4968450"/>
              </a:xfrm>
              <a:blipFill>
                <a:blip r:embed="rId3"/>
                <a:stretch>
                  <a:fillRect t="-159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7965789"/>
                  </p:ext>
                </p:extLst>
              </p:nvPr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7965789"/>
                  </p:ext>
                </p:extLst>
              </p:nvPr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08333" r="-142958" b="-10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08333" r="-2010" b="-10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08333" r="-142958" b="-9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08333" r="-2010" b="-9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08333" r="-142958" b="-8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08333" r="-2010" b="-8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72535" r="-142958" b="-243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72535" r="-2010" b="-243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74468" r="-142958" b="-145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74468" r="-2010" b="-145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71831" r="-142958" b="-4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71831" r="-2010" b="-4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116667" r="-142958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116667" r="-201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feld 5">
            <a:extLst>
              <a:ext uri="{FF2B5EF4-FFF2-40B4-BE49-F238E27FC236}">
                <a16:creationId xmlns:a16="http://schemas.microsoft.com/office/drawing/2014/main" id="{036BF394-F339-480A-8884-327D34F55225}"/>
              </a:ext>
            </a:extLst>
          </p:cNvPr>
          <p:cNvSpPr txBox="1"/>
          <p:nvPr/>
        </p:nvSpPr>
        <p:spPr>
          <a:xfrm>
            <a:off x="810000" y="3333239"/>
            <a:ext cx="5488944" cy="206280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50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Best case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656" y="1497600"/>
                <a:ext cx="6670800" cy="4234771"/>
              </a:xfrm>
            </p:spPr>
            <p:txBody>
              <a:bodyPr/>
              <a:lstStyle/>
              <a:p>
                <a:pPr marL="114300" indent="0"/>
                <a:endParaRPr lang="de-AT" b="0" dirty="0">
                  <a:ea typeface="Calibri" panose="020F0502020204030204" pitchFamily="34" charset="0"/>
                </a:endParaRPr>
              </a:p>
              <a:p>
                <a:pPr marL="1143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−1)+ </m:t>
                              </m:r>
                            </m:e>
                          </m:nary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de-AT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 </m:t>
                              </m:r>
                            </m:e>
                          </m:nary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</m:t>
                          </m:r>
                        </m:e>
                      </m:d>
                    </m:oMath>
                  </m:oMathPara>
                </a14:m>
                <a:br>
                  <a:rPr lang="de-AT" i="1" dirty="0">
                    <a:latin typeface="Cambria Math" panose="02040503050406030204" pitchFamily="18" charset="0"/>
                    <a:ea typeface="Calibri" panose="020F0502020204030204" pitchFamily="34" charset="0"/>
                  </a:rPr>
                </a:br>
                <a:r>
                  <a:rPr lang="de-AT" i="1" dirty="0">
                    <a:latin typeface="Cambria Math" panose="02040503050406030204" pitchFamily="18" charset="0"/>
                    <a:ea typeface="Calibri" panose="020F050202020403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de-AT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AT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AT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AT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de-AT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AT" i="1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</m:oMath>
                </a14:m>
                <a:br>
                  <a:rPr lang="de-AT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           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de-AT" b="0" dirty="0"/>
              </a:p>
              <a:p>
                <a:pPr marL="114300" indent="0"/>
                <a:endParaRPr lang="de-AT" dirty="0"/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b="1" dirty="0"/>
                  <a:t>Linear </a:t>
                </a:r>
                <a:r>
                  <a:rPr lang="de-AT" b="1" dirty="0" err="1"/>
                  <a:t>running</a:t>
                </a:r>
                <a:r>
                  <a:rPr lang="de-AT" b="1" dirty="0"/>
                  <a:t> time</a:t>
                </a: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656" y="1497600"/>
                <a:ext cx="6670800" cy="4234771"/>
              </a:xfrm>
              <a:blipFill>
                <a:blip r:embed="rId3"/>
                <a:stretch>
                  <a:fillRect b="-86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08333" r="-142958" b="-10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08333" r="-2010" b="-10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08333" r="-142958" b="-9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08333" r="-2010" b="-9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08333" r="-142958" b="-8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08333" r="-2010" b="-8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72535" r="-142958" b="-243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72535" r="-2010" b="-243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74468" r="-142958" b="-145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74468" r="-2010" b="-145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71831" r="-142958" b="-4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71831" r="-2010" b="-4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116667" r="-142958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116667" r="-201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6709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Worst case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14800" y="1418400"/>
                <a:ext cx="6670800" cy="4968450"/>
              </a:xfrm>
            </p:spPr>
            <p:txBody>
              <a:bodyPr/>
              <a:lstStyle/>
              <a:p>
                <a:pPr marL="11430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−1)+ </m:t>
                              </m:r>
                            </m:e>
                          </m:nary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−1)</m:t>
                      </m:r>
                    </m:oMath>
                  </m:oMathPara>
                </a14:m>
                <a:endParaRPr lang="de-AT" dirty="0">
                  <a:ea typeface="Calibri" panose="020F0502020204030204" pitchFamily="34" charset="0"/>
                </a:endParaRPr>
              </a:p>
              <a:p>
                <a:pPr marL="114300" indent="0"/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>
                    <a:ea typeface="Calibri" panose="020F0502020204030204" pitchFamily="34" charset="0"/>
                  </a:rPr>
                  <a:t>Worst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case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is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when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the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list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is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sorted</a:t>
                </a:r>
                <a:r>
                  <a:rPr lang="de-AT" b="0" dirty="0">
                    <a:ea typeface="Calibri" panose="020F0502020204030204" pitchFamily="34" charset="0"/>
                  </a:rPr>
                  <a:t> in reverse </a:t>
                </a:r>
                <a:r>
                  <a:rPr lang="de-AT" b="0" dirty="0" err="1">
                    <a:ea typeface="Calibri" panose="020F0502020204030204" pitchFamily="34" charset="0"/>
                  </a:rPr>
                  <a:t>order</a:t>
                </a: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b="0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dirty="0"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>
                    <a:solidFill>
                      <a:schemeClr val="tx1"/>
                    </a:solidFill>
                    <a:highlight>
                      <a:srgbClr val="DAE3F3"/>
                    </a:highlight>
                    <a:latin typeface="Consolas" panose="020B0609020204030204" pitchFamily="49" charset="0"/>
                    <a:ea typeface="Calibri" panose="020F0502020204030204" pitchFamily="34" charset="0"/>
                  </a:rPr>
                  <a:t>while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condition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is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executed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for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every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element</a:t>
                </a:r>
                <a:r>
                  <a:rPr lang="de-AT" dirty="0">
                    <a:ea typeface="Calibri" panose="020F0502020204030204" pitchFamily="34" charset="0"/>
                  </a:rPr>
                  <a:t> in </a:t>
                </a:r>
                <a:r>
                  <a:rPr lang="de-AT" dirty="0" err="1">
                    <a:ea typeface="Calibri" panose="020F0502020204030204" pitchFamily="34" charset="0"/>
                  </a:rPr>
                  <a:t>each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iteration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of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highlight>
                      <a:srgbClr val="DAE3F3"/>
                    </a:highlight>
                    <a:latin typeface="Consolas" panose="020B0609020204030204" pitchFamily="49" charset="0"/>
                    <a:ea typeface="Calibri" panose="020F0502020204030204" pitchFamily="34" charset="0"/>
                  </a:rPr>
                  <a:t>for</a:t>
                </a:r>
                <a:endParaRPr lang="de-AT" dirty="0">
                  <a:highlight>
                    <a:srgbClr val="DAE3F3"/>
                  </a:highlight>
                  <a:latin typeface="Consolas" panose="020B0609020204030204" pitchFamily="49" charset="0"/>
                  <a:ea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b="0" dirty="0">
                    <a:ea typeface="Calibri" panose="020F0502020204030204" pitchFamily="34" charset="0"/>
                  </a:rPr>
                  <a:t>Statements in </a:t>
                </a:r>
                <a:r>
                  <a:rPr lang="de-AT" b="0" dirty="0" err="1">
                    <a:ea typeface="Calibri" panose="020F0502020204030204" pitchFamily="34" charset="0"/>
                  </a:rPr>
                  <a:t>the</a:t>
                </a:r>
                <a:r>
                  <a:rPr lang="de-AT" b="0" dirty="0">
                    <a:ea typeface="Calibri" panose="020F0502020204030204" pitchFamily="34" charset="0"/>
                  </a:rPr>
                  <a:t> </a:t>
                </a:r>
                <a:r>
                  <a:rPr lang="de-AT" b="0" dirty="0" err="1">
                    <a:ea typeface="Calibri" panose="020F0502020204030204" pitchFamily="34" charset="0"/>
                  </a:rPr>
                  <a:t>whil</a:t>
                </a:r>
                <a:r>
                  <a:rPr lang="de-AT" dirty="0" err="1">
                    <a:ea typeface="Calibri" panose="020F0502020204030204" pitchFamily="34" charset="0"/>
                  </a:rPr>
                  <a:t>e</a:t>
                </a:r>
                <a:r>
                  <a:rPr lang="de-AT" dirty="0">
                    <a:ea typeface="Calibri" panose="020F0502020204030204" pitchFamily="34" charset="0"/>
                  </a:rPr>
                  <a:t> loop </a:t>
                </a:r>
                <a:r>
                  <a:rPr lang="de-AT" dirty="0" err="1">
                    <a:ea typeface="Calibri" panose="020F0502020204030204" pitchFamily="34" charset="0"/>
                  </a:rPr>
                  <a:t>are</a:t>
                </a:r>
                <a:r>
                  <a:rPr lang="de-AT" dirty="0">
                    <a:ea typeface="Calibri" panose="020F0502020204030204" pitchFamily="34" charset="0"/>
                  </a:rPr>
                  <a:t> also </a:t>
                </a:r>
                <a:r>
                  <a:rPr lang="de-AT" dirty="0" err="1">
                    <a:ea typeface="Calibri" panose="020F0502020204030204" pitchFamily="34" charset="0"/>
                  </a:rPr>
                  <a:t>always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executed</a:t>
                </a:r>
                <a:endParaRPr lang="de-AT" dirty="0">
                  <a:ea typeface="Calibri" panose="020F0502020204030204" pitchFamily="34" charset="0"/>
                </a:endParaRPr>
              </a:p>
              <a:p>
                <a:pPr marL="114300" indent="0"/>
                <a:endParaRPr lang="de-AT" b="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4800" y="1418400"/>
                <a:ext cx="6670800" cy="4968450"/>
              </a:xfrm>
              <a:blipFill>
                <a:blip r:embed="rId3"/>
                <a:stretch>
                  <a:fillRect t="-4417" r="-1096" b="-2086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08333" r="-142958" b="-10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08333" r="-2010" b="-10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08333" r="-142958" b="-9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08333" r="-2010" b="-9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08333" r="-142958" b="-8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08333" r="-2010" b="-8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72535" r="-142958" b="-243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72535" r="-2010" b="-243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74468" r="-142958" b="-145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74468" r="-2010" b="-145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71831" r="-142958" b="-4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71831" r="-2010" b="-4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116667" r="-142958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116667" r="-201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feld 5">
            <a:extLst>
              <a:ext uri="{FF2B5EF4-FFF2-40B4-BE49-F238E27FC236}">
                <a16:creationId xmlns:a16="http://schemas.microsoft.com/office/drawing/2014/main" id="{036BF394-F339-480A-8884-327D34F55225}"/>
              </a:ext>
            </a:extLst>
          </p:cNvPr>
          <p:cNvSpPr txBox="1"/>
          <p:nvPr/>
        </p:nvSpPr>
        <p:spPr>
          <a:xfrm>
            <a:off x="810000" y="3333239"/>
            <a:ext cx="5488944" cy="206280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for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in range(1,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len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(l)):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current_value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= l[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j =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while j &gt;= 0 and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current_value</a:t>
            </a: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&lt; l[j]: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    l[j + 1] = l[j]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    j -=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    l[j + 1] = </a:t>
            </a:r>
            <a:r>
              <a:rPr kumimoji="0" lang="en-US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current_value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2624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Worst case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656" y="1497600"/>
                <a:ext cx="6670800" cy="4234771"/>
              </a:xfrm>
            </p:spPr>
            <p:txBody>
              <a:bodyPr/>
              <a:lstStyle/>
              <a:p>
                <a:pPr marL="114300" indent="0"/>
                <a:endParaRPr lang="de-AT" b="0" dirty="0">
                  <a:ea typeface="Calibri" panose="020F0502020204030204" pitchFamily="34" charset="0"/>
                </a:endParaRPr>
              </a:p>
              <a:p>
                <a:pPr marL="1143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−1)+ </m:t>
                              </m:r>
                            </m:e>
                          </m:nary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de-AT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de-A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r>
                        <a:rPr lang="de-AT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−1)+ </m:t>
                              </m:r>
                            </m:e>
                          </m:nary>
                          <m:sSub>
                            <m:sSub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AT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de-AT" dirty="0"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de-AT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        +</m:t>
                      </m:r>
                      <m:sSub>
                        <m:sSub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  <m: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−1</m:t>
                          </m:r>
                        </m:e>
                      </m:d>
                    </m:oMath>
                  </m:oMathPara>
                </a14:m>
                <a:br>
                  <a:rPr lang="de-AT" i="1" dirty="0">
                    <a:latin typeface="Cambria Math" panose="02040503050406030204" pitchFamily="18" charset="0"/>
                    <a:ea typeface="Calibri" panose="020F0502020204030204" pitchFamily="34" charset="0"/>
                  </a:rPr>
                </a:br>
                <a:r>
                  <a:rPr lang="de-AT" i="1" dirty="0">
                    <a:latin typeface="Cambria Math" panose="02040503050406030204" pitchFamily="18" charset="0"/>
                    <a:ea typeface="Calibri" panose="020F050202020403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de-AT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AT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AT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AT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AT" i="1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de-AT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de-AT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 −1)</m:t>
                        </m:r>
                      </m:num>
                      <m:den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br>
                  <a:rPr lang="de-AT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            =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de-AT" b="0" dirty="0"/>
              </a:p>
              <a:p>
                <a:pPr marL="114300" indent="0"/>
                <a:endParaRPr lang="de-AT" dirty="0"/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b="1" dirty="0" err="1"/>
                  <a:t>Quadratic</a:t>
                </a:r>
                <a:r>
                  <a:rPr lang="de-AT" b="1" dirty="0"/>
                  <a:t> </a:t>
                </a:r>
                <a:r>
                  <a:rPr lang="de-AT" b="1" dirty="0" err="1"/>
                  <a:t>running</a:t>
                </a:r>
                <a:r>
                  <a:rPr lang="de-AT" b="1" dirty="0"/>
                  <a:t> time</a:t>
                </a: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656" y="1497600"/>
                <a:ext cx="6670800" cy="4234771"/>
              </a:xfrm>
              <a:blipFill>
                <a:blip r:embed="rId3"/>
                <a:stretch>
                  <a:fillRect b="-2305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25200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(</m:t>
                                        </m:r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de-AT" sz="1800" b="0" i="1" smtClean="0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252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AT" sz="180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AT" sz="18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F663B1C-56D0-458F-8702-E742B5AF23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71456" y="1125629"/>
              <a:ext cx="2075148" cy="44152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600">
                      <a:extLst>
                        <a:ext uri="{9D8B030D-6E8A-4147-A177-3AD203B41FA5}">
                          <a16:colId xmlns:a16="http://schemas.microsoft.com/office/drawing/2014/main" val="2586641812"/>
                        </a:ext>
                      </a:extLst>
                    </a:gridCol>
                    <a:gridCol w="1213548">
                      <a:extLst>
                        <a:ext uri="{9D8B030D-6E8A-4147-A177-3AD203B41FA5}">
                          <a16:colId xmlns:a16="http://schemas.microsoft.com/office/drawing/2014/main" val="2863809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e-AT" sz="1800" dirty="0" err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Cost</a:t>
                          </a:r>
                          <a:endParaRPr lang="de-AT" sz="18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AT" sz="18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Times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077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08333" r="-142958" b="-10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08333" r="-2010" b="-10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6924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08333" r="-142958" b="-9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08333" r="-2010" b="-9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1688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08333" r="-142958" b="-8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08333" r="-2010" b="-8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2525784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72535" r="-142958" b="-243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72535" r="-2010" b="-243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558667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274468" r="-142958" b="-145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274468" r="-2010" b="-145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547606"/>
                      </a:ext>
                    </a:extLst>
                  </a:tr>
                  <a:tr h="8621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371831" r="-142958" b="-4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371831" r="-2010" b="-4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2389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08" t="-1116667" r="-142958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72362" t="-1116667" r="-201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389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5561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Best vs. worst case running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012466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always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concentrate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on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worst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analysis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/>
                  <a:t>Worst</a:t>
                </a:r>
                <a:r>
                  <a:rPr lang="de-AT" dirty="0"/>
                  <a:t> </a:t>
                </a:r>
                <a:r>
                  <a:rPr lang="de-AT" dirty="0" err="1"/>
                  <a:t>case</a:t>
                </a:r>
                <a:r>
                  <a:rPr lang="de-AT" dirty="0"/>
                  <a:t> </a:t>
                </a:r>
                <a:r>
                  <a:rPr lang="de-AT" dirty="0" err="1"/>
                  <a:t>is</a:t>
                </a:r>
                <a:r>
                  <a:rPr lang="de-AT" dirty="0"/>
                  <a:t>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longest</a:t>
                </a:r>
                <a:r>
                  <a:rPr lang="de-AT" dirty="0"/>
                  <a:t> </a:t>
                </a:r>
                <a:r>
                  <a:rPr lang="de-AT" dirty="0" err="1"/>
                  <a:t>running</a:t>
                </a:r>
                <a:r>
                  <a:rPr lang="de-AT" dirty="0"/>
                  <a:t> time </a:t>
                </a:r>
                <a:r>
                  <a:rPr lang="de-AT" dirty="0" err="1"/>
                  <a:t>for</a:t>
                </a:r>
                <a:r>
                  <a:rPr lang="de-AT" dirty="0"/>
                  <a:t> </a:t>
                </a:r>
                <a:r>
                  <a:rPr lang="de-AT" b="1" dirty="0" err="1"/>
                  <a:t>any</a:t>
                </a:r>
                <a:r>
                  <a:rPr lang="de-AT" dirty="0"/>
                  <a:t> </a:t>
                </a:r>
                <a:r>
                  <a:rPr lang="de-AT" dirty="0" err="1"/>
                  <a:t>input</a:t>
                </a:r>
                <a:r>
                  <a:rPr lang="de-AT" dirty="0"/>
                  <a:t> </a:t>
                </a:r>
                <a:r>
                  <a:rPr lang="de-AT" dirty="0" err="1"/>
                  <a:t>of</a:t>
                </a:r>
                <a:r>
                  <a:rPr lang="de-AT" dirty="0"/>
                  <a:t> </a:t>
                </a:r>
                <a:r>
                  <a:rPr lang="de-AT" dirty="0" err="1"/>
                  <a:t>size</a:t>
                </a:r>
                <a:r>
                  <a:rPr lang="de-AT" dirty="0"/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/>
                  <a:t>Worst</a:t>
                </a:r>
                <a:r>
                  <a:rPr lang="de-AT" dirty="0"/>
                  <a:t> </a:t>
                </a:r>
                <a:r>
                  <a:rPr lang="de-AT" dirty="0" err="1"/>
                  <a:t>case</a:t>
                </a:r>
                <a:r>
                  <a:rPr lang="de-AT" dirty="0"/>
                  <a:t> </a:t>
                </a:r>
                <a:r>
                  <a:rPr lang="de-AT" dirty="0" err="1"/>
                  <a:t>is</a:t>
                </a:r>
                <a:r>
                  <a:rPr lang="de-AT" dirty="0"/>
                  <a:t> an </a:t>
                </a:r>
                <a:r>
                  <a:rPr lang="de-AT" dirty="0" err="1"/>
                  <a:t>upper</a:t>
                </a:r>
                <a:r>
                  <a:rPr lang="de-AT" dirty="0"/>
                  <a:t> </a:t>
                </a:r>
                <a:r>
                  <a:rPr lang="de-AT" dirty="0" err="1"/>
                  <a:t>bound</a:t>
                </a:r>
                <a:r>
                  <a:rPr lang="de-AT" dirty="0"/>
                  <a:t> on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running</a:t>
                </a:r>
                <a:r>
                  <a:rPr lang="de-AT" dirty="0"/>
                  <a:t> time</a:t>
                </a: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Worst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occurs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fairly</a:t>
                </a:r>
                <a:r>
                  <a:rPr lang="de-AT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often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/>
                  <a:t>Average </a:t>
                </a:r>
                <a:r>
                  <a:rPr lang="de-AT" dirty="0" err="1"/>
                  <a:t>case</a:t>
                </a:r>
                <a:r>
                  <a:rPr lang="de-AT" dirty="0"/>
                  <a:t> </a:t>
                </a:r>
                <a:r>
                  <a:rPr lang="de-AT" dirty="0" err="1"/>
                  <a:t>is</a:t>
                </a:r>
                <a:r>
                  <a:rPr lang="de-AT" dirty="0"/>
                  <a:t> </a:t>
                </a:r>
                <a:r>
                  <a:rPr lang="de-AT" dirty="0" err="1"/>
                  <a:t>often</a:t>
                </a:r>
                <a:r>
                  <a:rPr lang="de-AT" dirty="0"/>
                  <a:t> </a:t>
                </a:r>
                <a:r>
                  <a:rPr lang="de-AT" dirty="0" err="1"/>
                  <a:t>as</a:t>
                </a:r>
                <a:r>
                  <a:rPr lang="de-AT" dirty="0"/>
                  <a:t> </a:t>
                </a:r>
                <a:r>
                  <a:rPr lang="de-AT" dirty="0" err="1"/>
                  <a:t>bad</a:t>
                </a:r>
                <a:r>
                  <a:rPr lang="de-AT" dirty="0"/>
                  <a:t> </a:t>
                </a:r>
                <a:r>
                  <a:rPr lang="de-AT" dirty="0" err="1"/>
                  <a:t>as</a:t>
                </a:r>
                <a:r>
                  <a:rPr lang="de-AT" dirty="0"/>
                  <a:t> </a:t>
                </a:r>
                <a:r>
                  <a:rPr lang="de-AT" dirty="0" err="1"/>
                  <a:t>the</a:t>
                </a:r>
                <a:r>
                  <a:rPr lang="de-AT" dirty="0"/>
                  <a:t> </a:t>
                </a:r>
                <a:r>
                  <a:rPr lang="de-AT" dirty="0" err="1"/>
                  <a:t>worst</a:t>
                </a:r>
                <a:r>
                  <a:rPr lang="de-AT" dirty="0"/>
                  <a:t> </a:t>
                </a:r>
                <a:r>
                  <a:rPr lang="de-AT" dirty="0" err="1"/>
                  <a:t>case</a:t>
                </a:r>
                <a:endParaRPr lang="de-AT" dirty="0"/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have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randomly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sorted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array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Roughly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half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smaller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half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greater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current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will on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average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check half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sum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obtain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again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quadratic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/>
                  <a:t>See Python Notebook</a:t>
                </a: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endParaRPr lang="de-AT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890734"/>
                <a:ext cx="8229300" cy="3012466"/>
              </a:xfrm>
              <a:blipFill>
                <a:blip r:embed="rId3"/>
                <a:stretch>
                  <a:fillRect t="-5882" b="-1681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161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526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3: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before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analyze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running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time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 simple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search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de-DE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def search(l, o):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for e in l: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    if e == o: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        return True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return False</a:t>
            </a:r>
            <a:endParaRPr kumimoji="0" lang="de-DE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7873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2308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4: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Analyze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running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time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an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algorithm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finding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maximal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kumimoji="0" lang="de-DE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in a </a:t>
            </a:r>
            <a:r>
              <a:rPr kumimoji="0" lang="de-DE" sz="18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list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de-DE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def max(l):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m = l[0]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for e in l: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    if m &lt; e: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        m = e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return m</a:t>
            </a:r>
            <a:endParaRPr kumimoji="0" lang="de-DE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2793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36933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Task 5: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running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time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def </a:t>
            </a:r>
            <a:r>
              <a:rPr lang="en-US" sz="18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binary_search</a:t>
            </a: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(l, o):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low = 0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high = </a:t>
            </a:r>
            <a:r>
              <a:rPr lang="en-US" sz="18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(l) - 1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while low &lt;= high: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mid = low + (high - low)//2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if l[mid] == o: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    return True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l[mid] &lt; o: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    low = mid + 1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else: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    high = mid - 1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return False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6686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2656</Words>
  <Application>Microsoft Macintosh PowerPoint</Application>
  <PresentationFormat>On-screen Show (4:3)</PresentationFormat>
  <Paragraphs>496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Wingdings</vt:lpstr>
      <vt:lpstr>Arial</vt:lpstr>
      <vt:lpstr>Consolas</vt:lpstr>
      <vt:lpstr>Calibri</vt:lpstr>
      <vt:lpstr>Cambria Math</vt:lpstr>
      <vt:lpstr>Blackadder ITC</vt:lpstr>
      <vt:lpstr>Office Theme</vt:lpstr>
      <vt:lpstr>1_Office Theme</vt:lpstr>
      <vt:lpstr>Fundamentals of Computer Science and Programming </vt:lpstr>
      <vt:lpstr>Outline</vt:lpstr>
      <vt:lpstr>Algorithms</vt:lpstr>
      <vt:lpstr>Algorithm</vt:lpstr>
      <vt:lpstr>Square root algorithm</vt:lpstr>
      <vt:lpstr>Studying algorithms</vt:lpstr>
      <vt:lpstr>Studying algorithms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Exercise</vt:lpstr>
      <vt:lpstr>Student task</vt:lpstr>
      <vt:lpstr>Analyzing algorithms</vt:lpstr>
      <vt:lpstr>Analyzing algorithms</vt:lpstr>
      <vt:lpstr>Analyzing insertion sort</vt:lpstr>
      <vt:lpstr>Defining input size</vt:lpstr>
      <vt:lpstr>Defining running time</vt:lpstr>
      <vt:lpstr>Running time of insertion sort</vt:lpstr>
      <vt:lpstr>Running time of insertion sort</vt:lpstr>
      <vt:lpstr>Best case</vt:lpstr>
      <vt:lpstr>Best case</vt:lpstr>
      <vt:lpstr>Worst case</vt:lpstr>
      <vt:lpstr>Worst case</vt:lpstr>
      <vt:lpstr>Best vs. worst case running time</vt:lpstr>
      <vt:lpstr>Exercise</vt:lpstr>
      <vt:lpstr>Student task</vt:lpstr>
      <vt:lpstr>Student task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1153</cp:revision>
  <dcterms:modified xsi:type="dcterms:W3CDTF">2025-12-02T20:14:39Z</dcterms:modified>
</cp:coreProperties>
</file>