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92"/>
  </p:notesMasterIdLst>
  <p:sldIdLst>
    <p:sldId id="256" r:id="rId2"/>
    <p:sldId id="408" r:id="rId3"/>
    <p:sldId id="346" r:id="rId4"/>
    <p:sldId id="500" r:id="rId5"/>
    <p:sldId id="501" r:id="rId6"/>
    <p:sldId id="502" r:id="rId7"/>
    <p:sldId id="508" r:id="rId8"/>
    <p:sldId id="503" r:id="rId9"/>
    <p:sldId id="510" r:id="rId10"/>
    <p:sldId id="507" r:id="rId11"/>
    <p:sldId id="506" r:id="rId12"/>
    <p:sldId id="505" r:id="rId13"/>
    <p:sldId id="552" r:id="rId14"/>
    <p:sldId id="553" r:id="rId15"/>
    <p:sldId id="554" r:id="rId16"/>
    <p:sldId id="555" r:id="rId17"/>
    <p:sldId id="551" r:id="rId18"/>
    <p:sldId id="504" r:id="rId19"/>
    <p:sldId id="511" r:id="rId20"/>
    <p:sldId id="513" r:id="rId21"/>
    <p:sldId id="515" r:id="rId22"/>
    <p:sldId id="516" r:id="rId23"/>
    <p:sldId id="517" r:id="rId24"/>
    <p:sldId id="518" r:id="rId25"/>
    <p:sldId id="520" r:id="rId26"/>
    <p:sldId id="521" r:id="rId27"/>
    <p:sldId id="522" r:id="rId28"/>
    <p:sldId id="523" r:id="rId29"/>
    <p:sldId id="524" r:id="rId30"/>
    <p:sldId id="530" r:id="rId31"/>
    <p:sldId id="525" r:id="rId32"/>
    <p:sldId id="526" r:id="rId33"/>
    <p:sldId id="538" r:id="rId34"/>
    <p:sldId id="531" r:id="rId35"/>
    <p:sldId id="532" r:id="rId36"/>
    <p:sldId id="533" r:id="rId37"/>
    <p:sldId id="527" r:id="rId38"/>
    <p:sldId id="534" r:id="rId39"/>
    <p:sldId id="535" r:id="rId40"/>
    <p:sldId id="550" r:id="rId41"/>
    <p:sldId id="536" r:id="rId42"/>
    <p:sldId id="537" r:id="rId43"/>
    <p:sldId id="529" r:id="rId44"/>
    <p:sldId id="539" r:id="rId45"/>
    <p:sldId id="540" r:id="rId46"/>
    <p:sldId id="541" r:id="rId47"/>
    <p:sldId id="542" r:id="rId48"/>
    <p:sldId id="543" r:id="rId49"/>
    <p:sldId id="544" r:id="rId50"/>
    <p:sldId id="545" r:id="rId51"/>
    <p:sldId id="546" r:id="rId52"/>
    <p:sldId id="547" r:id="rId53"/>
    <p:sldId id="548" r:id="rId54"/>
    <p:sldId id="549" r:id="rId55"/>
    <p:sldId id="499" r:id="rId56"/>
    <p:sldId id="468" r:id="rId57"/>
    <p:sldId id="469" r:id="rId58"/>
    <p:sldId id="471" r:id="rId59"/>
    <p:sldId id="462" r:id="rId60"/>
    <p:sldId id="472" r:id="rId61"/>
    <p:sldId id="475" r:id="rId62"/>
    <p:sldId id="473" r:id="rId63"/>
    <p:sldId id="464" r:id="rId64"/>
    <p:sldId id="476" r:id="rId65"/>
    <p:sldId id="477" r:id="rId66"/>
    <p:sldId id="478" r:id="rId67"/>
    <p:sldId id="479" r:id="rId68"/>
    <p:sldId id="480" r:id="rId69"/>
    <p:sldId id="481" r:id="rId70"/>
    <p:sldId id="467" r:id="rId71"/>
    <p:sldId id="482" r:id="rId72"/>
    <p:sldId id="483" r:id="rId73"/>
    <p:sldId id="484" r:id="rId74"/>
    <p:sldId id="485" r:id="rId75"/>
    <p:sldId id="486" r:id="rId76"/>
    <p:sldId id="466" r:id="rId77"/>
    <p:sldId id="488" r:id="rId78"/>
    <p:sldId id="489" r:id="rId79"/>
    <p:sldId id="490" r:id="rId80"/>
    <p:sldId id="491" r:id="rId81"/>
    <p:sldId id="487" r:id="rId82"/>
    <p:sldId id="492" r:id="rId83"/>
    <p:sldId id="493" r:id="rId84"/>
    <p:sldId id="494" r:id="rId85"/>
    <p:sldId id="495" r:id="rId86"/>
    <p:sldId id="496" r:id="rId87"/>
    <p:sldId id="497" r:id="rId88"/>
    <p:sldId id="498" r:id="rId89"/>
    <p:sldId id="460" r:id="rId90"/>
    <p:sldId id="461" r:id="rId91"/>
  </p:sldIdLst>
  <p:sldSz cx="9144000" cy="6858000" type="screen4x3"/>
  <p:notesSz cx="7099300" cy="10234613"/>
  <p:embeddedFontLst>
    <p:embeddedFont>
      <p:font typeface="宋体" panose="02010600030101010101" pitchFamily="2" charset="-122"/>
      <p:regular r:id="rId93"/>
    </p:embeddedFont>
    <p:embeddedFont>
      <p:font typeface="Blackadder ITC" pitchFamily="82" charset="77"/>
      <p:regular r:id="rId94"/>
    </p:embeddedFont>
    <p:embeddedFont>
      <p:font typeface="Cambria Math" panose="02040503050406030204" pitchFamily="18" charset="0"/>
      <p:regular r:id="rId95"/>
    </p:embeddedFont>
    <p:embeddedFont>
      <p:font typeface="Consolas" panose="020B0609020204030204" pitchFamily="49" charset="0"/>
      <p:regular r:id="rId96"/>
      <p:bold r:id="rId97"/>
      <p:italic r:id="rId98"/>
      <p:boldItalic r:id="rId9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32" autoAdjust="0"/>
    <p:restoredTop sz="94598" autoAdjust="0"/>
  </p:normalViewPr>
  <p:slideViewPr>
    <p:cSldViewPr snapToGrid="0" showGuides="1">
      <p:cViewPr varScale="1">
        <p:scale>
          <a:sx n="151" d="100"/>
          <a:sy n="151" d="100"/>
        </p:scale>
        <p:origin x="1656" y="192"/>
      </p:cViewPr>
      <p:guideLst>
        <p:guide orient="horz" pos="2160"/>
        <p:guide pos="2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font" Target="fonts/font3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font" Target="fonts/font2.fntdata"/><Relationship Id="rId99" Type="http://schemas.openxmlformats.org/officeDocument/2006/relationships/font" Target="fonts/font7.fntdata"/><Relationship Id="rId10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font" Target="fonts/font5.fntdata"/><Relationship Id="rId104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1.fntdata"/><Relationship Id="rId98" Type="http://schemas.openxmlformats.org/officeDocument/2006/relationships/font" Target="fonts/font6.fntdata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undo custSel modSld modMainMaster">
      <pc:chgData name="Ingo Frommholz" userId="ee3b4549-206f-4e4f-93a1-b7ff676f0af7" providerId="ADAL" clId="{5F8971C4-3D52-5FAB-A951-9912A46CDBB0}" dt="2026-03-16T18:42:57.340" v="179" actId="20577"/>
      <pc:docMkLst>
        <pc:docMk/>
      </pc:docMkLst>
      <pc:sldChg chg="modSp mod">
        <pc:chgData name="Ingo Frommholz" userId="ee3b4549-206f-4e4f-93a1-b7ff676f0af7" providerId="ADAL" clId="{5F8971C4-3D52-5FAB-A951-9912A46CDBB0}" dt="2026-03-16T18:42:57.340" v="179" actId="20577"/>
        <pc:sldMkLst>
          <pc:docMk/>
          <pc:sldMk cId="0" sldId="461"/>
        </pc:sldMkLst>
        <pc:spChg chg="mod">
          <ac:chgData name="Ingo Frommholz" userId="ee3b4549-206f-4e4f-93a1-b7ff676f0af7" providerId="ADAL" clId="{5F8971C4-3D52-5FAB-A951-9912A46CDBB0}" dt="2026-03-16T18:42:57.340" v="179" actId="20577"/>
          <ac:spMkLst>
            <pc:docMk/>
            <pc:sldMk cId="0" sldId="461"/>
            <ac:spMk id="4" creationId="{00000000-0000-0000-0000-000000000000}"/>
          </ac:spMkLst>
        </pc:spChg>
      </pc:sldChg>
      <pc:sldChg chg="modSp mod">
        <pc:chgData name="Ingo Frommholz" userId="ee3b4549-206f-4e4f-93a1-b7ff676f0af7" providerId="ADAL" clId="{5F8971C4-3D52-5FAB-A951-9912A46CDBB0}" dt="2026-03-16T18:28:35.393" v="149" actId="20577"/>
        <pc:sldMkLst>
          <pc:docMk/>
          <pc:sldMk cId="0" sldId="475"/>
        </pc:sldMkLst>
        <pc:spChg chg="mod">
          <ac:chgData name="Ingo Frommholz" userId="ee3b4549-206f-4e4f-93a1-b7ff676f0af7" providerId="ADAL" clId="{5F8971C4-3D52-5FAB-A951-9912A46CDBB0}" dt="2026-03-16T18:28:35.393" v="149" actId="20577"/>
          <ac:spMkLst>
            <pc:docMk/>
            <pc:sldMk cId="0" sldId="475"/>
            <ac:spMk id="8" creationId="{00000000-0000-0000-0000-000000000000}"/>
          </ac:spMkLst>
        </pc:spChg>
      </pc:sldChg>
      <pc:sldChg chg="modSp mod">
        <pc:chgData name="Ingo Frommholz" userId="ee3b4549-206f-4e4f-93a1-b7ff676f0af7" providerId="ADAL" clId="{5F8971C4-3D52-5FAB-A951-9912A46CDBB0}" dt="2026-03-16T18:29:53.378" v="153" actId="20577"/>
        <pc:sldMkLst>
          <pc:docMk/>
          <pc:sldMk cId="0" sldId="478"/>
        </pc:sldMkLst>
        <pc:spChg chg="mod">
          <ac:chgData name="Ingo Frommholz" userId="ee3b4549-206f-4e4f-93a1-b7ff676f0af7" providerId="ADAL" clId="{5F8971C4-3D52-5FAB-A951-9912A46CDBB0}" dt="2026-03-16T18:29:53.378" v="153" actId="20577"/>
          <ac:spMkLst>
            <pc:docMk/>
            <pc:sldMk cId="0" sldId="478"/>
            <ac:spMk id="8" creationId="{00000000-0000-0000-0000-000000000000}"/>
          </ac:spMkLst>
        </pc:spChg>
      </pc:sldChg>
      <pc:sldChg chg="modSp mod">
        <pc:chgData name="Ingo Frommholz" userId="ee3b4549-206f-4e4f-93a1-b7ff676f0af7" providerId="ADAL" clId="{5F8971C4-3D52-5FAB-A951-9912A46CDBB0}" dt="2026-03-16T18:30:28.678" v="155" actId="20577"/>
        <pc:sldMkLst>
          <pc:docMk/>
          <pc:sldMk cId="0" sldId="479"/>
        </pc:sldMkLst>
        <pc:spChg chg="mod">
          <ac:chgData name="Ingo Frommholz" userId="ee3b4549-206f-4e4f-93a1-b7ff676f0af7" providerId="ADAL" clId="{5F8971C4-3D52-5FAB-A951-9912A46CDBB0}" dt="2026-03-16T18:30:28.678" v="155" actId="20577"/>
          <ac:spMkLst>
            <pc:docMk/>
            <pc:sldMk cId="0" sldId="479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1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54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58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62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68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69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75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80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87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88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609845" y="6470198"/>
            <a:ext cx="425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70.xml"/><Relationship Id="rId3" Type="http://schemas.openxmlformats.org/officeDocument/2006/relationships/slide" Target="slide3.xml"/><Relationship Id="rId7" Type="http://schemas.openxmlformats.org/officeDocument/2006/relationships/slide" Target="slide6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9.xml"/><Relationship Id="rId11" Type="http://schemas.openxmlformats.org/officeDocument/2006/relationships/slide" Target="slide89.xml"/><Relationship Id="rId5" Type="http://schemas.openxmlformats.org/officeDocument/2006/relationships/slide" Target="slide55.xml"/><Relationship Id="rId10" Type="http://schemas.openxmlformats.org/officeDocument/2006/relationships/slide" Target="slide81.xml"/><Relationship Id="rId4" Type="http://schemas.openxmlformats.org/officeDocument/2006/relationships/slide" Target="slide8.xml"/><Relationship Id="rId9" Type="http://schemas.openxmlformats.org/officeDocument/2006/relationships/slide" Target="slide7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installation.m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libo.ren@modul.ac.at%0d" TargetMode="External"/><Relationship Id="rId5" Type="http://schemas.openxmlformats.org/officeDocument/2006/relationships/hyperlink" Target="https://www.youtube.com/watch?v=nhv82tvFfkM&amp;t=163s" TargetMode="External"/><Relationship Id="rId4" Type="http://schemas.openxmlformats.org/officeDocument/2006/relationships/hyperlink" Target="https://www.youtube.com/watch?v=Kn1HF3oD19c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jupyter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jupyter.org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rkdownguide.org/basic-syntax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?hl=en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notebooks/markdown_guide.ipynb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style.md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008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installation.md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endParaRPr lang="en-US" sz="4400" b="1" noProof="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992656" y="5230034"/>
            <a:ext cx="4950372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Unit 4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Programming Part I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/>
          <p:cNvSpPr txBox="1"/>
          <p:nvPr/>
        </p:nvSpPr>
        <p:spPr>
          <a:xfrm>
            <a:off x="457200" y="1701579"/>
            <a:ext cx="75338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Programming tools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Requirements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Variables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Integers and Floats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Strings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Casting, Printing, Commenting, None-Keyword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9" action="ppaction://hlinksldjump"/>
              </a:rPr>
              <a:t>Boolean variables and operators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0" action="ppaction://hlinksldjump"/>
              </a:rPr>
              <a:t>Conditions (if-Statements)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1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Programming tools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How does “text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”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become an executable program?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274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 translating source code (“text”)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 computer translates your written code into machine language.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There are two different ways of translation: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Compiler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One-time translation into a binary file (executable)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Interpreter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Interpretation of the source code at each execution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Compiler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3924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Translates source code into machine code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 resulting executable (file) only contains computer instructions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 executable is no more human readable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Saved as binary file (executable)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Translation takes place only once!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This process is also called compilation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 computer directly executes the program (executable)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" name="Gruppieren 3"/>
          <p:cNvGrpSpPr/>
          <p:nvPr/>
        </p:nvGrpSpPr>
        <p:grpSpPr>
          <a:xfrm>
            <a:off x="1383257" y="3434165"/>
            <a:ext cx="1231254" cy="1722892"/>
            <a:chOff x="1141855" y="3056469"/>
            <a:chExt cx="1231254" cy="1722892"/>
          </a:xfrm>
        </p:grpSpPr>
        <p:sp>
          <p:nvSpPr>
            <p:cNvPr id="5" name="Dokument 4"/>
            <p:cNvSpPr/>
            <p:nvPr/>
          </p:nvSpPr>
          <p:spPr>
            <a:xfrm>
              <a:off x="1215615" y="3056469"/>
              <a:ext cx="1083734" cy="1329267"/>
            </a:xfrm>
            <a:prstGeom prst="flowChartDocumen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print(”Hi”)</a:t>
              </a:r>
            </a:p>
            <a:p>
              <a:pPr algn="ctr"/>
              <a:r>
                <a:rPr lang="en-US" dirty="0"/>
                <a:t>…</a:t>
              </a:r>
            </a:p>
          </p:txBody>
        </p:sp>
        <p:sp>
          <p:nvSpPr>
            <p:cNvPr id="6" name="Textfeld 5"/>
            <p:cNvSpPr txBox="1"/>
            <p:nvPr/>
          </p:nvSpPr>
          <p:spPr>
            <a:xfrm>
              <a:off x="1141855" y="4471584"/>
              <a:ext cx="12312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Source code</a:t>
              </a:r>
            </a:p>
          </p:txBody>
        </p:sp>
      </p:grpSp>
      <p:grpSp>
        <p:nvGrpSpPr>
          <p:cNvPr id="7" name="Gruppieren 6"/>
          <p:cNvGrpSpPr/>
          <p:nvPr/>
        </p:nvGrpSpPr>
        <p:grpSpPr>
          <a:xfrm>
            <a:off x="2614511" y="3429000"/>
            <a:ext cx="2429288" cy="1943491"/>
            <a:chOff x="2373109" y="3051304"/>
            <a:chExt cx="2429288" cy="1943491"/>
          </a:xfrm>
        </p:grpSpPr>
        <p:cxnSp>
          <p:nvCxnSpPr>
            <p:cNvPr id="9" name="Gerade Verbindung mit Pfeil 8"/>
            <p:cNvCxnSpPr/>
            <p:nvPr/>
          </p:nvCxnSpPr>
          <p:spPr>
            <a:xfrm>
              <a:off x="2556936" y="3721102"/>
              <a:ext cx="778933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Textfeld 9"/>
            <p:cNvSpPr txBox="1"/>
            <p:nvPr/>
          </p:nvSpPr>
          <p:spPr>
            <a:xfrm>
              <a:off x="2373109" y="3345950"/>
              <a:ext cx="10837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compile</a:t>
              </a:r>
            </a:p>
          </p:txBody>
        </p:sp>
        <p:sp>
          <p:nvSpPr>
            <p:cNvPr id="11" name="Interaktive Schaltfläche: Dokument 10">
              <a:hlinkClick r:id="" action="ppaction://noaction" highlightClick="1"/>
            </p:cNvPr>
            <p:cNvSpPr/>
            <p:nvPr/>
          </p:nvSpPr>
          <p:spPr>
            <a:xfrm>
              <a:off x="3587753" y="3051304"/>
              <a:ext cx="1083734" cy="1329249"/>
            </a:xfrm>
            <a:prstGeom prst="actionButtonDocumen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feld 11"/>
            <p:cNvSpPr txBox="1"/>
            <p:nvPr/>
          </p:nvSpPr>
          <p:spPr>
            <a:xfrm>
              <a:off x="3456843" y="4471575"/>
              <a:ext cx="13455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Executable file</a:t>
              </a:r>
              <a:br>
                <a:rPr lang="en-US" dirty="0"/>
              </a:br>
              <a:r>
                <a:rPr lang="en-US" dirty="0"/>
                <a:t>(.exe)</a:t>
              </a:r>
            </a:p>
          </p:txBody>
        </p:sp>
      </p:grpSp>
      <p:grpSp>
        <p:nvGrpSpPr>
          <p:cNvPr id="13" name="Gruppieren 12"/>
          <p:cNvGrpSpPr/>
          <p:nvPr/>
        </p:nvGrpSpPr>
        <p:grpSpPr>
          <a:xfrm>
            <a:off x="5175733" y="3434164"/>
            <a:ext cx="2097504" cy="1329267"/>
            <a:chOff x="4934331" y="3056468"/>
            <a:chExt cx="2097504" cy="1329267"/>
          </a:xfrm>
        </p:grpSpPr>
        <p:grpSp>
          <p:nvGrpSpPr>
            <p:cNvPr id="14" name="Gruppieren 13"/>
            <p:cNvGrpSpPr/>
            <p:nvPr/>
          </p:nvGrpSpPr>
          <p:grpSpPr>
            <a:xfrm>
              <a:off x="5031529" y="3144378"/>
              <a:ext cx="317081" cy="504176"/>
              <a:chOff x="4741333" y="3049615"/>
              <a:chExt cx="508000" cy="807748"/>
            </a:xfrm>
          </p:grpSpPr>
          <p:sp>
            <p:nvSpPr>
              <p:cNvPr id="17" name="Rechteck 16"/>
              <p:cNvSpPr/>
              <p:nvPr/>
            </p:nvSpPr>
            <p:spPr>
              <a:xfrm rot="19796507">
                <a:off x="5106755" y="3387453"/>
                <a:ext cx="93134" cy="46991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1"/>
              <p:cNvSpPr/>
              <p:nvPr/>
            </p:nvSpPr>
            <p:spPr>
              <a:xfrm>
                <a:off x="4741333" y="3049615"/>
                <a:ext cx="508000" cy="508000"/>
              </a:xfrm>
              <a:prstGeom prst="ellipse">
                <a:avLst/>
              </a:prstGeom>
              <a:gradFill flip="none" rotWithShape="1">
                <a:gsLst>
                  <a:gs pos="0">
                    <a:srgbClr val="2B639B">
                      <a:alpha val="0"/>
                      <a:lumMod val="87000"/>
                      <a:lumOff val="13000"/>
                    </a:srgbClr>
                  </a:gs>
                  <a:gs pos="50000">
                    <a:schemeClr val="lt1">
                      <a:shade val="67500"/>
                      <a:satMod val="115000"/>
                    </a:schemeClr>
                  </a:gs>
                  <a:gs pos="100000">
                    <a:schemeClr val="lt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Gerade Verbindung mit Pfeil 14"/>
            <p:cNvCxnSpPr/>
            <p:nvPr/>
          </p:nvCxnSpPr>
          <p:spPr>
            <a:xfrm>
              <a:off x="4934331" y="3721102"/>
              <a:ext cx="778933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Dokument 15"/>
            <p:cNvSpPr/>
            <p:nvPr/>
          </p:nvSpPr>
          <p:spPr>
            <a:xfrm>
              <a:off x="5948101" y="3056468"/>
              <a:ext cx="1083734" cy="1329267"/>
            </a:xfrm>
            <a:prstGeom prst="flowChartDocumen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000100111101101100110111010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Interpreter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283732"/>
            <a:ext cx="8229600" cy="1700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Similar to the compiler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 program gets executed using computer instructions, but: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Each command (e.g. print(“Hi”)) gets translated on its execution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 additional binary file (executable) is created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Source code gets translated on each execution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This process is called “interpretation”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Compilers can lead to drastic performance advantages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607" y="2889503"/>
            <a:ext cx="6520863" cy="34137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Basic terms in programming languages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385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Programming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language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Formal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language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fixed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rules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Fix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rules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on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how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write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 a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programming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language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Fix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rules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all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language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Semantics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Meaning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language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What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exectued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?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logic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flow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structure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interplay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between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different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parts</a:t>
            </a: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Requirements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Requirements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915"/>
            <a:ext cx="8404225" cy="486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Computer (Mac OSX, Linux, Windows)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 tablet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 smartphone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Python3 interpreter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Integrated Development Environment (IDE)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Jupyter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Notebook / </a:t>
            </a:r>
            <a:r>
              <a:rPr lang="en-US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Jupyter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Lab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Installation instruction: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3"/>
              </a:rPr>
              <a:t>https://github.com/dhelic/focsp/blob/main/installation.md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Windows: 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4" action="ppaction://hlinkfile"/>
              </a:rPr>
              <a:t>https://www.youtube.com/watch?v=Kn1HF3oD19c </a:t>
            </a:r>
            <a:endParaRPr lang="en-US" altLang="zh-CN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Macbook: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5" action="ppaction://hlinkfile"/>
              </a:rPr>
              <a:t> https://www.youtube.com/watch?v=nhv82tvFfkM&amp;t=163s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(p.s.The steps shown for Python 3.12 also apply to Python 3.10.)</a:t>
            </a:r>
          </a:p>
          <a:p>
            <a:pPr marL="285750" lvl="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Questions about installing Python or Jupyter? Email: 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6" action="ppaction://hlinkfile"/>
              </a:rPr>
              <a:t>libo.ren@modul.ac.at</a:t>
            </a:r>
            <a:endParaRPr lang="en-US" altLang="zh-CN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Python (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  <a:hlinkClick r:id="rId3"/>
              </a:rPr>
              <a:t>www.python.org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)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" y="1599947"/>
            <a:ext cx="8079640" cy="39562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Jupyter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(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  <a:hlinkClick r:id="rId3"/>
              </a:rPr>
              <a:t>www.jupyter.org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)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678" y="1724973"/>
            <a:ext cx="8203466" cy="32937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Python3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Python 3.10 is recommended for the exercise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Good readability, clear structure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Interpreted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Runs on all common 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Requirements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/>
          <p:cNvSpPr txBox="1">
            <a:spLocks noGrp="1"/>
          </p:cNvSpPr>
          <p:nvPr>
            <p:ph type="body" idx="1"/>
          </p:nvPr>
        </p:nvSpPr>
        <p:spPr>
          <a:xfrm>
            <a:off x="196215" y="1317625"/>
            <a:ext cx="8693785" cy="486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24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How to Install Jupyter Notebook (Windows)</a:t>
            </a:r>
            <a:endParaRPr lang="en-US" altLang="zh-CN" sz="24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endParaRPr lang="en-US" altLang="zh-CN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1. Create an Environment Folder on Any Disk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Create a new folder where the Python virtual environment will be stored.For example, you can create a folder named `</a:t>
            </a: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python_env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` at: ‘</a:t>
            </a: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E:\python_env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’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2. Create a Virtual Environment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Open </a:t>
            </a:r>
            <a:r>
              <a:rPr lang="en-US" altLang="zh-CN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CMD 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</a:t>
            </a:r>
            <a:r>
              <a:rPr lang="en-US" altLang="zh-CN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PowerShell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enter the following command: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python -m venv E:\python_env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3. Activate the Virtual Environment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Activate the environment by running:  E:\python_env\Scripts\activate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 activation is successful, you will see `(python_env)` appear at the beginning of the command line, for example:  </a:t>
            </a: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(python_env) C:\Users\HP&gt;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Requirements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90" y="4306570"/>
            <a:ext cx="6577330" cy="1132840"/>
          </a:xfrm>
          <a:prstGeom prst="rect">
            <a:avLst/>
          </a:prstGeom>
        </p:spPr>
      </p:pic>
      <p:sp>
        <p:nvSpPr>
          <p:cNvPr id="4" name="Google Shape;87;p2"/>
          <p:cNvSpPr txBox="1">
            <a:spLocks noGrp="1"/>
          </p:cNvSpPr>
          <p:nvPr>
            <p:ph type="body" idx="1"/>
          </p:nvPr>
        </p:nvSpPr>
        <p:spPr>
          <a:xfrm>
            <a:off x="313690" y="1116330"/>
            <a:ext cx="8693785" cy="486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24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How to Install Jupyter Notebook (Windows)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endParaRPr lang="en-US" altLang="zh-CN" sz="24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4. Install Jupyter Inside the Virtual Environment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Once the environment is activated, install Jupyter Notebook by typing: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pip install notebook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5. Launch Jupyter Notebook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Navigate to the `Scripts` folder of your environment and start Jupyter.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this example, you should do: 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Requirements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/>
          <p:cNvSpPr txBox="1">
            <a:spLocks noGrp="1"/>
          </p:cNvSpPr>
          <p:nvPr>
            <p:ph type="body" idx="1"/>
          </p:nvPr>
        </p:nvSpPr>
        <p:spPr>
          <a:xfrm>
            <a:off x="196215" y="1090295"/>
            <a:ext cx="8693785" cy="5205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24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How to Install Jupyter Notebook (Mac)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endParaRPr lang="en-US" altLang="zh-CN" sz="24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  <a:sym typeface="+mn-ea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1. Create a Virtual Environment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Open </a:t>
            </a:r>
            <a:r>
              <a:rPr lang="en-US" altLang="zh-CN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Terminal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enter the following command: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python -m venv myenv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2. Activate the Virtual Environment  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Activate the environment by running:  source myenv/bin/activate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 activation is successful, you will see `myenv` appear at the beginning of the command line, for example:  </a:t>
            </a: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(myenv) lili@lili-MacBook-Pro ~%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3. Install Jupyter Inside the Virtual Environment  </a:t>
            </a:r>
            <a:endParaRPr lang="en-US" altLang="zh-CN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Once the environment is activated, install Jupyter Notebook by typing:  </a:t>
            </a:r>
            <a:endParaRPr lang="en-US" altLang="zh-CN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pip install notebook</a:t>
            </a:r>
            <a:endParaRPr lang="en-US" altLang="zh-CN" sz="1800" i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endParaRPr lang="en-US" altLang="zh-CN" sz="1800" i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Requirements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/>
          <p:cNvSpPr txBox="1">
            <a:spLocks noGrp="1"/>
          </p:cNvSpPr>
          <p:nvPr>
            <p:ph type="body" idx="1"/>
          </p:nvPr>
        </p:nvSpPr>
        <p:spPr>
          <a:xfrm>
            <a:off x="196215" y="1090295"/>
            <a:ext cx="8693785" cy="5205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24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How to Install Jupyter Notebook (Mac)</a:t>
            </a:r>
            <a:endParaRPr lang="en-US" altLang="zh-CN" sz="24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endParaRPr lang="en-US" altLang="zh-CN" sz="1800" i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  <a:sym typeface="+mn-ea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4. Launch Jupyter Notebook  </a:t>
            </a:r>
            <a:endParaRPr lang="en-US" altLang="zh-CN" sz="1800" i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i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 you want to open your notebook, just activate the virtual environment (Step 2) and type ’jupyter notebook’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90" y="3129915"/>
            <a:ext cx="8662670" cy="16725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Jupyter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(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  <a:hlinkClick r:id="rId3"/>
              </a:rPr>
              <a:t>www.jupyter.org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)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100" y="1417320"/>
            <a:ext cx="8978900" cy="4424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GitHub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542290" y="1058231"/>
            <a:ext cx="8229600" cy="274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Not Only for Programming – A </a:t>
            </a:r>
            <a:r>
              <a:rPr lang="en-US" altLang="zh-CN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free 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and </a:t>
            </a:r>
            <a:r>
              <a:rPr lang="en-US" altLang="zh-CN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Shared</a:t>
            </a: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Resource Hub for Creativity and Productivity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Code Sharing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Dataset Sharing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Resource Sharing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 &amp; Version Control</a:t>
            </a:r>
            <a:endParaRPr lang="en-US" altLang="zh-CN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Can store, organize, and manage your projects, notes, and knowledge — with every change tracked over time.</a:t>
            </a:r>
            <a:endParaRPr lang="en-US" altLang="zh-CN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lvl="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altLang="zh-CN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" y="3804920"/>
            <a:ext cx="2828290" cy="25679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515995"/>
            <a:ext cx="3566795" cy="290957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Sign in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-43815" y="1289685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/>
              <a:t>Step 1: </a:t>
            </a:r>
            <a:r>
              <a:rPr lang="en-US" altLang="zh-CN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  <a:hlinkClick r:id="rId3" action="ppaction://hlinkfile"/>
              </a:rPr>
              <a:t>https://github.com</a:t>
            </a:r>
            <a:r>
              <a:rPr lang="en-US" altLang="zh-CN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 open the link and sign up your own account based on the instruction. 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05965"/>
            <a:ext cx="9144000" cy="395795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Sign in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-43815" y="1289685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/>
              <a:t>Step 1: Sign up using your Google or Apple ID, or create a new account with your email address.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55" y="1798955"/>
            <a:ext cx="8771890" cy="42595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Sign in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-43815" y="1289685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/>
              <a:t>Step 2: Sign in with the account you just created.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90" y="1807210"/>
            <a:ext cx="8338820" cy="379857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Homepage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" y="1595755"/>
            <a:ext cx="8980170" cy="40449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Resource Hub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-43815" y="1289685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/>
              <a:t>Try searching “awesome + keyword” (awesome list)</a:t>
            </a:r>
            <a:endParaRPr lang="zh-CN" altLang="en-US">
              <a:ea typeface="宋体" panose="0201060003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5155"/>
            <a:ext cx="9144000" cy="41725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Resource Hub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-43815" y="1289685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/>
              <a:t>Try searching “awesome + keyword” (awesome list) [e.g. ‘</a:t>
            </a:r>
            <a:r>
              <a:rPr lang="en-US" altLang="zh-CN">
                <a:ea typeface="宋体" panose="02010600030101010101" pitchFamily="2" charset="-122"/>
              </a:rPr>
              <a:t>awesome data science’]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90" y="1955165"/>
            <a:ext cx="8462645" cy="373951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Resource Hub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-43815" y="1289685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/>
              <a:t>Try searching “awesome + keyword” (awesome list) [e.g. ‘</a:t>
            </a:r>
            <a:r>
              <a:rPr lang="en-US" altLang="zh-CN">
                <a:ea typeface="宋体" panose="02010600030101010101" pitchFamily="2" charset="-122"/>
              </a:rPr>
              <a:t>awesome data science’]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180" y="1774825"/>
            <a:ext cx="7722235" cy="458787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Resource Hub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-43815" y="1289685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If you don’t have a specific search goal, just click “Explore.” Use it like a social media platform (similar to Instagram or Twitter.)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5" y="2236470"/>
            <a:ext cx="8741410" cy="39154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Resource Hub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-43815" y="1289685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View and download the project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90" y="2035810"/>
            <a:ext cx="8390255" cy="396176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454785" y="2581910"/>
            <a:ext cx="403034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watch: receive notifications about changes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fork: create your own copy of this repo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star: bookmark or like the project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349750" y="3787140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copy the repo to your local machine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205095" y="4161790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three ways to clone the repo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221605" y="5347335"/>
            <a:ext cx="3048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</a:rPr>
              <a:t>Always use “Download ZIP” to get the project.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Resource Hub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113665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README is very important because it usually includes an introduction, installation guide, and instructions on how to use the resources you downloaded.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90" y="1849120"/>
            <a:ext cx="7322820" cy="441769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113665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Create and share your own project (called “repositories” on GitHub).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45" y="1832610"/>
            <a:ext cx="8350885" cy="370967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113665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Create and share your own project (called “repositories” on GitHub).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" y="1722120"/>
            <a:ext cx="8950325" cy="397129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97536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Create and share your own project (called “repositories” on GitHub).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795" y="1417320"/>
            <a:ext cx="5448300" cy="49530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68375" y="2355850"/>
            <a:ext cx="767292" cy="218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default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2568575" y="2311400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name of your project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5267325" y="4700270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solidFill>
                  <a:srgbClr val="FF0000"/>
                </a:solidFill>
              </a:rPr>
              <a:t>click here to add README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267325" y="5119370"/>
            <a:ext cx="3048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solidFill>
                  <a:srgbClr val="FF0000"/>
                </a:solidFill>
              </a:rPr>
              <a:t>No .gitignore means no files will be ignored — every file will be tracked.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97536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Create and share your own project (called “repositories” on GitHub).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90" y="1560830"/>
            <a:ext cx="8300720" cy="437515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28295" y="396875"/>
            <a:ext cx="8815705" cy="43827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README: Follow the syntax of Markdown.</a:t>
            </a:r>
          </a:p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e.g. </a:t>
            </a:r>
          </a:p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#  title          ## subtitle         **bold**             *italic*</a:t>
            </a:r>
          </a:p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See the link below for more detailed syntax. </a:t>
            </a:r>
            <a:r>
              <a:rPr lang="en-US" altLang="zh-CN">
                <a:ea typeface="宋体" panose="02010600030101010101" pitchFamily="2" charset="-122"/>
                <a:hlinkClick r:id="rId3" action="ppaction://hlinkfile"/>
              </a:rPr>
              <a:t>https://www.markdownguide.org/basic-syntax/</a:t>
            </a:r>
            <a:endParaRPr lang="en-US" altLang="zh-CN">
              <a:ea typeface="宋体" panose="02010600030101010101" pitchFamily="2" charset="-122"/>
            </a:endParaRPr>
          </a:p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endParaRPr lang="en-US" altLang="zh-CN">
              <a:ea typeface="宋体" panose="02010600030101010101" pitchFamily="2" charset="-122"/>
            </a:endParaRPr>
          </a:p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endParaRPr lang="en-US" altLang="zh-CN">
              <a:ea typeface="宋体" panose="02010600030101010101" pitchFamily="2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3025775"/>
            <a:ext cx="6180455" cy="328549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141732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Create folder: create file -&gt; folder name/ -&gt; file name</a:t>
            </a:r>
            <a:endParaRPr lang="zh-CN" altLang="en-US">
              <a:ea typeface="宋体" panose="02010600030101010101" pitchFamily="2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65" y="3225800"/>
            <a:ext cx="8077200" cy="29870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" y="1887220"/>
            <a:ext cx="1879600" cy="11303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141732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View previous version</a:t>
            </a:r>
            <a:endParaRPr lang="zh-CN" altLang="en-US">
              <a:ea typeface="宋体" panose="0201060003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65" y="2002790"/>
            <a:ext cx="7956550" cy="309245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615430" y="2408555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</a:rPr>
              <a:t>View commit history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141732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Create folder: create file -&gt; folder name/ -&gt; file name</a:t>
            </a:r>
            <a:endParaRPr lang="zh-CN" altLang="en-US">
              <a:ea typeface="宋体" panose="0201060003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65" y="2002790"/>
            <a:ext cx="7956550" cy="309245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615430" y="2408555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</a:rPr>
              <a:t>View commit history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03120"/>
            <a:ext cx="9144000" cy="340233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523990" y="2880995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</a:rPr>
              <a:t>View the unmodified version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97536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Change the repository settings and add collaborators.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60" y="1560830"/>
            <a:ext cx="8463915" cy="455866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97536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Delete the repository: Settings -&gt; Danger Zone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" y="1621155"/>
            <a:ext cx="7734300" cy="409575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97536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Delete the file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90" y="1560830"/>
            <a:ext cx="8371205" cy="39566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97536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</a:rPr>
              <a:t>Delete the folder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78000"/>
            <a:ext cx="9144000" cy="39751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97536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  <a:sym typeface="+mn-ea"/>
              </a:rPr>
              <a:t>Delete the folder</a:t>
            </a:r>
            <a:endParaRPr lang="en-US" altLang="zh-CN">
              <a:ea typeface="宋体" panose="0201060003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" y="1560830"/>
            <a:ext cx="8520430" cy="39306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altLang="zh-CN" sz="2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+mn-ea"/>
              </a:rPr>
              <a:t>Personal Knowledge Base</a:t>
            </a:r>
            <a:endParaRPr lang="en-US" sz="2800" b="1" noProof="0" dirty="0">
              <a:solidFill>
                <a:schemeClr val="dk1"/>
              </a:solidFill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64465" y="975360"/>
            <a:ext cx="8815705" cy="585470"/>
          </a:xfrm>
        </p:spPr>
        <p:txBody>
          <a:bodyPr/>
          <a:lstStyle/>
          <a:p>
            <a:pPr marL="457200" lvl="1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>
                <a:ea typeface="宋体" panose="02010600030101010101" pitchFamily="2" charset="-122"/>
                <a:sym typeface="+mn-ea"/>
              </a:rPr>
              <a:t>Delete the folder</a:t>
            </a:r>
            <a:endParaRPr lang="en-US" altLang="zh-CN">
              <a:ea typeface="宋体" panose="02010600030101010101" pitchFamily="2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25" y="1560830"/>
            <a:ext cx="4165600" cy="42799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095696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Open the link: </a:t>
            </a: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3" action="ppaction://hlinkfile"/>
              </a:rPr>
              <a:t>https://colab.research.google.com/?hl=en</a:t>
            </a: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sign in with your Google account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690" y="1884045"/>
            <a:ext cx="8631555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095696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Create a new notebook. It will be automatically saved in Google Drive.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" y="1998345"/>
            <a:ext cx="8862060" cy="394779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989651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Open the given notebook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Choice 1: upload from local machine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altLang="zh-CN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altLang="zh-CN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320" y="2090420"/>
            <a:ext cx="5864860" cy="364172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105" y="1868170"/>
            <a:ext cx="2990215" cy="353504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989651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Open the given notebook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Choice 2: Upload from Google Drive — open the folder that contains the notebook, then open it with Colab.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45" y="2163445"/>
            <a:ext cx="8771890" cy="390461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989651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 notebook is organized into several code cells and text cells.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text cells, we need to follow Markdown syntax.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code cells, we can write code in Python or R.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90" y="2174240"/>
            <a:ext cx="8686800" cy="369951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989651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 notebook is organized into several code cells and text cells.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text cells, we need to follow Markdown syntax.</a:t>
            </a:r>
          </a:p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Markdown Guide: </a:t>
            </a: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3" action="ppaction://hlinkfile"/>
              </a:rPr>
              <a:t>https://colab.research.google.com/notebooks/markdown_guide.ipynb</a:t>
            </a:r>
            <a:endParaRPr lang="en-US" altLang="zh-CN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code cells, we can write code in Python or R.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" y="3180715"/>
            <a:ext cx="8489950" cy="2667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989651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 notebook is organized into several code cells and text cells.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text cells, we need to follow Markdown syntax.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code cells, we can write code in Python or R.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025" y="2364740"/>
            <a:ext cx="8489950" cy="2667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133796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Change runtime settings (e.g., choose CPU or GPU, select the interpreter such as Python or R, etc.).The two methods are equivalent.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145" y="2038350"/>
            <a:ext cx="7771765" cy="365633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133796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Change runtime settings (e.g., choose CPU or GPU, select the interpreter such as Python or R, etc.).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l="3811"/>
          <a:stretch>
            <a:fillRect/>
          </a:stretch>
        </p:blipFill>
        <p:spPr>
          <a:xfrm>
            <a:off x="457200" y="2103755"/>
            <a:ext cx="4141470" cy="391604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105" y="2020570"/>
            <a:ext cx="3111500" cy="399923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133796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Change runtime settings (e.g., choose CPU or GPU, select the interpreter such as Python or R, etc.).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165"/>
            <a:ext cx="8029575" cy="406590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133796"/>
            <a:ext cx="8229600" cy="1730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pitchFamily="2" charset="2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Edit or delete the cell: 3 methods: double-click / right-click / drag the interface to show it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9115"/>
            <a:ext cx="8085455" cy="459994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Google Colab</a:t>
            </a: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121285" y="1494155"/>
            <a:ext cx="3730625" cy="4577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  <a:buFont typeface="Wingdings" panose="05000000000000000000" charset="0"/>
            </a:pPr>
            <a:r>
              <a:rPr lang="en-US" altLang="zh-CN" sz="20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Save and export the notebook</a:t>
            </a:r>
          </a:p>
          <a:p>
            <a:pPr marL="285750" indent="-285750">
              <a:spcBef>
                <a:spcPts val="640"/>
              </a:spcBef>
              <a:buFont typeface="Wingdings" panose="05000000000000000000" charset="0"/>
              <a:buChar char="Ø"/>
            </a:pPr>
            <a:endParaRPr lang="en-US" altLang="zh-CN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charset="0"/>
              <a:buChar char="Ø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 original version is automatically saved.</a:t>
            </a:r>
          </a:p>
          <a:p>
            <a:pPr marL="285750" indent="-285750">
              <a:spcBef>
                <a:spcPts val="640"/>
              </a:spcBef>
              <a:buFont typeface="Wingdings" panose="05000000000000000000" charset="0"/>
              <a:buChar char="Ø"/>
            </a:pPr>
            <a:endParaRPr lang="en-US" altLang="zh-CN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charset="0"/>
              <a:buChar char="Ø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You can also save a copy to Google Drive or GitHub.</a:t>
            </a:r>
          </a:p>
          <a:p>
            <a:pPr marL="285750" indent="-285750">
              <a:spcBef>
                <a:spcPts val="640"/>
              </a:spcBef>
              <a:buFont typeface="Wingdings" panose="05000000000000000000" charset="0"/>
              <a:buChar char="Ø"/>
            </a:pPr>
            <a:endParaRPr lang="en-US" altLang="zh-CN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charset="0"/>
              <a:buChar char="Ø"/>
            </a:pPr>
            <a:r>
              <a:rPr lang="en-US" altLang="zh-CN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 can be downloaded to your local machine in two formats: .ipynb or .py.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1057275"/>
            <a:ext cx="5372100" cy="521335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Variables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Variables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7" name="PlaceHolder 5"/>
          <p:cNvSpPr txBox="1"/>
          <p:nvPr/>
        </p:nvSpPr>
        <p:spPr>
          <a:xfrm>
            <a:off x="696094" y="4996543"/>
            <a:ext cx="7751811" cy="123804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405130" lvl="1"/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ejaVu Sans" panose="020B0603030804020204"/>
              </a:rPr>
              <a:t> number  = 123            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ejaVu Sans" panose="020B0603030804020204"/>
              </a:rPr>
              <a:t> message = 'Hello World!'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/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ejaVu Sans" panose="020B0603030804020204"/>
              </a:rPr>
              <a:t> number2 = number       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303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Labels (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computations</a:t>
            </a:r>
            <a:endParaRPr lang="de-DE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Variables </a:t>
            </a:r>
            <a:r>
              <a:rPr lang="de-DE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reference</a:t>
            </a:r>
            <a:r>
              <a:rPr lang="de-DE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Placeholders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Assignment of values with </a:t>
            </a:r>
            <a:r>
              <a:rPr lang="en-US" sz="1800" noProof="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=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&lt;Variable name&gt; = &lt;Assigned value&gt;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Transient (temporary) storage of values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Lifetime ends with the end of the program execution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 value is needed, after that we can change to arbitrary values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Mutable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Variables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8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Naming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conventions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variable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names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Fixed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rules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not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followed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results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errors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Only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underscore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_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at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beginning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whitespaces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Style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guidelines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Lower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case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short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descriptive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Words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separated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underscore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_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3"/>
              </a:rPr>
              <a:t>https://github.com/dhelic/focsp/blob/main/style.md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 Unit 4 Python Notebook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2400" b="1" dirty="0">
              <a:solidFill>
                <a:srgbClr val="D3242A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Variables and data types</a:t>
            </a:r>
            <a:endParaRPr lang="en-US" noProof="0" dirty="0">
              <a:solidFill>
                <a:schemeClr val="dk1"/>
              </a:solidFill>
            </a:endParaRPr>
          </a:p>
        </p:txBody>
      </p:sp>
      <p:graphicFrame>
        <p:nvGraphicFramePr>
          <p:cNvPr id="6" name="Tabelle 5"/>
          <p:cNvGraphicFramePr/>
          <p:nvPr/>
        </p:nvGraphicFramePr>
        <p:xfrm>
          <a:off x="471300" y="1286691"/>
          <a:ext cx="8300844" cy="4637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09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74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Data type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Function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04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int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Natural numbers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x = 3 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04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float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Floating point numbers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x = 3.0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632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bool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Booleans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x = True</a:t>
                      </a:r>
                    </a:p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x = False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6320"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str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Strings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x = 'Test'</a:t>
                      </a:r>
                    </a:p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x = "Test"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104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tuple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Tuples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x = (1, 2, 3)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104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list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Lists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x = [1, 2, 3]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104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dict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Dictionaries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x = {1: 'blue', 2: 'red'}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104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io.TextIOWrapper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Files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x = open('readme.txt')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640"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...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...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...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Integers and Floats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Integers and floating point numbers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303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Integers: 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1, -13, 15, -42, 12345, 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Floats: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1.3, 3.14159, -42.123, …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Arithemtic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operations: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Adding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+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), Subtracting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-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), Multiplying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*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), Dividing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/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Exponantiating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**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Modulo Operator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%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2496094" y="5097737"/>
            <a:ext cx="4151812" cy="758777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de-AT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5 + 13      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de-AT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number_2 = 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+ 5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Extended operator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4784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Arithmetic operations with direct assignment: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Adding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+=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), Subtracting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-=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), Multiplying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*=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), Dividing (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/=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601979" y="2599506"/>
            <a:ext cx="3654335" cy="217391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42</a:t>
            </a:r>
          </a:p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+= 8 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=&gt; 50</a:t>
            </a:r>
          </a:p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-= 10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=&gt; 40</a:t>
            </a:r>
          </a:p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/= 4 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=&gt; 10</a:t>
            </a:r>
          </a:p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*= 2 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=&gt; 20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 panose="020B0604020202020204"/>
            </a:endParaRPr>
          </a:p>
        </p:txBody>
      </p:sp>
      <p:sp>
        <p:nvSpPr>
          <p:cNvPr id="5" name="Textfeld 4"/>
          <p:cNvSpPr txBox="1"/>
          <p:nvPr/>
        </p:nvSpPr>
        <p:spPr>
          <a:xfrm>
            <a:off x="5032465" y="2599506"/>
            <a:ext cx="3654335" cy="217391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07035">
              <a:spcBef>
                <a:spcPts val="1135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42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7035">
              <a:spcBef>
                <a:spcPts val="1135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+ 8  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7035">
              <a:spcBef>
                <a:spcPts val="1135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- 10 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7035">
              <a:spcBef>
                <a:spcPts val="1135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/ 4  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7035">
              <a:spcBef>
                <a:spcPts val="1135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number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* 2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130" lvl="1" indent="0">
              <a:spcBef>
                <a:spcPts val="1135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Some special cases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107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Operations with integers and Float == Float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</a:rPr>
              <a:t>4/2 = 2.0, 2 * 3.0 = 6.0, 3.0 ** 2 = 9.0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Floating point error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</a:rPr>
              <a:t>0.2 + 0.1 ≠ 0.3</a:t>
            </a: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 unit4.ipynb on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Moodle</a:t>
            </a:r>
            <a:endParaRPr lang="de-DE" sz="2400" b="1" dirty="0">
              <a:solidFill>
                <a:srgbClr val="D3242A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Strings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952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Text = sequence of characters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Begin and end marked with quotation marks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"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</a:rPr>
              <a:t>'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849086" y="2906487"/>
            <a:ext cx="7522028" cy="29500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'This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</a:t>
            </a:r>
          </a:p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"This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also a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"</a:t>
            </a:r>
          </a:p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'"Python" was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named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after "Monty Python".'</a:t>
            </a:r>
          </a:p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''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'This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multiline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1296035" lvl="2" indent="0">
              <a:spcBef>
                <a:spcPts val="850"/>
              </a:spcBef>
              <a:buNone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			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''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</a:t>
            </a:r>
          </a:p>
          <a:p>
            <a:pPr marL="405130" lvl="1" indent="0">
              <a:spcBef>
                <a:spcPts val="1135"/>
              </a:spcBef>
              <a:buNone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""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"This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another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multiline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1296035" lvl="2" indent="0">
              <a:spcBef>
                <a:spcPts val="850"/>
              </a:spcBef>
              <a:buNone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			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tring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"""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476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Individual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an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(0-based!)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First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0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Last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length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– 1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Multiple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indices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Length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 slicing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988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i-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[i-1]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substring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(inclusive)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until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end (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start:end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substring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(inclusive)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until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end (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 in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steps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given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size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start:end:stepsize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]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 slicing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4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Advanced slicing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i-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last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[-i]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everything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i-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last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(inclusive):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[-i:]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everything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until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i-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last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[:-i]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Reversed</a:t>
            </a:r>
            <a:r>
              <a:rPr lang="de-DE" sz="1800" dirty="0"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[::-1]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 slicing: example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PlaceHolder 2"/>
          <p:cNvSpPr txBox="1"/>
          <p:nvPr/>
        </p:nvSpPr>
        <p:spPr>
          <a:xfrm>
            <a:off x="412474" y="1580760"/>
            <a:ext cx="8165469" cy="4754726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405130" lvl="1">
              <a:spcBef>
                <a:spcPts val="560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'Vienna' 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1296035" lvl="2">
              <a:spcBef>
                <a:spcPts val="850"/>
              </a:spcBef>
            </a:pPr>
            <a:endParaRPr lang="de-AT" sz="2800" spc="-1" dirty="0">
              <a:solidFill>
                <a:srgbClr val="0F0F0F"/>
              </a:solidFill>
            </a:endParaRPr>
          </a:p>
          <a:p>
            <a:pPr marL="2592070" lvl="5">
              <a:spcBef>
                <a:spcPts val="285"/>
              </a:spcBef>
            </a:pPr>
            <a:endParaRPr lang="de-AT" sz="2800" spc="-1" dirty="0">
              <a:solidFill>
                <a:srgbClr val="0F0F0F"/>
              </a:solidFill>
            </a:endParaRPr>
          </a:p>
        </p:txBody>
      </p:sp>
      <p:graphicFrame>
        <p:nvGraphicFramePr>
          <p:cNvPr id="7" name="Tabelle 6"/>
          <p:cNvGraphicFramePr/>
          <p:nvPr/>
        </p:nvGraphicFramePr>
        <p:xfrm>
          <a:off x="1135782" y="2122346"/>
          <a:ext cx="7054200" cy="41090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38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040"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Command with text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Result</a:t>
                      </a:r>
                      <a:endParaRPr lang="en-US" sz="1800" b="1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040"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text[0]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'V'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040"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text[:2] </a:t>
                      </a:r>
                    </a:p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text[0:2]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'Vi'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text[6]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IndexError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text[5] </a:t>
                      </a:r>
                    </a:p>
                    <a:p>
                      <a:pPr algn="l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text[-1]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'a'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320"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text[2:]</a:t>
                      </a:r>
                    </a:p>
                    <a:p>
                      <a:pPr algn="l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text[2:6]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enna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480"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text[::2]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'Ven'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480"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text[::-1]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anneiV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 methods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PlaceHolder 2"/>
          <p:cNvSpPr txBox="1"/>
          <p:nvPr/>
        </p:nvSpPr>
        <p:spPr>
          <a:xfrm>
            <a:off x="565466" y="3429000"/>
            <a:ext cx="3048592" cy="814097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405130" lvl="1">
              <a:spcBef>
                <a:spcPts val="560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' Python! ' </a:t>
            </a:r>
          </a:p>
          <a:p>
            <a:pPr marL="405130" lvl="1">
              <a:spcBef>
                <a:spcPts val="560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name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'John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Doe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</a:t>
            </a:r>
          </a:p>
          <a:p>
            <a:pPr marL="1296035" lvl="2">
              <a:spcBef>
                <a:spcPts val="850"/>
              </a:spcBef>
            </a:pPr>
            <a:endParaRPr lang="de-AT" sz="2800" spc="-1" dirty="0">
              <a:solidFill>
                <a:srgbClr val="0F0F0F"/>
              </a:solidFill>
            </a:endParaRPr>
          </a:p>
          <a:p>
            <a:pPr marL="2592070" lvl="5">
              <a:spcBef>
                <a:spcPts val="285"/>
              </a:spcBef>
            </a:pPr>
            <a:endParaRPr lang="de-AT" sz="2800" spc="-1" dirty="0">
              <a:solidFill>
                <a:srgbClr val="0F0F0F"/>
              </a:solidFill>
            </a:endParaRPr>
          </a:p>
        </p:txBody>
      </p:sp>
      <p:sp>
        <p:nvSpPr>
          <p:cNvPr id="5" name="Google Shape;87;p2"/>
          <p:cNvSpPr txBox="1">
            <a:spLocks noGrp="1"/>
          </p:cNvSpPr>
          <p:nvPr>
            <p:ph type="body" idx="1"/>
          </p:nvPr>
        </p:nvSpPr>
        <p:spPr>
          <a:xfrm>
            <a:off x="272144" y="1605599"/>
            <a:ext cx="3048592" cy="467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 are flexible with a huge standard functionality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Methods take actions on the variable values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Examples: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 Unit 4 Python Notebook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elle 7"/>
          <p:cNvGraphicFramePr/>
          <p:nvPr/>
        </p:nvGraphicFramePr>
        <p:xfrm>
          <a:off x="3472544" y="1605599"/>
          <a:ext cx="5524201" cy="3787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13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1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9920"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Call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Result</a:t>
                      </a:r>
                      <a:endParaRPr lang="en-US" sz="1800" b="1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960"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name + ' , hi!'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'John Doe, hi!'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960"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text * 2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 Python!  Python! 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960">
                <a:tc>
                  <a:txBody>
                    <a:bodyPr/>
                    <a:lstStyle/>
                    <a:p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name.title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()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'John Doe'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96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name.upper()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'JOHN DOE'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96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text.lower()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 python! 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96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text.rstrip()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 Python!'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96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text.lstrip()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'Python! 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96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text.strip()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'Python!'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name.split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(' ')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['John', 'Doe']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Casting, Printing, Commenting,</a:t>
            </a:r>
            <a:b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None-Keyword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Conversion between data types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4719145" cy="3103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Casting: converting between data types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int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DE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str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DE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float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DE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bool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DE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…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int('5')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		=&gt;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5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float('5.23')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	=&gt;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5.23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str(5)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		=&gt;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'5'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int(True)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	=&gt;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1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bool(0)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		=&gt;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False</a:t>
            </a:r>
          </a:p>
        </p:txBody>
      </p:sp>
      <p:sp>
        <p:nvSpPr>
          <p:cNvPr id="11" name="Textfeld 10"/>
          <p:cNvSpPr txBox="1"/>
          <p:nvPr/>
        </p:nvSpPr>
        <p:spPr>
          <a:xfrm>
            <a:off x="5227320" y="1306132"/>
            <a:ext cx="3853618" cy="90204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latin typeface="Consolas" panose="020B0609020204030204" pitchFamily="49" charset="0"/>
                <a:ea typeface="Droid Sans Fallback"/>
              </a:rPr>
              <a:t>num1 = 123           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latin typeface="Consolas" panose="020B0609020204030204" pitchFamily="49" charset="0"/>
                <a:ea typeface="Droid Sans Fallback"/>
              </a:rPr>
              <a:t>num2 = '15</a:t>
            </a:r>
            <a:r>
              <a:rPr lang="en-US" sz="1800" b="0" strike="noStrike" spc="-1" dirty="0">
                <a:latin typeface="Consolas" panose="020B0609020204030204" pitchFamily="49" charset="0"/>
              </a:rPr>
              <a:t>'</a:t>
            </a:r>
          </a:p>
          <a:p>
            <a:r>
              <a:rPr lang="en-US" sz="1800" b="0" strike="noStrike" spc="-1" dirty="0">
                <a:latin typeface="Consolas" panose="020B0609020204030204" pitchFamily="49" charset="0"/>
              </a:rPr>
              <a:t>num3 = num1 + num2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5227320" y="2212612"/>
            <a:ext cx="3853618" cy="373680"/>
          </a:xfrm>
          <a:prstGeom prst="rect">
            <a:avLst/>
          </a:prstGeom>
          <a:solidFill>
            <a:srgbClr val="FFFFFF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b="1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Output:</a:t>
            </a:r>
            <a:endParaRPr lang="en-US" sz="18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feld 12"/>
          <p:cNvSpPr txBox="1"/>
          <p:nvPr/>
        </p:nvSpPr>
        <p:spPr>
          <a:xfrm>
            <a:off x="5227320" y="4991644"/>
            <a:ext cx="3853618" cy="95436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latin typeface="Consolas" panose="020B0609020204030204" pitchFamily="49" charset="0"/>
                <a:ea typeface="Droid Sans Fallback"/>
              </a:rPr>
              <a:t>num1 = 123           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latin typeface="Consolas" panose="020B0609020204030204" pitchFamily="49" charset="0"/>
                <a:ea typeface="Droid Sans Fallback"/>
              </a:rPr>
              <a:t>num2 = '15</a:t>
            </a:r>
            <a:r>
              <a:rPr lang="en-US" sz="1800" b="0" strike="noStrike" spc="-1" dirty="0">
                <a:latin typeface="Consolas" panose="020B0609020204030204" pitchFamily="49" charset="0"/>
              </a:rPr>
              <a:t>'</a:t>
            </a:r>
          </a:p>
          <a:p>
            <a:r>
              <a:rPr lang="en-US" sz="1800" b="0" strike="noStrike" spc="-1" dirty="0">
                <a:latin typeface="Consolas" panose="020B0609020204030204" pitchFamily="49" charset="0"/>
              </a:rPr>
              <a:t>num3 = num1 + int(num2)</a:t>
            </a:r>
          </a:p>
        </p:txBody>
      </p:sp>
      <p:sp>
        <p:nvSpPr>
          <p:cNvPr id="14" name="Textfeld 13"/>
          <p:cNvSpPr txBox="1"/>
          <p:nvPr/>
        </p:nvSpPr>
        <p:spPr>
          <a:xfrm>
            <a:off x="5227320" y="4591143"/>
            <a:ext cx="3853618" cy="373680"/>
          </a:xfrm>
          <a:prstGeom prst="rect">
            <a:avLst/>
          </a:prstGeom>
          <a:solidFill>
            <a:srgbClr val="FFFFFF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b="1" spc="-1" dirty="0">
                <a:latin typeface="Calibri" panose="020F0502020204030204" pitchFamily="34" charset="0"/>
                <a:cs typeface="Calibri" panose="020F0502020204030204" pitchFamily="34" charset="0"/>
              </a:rPr>
              <a:t>Solution</a:t>
            </a:r>
            <a:r>
              <a:rPr lang="en-US" sz="1800" b="1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US" sz="18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feld 14"/>
          <p:cNvSpPr txBox="1"/>
          <p:nvPr/>
        </p:nvSpPr>
        <p:spPr>
          <a:xfrm>
            <a:off x="5227320" y="2575491"/>
            <a:ext cx="3853618" cy="2022017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latin typeface="Consolas" panose="020B0609020204030204" pitchFamily="49" charset="0"/>
              </a:rPr>
              <a:t>TypeError</a:t>
            </a:r>
            <a:r>
              <a:rPr lang="en-US" sz="1800" b="0" strike="noStrike" spc="-1" dirty="0">
                <a:latin typeface="Consolas" panose="020B0609020204030204" pitchFamily="49" charset="0"/>
              </a:rPr>
              <a:t>    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latin typeface="Consolas" panose="020B0609020204030204" pitchFamily="49" charset="0"/>
              </a:rPr>
              <a:t>    1 num1 = 123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latin typeface="Consolas" panose="020B0609020204030204" pitchFamily="49" charset="0"/>
              </a:rPr>
              <a:t>    2 num2 = '15'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latin typeface="Consolas" panose="020B0609020204030204" pitchFamily="49" charset="0"/>
              </a:rPr>
              <a:t>--&gt; 3 num3 = num1 + num2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 err="1">
                <a:latin typeface="Consolas" panose="020B0609020204030204" pitchFamily="49" charset="0"/>
              </a:rPr>
              <a:t>TypeError</a:t>
            </a:r>
            <a:r>
              <a:rPr lang="en-US" sz="1800" b="0" strike="noStrike" spc="-1" dirty="0">
                <a:latin typeface="Consolas" panose="020B0609020204030204" pitchFamily="49" charset="0"/>
              </a:rPr>
              <a:t>: unsupported operand type(s) for +: 'int' and 'str'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Formatting output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2692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Droid Sans Fallback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Droid Sans Fallback"/>
                <a:cs typeface="Calibri" panose="020F0502020204030204" pitchFamily="34" charset="0"/>
              </a:rPr>
              <a:t>function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Prints also a new line at the end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 separated with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,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Droid Sans Fallback"/>
                <a:cs typeface="Calibri" panose="020F0502020204030204" pitchFamily="34" charset="0"/>
              </a:rPr>
              <a:t> 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Space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whitespace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format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variables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before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Variables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brackets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{}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1" name="Textfeld 10"/>
          <p:cNvSpPr txBox="1"/>
          <p:nvPr/>
        </p:nvSpPr>
        <p:spPr>
          <a:xfrm>
            <a:off x="702394" y="4525818"/>
            <a:ext cx="7949237" cy="1023105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05130" lvl="1">
              <a:spcBef>
                <a:spcPts val="1135"/>
              </a:spcBef>
            </a:pP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name = 'Max'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age = 20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print(</a:t>
            </a:r>
            <a:r>
              <a:rPr lang="en-US" sz="1800" b="1" spc="-1" dirty="0" err="1">
                <a:latin typeface="Consolas" panose="020B0609020204030204" pitchFamily="49" charset="0"/>
                <a:ea typeface="Droid Sans Fallback"/>
              </a:rPr>
              <a:t>f</a:t>
            </a:r>
            <a:r>
              <a:rPr lang="en-US" sz="1800" spc="-1" dirty="0" err="1">
                <a:latin typeface="Consolas" panose="020B0609020204030204" pitchFamily="49" charset="0"/>
                <a:ea typeface="Droid Sans Fallback"/>
              </a:rPr>
              <a:t>'My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 name is </a:t>
            </a:r>
            <a:r>
              <a:rPr lang="en-US" sz="1800" b="1" spc="-1" dirty="0">
                <a:latin typeface="Consolas" panose="020B0609020204030204" pitchFamily="49" charset="0"/>
                <a:ea typeface="Droid Sans Fallback"/>
              </a:rPr>
              <a:t>{name}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 and I am </a:t>
            </a:r>
            <a:r>
              <a:rPr lang="en-US" sz="1800" b="1" spc="-1" dirty="0">
                <a:latin typeface="Consolas" panose="020B0609020204030204" pitchFamily="49" charset="0"/>
                <a:ea typeface="Droid Sans Fallback"/>
              </a:rPr>
              <a:t>{age}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 years old')</a:t>
            </a:r>
            <a:br>
              <a:rPr lang="en-US" sz="1800" dirty="0"/>
            </a:br>
            <a:endParaRPr lang="en-US" sz="1800" spc="-1" dirty="0">
              <a:solidFill>
                <a:srgbClr val="0F0F0F"/>
              </a:solidFill>
            </a:endParaRPr>
          </a:p>
          <a:p>
            <a:pPr marL="405130" lvl="1" indent="0">
              <a:spcBef>
                <a:spcPts val="1135"/>
              </a:spcBef>
              <a:buNone/>
            </a:pP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hteck 8"/>
          <p:cNvSpPr/>
          <p:nvPr/>
        </p:nvSpPr>
        <p:spPr>
          <a:xfrm>
            <a:off x="1879244" y="5063040"/>
            <a:ext cx="300960" cy="378720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" name="Rechteck 15"/>
          <p:cNvSpPr/>
          <p:nvPr/>
        </p:nvSpPr>
        <p:spPr>
          <a:xfrm>
            <a:off x="3540369" y="5063040"/>
            <a:ext cx="797170" cy="421920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" name="Rechteck 16"/>
          <p:cNvSpPr/>
          <p:nvPr/>
        </p:nvSpPr>
        <p:spPr>
          <a:xfrm>
            <a:off x="5575500" y="5063040"/>
            <a:ext cx="676808" cy="422640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" name="Textfeld 1"/>
          <p:cNvSpPr txBox="1"/>
          <p:nvPr/>
        </p:nvSpPr>
        <p:spPr>
          <a:xfrm>
            <a:off x="4247661" y="2973754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AT" dirty="0"/>
          </a:p>
        </p:txBody>
      </p:sp>
      <p:sp>
        <p:nvSpPr>
          <p:cNvPr id="3" name="Textfeld 2"/>
          <p:cNvSpPr txBox="1"/>
          <p:nvPr/>
        </p:nvSpPr>
        <p:spPr>
          <a:xfrm>
            <a:off x="1600330" y="5716813"/>
            <a:ext cx="569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Droid Sans Fallback"/>
                <a:cs typeface="Calibri" panose="020F0502020204030204" pitchFamily="34" charset="0"/>
              </a:rPr>
              <a:t>Output:</a:t>
            </a:r>
            <a:r>
              <a:rPr lang="en-US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Droid Sans Fallback"/>
                <a:cs typeface="Calibri" panose="020F0502020204030204" pitchFamily="34" charset="0"/>
              </a:rPr>
              <a:t>   </a:t>
            </a:r>
            <a:r>
              <a:rPr lang="en-US" sz="1800" spc="-1" dirty="0">
                <a:highlight>
                  <a:srgbClr val="FFFFFF"/>
                </a:highlight>
                <a:latin typeface="Calibri" panose="020F0502020204030204" pitchFamily="34" charset="0"/>
                <a:ea typeface="Droid Sans Fallback"/>
                <a:cs typeface="Calibri" panose="020F0502020204030204" pitchFamily="34" charset="0"/>
              </a:rPr>
              <a:t> </a:t>
            </a:r>
            <a:r>
              <a:rPr lang="en-US" sz="1800" spc="-1" dirty="0">
                <a:highlight>
                  <a:srgbClr val="FFFFFF"/>
                </a:highlight>
                <a:latin typeface="Consolas" panose="020B0609020204030204" pitchFamily="49" charset="0"/>
                <a:ea typeface="Droid Sans Fallback"/>
              </a:rPr>
              <a:t>My name is Max and I am 20 years old</a:t>
            </a:r>
            <a:endParaRPr lang="de-AT" sz="18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Formatting output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2692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Whitespaces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special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elle 7"/>
          <p:cNvGraphicFramePr/>
          <p:nvPr/>
        </p:nvGraphicFramePr>
        <p:xfrm>
          <a:off x="2743983" y="2312225"/>
          <a:ext cx="3480009" cy="2376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4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5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Sequence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Result</a:t>
                      </a:r>
                      <a:endParaRPr lang="en-US" sz="1800" b="1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\n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b="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New line</a:t>
                      </a: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\t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Tabulator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\'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' character in strings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onsolas" panose="020B0609020204030204" pitchFamily="49" charset="0"/>
                        </a:rPr>
                        <a:t>\"</a:t>
                      </a:r>
                      <a:endParaRPr lang="en-US" sz="1800" b="0" strike="noStrike" spc="-1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de-AT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"</a:t>
                      </a:r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character in strings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\\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\ character (backslash)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Comments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194431" cy="3521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# single-line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comment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"""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multi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line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  <a:p>
            <a:pPr marL="1371600" lvl="3" indent="0">
              <a:spcBef>
                <a:spcPts val="640"/>
              </a:spcBef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comment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"""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'''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multi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line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  <a:p>
            <a:pPr marL="1371600" lvl="3" indent="0">
              <a:spcBef>
                <a:spcPts val="640"/>
              </a:spcBef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documentation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'''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Explanations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flow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structure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Supports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understanding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Useful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group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longer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lasting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projects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etc.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None-Keyword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30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None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Droid Sans Fallback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 value, Null value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Placeholder when the variable value is still not assigned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 = None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different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0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False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''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v"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 panose="020B0604020202020204"/>
              </a:rPr>
              <a:t>See Unit 4 Python Notebook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2400" b="1" dirty="0">
              <a:solidFill>
                <a:srgbClr val="D3242A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Boolean variables and operators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Boolean variables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1684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Boolean variables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bool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true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True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False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Boolean variables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comparisons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variables</a:t>
            </a:r>
          </a:p>
        </p:txBody>
      </p:sp>
      <p:sp>
        <p:nvSpPr>
          <p:cNvPr id="4" name="Rechteck 3"/>
          <p:cNvSpPr/>
          <p:nvPr/>
        </p:nvSpPr>
        <p:spPr>
          <a:xfrm>
            <a:off x="900098" y="3567723"/>
            <a:ext cx="7001256" cy="91440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value = ((2 + 2) &lt; 4)</a:t>
            </a:r>
            <a:endParaRPr lang="en-US" sz="1800" b="0" strike="noStrike" spc="-1" dirty="0">
              <a:solidFill>
                <a:srgbClr val="E0E0E0"/>
              </a:solidFill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('This 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', value)</a:t>
            </a:r>
            <a:endParaRPr lang="en-US" sz="1800" b="0" strike="noStrike" spc="-1" dirty="0">
              <a:solidFill>
                <a:srgbClr val="E0E0E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Comparison operators</a:t>
            </a:r>
            <a:endParaRPr lang="en-US" noProof="0" dirty="0">
              <a:solidFill>
                <a:schemeClr val="dk1"/>
              </a:solidFill>
            </a:endParaRPr>
          </a:p>
        </p:txBody>
      </p:sp>
      <p:graphicFrame>
        <p:nvGraphicFramePr>
          <p:cNvPr id="7" name="Tabelle 6"/>
          <p:cNvGraphicFramePr/>
          <p:nvPr/>
        </p:nvGraphicFramePr>
        <p:xfrm>
          <a:off x="546144" y="1533784"/>
          <a:ext cx="8051711" cy="3564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2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1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Description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Example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==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is equal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== y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!=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is not equal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!= y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&gt;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greater than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&gt; y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&lt;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smaller than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&lt; y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&gt;=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greater or equal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&gt;= y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&lt;=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smaller or equals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&lt;= y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is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objects are identical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is y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is not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objects are different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is not y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feld 7"/>
          <p:cNvSpPr txBox="1"/>
          <p:nvPr/>
        </p:nvSpPr>
        <p:spPr>
          <a:xfrm>
            <a:off x="1570424" y="5318340"/>
            <a:ext cx="6003149" cy="488160"/>
          </a:xfrm>
          <a:prstGeom prst="rect">
            <a:avLst/>
          </a:prstGeom>
          <a:noFill/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1" spc="-1" dirty="0">
                <a:latin typeface="Calibri" panose="020F0502020204030204" pitchFamily="34" charset="0"/>
                <a:cs typeface="Calibri" panose="020F0502020204030204" pitchFamily="34" charset="0"/>
              </a:rPr>
              <a:t>Result of comparisons</a:t>
            </a:r>
            <a:r>
              <a:rPr lang="en-US" sz="1800" b="1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800" b="1" spc="-1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sz="1800" b="1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oolean</a:t>
            </a:r>
            <a:r>
              <a:rPr lang="en-US" sz="1800" b="1" spc="-1" dirty="0">
                <a:latin typeface="Calibri" panose="020F0502020204030204" pitchFamily="34" charset="0"/>
                <a:cs typeface="Calibri" panose="020F0502020204030204" pitchFamily="34" charset="0"/>
              </a:rPr>
              <a:t> value</a:t>
            </a:r>
            <a:r>
              <a:rPr lang="en-US" sz="1800" b="1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sz="1800" b="0" strike="noStrike" spc="-1" dirty="0">
                <a:highlight>
                  <a:srgbClr val="DAE3F3"/>
                </a:highlight>
                <a:latin typeface="Consolas" panose="020B0609020204030204" pitchFamily="49" charset="0"/>
                <a:cs typeface="Calibri" panose="020F0502020204030204" pitchFamily="34" charset="0"/>
              </a:rPr>
              <a:t>True</a:t>
            </a:r>
            <a:r>
              <a:rPr lang="en-US" sz="1800" b="1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b="1" strike="noStrike" spc="-1" dirty="0" err="1">
                <a:latin typeface="Calibri" panose="020F0502020204030204" pitchFamily="34" charset="0"/>
                <a:cs typeface="Calibri" panose="020F0502020204030204" pitchFamily="34" charset="0"/>
              </a:rPr>
              <a:t>oder</a:t>
            </a:r>
            <a:r>
              <a:rPr lang="en-US" sz="1800" b="1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b="0" strike="noStrike" spc="-1" dirty="0">
                <a:highlight>
                  <a:srgbClr val="DAE3F3"/>
                </a:highlight>
                <a:latin typeface="Consolas" panose="020B0609020204030204" pitchFamily="49" charset="0"/>
                <a:cs typeface="Calibri" panose="020F0502020204030204" pitchFamily="34" charset="0"/>
              </a:rPr>
              <a:t>False</a:t>
            </a:r>
            <a:r>
              <a:rPr lang="en-US" sz="1800" b="1" strike="noStrike" spc="-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Logical operators</a:t>
            </a:r>
            <a:endParaRPr lang="en-US" noProof="0" dirty="0">
              <a:solidFill>
                <a:schemeClr val="dk1"/>
              </a:solidFill>
            </a:endParaRPr>
          </a:p>
        </p:txBody>
      </p:sp>
      <p:graphicFrame>
        <p:nvGraphicFramePr>
          <p:cNvPr id="5" name="Tabelle 4"/>
          <p:cNvGraphicFramePr/>
          <p:nvPr/>
        </p:nvGraphicFramePr>
        <p:xfrm>
          <a:off x="819736" y="1668134"/>
          <a:ext cx="7739820" cy="22240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964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33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Description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Example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and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True </a:t>
                      </a:r>
                      <a:r>
                        <a:rPr lang="en-US" sz="1800" strike="noStrike" spc="-1" dirty="0" err="1"/>
                        <a:t>iff</a:t>
                      </a:r>
                      <a:r>
                        <a:rPr lang="en-US" sz="1800" strike="noStrike" spc="-1" dirty="0"/>
                        <a:t> both statements are true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== y and y &lt; 5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/>
                        <a:t>or</a:t>
                      </a:r>
                      <a:endParaRPr lang="en-US" sz="1800" b="0" strike="noStrike" spc="-1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False </a:t>
                      </a:r>
                      <a:r>
                        <a:rPr lang="en-US" sz="1800" strike="noStrike" spc="-1" dirty="0" err="1"/>
                        <a:t>iff</a:t>
                      </a:r>
                      <a:r>
                        <a:rPr lang="en-US" sz="1800" strike="noStrike" spc="-1" dirty="0"/>
                        <a:t> both statement are false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x &gt; 2 or y &gt; 3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strike="noStrike" spc="-1" dirty="0"/>
                        <a:t>not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Negation of the statement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not x == y</a:t>
                      </a:r>
                    </a:p>
                    <a:p>
                      <a:pPr algn="ctr"/>
                      <a:r>
                        <a:rPr lang="en-US" sz="1800" strike="noStrike" spc="-1" dirty="0"/>
                        <a:t>not z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strike="noStrike" spc="-1" dirty="0">
                          <a:latin typeface="Consolas" panose="020B0609020204030204" pitchFamily="49" charset="0"/>
                          <a:cs typeface="Calibri" panose="020F0502020204030204" pitchFamily="34" charset="0"/>
                        </a:rPr>
                        <a:t>^</a:t>
                      </a: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b="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True </a:t>
                      </a:r>
                      <a:r>
                        <a:rPr lang="en-US" sz="1800" b="0" strike="noStrike" spc="-1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iff</a:t>
                      </a:r>
                      <a:r>
                        <a:rPr lang="en-US" sz="1800" b="0" strike="noStrike" spc="-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one of the statements is true (XOR)</a:t>
                      </a: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defRPr/>
                      </a:pPr>
                      <a:r>
                        <a:rPr lang="en-US" sz="1800" strike="noStrike" spc="-1" dirty="0"/>
                        <a:t>x == 2 ^ y &lt; 4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Google Shape;87;p2"/>
          <p:cNvSpPr txBox="1">
            <a:spLocks noGrp="1"/>
          </p:cNvSpPr>
          <p:nvPr>
            <p:ph type="body" idx="1"/>
          </p:nvPr>
        </p:nvSpPr>
        <p:spPr>
          <a:xfrm>
            <a:off x="819734" y="4004924"/>
            <a:ext cx="7739821" cy="1684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Note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^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so-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called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bitwise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operator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Works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bits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each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comparison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should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work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expected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O</a:t>
            </a:r>
            <a:r>
              <a:rPr lang="en-US" sz="2800" b="1" noProof="0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perator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precedence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Google Shape;87;p2"/>
          <p:cNvSpPr txBox="1">
            <a:spLocks noGrp="1"/>
          </p:cNvSpPr>
          <p:nvPr>
            <p:ph type="body" idx="1"/>
          </p:nvPr>
        </p:nvSpPr>
        <p:spPr>
          <a:xfrm>
            <a:off x="6063015" y="1324406"/>
            <a:ext cx="2610851" cy="91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not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See Unit 4 Python Notebook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aphicFrame>
        <p:nvGraphicFramePr>
          <p:cNvPr id="7" name="Tabelle 6"/>
          <p:cNvGraphicFramePr/>
          <p:nvPr/>
        </p:nvGraphicFramePr>
        <p:xfrm>
          <a:off x="146891" y="1324406"/>
          <a:ext cx="5817847" cy="5029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8178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Operator precedence</a:t>
                      </a:r>
                    </a:p>
                    <a:p>
                      <a:pPr algn="ctr"/>
                      <a:r>
                        <a:rPr lang="en-US" sz="1800" strike="noStrike" spc="-1" dirty="0"/>
                        <a:t>(from low to high) </a:t>
                      </a:r>
                      <a:endParaRPr lang="en-US" sz="1800" b="0" strike="noStrike" spc="-1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or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and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strike="noStrike" spc="-1" dirty="0"/>
                        <a:t>not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in, not in, is, is not, &lt;, &lt;=, &gt;, &gt;=, !=, ==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|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^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&amp;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&lt;&lt;, &gt;&gt;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+, -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*, @, /, //, %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+x, -x, ~x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**</a:t>
                      </a:r>
                      <a:endParaRPr lang="en-US" sz="1800" b="0" strike="noStrike" spc="-1" dirty="0">
                        <a:latin typeface="Consolas" panose="020B0609020204030204" pitchFamily="49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Conditions (if-Statements)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Branching: if statements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1908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conditions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satisfied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Conditional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code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Control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flow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condition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satisfied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something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Syntax:</a:t>
            </a:r>
          </a:p>
          <a:p>
            <a:pPr marL="0" indent="0">
              <a:spcBef>
                <a:spcPts val="640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564037" y="3563814"/>
            <a:ext cx="3515594" cy="104832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Arial" panose="020B0604020202020204"/>
              </a:rPr>
              <a:t>if condition: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E0E0E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kumimoji="0" lang="de-AT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Droid Sans Fallback"/>
                <a:cs typeface="+mn-cs"/>
                <a:sym typeface="Arial" panose="020B0604020202020204"/>
              </a:rPr>
              <a:t>print</a:t>
            </a:r>
            <a:r>
              <a:rPr kumimoji="0" lang="de-AT" sz="1800" b="0" i="0" u="none" strike="noStrike" kern="0" cap="none" spc="-1" normalizeH="0" baseline="0" noProof="0" dirty="0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Droid Sans Fallback"/>
                <a:cs typeface="+mn-cs"/>
                <a:sym typeface="Arial" panose="020B0604020202020204"/>
              </a:rPr>
              <a:t>('Do </a:t>
            </a:r>
            <a:r>
              <a:rPr kumimoji="0" lang="de-AT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Droid Sans Fallback"/>
                <a:cs typeface="+mn-cs"/>
                <a:sym typeface="Arial" panose="020B0604020202020204"/>
              </a:rPr>
              <a:t>something</a:t>
            </a:r>
            <a:r>
              <a:rPr kumimoji="0" lang="de-AT" sz="1800" b="0" i="0" u="none" strike="noStrike" kern="0" cap="none" spc="-1" normalizeH="0" baseline="0" noProof="0" dirty="0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Droid Sans Fallback"/>
                <a:cs typeface="+mn-cs"/>
                <a:sym typeface="Arial" panose="020B0604020202020204"/>
              </a:rPr>
              <a:t>')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E0E0E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  <a:sym typeface="Arial" panose="020B0604020202020204"/>
            </a:endParaRPr>
          </a:p>
        </p:txBody>
      </p:sp>
      <p:sp>
        <p:nvSpPr>
          <p:cNvPr id="9" name="Rechteck 8"/>
          <p:cNvSpPr/>
          <p:nvPr/>
        </p:nvSpPr>
        <p:spPr>
          <a:xfrm>
            <a:off x="587714" y="3935211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Textfeld 10"/>
          <p:cNvSpPr txBox="1"/>
          <p:nvPr/>
        </p:nvSpPr>
        <p:spPr>
          <a:xfrm>
            <a:off x="457200" y="4612138"/>
            <a:ext cx="2017544" cy="38884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0F0F0F"/>
                </a:solidFill>
                <a:highlight>
                  <a:srgbClr val="FC5C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Indented 4 spaces</a:t>
            </a:r>
            <a:endParaRPr lang="en-US" sz="18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Freihandform: Form 11"/>
          <p:cNvSpPr/>
          <p:nvPr/>
        </p:nvSpPr>
        <p:spPr>
          <a:xfrm>
            <a:off x="866332" y="4290302"/>
            <a:ext cx="45719" cy="250794"/>
          </a:xfrm>
          <a:custGeom>
            <a:avLst/>
            <a:gdLst/>
            <a:ahLst/>
            <a:cxnLst/>
            <a:rect l="0" t="0" r="r" b="b"/>
            <a:pathLst>
              <a:path h="872" fill="none">
                <a:moveTo>
                  <a:pt x="0" y="872"/>
                </a:moveTo>
                <a:lnTo>
                  <a:pt x="0" y="0"/>
                </a:lnTo>
              </a:path>
            </a:pathLst>
          </a:custGeom>
          <a:ln w="1836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feld 12"/>
          <p:cNvSpPr txBox="1"/>
          <p:nvPr/>
        </p:nvSpPr>
        <p:spPr>
          <a:xfrm>
            <a:off x="4627440" y="3563115"/>
            <a:ext cx="4059360" cy="1049023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if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x &gt; 2:</a:t>
            </a:r>
            <a:br>
              <a:rPr sz="1800" dirty="0">
                <a:latin typeface="Consolas" panose="020B0609020204030204" pitchFamily="49" charset="0"/>
              </a:rPr>
            </a:br>
            <a:r>
              <a:rPr lang="en-US" sz="1800" b="1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print('In if')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print('Not in if')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14" name="Rechteck 13"/>
          <p:cNvSpPr/>
          <p:nvPr/>
        </p:nvSpPr>
        <p:spPr>
          <a:xfrm>
            <a:off x="4627440" y="3899225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Branching: if-else statements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168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statement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fallback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condition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not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fullfilled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condition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satisfied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else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Syntax:</a:t>
            </a:r>
          </a:p>
          <a:p>
            <a:pPr marL="0" indent="0">
              <a:spcBef>
                <a:spcPts val="640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564037" y="3563813"/>
            <a:ext cx="4059360" cy="13208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Arial" panose="020B0604020202020204"/>
              </a:rPr>
              <a:t>if condition: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E0E0E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kumimoji="0" lang="de-AT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Droid Sans Fallback"/>
                <a:cs typeface="+mn-cs"/>
                <a:sym typeface="Arial" panose="020B0604020202020204"/>
              </a:rPr>
              <a:t>print</a:t>
            </a:r>
            <a:r>
              <a:rPr kumimoji="0" lang="de-AT" sz="1800" b="0" i="0" u="none" strike="noStrike" kern="0" cap="none" spc="-1" normalizeH="0" baseline="0" noProof="0" dirty="0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Droid Sans Fallback"/>
                <a:cs typeface="+mn-cs"/>
                <a:sym typeface="Arial" panose="020B0604020202020204"/>
              </a:rPr>
              <a:t>('Do </a:t>
            </a:r>
            <a:r>
              <a:rPr kumimoji="0" lang="de-AT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Droid Sans Fallback"/>
                <a:cs typeface="+mn-cs"/>
                <a:sym typeface="Arial" panose="020B0604020202020204"/>
              </a:rPr>
              <a:t>something</a:t>
            </a:r>
            <a:r>
              <a:rPr kumimoji="0" lang="de-AT" sz="1800" b="0" i="0" u="none" strike="noStrike" kern="0" cap="none" spc="-1" normalizeH="0" baseline="0" noProof="0" dirty="0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Consolas" panose="020B0609020204030204" pitchFamily="49" charset="0"/>
                <a:ea typeface="Droid Sans Fallback"/>
                <a:cs typeface="+mn-cs"/>
                <a:sym typeface="Arial" panose="020B0604020202020204"/>
              </a:rPr>
              <a:t>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('Do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')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E0E0E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  <a:sym typeface="Arial" panose="020B0604020202020204"/>
            </a:endParaRPr>
          </a:p>
        </p:txBody>
      </p:sp>
      <p:sp>
        <p:nvSpPr>
          <p:cNvPr id="13" name="Textfeld 12"/>
          <p:cNvSpPr txBox="1"/>
          <p:nvPr/>
        </p:nvSpPr>
        <p:spPr>
          <a:xfrm>
            <a:off x="564037" y="5032407"/>
            <a:ext cx="4059360" cy="123553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if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x &gt; 2:</a:t>
            </a:r>
            <a:br>
              <a:rPr sz="1800" dirty="0">
                <a:latin typeface="Consolas" panose="020B0609020204030204" pitchFamily="49" charset="0"/>
              </a:rPr>
            </a:br>
            <a:r>
              <a:rPr lang="en-US" sz="1800" b="1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print('In if')</a:t>
            </a: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else: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print('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 else')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Branching: if-</a:t>
            </a:r>
            <a:r>
              <a:rPr lang="en-US" sz="2800" b="1" noProof="0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elif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-else statements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2442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Multiple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branching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complex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case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first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condition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satisfied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  <a:p>
            <a:pPr marL="457200" lvl="1" indent="0">
              <a:spcBef>
                <a:spcPts val="640"/>
              </a:spcBef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second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condition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else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457200" lvl="1" indent="0">
              <a:spcBef>
                <a:spcPts val="640"/>
              </a:spcBef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third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condition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somenthing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before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457200" lvl="1" indent="0">
              <a:spcBef>
                <a:spcPts val="640"/>
              </a:spcBef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 …</a:t>
            </a:r>
          </a:p>
          <a:p>
            <a:pPr marL="457200" lvl="1" indent="0">
              <a:spcBef>
                <a:spcPts val="640"/>
              </a:spcBef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do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completly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different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Branching: if-</a:t>
            </a:r>
            <a:r>
              <a:rPr lang="en-US" sz="2800" b="1" noProof="0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elif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-else statements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676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Syntax:</a:t>
            </a:r>
          </a:p>
          <a:p>
            <a:pPr marL="0" indent="0">
              <a:spcBef>
                <a:spcPts val="640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6" name="PlaceHolder 2"/>
          <p:cNvSpPr txBox="1"/>
          <p:nvPr/>
        </p:nvSpPr>
        <p:spPr>
          <a:xfrm>
            <a:off x="1279144" y="2282092"/>
            <a:ext cx="6794148" cy="361584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condition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('Do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elif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condition2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('Do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elif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condition3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('Do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different')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#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there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could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more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elifs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below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this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 # optional</a:t>
            </a:r>
          </a:p>
          <a:p>
            <a:pPr marL="405130" lvl="1">
              <a:spcBef>
                <a:spcPts val="565"/>
              </a:spcBef>
              <a:spcAft>
                <a:spcPts val="285"/>
              </a:spcAft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('Do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something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completely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different')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Branching: if-</a:t>
            </a:r>
            <a:r>
              <a:rPr lang="en-US" sz="2800" b="1" noProof="0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elif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-else statements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676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0" indent="0">
              <a:spcBef>
                <a:spcPts val="640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5" name="PlaceHolder 2"/>
          <p:cNvSpPr txBox="1"/>
          <p:nvPr/>
        </p:nvSpPr>
        <p:spPr>
          <a:xfrm>
            <a:off x="492369" y="2282092"/>
            <a:ext cx="3171676" cy="260637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405130" lvl="1">
              <a:spcBef>
                <a:spcPts val="285"/>
              </a:spcBef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if x &lt; 5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print('Small')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285"/>
              </a:spcBef>
            </a:pP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elif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x &lt; 15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print('Medium')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285"/>
              </a:spcBef>
            </a:pP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elif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x &lt; 20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print('Big')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285"/>
              </a:spcBef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else: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print('Huge')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PlaceHolder 6"/>
          <p:cNvSpPr txBox="1"/>
          <p:nvPr/>
        </p:nvSpPr>
        <p:spPr>
          <a:xfrm>
            <a:off x="5515200" y="2282092"/>
            <a:ext cx="3171600" cy="260637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405130" lvl="1">
              <a:spcBef>
                <a:spcPts val="285"/>
              </a:spcBef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if x &lt; 5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print('Small')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285"/>
              </a:spcBef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if x &lt; 15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print('Medium')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285"/>
              </a:spcBef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if x &lt; 20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print('Big')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285"/>
              </a:spcBef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else: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print('Huge')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feld 7"/>
          <p:cNvSpPr txBox="1"/>
          <p:nvPr/>
        </p:nvSpPr>
        <p:spPr>
          <a:xfrm>
            <a:off x="4392505" y="3199538"/>
            <a:ext cx="468720" cy="771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4800" b="0" strike="noStrike" spc="-1" dirty="0">
                <a:solidFill>
                  <a:srgbClr val="0F0F0F"/>
                </a:solidFill>
                <a:latin typeface="Arial" panose="020B0604020202020204"/>
              </a:rPr>
              <a:t>≠</a:t>
            </a:r>
            <a:endParaRPr lang="en-US" sz="48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Indentation rules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194431" cy="349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Standard PEP8 (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3"/>
              </a:rPr>
              <a:t>https://peps.python.org/pep-0008/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4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spaces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tabulators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configure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editors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replaces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tabs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4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spaces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Block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indentation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Everything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indented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after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belongs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current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block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This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language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following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 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error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Implicitly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supports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formatting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readability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code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Changes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relation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code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while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def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, …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Nested indentation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0" name="Google Shape;87;p2"/>
          <p:cNvSpPr txBox="1">
            <a:spLocks noGrp="1"/>
          </p:cNvSpPr>
          <p:nvPr>
            <p:ph type="body" idx="1"/>
          </p:nvPr>
        </p:nvSpPr>
        <p:spPr>
          <a:xfrm>
            <a:off x="371856" y="1063418"/>
            <a:ext cx="8194431" cy="653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Code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blocks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at multiple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levels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1577301" y="1579351"/>
            <a:ext cx="6154920" cy="441036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age_max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= 35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age_peter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= 42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age_berta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= 37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if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age_max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&lt; </a:t>
            </a:r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age_peter</a:t>
            </a:r>
            <a:r>
              <a:rPr lang="en-US" sz="1800" b="1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1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print('Max is younger than Peter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')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if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age_berta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&lt; </a:t>
            </a:r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age_max</a:t>
            </a:r>
            <a:r>
              <a:rPr lang="en-US" sz="1800" b="1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print('Berta is the youngest!')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   else:</a:t>
            </a:r>
            <a:endParaRPr lang="en-US" sz="180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print('Max is the youngest!')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else:</a:t>
            </a:r>
            <a:endParaRPr lang="en-US" sz="1800" strike="noStrike" spc="-1" dirty="0">
              <a:latin typeface="Consolas" panose="020B0609020204030204" pitchFamily="49" charset="0"/>
            </a:endParaRPr>
          </a:p>
          <a:p>
            <a:r>
              <a:rPr lang="en-US" sz="180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   if </a:t>
            </a:r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age_berta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&lt; </a:t>
            </a:r>
            <a:r>
              <a:rPr lang="en-US" sz="1800" b="0" strike="noStrike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age_peter</a:t>
            </a:r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print('Berta is the youngest!')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   else:</a:t>
            </a:r>
            <a:endParaRPr lang="en-US" sz="180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print('Peter is the youngest!')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1577301" y="3031761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Rechteck 5"/>
          <p:cNvSpPr/>
          <p:nvPr/>
        </p:nvSpPr>
        <p:spPr>
          <a:xfrm>
            <a:off x="1577301" y="3281150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Rechteck 6"/>
          <p:cNvSpPr/>
          <p:nvPr/>
        </p:nvSpPr>
        <p:spPr>
          <a:xfrm>
            <a:off x="1577300" y="3539212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" name="Rechteck 7"/>
          <p:cNvSpPr/>
          <p:nvPr/>
        </p:nvSpPr>
        <p:spPr>
          <a:xfrm>
            <a:off x="2134537" y="3540344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" name="Rechteck 8"/>
          <p:cNvSpPr/>
          <p:nvPr/>
        </p:nvSpPr>
        <p:spPr>
          <a:xfrm>
            <a:off x="1577300" y="3831421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Rechteck 10"/>
          <p:cNvSpPr/>
          <p:nvPr/>
        </p:nvSpPr>
        <p:spPr>
          <a:xfrm>
            <a:off x="1577300" y="4092068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Rechteck 11"/>
          <p:cNvSpPr/>
          <p:nvPr/>
        </p:nvSpPr>
        <p:spPr>
          <a:xfrm>
            <a:off x="2134536" y="4094709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Rechteck 13"/>
          <p:cNvSpPr/>
          <p:nvPr/>
        </p:nvSpPr>
        <p:spPr>
          <a:xfrm>
            <a:off x="1562606" y="4663768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" name="Rechteck 14"/>
          <p:cNvSpPr/>
          <p:nvPr/>
        </p:nvSpPr>
        <p:spPr>
          <a:xfrm>
            <a:off x="1562605" y="4921830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" name="Rechteck 15"/>
          <p:cNvSpPr/>
          <p:nvPr/>
        </p:nvSpPr>
        <p:spPr>
          <a:xfrm>
            <a:off x="2119842" y="4922962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" name="Rechteck 16"/>
          <p:cNvSpPr/>
          <p:nvPr/>
        </p:nvSpPr>
        <p:spPr>
          <a:xfrm>
            <a:off x="1562605" y="5214039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" name="Rechteck 17"/>
          <p:cNvSpPr/>
          <p:nvPr/>
        </p:nvSpPr>
        <p:spPr>
          <a:xfrm>
            <a:off x="1562605" y="5474686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Rechteck 18"/>
          <p:cNvSpPr/>
          <p:nvPr/>
        </p:nvSpPr>
        <p:spPr>
          <a:xfrm>
            <a:off x="2119841" y="5477327"/>
            <a:ext cx="557237" cy="292209"/>
          </a:xfrm>
          <a:prstGeom prst="rect">
            <a:avLst/>
          </a:prstGeom>
          <a:solidFill>
            <a:srgbClr val="FC5C00"/>
          </a:solidFill>
          <a:ln w="0">
            <a:solidFill>
              <a:srgbClr val="FC5C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" name="Google Shape;87;p2"/>
          <p:cNvSpPr txBox="1"/>
          <p:nvPr/>
        </p:nvSpPr>
        <p:spPr>
          <a:xfrm>
            <a:off x="371856" y="5914507"/>
            <a:ext cx="8194431" cy="653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 Unit 4 Python Notebook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feld 2"/>
              <p:cNvSpPr txBox="1"/>
              <p:nvPr/>
            </p:nvSpPr>
            <p:spPr>
              <a:xfrm>
                <a:off x="461938" y="1605600"/>
                <a:ext cx="8229600" cy="4085286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lvl="0">
                  <a:defRPr/>
                </a:pPr>
                <a:r>
                  <a:rPr kumimoji="0" lang="de-DE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Task 1: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Install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Python3 and 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J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upyter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lab.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You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can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follow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these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installation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  <a:hlinkClick r:id="rId3"/>
                  </a:rPr>
                  <a:t>instructions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. After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installation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is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complete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start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the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jupyter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lab and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implement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following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tasks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in separate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cells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:</a:t>
                </a:r>
              </a:p>
              <a:p>
                <a:pPr marL="342900" lvl="0" indent="-342900">
                  <a:buFont typeface="+mj-lt"/>
                  <a:buAutoNum type="arabicPeriod"/>
                  <a:defRPr/>
                </a:pP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Initialize variables </a:t>
                </a:r>
                <a:r>
                  <a:rPr lang="de-DE" sz="1800" dirty="0" err="1">
                    <a:highlight>
                      <a:srgbClr val="DAE3F3"/>
                    </a:highlight>
                    <a:latin typeface="Consolas" panose="020B0609020204030204" pitchFamily="49" charset="0"/>
                    <a:cs typeface="Calibri" panose="020F0502020204030204" pitchFamily="34" charset="0"/>
                  </a:rPr>
                  <a:t>radius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and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highlight>
                      <a:srgbClr val="DAE3F3"/>
                    </a:highlight>
                    <a:uLnTx/>
                    <a:uFillTx/>
                    <a:latin typeface="Consolas" panose="020B0609020204030204" pitchFamily="49" charset="0"/>
                    <a:cs typeface="Calibri" panose="020F0502020204030204" pitchFamily="34" charset="0"/>
                    <a:sym typeface="Arial" panose="020B0604020202020204"/>
                  </a:rPr>
                  <a:t>side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kumimoji="0" lang="de-DE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with</a:t>
                </a:r>
                <a:r>
                  <a:rPr kumimoji="0" lang="de-DE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 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positive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values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area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circle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given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radius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area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square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given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side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difference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larger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area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smaller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area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two</a:t>
                </a:r>
                <a:r>
                  <a:rPr lang="de-DE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  <a:p>
                <a:pPr marL="342900" lvl="0" indent="-342900">
                  <a:buFont typeface="+mj-lt"/>
                  <a:buAutoNum type="arabicPeriod"/>
                  <a:defRPr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Initialize an integer variable </a:t>
                </a:r>
                <a:r>
                  <a:rPr lang="de-DE" sz="1800" dirty="0">
                    <a:highlight>
                      <a:srgbClr val="DAE3F3"/>
                    </a:highlight>
                    <a:latin typeface="Consolas" panose="020B0609020204030204" pitchFamily="49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x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. Write a code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to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decide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whether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>
                    <a:highlight>
                      <a:srgbClr val="DAE3F3"/>
                    </a:highlight>
                    <a:latin typeface="Consolas" panose="020B0609020204030204" pitchFamily="49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x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is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divisible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by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both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2 and 3,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by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either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only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2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3,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by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neither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2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3.</a:t>
                </a:r>
              </a:p>
              <a:p>
                <a:pPr marL="342900" lvl="0" indent="-342900">
                  <a:buFont typeface="+mj-lt"/>
                  <a:buAutoNum type="arabicPeriod"/>
                  <a:defRPr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 volume of a sphere with radius </a:t>
                </a:r>
                <a:r>
                  <a:rPr lang="en-US" sz="1800" dirty="0">
                    <a:highlight>
                      <a:srgbClr val="DAE3F3"/>
                    </a:highlight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num>
                      <m:den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3</m:t>
                        </m:r>
                      </m:den>
                    </m:f>
                    <m:r>
                      <m:rPr>
                        <m:sty m:val="p"/>
                      </m:rPr>
                      <a:rPr lang="el-G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π</m:t>
                    </m:r>
                    <m:sSup>
                      <m:sSupPr>
                        <m:ctrlPr>
                          <a:rPr lang="el-G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𝑟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. Write a cell to compute the volume of a sphere. What is the volume of a sphere with radius 5?</a:t>
                </a:r>
              </a:p>
              <a:p>
                <a:pPr marL="342900" lvl="0" indent="-342900">
                  <a:buFont typeface="+mj-lt"/>
                  <a:buAutoNum type="arabicPeriod"/>
                  <a:defRPr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Suppose the cover price of a book is €24.95, but bookstores get a 40% discount. Shipping costs €3 for the first copy and €0.75 for each additional copy. What is the total wholesale cost for 60 copies? Write a </a:t>
                </a:r>
                <a:r>
                  <a:rPr lang="en-US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Jupyter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notebook cell to compute this cost.</a:t>
                </a: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4" name="Textfeld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38" y="1605600"/>
                <a:ext cx="8229600" cy="4085286"/>
              </a:xfrm>
              <a:prstGeom prst="rect">
                <a:avLst/>
              </a:prstGeom>
              <a:blipFill>
                <a:blip r:embed="rId4"/>
                <a:stretch>
                  <a:fillRect l="-616" t="-619" r="-616" b="-154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3811</Words>
  <Application>Microsoft Macintosh PowerPoint</Application>
  <PresentationFormat>On-screen Show (4:3)</PresentationFormat>
  <Paragraphs>722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8" baseType="lpstr">
      <vt:lpstr>Wingdings</vt:lpstr>
      <vt:lpstr>宋体</vt:lpstr>
      <vt:lpstr>Consolas</vt:lpstr>
      <vt:lpstr>Arial</vt:lpstr>
      <vt:lpstr>Calibri</vt:lpstr>
      <vt:lpstr>Cambria Math</vt:lpstr>
      <vt:lpstr>Blackadder ITC</vt:lpstr>
      <vt:lpstr>Office Theme</vt:lpstr>
      <vt:lpstr>Fundamentals of Computer Science and Programming </vt:lpstr>
      <vt:lpstr>Outline</vt:lpstr>
      <vt:lpstr>Programming tools</vt:lpstr>
      <vt:lpstr>How does “text” become an executable program?</vt:lpstr>
      <vt:lpstr>Compiler</vt:lpstr>
      <vt:lpstr>Interpreter</vt:lpstr>
      <vt:lpstr>Basic terms in programming languages</vt:lpstr>
      <vt:lpstr>Requirements</vt:lpstr>
      <vt:lpstr>Requirements</vt:lpstr>
      <vt:lpstr>Python (www.python.org)</vt:lpstr>
      <vt:lpstr>Jupyter (www.jupyter.org)</vt:lpstr>
      <vt:lpstr>Python3</vt:lpstr>
      <vt:lpstr>Requirements</vt:lpstr>
      <vt:lpstr>Requirements</vt:lpstr>
      <vt:lpstr>Requirements</vt:lpstr>
      <vt:lpstr>Requirements</vt:lpstr>
      <vt:lpstr>Jupyter (www.jupyter.org)</vt:lpstr>
      <vt:lpstr>GitHub</vt:lpstr>
      <vt:lpstr>Sign in</vt:lpstr>
      <vt:lpstr>Sign in</vt:lpstr>
      <vt:lpstr>Sign in</vt:lpstr>
      <vt:lpstr>Homepage</vt:lpstr>
      <vt:lpstr>Resource Hub</vt:lpstr>
      <vt:lpstr>Resource Hub</vt:lpstr>
      <vt:lpstr>Resource Hub</vt:lpstr>
      <vt:lpstr>Resource Hub</vt:lpstr>
      <vt:lpstr>Resource Hub</vt:lpstr>
      <vt:lpstr>Resource Hub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Personal Knowledge Base</vt:lpstr>
      <vt:lpstr>Google Colab</vt:lpstr>
      <vt:lpstr>Google Colab</vt:lpstr>
      <vt:lpstr>Google Colab</vt:lpstr>
      <vt:lpstr>Google Colab</vt:lpstr>
      <vt:lpstr>Google Colab</vt:lpstr>
      <vt:lpstr>Google Colab</vt:lpstr>
      <vt:lpstr>Google Colab</vt:lpstr>
      <vt:lpstr>Google Colab</vt:lpstr>
      <vt:lpstr>Google Colab</vt:lpstr>
      <vt:lpstr>Google Colab</vt:lpstr>
      <vt:lpstr>Google Colab</vt:lpstr>
      <vt:lpstr>Google Colab</vt:lpstr>
      <vt:lpstr>Variables</vt:lpstr>
      <vt:lpstr>Variables</vt:lpstr>
      <vt:lpstr>Variables</vt:lpstr>
      <vt:lpstr>Variables and data types</vt:lpstr>
      <vt:lpstr>Integers and Floats</vt:lpstr>
      <vt:lpstr>Integers and floating point numbers</vt:lpstr>
      <vt:lpstr>Extended operators</vt:lpstr>
      <vt:lpstr>Some special cases</vt:lpstr>
      <vt:lpstr>Strings</vt:lpstr>
      <vt:lpstr>Strings</vt:lpstr>
      <vt:lpstr>Strings</vt:lpstr>
      <vt:lpstr>String slicing</vt:lpstr>
      <vt:lpstr>String slicing</vt:lpstr>
      <vt:lpstr>String slicing: example</vt:lpstr>
      <vt:lpstr>String methods</vt:lpstr>
      <vt:lpstr>Casting, Printing, Commenting, None-Keyword</vt:lpstr>
      <vt:lpstr>Conversion between data types</vt:lpstr>
      <vt:lpstr>Formatting output</vt:lpstr>
      <vt:lpstr>Formatting output</vt:lpstr>
      <vt:lpstr>Comments</vt:lpstr>
      <vt:lpstr>None-Keyword</vt:lpstr>
      <vt:lpstr>Boolean variables and operators</vt:lpstr>
      <vt:lpstr>Boolean variables</vt:lpstr>
      <vt:lpstr>Comparison operators</vt:lpstr>
      <vt:lpstr>Logical operators</vt:lpstr>
      <vt:lpstr>Operator precedence</vt:lpstr>
      <vt:lpstr>Conditions (if-Statements)</vt:lpstr>
      <vt:lpstr>Branching: if statements</vt:lpstr>
      <vt:lpstr>Branching: if-else statements</vt:lpstr>
      <vt:lpstr>Branching: if-elif-else statements</vt:lpstr>
      <vt:lpstr>Branching: if-elif-else statements</vt:lpstr>
      <vt:lpstr>Branching: if-elif-else statements</vt:lpstr>
      <vt:lpstr>Indentation rules</vt:lpstr>
      <vt:lpstr>Nested indentation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906</cp:revision>
  <dcterms:created xsi:type="dcterms:W3CDTF">2025-10-13T09:30:00Z</dcterms:created>
  <dcterms:modified xsi:type="dcterms:W3CDTF">2026-03-16T18:42:59Z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56B60DE7464542848B584AD000FA4347_13</vt:lpwstr>
  </property>
  <property fmtid="{D5CDD505-2E9C-101B-9397-08002B2CF9AE}" pid="3" name="KSOProductBuildVer">
    <vt:lpwstr>2052-12.1.0.23125</vt:lpwstr>
  </property>
</Properties>
</file>