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408" r:id="rId3"/>
    <p:sldId id="346" r:id="rId4"/>
    <p:sldId id="500" r:id="rId5"/>
    <p:sldId id="501" r:id="rId6"/>
    <p:sldId id="502" r:id="rId7"/>
    <p:sldId id="499" r:id="rId8"/>
    <p:sldId id="468" r:id="rId9"/>
    <p:sldId id="469" r:id="rId10"/>
    <p:sldId id="471" r:id="rId11"/>
    <p:sldId id="462" r:id="rId12"/>
    <p:sldId id="472" r:id="rId13"/>
    <p:sldId id="475" r:id="rId14"/>
    <p:sldId id="473" r:id="rId15"/>
    <p:sldId id="464" r:id="rId16"/>
    <p:sldId id="476" r:id="rId17"/>
    <p:sldId id="477" r:id="rId18"/>
    <p:sldId id="478" r:id="rId19"/>
    <p:sldId id="479" r:id="rId20"/>
    <p:sldId id="480" r:id="rId21"/>
    <p:sldId id="481" r:id="rId22"/>
    <p:sldId id="467" r:id="rId23"/>
    <p:sldId id="482" r:id="rId24"/>
    <p:sldId id="483" r:id="rId25"/>
    <p:sldId id="484" r:id="rId26"/>
    <p:sldId id="485" r:id="rId27"/>
    <p:sldId id="486" r:id="rId28"/>
    <p:sldId id="466" r:id="rId29"/>
    <p:sldId id="488" r:id="rId30"/>
    <p:sldId id="489" r:id="rId31"/>
    <p:sldId id="490" r:id="rId32"/>
    <p:sldId id="491" r:id="rId33"/>
    <p:sldId id="487" r:id="rId34"/>
    <p:sldId id="492" r:id="rId35"/>
    <p:sldId id="493" r:id="rId36"/>
    <p:sldId id="494" r:id="rId37"/>
    <p:sldId id="496" r:id="rId38"/>
    <p:sldId id="497" r:id="rId39"/>
    <p:sldId id="498" r:id="rId40"/>
    <p:sldId id="460" r:id="rId41"/>
    <p:sldId id="461" r:id="rId42"/>
  </p:sldIdLst>
  <p:sldSz cx="9144000" cy="6858000" type="screen4x3"/>
  <p:notesSz cx="7099300" cy="10234613"/>
  <p:embeddedFontLst>
    <p:embeddedFont>
      <p:font typeface="Blackadder ITC" pitchFamily="82" charset="0"/>
      <p:regular r:id="rId45"/>
    </p:embeddedFont>
    <p:embeddedFont>
      <p:font typeface="Cambria Math" panose="02040503050406030204" pitchFamily="18" charset="0"/>
      <p:regular r:id="rId46"/>
    </p:embeddedFont>
    <p:embeddedFont>
      <p:font typeface="Consolas" panose="020B0609020204030204" pitchFamily="49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D3242A"/>
    <a:srgbClr val="EDEDED"/>
    <a:srgbClr val="F8D7CD"/>
    <a:srgbClr val="FCECE8"/>
    <a:srgbClr val="ED7D31"/>
    <a:srgbClr val="E2F0D9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29" autoAdjust="0"/>
    <p:restoredTop sz="80181" autoAdjust="0"/>
  </p:normalViewPr>
  <p:slideViewPr>
    <p:cSldViewPr snapToGrid="0" showGuides="1">
      <p:cViewPr varScale="1">
        <p:scale>
          <a:sx n="99" d="100"/>
          <a:sy n="99" d="100"/>
        </p:scale>
        <p:origin x="1704" y="176"/>
      </p:cViewPr>
      <p:guideLst>
        <p:guide orient="horz" pos="2160"/>
        <p:guide pos="2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CA4197F-F25E-A68E-BA03-C171E6A9BF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6057F7-0CB3-77A9-1689-E0D9A437E9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ED65C-A015-B64E-98ED-2B9AEBAC04BA}" type="datetimeFigureOut">
              <a:rPr kumimoji="1" lang="zh-CN" altLang="en-US" smtClean="0"/>
              <a:t>2026/10/14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657C66-92EB-9AF3-9027-658E1470E3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A6CAEA-4FDC-23BC-4713-CCF8694CA8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ED5AA-3810-6943-9DEF-6796D15B31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03733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endParaRPr lang="zh-CN" altLang="zh-CN" sz="1100" b="0" i="0" u="none" strike="noStrike" cap="none" dirty="0">
              <a:solidFill>
                <a:schemeClr val="dk1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endParaRPr lang="zh-CN" altLang="zh-CN" sz="1100" b="0" i="0" u="none" strike="noStrike" cap="none" dirty="0">
              <a:solidFill>
                <a:schemeClr val="dk1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endParaRPr lang="zh-CN" altLang="zh-CN" sz="1100" b="0" i="0" u="none" strike="noStrike" cap="none" dirty="0">
              <a:solidFill>
                <a:schemeClr val="dk1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GB"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10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tabLst/>
              <a:defRPr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14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tabLst/>
              <a:defRPr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21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27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32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tabLst/>
              <a:defRPr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0007020D02" pitchFamily="82" charset="0"/>
              <a:sym typeface="Arial" panose="020B0604020202020204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0007020D02" pitchFamily="82" charset="0"/>
                <a:cs typeface="Arial" panose="020B0604020202020204"/>
                <a:sym typeface="Arial" panose="020B0604020202020204"/>
              </a:rPr>
              <a:t>39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0007020D02" pitchFamily="82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/>
          <p:cNvSpPr txBox="1"/>
          <p:nvPr userDrawn="1"/>
        </p:nvSpPr>
        <p:spPr>
          <a:xfrm>
            <a:off x="8609845" y="6470198"/>
            <a:ext cx="425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 dirty="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slide" Target="slide3.xml"/><Relationship Id="rId7" Type="http://schemas.openxmlformats.org/officeDocument/2006/relationships/slide" Target="slide2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11.xml"/><Relationship Id="rId10" Type="http://schemas.openxmlformats.org/officeDocument/2006/relationships/slide" Target="slide40.xml"/><Relationship Id="rId4" Type="http://schemas.openxmlformats.org/officeDocument/2006/relationships/slide" Target="slide7.xml"/><Relationship Id="rId9" Type="http://schemas.openxmlformats.org/officeDocument/2006/relationships/slide" Target="slide3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helic/focsp/blob/main/style.m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peps.python.org/pep-0008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helic/focsp/blob/main/installation.md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2" y="19050"/>
            <a:ext cx="9144000" cy="6858046"/>
          </a:xfrm>
          <a:prstGeom prst="rect">
            <a:avLst/>
          </a:prstGeom>
          <a:solidFill>
            <a:srgbClr val="D3242A"/>
          </a:solidFill>
          <a:ln>
            <a:noFill/>
          </a:ln>
        </p:spPr>
      </p:pic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353192" y="4030874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  <a:r>
              <a:rPr lang="en-US" sz="4400" b="1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Fundamentals of Computer Science and Programming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  <a:endParaRPr lang="en-US" sz="4400" b="1" noProof="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1992656" y="5230034"/>
            <a:ext cx="4950372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800"/>
            </a:pP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Unit 4</a:t>
            </a:r>
            <a:r>
              <a:rPr lang="en-US" sz="3200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–</a:t>
            </a:r>
            <a:r>
              <a:rPr lang="en-US" sz="3200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Programming Part I</a:t>
            </a:r>
            <a:endParaRPr lang="en-US" sz="3200" b="0" i="0" u="none" strike="noStrike" cap="none" noProof="0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Rechteck 1"/>
          <p:cNvSpPr/>
          <p:nvPr/>
        </p:nvSpPr>
        <p:spPr>
          <a:xfrm>
            <a:off x="8147261" y="6409467"/>
            <a:ext cx="702051" cy="316357"/>
          </a:xfrm>
          <a:prstGeom prst="rect">
            <a:avLst/>
          </a:prstGeom>
          <a:solidFill>
            <a:srgbClr val="D3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457200" y="1701579"/>
            <a:ext cx="75338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Programming tools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Variables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Integers and Floats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Strings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7" action="ppaction://hlinksldjump"/>
              </a:rPr>
              <a:t>Casting, Printing, Commenting, None-Keyword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8" action="ppaction://hlinksldjump"/>
              </a:rPr>
              <a:t>Boolean variables and operators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9" action="ppaction://hlinksldjump"/>
              </a:rPr>
              <a:t>Conditions (if-Statements)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10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Programming tools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How does “text</a:t>
            </a: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”</a:t>
            </a: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 become an executable program?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1"/>
            <a:ext cx="8229600" cy="274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When translating source code (“text”)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 computer translates your written code into machine language.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There are two different ways of translation: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Compiler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One-time translation into a binary file (executable)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Interpreter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Interpretation of the source code at each execution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Syntax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Fix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rules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on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how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to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write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in a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programming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language</a:t>
            </a:r>
            <a:endParaRPr lang="de-DE" altLang="zh-CN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Fix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rules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for all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language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elements</a:t>
            </a:r>
            <a:endParaRPr lang="de-DE" altLang="zh-CN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Semantics</a:t>
            </a:r>
            <a:endParaRPr lang="de-DE" altLang="zh-CN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Meaning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of the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language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elements</a:t>
            </a:r>
            <a:endParaRPr lang="de-DE" altLang="zh-CN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What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exectued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?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Compiler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1"/>
            <a:ext cx="8229600" cy="392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Translates source code into machine code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 resulting executable (file) only contains computer instructions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 executable is no more human readable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Saved as binary file (executable)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Translation takes place 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only once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!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This process is also called 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compilation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 computer directly executes the program (executable)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grpSp>
        <p:nvGrpSpPr>
          <p:cNvPr id="4" name="Gruppieren 3"/>
          <p:cNvGrpSpPr/>
          <p:nvPr/>
        </p:nvGrpSpPr>
        <p:grpSpPr>
          <a:xfrm>
            <a:off x="1383257" y="3434165"/>
            <a:ext cx="1231254" cy="1722892"/>
            <a:chOff x="1141855" y="3056469"/>
            <a:chExt cx="1231254" cy="1722892"/>
          </a:xfrm>
        </p:grpSpPr>
        <p:sp>
          <p:nvSpPr>
            <p:cNvPr id="5" name="Dokument 4"/>
            <p:cNvSpPr/>
            <p:nvPr/>
          </p:nvSpPr>
          <p:spPr>
            <a:xfrm>
              <a:off x="1215615" y="3056469"/>
              <a:ext cx="1083734" cy="1329267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print(”Hi”)</a:t>
              </a:r>
            </a:p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6" name="Textfeld 5"/>
            <p:cNvSpPr txBox="1"/>
            <p:nvPr/>
          </p:nvSpPr>
          <p:spPr>
            <a:xfrm>
              <a:off x="1141855" y="4471584"/>
              <a:ext cx="12312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Source code</a:t>
              </a:r>
            </a:p>
          </p:txBody>
        </p:sp>
      </p:grpSp>
      <p:grpSp>
        <p:nvGrpSpPr>
          <p:cNvPr id="7" name="Gruppieren 6"/>
          <p:cNvGrpSpPr/>
          <p:nvPr/>
        </p:nvGrpSpPr>
        <p:grpSpPr>
          <a:xfrm>
            <a:off x="2614511" y="3429000"/>
            <a:ext cx="2429288" cy="1943491"/>
            <a:chOff x="2373109" y="3051304"/>
            <a:chExt cx="2429288" cy="1943491"/>
          </a:xfrm>
        </p:grpSpPr>
        <p:cxnSp>
          <p:nvCxnSpPr>
            <p:cNvPr id="9" name="Gerade Verbindung mit Pfeil 8"/>
            <p:cNvCxnSpPr/>
            <p:nvPr/>
          </p:nvCxnSpPr>
          <p:spPr>
            <a:xfrm>
              <a:off x="2556936" y="3721102"/>
              <a:ext cx="77893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feld 9"/>
            <p:cNvSpPr txBox="1"/>
            <p:nvPr/>
          </p:nvSpPr>
          <p:spPr>
            <a:xfrm>
              <a:off x="2373109" y="3345950"/>
              <a:ext cx="10837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compile</a:t>
              </a:r>
            </a:p>
          </p:txBody>
        </p:sp>
        <p:sp>
          <p:nvSpPr>
            <p:cNvPr id="11" name="Interaktive Schaltfläche: Dokument 10">
              <a:hlinkClick r:id="" action="ppaction://noaction" highlightClick="1"/>
            </p:cNvPr>
            <p:cNvSpPr/>
            <p:nvPr/>
          </p:nvSpPr>
          <p:spPr>
            <a:xfrm>
              <a:off x="3587753" y="3051304"/>
              <a:ext cx="1083734" cy="1329249"/>
            </a:xfrm>
            <a:prstGeom prst="actionButton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feld 11"/>
            <p:cNvSpPr txBox="1"/>
            <p:nvPr/>
          </p:nvSpPr>
          <p:spPr>
            <a:xfrm>
              <a:off x="3456843" y="4471575"/>
              <a:ext cx="13455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Executable file</a:t>
              </a:r>
              <a:br>
                <a:rPr lang="en-US" dirty="0"/>
              </a:br>
              <a:r>
                <a:rPr lang="en-US" dirty="0"/>
                <a:t>(.exe)</a:t>
              </a:r>
            </a:p>
          </p:txBody>
        </p:sp>
      </p:grpSp>
      <p:grpSp>
        <p:nvGrpSpPr>
          <p:cNvPr id="13" name="Gruppieren 12"/>
          <p:cNvGrpSpPr/>
          <p:nvPr/>
        </p:nvGrpSpPr>
        <p:grpSpPr>
          <a:xfrm>
            <a:off x="5175733" y="3434164"/>
            <a:ext cx="2097504" cy="1329267"/>
            <a:chOff x="4934331" y="3056468"/>
            <a:chExt cx="2097504" cy="1329267"/>
          </a:xfrm>
        </p:grpSpPr>
        <p:grpSp>
          <p:nvGrpSpPr>
            <p:cNvPr id="14" name="Gruppieren 13"/>
            <p:cNvGrpSpPr/>
            <p:nvPr/>
          </p:nvGrpSpPr>
          <p:grpSpPr>
            <a:xfrm>
              <a:off x="5031529" y="3144378"/>
              <a:ext cx="317081" cy="504176"/>
              <a:chOff x="4741333" y="3049615"/>
              <a:chExt cx="508000" cy="807748"/>
            </a:xfrm>
          </p:grpSpPr>
          <p:sp>
            <p:nvSpPr>
              <p:cNvPr id="17" name="Rechteck 16"/>
              <p:cNvSpPr/>
              <p:nvPr/>
            </p:nvSpPr>
            <p:spPr>
              <a:xfrm rot="19796507">
                <a:off x="5106755" y="3387453"/>
                <a:ext cx="93134" cy="46991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1"/>
              <p:cNvSpPr/>
              <p:nvPr/>
            </p:nvSpPr>
            <p:spPr>
              <a:xfrm>
                <a:off x="4741333" y="3049615"/>
                <a:ext cx="508000" cy="508000"/>
              </a:xfrm>
              <a:prstGeom prst="ellipse">
                <a:avLst/>
              </a:prstGeom>
              <a:gradFill flip="none" rotWithShape="1">
                <a:gsLst>
                  <a:gs pos="0">
                    <a:srgbClr val="2B639B">
                      <a:alpha val="0"/>
                      <a:lumMod val="87000"/>
                      <a:lumOff val="13000"/>
                    </a:srgb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5" name="Gerade Verbindung mit Pfeil 14"/>
            <p:cNvCxnSpPr/>
            <p:nvPr/>
          </p:nvCxnSpPr>
          <p:spPr>
            <a:xfrm>
              <a:off x="4934331" y="3721102"/>
              <a:ext cx="778933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Dokument 15"/>
            <p:cNvSpPr/>
            <p:nvPr/>
          </p:nvSpPr>
          <p:spPr>
            <a:xfrm>
              <a:off x="5948101" y="3056468"/>
              <a:ext cx="1083734" cy="1329267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000100111101101100110111010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Interpreter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283732"/>
            <a:ext cx="8229600" cy="1700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Similar to the compiler 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 program gets executed using computer instructions, but: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Each command (e.g. print(“Hi”)) gets translated on its execution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 additional binary file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(executable) is created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Source code gets translated on each execution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This process is called 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“interpretation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”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Compilers can lead to drastic performance advantages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937" y="2984601"/>
            <a:ext cx="6520863" cy="3413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Variables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Variables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7" name="PlaceHolder 5"/>
          <p:cNvSpPr txBox="1"/>
          <p:nvPr/>
        </p:nvSpPr>
        <p:spPr>
          <a:xfrm>
            <a:off x="696094" y="4996543"/>
            <a:ext cx="7751811" cy="1238040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05130" lvl="1"/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ejaVu Sans" panose="020B0603030804020204"/>
              </a:rPr>
              <a:t> number  = 123             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ejaVu Sans" panose="020B0603030804020204"/>
              </a:rPr>
              <a:t> message = 'Hello World!'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130" lvl="1"/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ejaVu Sans" panose="020B0603030804020204"/>
              </a:rPr>
              <a:t> number2 = number       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30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Labels (</a:t>
            </a:r>
            <a:r>
              <a:rPr lang="de-DE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names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computations</a:t>
            </a:r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Variables </a:t>
            </a:r>
            <a:r>
              <a:rPr lang="de-DE" sz="1800" b="1" noProof="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reference</a:t>
            </a:r>
            <a:r>
              <a:rPr lang="de-DE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values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Placeholders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Assignment of values with </a:t>
            </a:r>
            <a:r>
              <a:rPr lang="en-US" sz="1800" noProof="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=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&lt;Variable name&gt; = &lt;Assigned value&gt;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b="1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Transient (temporary) storage </a:t>
            </a: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 values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Lifetime ends with the end of the program execution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Start value is needed, after that we can change to arbitrary values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b="1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Mutable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Variables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Naming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conventions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for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variable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names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Fixed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rules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if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not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followed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results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in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errors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Only</a:t>
            </a:r>
            <a:r>
              <a:rPr lang="de-DE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letters</a:t>
            </a:r>
            <a:r>
              <a:rPr lang="de-DE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DE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numbers</a:t>
            </a:r>
            <a:r>
              <a:rPr lang="de-DE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</a:t>
            </a:r>
            <a:r>
              <a:rPr lang="de-DE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underscore</a:t>
            </a:r>
            <a:r>
              <a:rPr lang="de-DE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b="1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_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</a:t>
            </a:r>
            <a:r>
              <a:rPr lang="de-DE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numbers</a:t>
            </a:r>
            <a:r>
              <a:rPr lang="de-DE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at </a:t>
            </a:r>
            <a:r>
              <a:rPr lang="de-DE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beginning</a:t>
            </a:r>
            <a:endParaRPr lang="de-DE" sz="1800" b="1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</a:t>
            </a:r>
            <a:r>
              <a:rPr lang="de-DE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b="1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whitespaces</a:t>
            </a:r>
            <a:r>
              <a:rPr lang="de-DE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Style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guidelines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Lower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case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short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descriptive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Words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separated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underscore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_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hlinkClick r:id="rId3"/>
              </a:rPr>
              <a:t>https://github.com/dhelic/focsp/blob/main/style.md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See Unit 4 Python Notebook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2400" b="1" dirty="0">
              <a:solidFill>
                <a:srgbClr val="D3242A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Variables and data types</a:t>
            </a:r>
            <a:endParaRPr lang="en-US" noProof="0" dirty="0">
              <a:solidFill>
                <a:schemeClr val="dk1"/>
              </a:solidFill>
            </a:endParaRPr>
          </a:p>
        </p:txBody>
      </p:sp>
      <p:graphicFrame>
        <p:nvGraphicFramePr>
          <p:cNvPr id="6" name="Tabelle 5"/>
          <p:cNvGraphicFramePr/>
          <p:nvPr/>
        </p:nvGraphicFramePr>
        <p:xfrm>
          <a:off x="471300" y="1286691"/>
          <a:ext cx="8300844" cy="4637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09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7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type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Function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Examples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40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int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Natural numbers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x = 3 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40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float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Floating point numbers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x = 3.0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320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bool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Booleans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x = True</a:t>
                      </a:r>
                    </a:p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x = False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320"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str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Strings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x = 'Test'</a:t>
                      </a:r>
                    </a:p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x = "Test"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040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tuple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Tuples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x = (1, 2, 3)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40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list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Lists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x = [1, 2, 3]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040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dict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Dictionaries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x = {1: 'blue', 2: 'red'}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040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io.TextIOWrapper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Files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x = open('readme.txt')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640"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...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...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...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Integers and Floats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Integers and floating point numbers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330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Integers: 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1, -13, 15, -42, 12345, ...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Floats: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1.3, 3.14159, -42.123, …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Arithm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tic operations: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Adding (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+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), Subtracting (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), Multiplying (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*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), Dividing (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/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Exponantiating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**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Modulo Operator (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%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2496094" y="5097737"/>
            <a:ext cx="4151812" cy="758777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de-AT" sz="1800" b="0" strike="noStrike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</a:t>
            </a:r>
            <a:r>
              <a:rPr lang="de-AT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5 + 13    </a:t>
            </a:r>
            <a:r>
              <a:rPr lang="en-US" altLang="zh-CN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#</a:t>
            </a:r>
            <a:r>
              <a:rPr lang="zh-CN" alt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en-US" altLang="zh-CN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18</a:t>
            </a:r>
            <a:r>
              <a:rPr lang="de-AT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r>
              <a:rPr lang="de-AT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number_2 = </a:t>
            </a:r>
            <a:r>
              <a:rPr lang="de-AT" sz="1800" b="0" strike="noStrike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</a:t>
            </a:r>
            <a:r>
              <a:rPr lang="de-AT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+ 5</a:t>
            </a:r>
            <a:r>
              <a:rPr lang="zh-CN" alt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en-US" altLang="zh-CN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#2</a:t>
            </a:r>
            <a:r>
              <a:rPr lang="en-US" altLang="zh-CN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3</a:t>
            </a:r>
            <a:endParaRPr lang="en-US" sz="1800" b="0" strike="noStrike" spc="-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Extended operator</a:t>
            </a: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4784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Arithmetic operations with direct assignment: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Adding (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+=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), Subtracting (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-=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), Multiplying (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*=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), Dividing (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/=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601979" y="2599506"/>
            <a:ext cx="3654335" cy="2173919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05130" lvl="1" indent="0">
              <a:spcBef>
                <a:spcPts val="1135"/>
              </a:spcBef>
              <a:buNone/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number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42</a:t>
            </a:r>
          </a:p>
          <a:p>
            <a:pPr marL="405130" lvl="1" indent="0">
              <a:spcBef>
                <a:spcPts val="1135"/>
              </a:spcBef>
              <a:buNone/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+= 8  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# =&gt; 50</a:t>
            </a:r>
          </a:p>
          <a:p>
            <a:pPr marL="405130" lvl="1" indent="0">
              <a:spcBef>
                <a:spcPts val="1135"/>
              </a:spcBef>
              <a:buNone/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-= 10 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# =&gt; 40</a:t>
            </a:r>
          </a:p>
          <a:p>
            <a:pPr marL="405130" lvl="1" indent="0">
              <a:spcBef>
                <a:spcPts val="1135"/>
              </a:spcBef>
              <a:buNone/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/= 4  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# =&gt; 10</a:t>
            </a:r>
          </a:p>
          <a:p>
            <a:pPr marL="405130" lvl="1" indent="0">
              <a:spcBef>
                <a:spcPts val="1135"/>
              </a:spcBef>
              <a:buNone/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*= 2  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# =&gt; 20</a:t>
            </a: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sym typeface="Arial" panose="020B0604020202020204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032465" y="2599506"/>
            <a:ext cx="3654335" cy="2173919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07035">
              <a:spcBef>
                <a:spcPts val="1135"/>
              </a:spcBef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number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42</a:t>
            </a:r>
            <a:endParaRPr lang="en-US" sz="1800" spc="-1" dirty="0">
              <a:latin typeface="Consolas" panose="020B0609020204030204" pitchFamily="49" charset="0"/>
            </a:endParaRPr>
          </a:p>
          <a:p>
            <a:pPr marL="407035">
              <a:spcBef>
                <a:spcPts val="1135"/>
              </a:spcBef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+ 8  </a:t>
            </a:r>
            <a:endParaRPr lang="en-US" sz="1800" spc="-1" dirty="0">
              <a:latin typeface="Consolas" panose="020B0609020204030204" pitchFamily="49" charset="0"/>
            </a:endParaRPr>
          </a:p>
          <a:p>
            <a:pPr marL="407035">
              <a:spcBef>
                <a:spcPts val="1135"/>
              </a:spcBef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- 10 </a:t>
            </a:r>
            <a:endParaRPr lang="en-US" sz="1800" spc="-1" dirty="0">
              <a:latin typeface="Consolas" panose="020B0609020204030204" pitchFamily="49" charset="0"/>
            </a:endParaRPr>
          </a:p>
          <a:p>
            <a:pPr marL="407035">
              <a:spcBef>
                <a:spcPts val="1135"/>
              </a:spcBef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/ 4  </a:t>
            </a:r>
            <a:endParaRPr lang="en-US" sz="1800" spc="-1" dirty="0">
              <a:latin typeface="Consolas" panose="020B0609020204030204" pitchFamily="49" charset="0"/>
            </a:endParaRPr>
          </a:p>
          <a:p>
            <a:pPr marL="407035">
              <a:spcBef>
                <a:spcPts val="1135"/>
              </a:spcBef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number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* 2</a:t>
            </a:r>
            <a:endParaRPr lang="en-US" sz="1800" spc="-1" dirty="0">
              <a:latin typeface="Consolas" panose="020B0609020204030204" pitchFamily="49" charset="0"/>
            </a:endParaRPr>
          </a:p>
          <a:p>
            <a:pPr marL="405130" lvl="1" indent="0">
              <a:spcBef>
                <a:spcPts val="1135"/>
              </a:spcBef>
              <a:buNone/>
            </a:pP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Some special cases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2107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Operations with integers and Float == Float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</a:rPr>
              <a:t>4/2 = 2.0, 2 * 3.0 = 6.0, 3.0 ** 2 = 9.0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Floating point error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</a:rPr>
              <a:t>0.2 + 0.1 </a:t>
            </a:r>
            <a:r>
              <a:rPr lang="en-US" altLang="zh-CN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</a:rPr>
              <a:t>=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</a:rPr>
              <a:t> 0.3</a:t>
            </a:r>
            <a:r>
              <a:rPr lang="en-US" altLang="zh-CN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</a:rPr>
              <a:t>?</a:t>
            </a: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See unit4.ipynb on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Moodle</a:t>
            </a:r>
            <a:endParaRPr lang="de-DE" sz="2400" b="1" dirty="0">
              <a:solidFill>
                <a:srgbClr val="D3242A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Strings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Strings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952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Text = sequence of characters 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Begin and end marked with quotation marks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"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</a:rPr>
              <a:t>'</a:t>
            </a:r>
            <a:endParaRPr lang="en-US" sz="1800" dirty="0">
              <a:highlight>
                <a:srgbClr val="DAE3F3"/>
              </a:highlight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849086" y="2906487"/>
            <a:ext cx="7522028" cy="2950028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05130" lvl="1" indent="0">
              <a:spcBef>
                <a:spcPts val="1135"/>
              </a:spcBef>
              <a:buNone/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string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'This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string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'</a:t>
            </a:r>
          </a:p>
          <a:p>
            <a:pPr marL="405130" lvl="1" indent="0">
              <a:spcBef>
                <a:spcPts val="1135"/>
              </a:spcBef>
              <a:buNone/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string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"This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also a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string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"</a:t>
            </a:r>
          </a:p>
          <a:p>
            <a:pPr marL="405130" lvl="1" indent="0">
              <a:spcBef>
                <a:spcPts val="1135"/>
              </a:spcBef>
              <a:buNone/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string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'"Python" was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named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after "Monty Python".'</a:t>
            </a:r>
          </a:p>
          <a:p>
            <a:pPr marL="405130" lvl="1" indent="0">
              <a:spcBef>
                <a:spcPts val="1135"/>
              </a:spcBef>
              <a:buNone/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string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''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'This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multiline</a:t>
            </a: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1296035" lvl="2" indent="0">
              <a:spcBef>
                <a:spcPts val="850"/>
              </a:spcBef>
              <a:buNone/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			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tring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''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'</a:t>
            </a:r>
          </a:p>
          <a:p>
            <a:pPr marL="405130" lvl="1" indent="0">
              <a:spcBef>
                <a:spcPts val="1135"/>
              </a:spcBef>
              <a:buNone/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string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""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"This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another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multiline</a:t>
            </a: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1296035" lvl="2" indent="0">
              <a:spcBef>
                <a:spcPts val="850"/>
              </a:spcBef>
              <a:buNone/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			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tring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"""</a:t>
            </a: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Strings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199" y="1242185"/>
            <a:ext cx="8456733" cy="46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Accessing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text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= 'Python‘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Get one character:</a:t>
            </a:r>
            <a:r>
              <a:rPr lang="zh-CN" altLang="zh-CN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zh-CN" altLang="zh-CN" sz="1800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text[index]</a:t>
            </a:r>
            <a:r>
              <a:rPr lang="de-DE" sz="1800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zh-CN" altLang="en-US" sz="1800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(0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based)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text</a:t>
            </a:r>
            <a:r>
              <a:rPr lang="de-DE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[0]    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# 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First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character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=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index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0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text</a:t>
            </a:r>
            <a:r>
              <a:rPr lang="de-DE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[</a:t>
            </a:r>
            <a:r>
              <a:rPr lang="en-US" altLang="zh-CN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5</a:t>
            </a:r>
            <a:r>
              <a:rPr lang="de-DE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]    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#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last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character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=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length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of the </a:t>
            </a: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– 1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this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example,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6-1=5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Find the length: len(text)</a:t>
            </a: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text[</a:t>
            </a: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len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(text)-1] 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# ‘n’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similar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text[5]</a:t>
            </a:r>
            <a:endParaRPr lang="en-US" sz="1800" noProof="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F1E12A7-A55A-CCFE-EE41-093415C6E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694271"/>
              </p:ext>
            </p:extLst>
          </p:nvPr>
        </p:nvGraphicFramePr>
        <p:xfrm>
          <a:off x="1027236" y="2080385"/>
          <a:ext cx="7886697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6671">
                  <a:extLst>
                    <a:ext uri="{9D8B030D-6E8A-4147-A177-3AD203B41FA5}">
                      <a16:colId xmlns:a16="http://schemas.microsoft.com/office/drawing/2014/main" val="4194193416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847060480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027018333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72308647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486982625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092928963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918917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Character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 dirty="0">
                          <a:effectLst/>
                        </a:rPr>
                        <a:t>P</a:t>
                      </a:r>
                      <a:endParaRPr lang="zh-CN" b="0" i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y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t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h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o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n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49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Index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0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1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2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3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4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 dirty="0">
                          <a:effectLst/>
                        </a:rPr>
                        <a:t>5</a:t>
                      </a:r>
                      <a:endParaRPr lang="zh-CN" b="0" i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7886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String slicing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229600" cy="2988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text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= 'Python‘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altLang="zh-CN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Get part of a string: 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Slicing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Retrieve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i-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character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i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</a:t>
            </a:r>
            <a:r>
              <a:rPr lang="de-DE" sz="1800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[i-1]</a:t>
            </a:r>
            <a:r>
              <a:rPr lang="zh-CN" altLang="en-US" sz="1800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#</a:t>
            </a:r>
            <a:r>
              <a:rPr lang="zh-CN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text[1]</a:t>
            </a:r>
            <a:r>
              <a:rPr lang="zh-CN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-&gt;</a:t>
            </a:r>
            <a:r>
              <a:rPr lang="zh-CN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zh-CN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2</a:t>
            </a:r>
            <a:r>
              <a:rPr lang="en-US" altLang="zh-CN" sz="1800" baseline="300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nd</a:t>
            </a:r>
            <a:r>
              <a:rPr lang="zh-CN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character</a:t>
            </a:r>
            <a:r>
              <a:rPr lang="zh-CN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</a:t>
            </a:r>
            <a:r>
              <a:rPr lang="zh-CN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y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Retrieve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substring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characters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from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start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(inclusive)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until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end (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exclusive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):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i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</a:t>
            </a:r>
            <a:r>
              <a:rPr lang="de-DE" sz="1800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[</a:t>
            </a:r>
            <a:r>
              <a:rPr lang="de-DE" sz="1800" i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start:end</a:t>
            </a:r>
            <a:r>
              <a:rPr lang="de-DE" sz="1800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]</a:t>
            </a:r>
            <a:r>
              <a:rPr lang="zh-CN" altLang="en-US" sz="1800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#</a:t>
            </a:r>
            <a:r>
              <a:rPr lang="zh-CN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text[0:5]</a:t>
            </a:r>
            <a:r>
              <a:rPr lang="zh-CN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-&gt;</a:t>
            </a:r>
            <a:r>
              <a:rPr lang="zh-CN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Python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Retrieve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substring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characters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from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solidFill>
                  <a:srgbClr val="00B0F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start</a:t>
            </a:r>
            <a:r>
              <a:rPr lang="de-DE" sz="1800" dirty="0">
                <a:solidFill>
                  <a:srgbClr val="00B0F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(inclusive)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until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>
                <a:solidFill>
                  <a:srgbClr val="00B0F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end (</a:t>
            </a:r>
            <a:r>
              <a:rPr lang="de-DE" sz="1800" dirty="0" err="1">
                <a:solidFill>
                  <a:srgbClr val="00B0F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exclusive</a:t>
            </a:r>
            <a:r>
              <a:rPr lang="de-DE" sz="1800" dirty="0">
                <a:solidFill>
                  <a:srgbClr val="00B0F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 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steps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given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size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i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</a:t>
            </a:r>
            <a:r>
              <a:rPr lang="de-DE" sz="1800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[</a:t>
            </a:r>
            <a:r>
              <a:rPr lang="de-DE" sz="1800" i="1" dirty="0" err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start:end:stepsize</a:t>
            </a:r>
            <a:r>
              <a:rPr lang="de-DE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]</a:t>
            </a:r>
            <a:r>
              <a:rPr lang="zh-CN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#</a:t>
            </a:r>
            <a:r>
              <a:rPr lang="zh-CN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text[0:5:2]</a:t>
            </a:r>
            <a:r>
              <a:rPr lang="zh-CN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-&gt;</a:t>
            </a:r>
            <a:r>
              <a:rPr lang="zh-CN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 err="1">
                <a:solidFill>
                  <a:schemeClr val="tx1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Pto</a:t>
            </a:r>
            <a:endParaRPr lang="de-DE" sz="1800" dirty="0">
              <a:solidFill>
                <a:schemeClr val="tx1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75EFC32-18EF-554F-19E2-E47C1509C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113595"/>
              </p:ext>
            </p:extLst>
          </p:nvPr>
        </p:nvGraphicFramePr>
        <p:xfrm>
          <a:off x="457200" y="2127278"/>
          <a:ext cx="7886697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6671">
                  <a:extLst>
                    <a:ext uri="{9D8B030D-6E8A-4147-A177-3AD203B41FA5}">
                      <a16:colId xmlns:a16="http://schemas.microsoft.com/office/drawing/2014/main" val="4194193416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847060480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027018333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72308647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486982625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092928963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918917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Character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 dirty="0">
                          <a:effectLst/>
                        </a:rPr>
                        <a:t>P</a:t>
                      </a:r>
                      <a:endParaRPr lang="zh-CN" b="0" i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y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t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h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o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n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49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Index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0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1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2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3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4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 dirty="0">
                          <a:effectLst/>
                        </a:rPr>
                        <a:t>5</a:t>
                      </a:r>
                      <a:endParaRPr lang="zh-CN" b="0" i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7886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String slicing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599"/>
            <a:ext cx="8229600" cy="454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text</a:t>
            </a:r>
            <a:r>
              <a:rPr lang="de-DE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= 'Python‘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altLang="zh-CN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Advanced slicing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Retrieve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i-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last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character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i="1" dirty="0" err="1">
                <a:solidFill>
                  <a:srgbClr val="0070C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</a:t>
            </a:r>
            <a:r>
              <a:rPr lang="de-DE" sz="1800" i="1" dirty="0">
                <a:solidFill>
                  <a:srgbClr val="0070C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[-i]</a:t>
            </a:r>
            <a:r>
              <a:rPr lang="zh-CN" altLang="en-US" sz="1800" i="1" dirty="0">
                <a:solidFill>
                  <a:srgbClr val="0070C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#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text[-1]</a:t>
            </a: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-&gt;</a:t>
            </a: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Retrieve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everything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from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the i-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last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character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(inclusive):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i="1" dirty="0" err="1">
                <a:solidFill>
                  <a:srgbClr val="0070C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</a:t>
            </a:r>
            <a:r>
              <a:rPr lang="de-DE" sz="1800" i="1" dirty="0">
                <a:solidFill>
                  <a:srgbClr val="0070C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[-i:]</a:t>
            </a:r>
            <a:r>
              <a:rPr lang="zh-CN" altLang="en-US" sz="1800" i="1" dirty="0">
                <a:solidFill>
                  <a:srgbClr val="0070C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#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text[-2:]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-&gt;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on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Retrieve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everything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until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i-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last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character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exclusive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):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i="1" dirty="0" err="1">
                <a:solidFill>
                  <a:srgbClr val="0070C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</a:t>
            </a:r>
            <a:r>
              <a:rPr lang="de-DE" sz="1800" i="1" dirty="0">
                <a:solidFill>
                  <a:srgbClr val="0070C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[:-i]</a:t>
            </a:r>
            <a:r>
              <a:rPr lang="zh-CN" altLang="en-US" sz="1800" i="1" dirty="0">
                <a:solidFill>
                  <a:srgbClr val="0070C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 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#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text[:-2]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-&gt;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Pyth</a:t>
            </a:r>
            <a:endParaRPr lang="de-DE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Reversed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</a:t>
            </a:r>
            <a:r>
              <a:rPr lang="de-DE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800" i="1" dirty="0" err="1">
                <a:solidFill>
                  <a:srgbClr val="0070C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</a:t>
            </a:r>
            <a:r>
              <a:rPr lang="de-DE" sz="1800" i="1" dirty="0">
                <a:solidFill>
                  <a:srgbClr val="0070C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[::-1]</a:t>
            </a:r>
            <a:r>
              <a:rPr lang="zh-CN" altLang="en-US" sz="1800" i="1" dirty="0">
                <a:solidFill>
                  <a:srgbClr val="0070C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#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text[::-1]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-&gt;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nohtyp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1800" dirty="0">
              <a:highlight>
                <a:srgbClr val="DAE3F3"/>
              </a:highlight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6EF085F-CEC3-8DFF-F469-0B43CF61A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878049"/>
              </p:ext>
            </p:extLst>
          </p:nvPr>
        </p:nvGraphicFramePr>
        <p:xfrm>
          <a:off x="457200" y="2127278"/>
          <a:ext cx="7886697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6671">
                  <a:extLst>
                    <a:ext uri="{9D8B030D-6E8A-4147-A177-3AD203B41FA5}">
                      <a16:colId xmlns:a16="http://schemas.microsoft.com/office/drawing/2014/main" val="4194193416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847060480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027018333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72308647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486982625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092928963"/>
                    </a:ext>
                  </a:extLst>
                </a:gridCol>
                <a:gridCol w="1126671">
                  <a:extLst>
                    <a:ext uri="{9D8B030D-6E8A-4147-A177-3AD203B41FA5}">
                      <a16:colId xmlns:a16="http://schemas.microsoft.com/office/drawing/2014/main" val="3918917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Character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 dirty="0">
                          <a:effectLst/>
                        </a:rPr>
                        <a:t>P</a:t>
                      </a:r>
                      <a:endParaRPr lang="zh-CN" b="0" i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y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t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h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o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n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49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Index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 dirty="0">
                          <a:effectLst/>
                        </a:rPr>
                        <a:t>0</a:t>
                      </a:r>
                      <a:endParaRPr lang="zh-CN" b="0" i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1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2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3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>
                          <a:effectLst/>
                        </a:rPr>
                        <a:t>4</a:t>
                      </a:r>
                      <a:endParaRPr lang="zh-CN" b="0" i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u="none" strike="noStrike" dirty="0">
                          <a:effectLst/>
                        </a:rPr>
                        <a:t>5</a:t>
                      </a:r>
                      <a:endParaRPr lang="zh-CN" b="0" i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7886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String slicing: example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PlaceHolder 2"/>
          <p:cNvSpPr txBox="1"/>
          <p:nvPr/>
        </p:nvSpPr>
        <p:spPr>
          <a:xfrm>
            <a:off x="412474" y="1580760"/>
            <a:ext cx="8165469" cy="4754726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05130" lvl="1">
              <a:spcBef>
                <a:spcPts val="560"/>
              </a:spcBef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text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'Vienna' </a:t>
            </a: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1296035" lvl="2">
              <a:spcBef>
                <a:spcPts val="850"/>
              </a:spcBef>
            </a:pPr>
            <a:endParaRPr lang="de-AT" sz="2800" spc="-1" dirty="0">
              <a:solidFill>
                <a:srgbClr val="0F0F0F"/>
              </a:solidFill>
            </a:endParaRPr>
          </a:p>
          <a:p>
            <a:pPr marL="2592070" lvl="5">
              <a:spcBef>
                <a:spcPts val="285"/>
              </a:spcBef>
            </a:pPr>
            <a:endParaRPr lang="de-AT" sz="2800" spc="-1" dirty="0">
              <a:solidFill>
                <a:srgbClr val="0F0F0F"/>
              </a:solidFill>
            </a:endParaRPr>
          </a:p>
        </p:txBody>
      </p:sp>
      <p:graphicFrame>
        <p:nvGraphicFramePr>
          <p:cNvPr id="7" name="Tabelle 6"/>
          <p:cNvGraphicFramePr/>
          <p:nvPr>
            <p:extLst>
              <p:ext uri="{D42A27DB-BD31-4B8C-83A1-F6EECF244321}">
                <p14:modId xmlns:p14="http://schemas.microsoft.com/office/powerpoint/2010/main" val="2576558457"/>
              </p:ext>
            </p:extLst>
          </p:nvPr>
        </p:nvGraphicFramePr>
        <p:xfrm>
          <a:off x="1135782" y="2122346"/>
          <a:ext cx="7054200" cy="4109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040"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Command with text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040"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text[0]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'V'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040"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text[:2] </a:t>
                      </a:r>
                    </a:p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text[0:2]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'Vi'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text[6]</a:t>
                      </a:r>
                      <a:endParaRPr lang="en-US" sz="1800" b="0" strike="noStrike" spc="-1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IndexError</a:t>
                      </a:r>
                      <a:endParaRPr lang="en-US" sz="1800" b="0" strike="noStrike" spc="-1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text[5] </a:t>
                      </a:r>
                    </a:p>
                    <a:p>
                      <a:pPr algn="l"/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text[-1]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'a'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320"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text[2:]</a:t>
                      </a:r>
                    </a:p>
                    <a:p>
                      <a:pPr algn="l"/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text[2:6]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sz="1800" strike="noStrike" spc="-1" dirty="0" err="1">
                          <a:latin typeface="Consolas" panose="020B0609020204030204" pitchFamily="49" charset="0"/>
                        </a:rPr>
                        <a:t>enna</a:t>
                      </a:r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480"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text[::2]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'Ven'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480"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text[::-1]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sz="1800" strike="noStrike" spc="-1" dirty="0" err="1">
                          <a:latin typeface="Consolas" panose="020B0609020204030204" pitchFamily="49" charset="0"/>
                        </a:rPr>
                        <a:t>anneiV</a:t>
                      </a:r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String methods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PlaceHolder 2"/>
          <p:cNvSpPr txBox="1"/>
          <p:nvPr/>
        </p:nvSpPr>
        <p:spPr>
          <a:xfrm>
            <a:off x="313944" y="4343399"/>
            <a:ext cx="3048592" cy="814097"/>
          </a:xfrm>
          <a:prstGeom prst="rect">
            <a:avLst/>
          </a:prstGeom>
          <a:noFill/>
          <a:ln w="0"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05130" lvl="1">
              <a:spcBef>
                <a:spcPts val="560"/>
              </a:spcBef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text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= ' Python! ' </a:t>
            </a:r>
          </a:p>
          <a:p>
            <a:pPr marL="405130" lvl="1">
              <a:spcBef>
                <a:spcPts val="560"/>
              </a:spcBef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name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= 'John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Doe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'</a:t>
            </a:r>
          </a:p>
          <a:p>
            <a:pPr marL="1296035" lvl="2">
              <a:spcBef>
                <a:spcPts val="850"/>
              </a:spcBef>
            </a:pPr>
            <a:endParaRPr lang="de-AT" sz="2800" spc="-1" dirty="0">
              <a:solidFill>
                <a:srgbClr val="0F0F0F"/>
              </a:solidFill>
            </a:endParaRPr>
          </a:p>
          <a:p>
            <a:pPr marL="2592070" lvl="5">
              <a:spcBef>
                <a:spcPts val="285"/>
              </a:spcBef>
            </a:pPr>
            <a:endParaRPr lang="de-AT" sz="2800" spc="-1" dirty="0">
              <a:solidFill>
                <a:srgbClr val="0F0F0F"/>
              </a:solidFill>
            </a:endParaRPr>
          </a:p>
        </p:txBody>
      </p:sp>
      <p:sp>
        <p:nvSpPr>
          <p:cNvPr id="5" name="Google Shape;87;p2"/>
          <p:cNvSpPr txBox="1">
            <a:spLocks noGrp="1"/>
          </p:cNvSpPr>
          <p:nvPr>
            <p:ph type="body" idx="1"/>
          </p:nvPr>
        </p:nvSpPr>
        <p:spPr>
          <a:xfrm>
            <a:off x="313944" y="1605599"/>
            <a:ext cx="3048592" cy="419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600" dirty="0"/>
              <a:t>Python provides built-in methods for working with text.</a:t>
            </a:r>
            <a:endParaRPr lang="en-US" altLang="zh-CN" sz="1600" dirty="0"/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600" dirty="0"/>
              <a:t>We can change letter case, remove extra spaces, and split text into parts.</a:t>
            </a:r>
            <a:endParaRPr lang="en-US" altLang="zh-CN" sz="1600" dirty="0"/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600" dirty="0"/>
              <a:t>To use a method, write: variable.method()</a:t>
            </a:r>
            <a:endParaRPr lang="en-US" sz="16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6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Examples: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6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6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6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en-US" sz="16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DE" sz="16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See Unit 4 Python Notebook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16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16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elle 7"/>
          <p:cNvGraphicFramePr/>
          <p:nvPr/>
        </p:nvGraphicFramePr>
        <p:xfrm>
          <a:off x="3472544" y="1605599"/>
          <a:ext cx="5524201" cy="3787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13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1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920"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Call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60"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name + ' , hi!'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'John Doe, hi!'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960"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text * 2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 Python!  Python! 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960">
                <a:tc>
                  <a:txBody>
                    <a:bodyPr/>
                    <a:lstStyle/>
                    <a:p>
                      <a:r>
                        <a:rPr lang="en-US" sz="1800" strike="noStrike" spc="-1" dirty="0" err="1">
                          <a:latin typeface="Consolas" panose="020B0609020204030204" pitchFamily="49" charset="0"/>
                        </a:rPr>
                        <a:t>name.title</a:t>
                      </a:r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()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'John Doe'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960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name.upper()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'JOHN DOE'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960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text.lower()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 python! 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960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text.rstrip()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 Python!'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960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text.lstrip()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'Python! 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960">
                <a:tc>
                  <a:txBody>
                    <a:bodyPr/>
                    <a:lstStyle/>
                    <a:p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text.strip()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'Python!'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strike="noStrike" spc="-1" dirty="0" err="1">
                          <a:latin typeface="Consolas" panose="020B0609020204030204" pitchFamily="49" charset="0"/>
                        </a:rPr>
                        <a:t>name.split</a:t>
                      </a:r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(' ')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['John', 'Doe']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Casting, Printing, Commenting,</a:t>
            </a:r>
            <a:b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None-Keyword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Conversion between data types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239478" y="1666426"/>
            <a:ext cx="3853618" cy="902044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latin typeface="Consolas" panose="020B0609020204030204" pitchFamily="49" charset="0"/>
                <a:ea typeface="Droid Sans Fallback"/>
              </a:rPr>
              <a:t>num1 = 123           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latin typeface="Consolas" panose="020B0609020204030204" pitchFamily="49" charset="0"/>
                <a:ea typeface="Droid Sans Fallback"/>
              </a:rPr>
              <a:t>num2 = '15</a:t>
            </a:r>
            <a:r>
              <a:rPr lang="en-US" sz="1800" b="0" strike="noStrike" spc="-1" dirty="0">
                <a:latin typeface="Consolas" panose="020B0609020204030204" pitchFamily="49" charset="0"/>
              </a:rPr>
              <a:t>'</a:t>
            </a:r>
          </a:p>
          <a:p>
            <a:r>
              <a:rPr lang="en-US" sz="1800" b="0" strike="noStrike" spc="-1" dirty="0">
                <a:latin typeface="Consolas" panose="020B0609020204030204" pitchFamily="49" charset="0"/>
              </a:rPr>
              <a:t>num3 = num1 + num2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239478" y="2572906"/>
            <a:ext cx="3853618" cy="373680"/>
          </a:xfrm>
          <a:prstGeom prst="rect">
            <a:avLst/>
          </a:prstGeom>
          <a:solidFill>
            <a:srgbClr val="FFFFFF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latin typeface="Calibri" panose="020F0502020204030204" pitchFamily="34" charset="0"/>
                <a:cs typeface="Calibri" panose="020F0502020204030204" pitchFamily="34" charset="0"/>
              </a:rPr>
              <a:t>Output:</a:t>
            </a:r>
            <a:endParaRPr lang="en-US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239478" y="5351938"/>
            <a:ext cx="3853618" cy="954360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latin typeface="Consolas" panose="020B0609020204030204" pitchFamily="49" charset="0"/>
                <a:ea typeface="Droid Sans Fallback"/>
              </a:rPr>
              <a:t>num1 = 123           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latin typeface="Consolas" panose="020B0609020204030204" pitchFamily="49" charset="0"/>
                <a:ea typeface="Droid Sans Fallback"/>
              </a:rPr>
              <a:t>num2 = '15</a:t>
            </a:r>
            <a:r>
              <a:rPr lang="en-US" sz="1800" b="0" strike="noStrike" spc="-1" dirty="0">
                <a:latin typeface="Consolas" panose="020B0609020204030204" pitchFamily="49" charset="0"/>
              </a:rPr>
              <a:t>'</a:t>
            </a:r>
          </a:p>
          <a:p>
            <a:r>
              <a:rPr lang="en-US" sz="1800" b="0" strike="noStrike" spc="-1" dirty="0">
                <a:latin typeface="Consolas" panose="020B0609020204030204" pitchFamily="49" charset="0"/>
              </a:rPr>
              <a:t>num3 = num1 + int(num2)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239478" y="4951437"/>
            <a:ext cx="3853618" cy="373680"/>
          </a:xfrm>
          <a:prstGeom prst="rect">
            <a:avLst/>
          </a:prstGeom>
          <a:solidFill>
            <a:srgbClr val="FFFFFF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pc="-1" dirty="0"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sz="1800" b="1" strike="noStrike" spc="-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39478" y="2935785"/>
            <a:ext cx="3853618" cy="2022017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latin typeface="Consolas" panose="020B0609020204030204" pitchFamily="49" charset="0"/>
              </a:rPr>
              <a:t>TypeError</a:t>
            </a:r>
            <a:r>
              <a:rPr lang="en-US" sz="1800" b="0" strike="noStrike" spc="-1" dirty="0">
                <a:latin typeface="Consolas" panose="020B0609020204030204" pitchFamily="49" charset="0"/>
              </a:rPr>
              <a:t>    </a:t>
            </a: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latin typeface="Consolas" panose="020B0609020204030204" pitchFamily="49" charset="0"/>
              </a:rPr>
              <a:t>    1 num1 = 123</a:t>
            </a: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latin typeface="Consolas" panose="020B0609020204030204" pitchFamily="49" charset="0"/>
              </a:rPr>
              <a:t>    2 num2 = '15'</a:t>
            </a: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latin typeface="Consolas" panose="020B0609020204030204" pitchFamily="49" charset="0"/>
              </a:rPr>
              <a:t>--&gt; 3 num3 = num1 + num2</a:t>
            </a: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latin typeface="Consolas" panose="020B0609020204030204" pitchFamily="49" charset="0"/>
              </a:rPr>
              <a:t>TypeError</a:t>
            </a:r>
            <a:r>
              <a:rPr lang="en-US" sz="1800" b="0" strike="noStrike" spc="-1" dirty="0">
                <a:latin typeface="Consolas" panose="020B0609020204030204" pitchFamily="49" charset="0"/>
              </a:rPr>
              <a:t>: unsupported operand type(s) for +: 'int' and 'str'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E4BB38-7F87-13F9-B7C7-CB6D15CB7D76}"/>
              </a:ext>
            </a:extLst>
          </p:cNvPr>
          <p:cNvSpPr txBox="1"/>
          <p:nvPr/>
        </p:nvSpPr>
        <p:spPr>
          <a:xfrm>
            <a:off x="147145" y="1297094"/>
            <a:ext cx="3813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 </a:t>
            </a:r>
            <a:r>
              <a:rPr lang="zh-CN" altLang="zh-CN" sz="1800" dirty="0"/>
              <a:t>A number and a string are different</a:t>
            </a:r>
            <a:endParaRPr kumimoji="1" lang="zh-CN" altLang="en-US" sz="1800" dirty="0"/>
          </a:p>
        </p:txBody>
      </p:sp>
      <p:sp>
        <p:nvSpPr>
          <p:cNvPr id="5" name="Google Shape;87;p2">
            <a:extLst>
              <a:ext uri="{FF2B5EF4-FFF2-40B4-BE49-F238E27FC236}">
                <a16:creationId xmlns:a16="http://schemas.microsoft.com/office/drawing/2014/main" id="{8C5A0626-5881-95D9-5236-16E868973AAE}"/>
              </a:ext>
            </a:extLst>
          </p:cNvPr>
          <p:cNvSpPr txBox="1">
            <a:spLocks/>
          </p:cNvSpPr>
          <p:nvPr/>
        </p:nvSpPr>
        <p:spPr>
          <a:xfrm>
            <a:off x="4302369" y="1833112"/>
            <a:ext cx="4719145" cy="3103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Casting: converting between data types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int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()</a:t>
            </a:r>
            <a:r>
              <a:rPr lang="de-DE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str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()</a:t>
            </a:r>
            <a:r>
              <a:rPr lang="de-DE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float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()</a:t>
            </a:r>
            <a:r>
              <a:rPr lang="de-DE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bool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()</a:t>
            </a:r>
            <a:r>
              <a:rPr lang="de-DE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…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Examples: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int('5')</a:t>
            </a: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		=&gt; 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5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float('5.23')</a:t>
            </a: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	=&gt; 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5.23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str(5)</a:t>
            </a: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		=&gt; 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'5'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int(True)</a:t>
            </a: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	=&gt; 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1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bool(0)</a:t>
            </a:r>
            <a:r>
              <a:rPr lang="en-US" sz="1800" dirty="0"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		=&gt; </a:t>
            </a:r>
            <a:r>
              <a:rPr lang="en-US" sz="1800" dirty="0"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False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Formatting output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0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194431" cy="269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print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()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Droid Sans Fallback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Droid Sans Fallback"/>
                <a:cs typeface="Calibri" panose="020F0502020204030204" pitchFamily="34" charset="0"/>
              </a:rPr>
              <a:t>function</a:t>
            </a: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ends with a newline, so the next output starts on a new line.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 print several values together, separate them with commas: `print(name, age)`.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rint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adds a space between these values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by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altLang="zh-CN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default.</a:t>
            </a:r>
            <a:r>
              <a:rPr lang="zh-CN" alt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also </a:t>
            </a:r>
            <a:r>
              <a:rPr lang="de-AT" sz="1800" b="1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print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</a:t>
            </a:r>
            <a:r>
              <a:rPr lang="de-AT" sz="1800" b="1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format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variables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before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print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Variables in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brackets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{}</a:t>
            </a: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02394" y="4525818"/>
            <a:ext cx="7949237" cy="1453164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05130" lvl="1">
              <a:spcBef>
                <a:spcPts val="1135"/>
              </a:spcBef>
            </a:pPr>
            <a:r>
              <a:rPr lang="en-US" sz="1800" spc="-1" dirty="0">
                <a:latin typeface="Consolas" panose="020B0609020204030204" pitchFamily="49" charset="0"/>
                <a:ea typeface="Droid Sans Fallback"/>
              </a:rPr>
              <a:t>name = 'Max' 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spc="-1" dirty="0">
                <a:latin typeface="Consolas" panose="020B0609020204030204" pitchFamily="49" charset="0"/>
                <a:ea typeface="Droid Sans Fallback"/>
              </a:rPr>
              <a:t>age = 20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spc="-1" dirty="0">
                <a:latin typeface="Consolas" panose="020B0609020204030204" pitchFamily="49" charset="0"/>
                <a:ea typeface="Droid Sans Fallback"/>
              </a:rPr>
              <a:t>print(</a:t>
            </a:r>
            <a:r>
              <a:rPr lang="en-US" sz="1800" b="1" spc="-1" dirty="0" err="1">
                <a:latin typeface="Consolas" panose="020B0609020204030204" pitchFamily="49" charset="0"/>
                <a:ea typeface="Droid Sans Fallback"/>
              </a:rPr>
              <a:t>f</a:t>
            </a:r>
            <a:r>
              <a:rPr lang="en-US" sz="1800" spc="-1" dirty="0" err="1">
                <a:latin typeface="Consolas" panose="020B0609020204030204" pitchFamily="49" charset="0"/>
                <a:ea typeface="Droid Sans Fallback"/>
              </a:rPr>
              <a:t>'My</a:t>
            </a:r>
            <a:r>
              <a:rPr lang="en-US" sz="1800" spc="-1" dirty="0">
                <a:latin typeface="Consolas" panose="020B0609020204030204" pitchFamily="49" charset="0"/>
                <a:ea typeface="Droid Sans Fallback"/>
              </a:rPr>
              <a:t> name is </a:t>
            </a:r>
            <a:r>
              <a:rPr lang="en-US" sz="1800" b="1" spc="-1" dirty="0">
                <a:latin typeface="Consolas" panose="020B0609020204030204" pitchFamily="49" charset="0"/>
                <a:ea typeface="Droid Sans Fallback"/>
              </a:rPr>
              <a:t>{name}</a:t>
            </a:r>
            <a:r>
              <a:rPr lang="en-US" sz="1800" spc="-1" dirty="0">
                <a:latin typeface="Consolas" panose="020B0609020204030204" pitchFamily="49" charset="0"/>
                <a:ea typeface="Droid Sans Fallback"/>
              </a:rPr>
              <a:t> and I am </a:t>
            </a:r>
            <a:r>
              <a:rPr lang="en-US" sz="1800" b="1" spc="-1" dirty="0">
                <a:latin typeface="Consolas" panose="020B0609020204030204" pitchFamily="49" charset="0"/>
                <a:ea typeface="Droid Sans Fallback"/>
              </a:rPr>
              <a:t>{age}</a:t>
            </a:r>
            <a:r>
              <a:rPr lang="en-US" sz="1800" spc="-1" dirty="0">
                <a:latin typeface="Consolas" panose="020B0609020204030204" pitchFamily="49" charset="0"/>
                <a:ea typeface="Droid Sans Fallback"/>
              </a:rPr>
              <a:t> years old’)</a:t>
            </a:r>
          </a:p>
          <a:p>
            <a:pPr marL="405130" lvl="1">
              <a:spcBef>
                <a:spcPts val="1135"/>
              </a:spcBef>
            </a:pPr>
            <a:r>
              <a:rPr lang="en-US" altLang="zh-CN" sz="1800" i="1" dirty="0"/>
              <a:t>#</a:t>
            </a:r>
            <a:r>
              <a:rPr lang="zh-CN" altLang="en-US" sz="1800" i="1" dirty="0"/>
              <a:t> </a:t>
            </a:r>
            <a:r>
              <a:rPr lang="en-US" sz="1800" i="1" dirty="0"/>
              <a:t>print(“My name is”, name, “and I am”, age, “years old”)</a:t>
            </a:r>
            <a:r>
              <a:rPr lang="zh-CN" altLang="en-US" sz="1800" i="1" dirty="0"/>
              <a:t> </a:t>
            </a:r>
            <a:br>
              <a:rPr lang="en-US" sz="1800" dirty="0"/>
            </a:br>
            <a:endParaRPr lang="en-US" sz="1800" spc="-1" dirty="0">
              <a:solidFill>
                <a:srgbClr val="0F0F0F"/>
              </a:solidFill>
            </a:endParaRPr>
          </a:p>
          <a:p>
            <a:pPr marL="405130" lvl="1" indent="0">
              <a:spcBef>
                <a:spcPts val="1135"/>
              </a:spcBef>
              <a:buNone/>
            </a:pP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1879244" y="5063040"/>
            <a:ext cx="300960" cy="378720"/>
          </a:xfrm>
          <a:prstGeom prst="rect">
            <a:avLst/>
          </a:prstGeom>
          <a:noFill/>
          <a:ln w="36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" name="Rechteck 15"/>
          <p:cNvSpPr/>
          <p:nvPr/>
        </p:nvSpPr>
        <p:spPr>
          <a:xfrm>
            <a:off x="3540369" y="5063040"/>
            <a:ext cx="797170" cy="421920"/>
          </a:xfrm>
          <a:prstGeom prst="rect">
            <a:avLst/>
          </a:prstGeom>
          <a:noFill/>
          <a:ln w="36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" name="Rechteck 16"/>
          <p:cNvSpPr/>
          <p:nvPr/>
        </p:nvSpPr>
        <p:spPr>
          <a:xfrm>
            <a:off x="5575500" y="5063040"/>
            <a:ext cx="676808" cy="422640"/>
          </a:xfrm>
          <a:prstGeom prst="rect">
            <a:avLst/>
          </a:prstGeom>
          <a:noFill/>
          <a:ln w="36720">
            <a:solidFill>
              <a:srgbClr val="FC5C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" name="Textfeld 1"/>
          <p:cNvSpPr txBox="1"/>
          <p:nvPr/>
        </p:nvSpPr>
        <p:spPr>
          <a:xfrm>
            <a:off x="4247661" y="2973754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AT" dirty="0"/>
          </a:p>
        </p:txBody>
      </p:sp>
      <p:sp>
        <p:nvSpPr>
          <p:cNvPr id="3" name="Textfeld 2"/>
          <p:cNvSpPr txBox="1"/>
          <p:nvPr/>
        </p:nvSpPr>
        <p:spPr>
          <a:xfrm>
            <a:off x="1693353" y="5978982"/>
            <a:ext cx="569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spc="-1" dirty="0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Droid Sans Fallback"/>
                <a:cs typeface="Calibri" panose="020F0502020204030204" pitchFamily="34" charset="0"/>
              </a:rPr>
              <a:t>Output:</a:t>
            </a:r>
            <a:r>
              <a:rPr lang="en-US" sz="1800" spc="-1" dirty="0">
                <a:solidFill>
                  <a:srgbClr val="0F0F0F"/>
                </a:solidFill>
                <a:highlight>
                  <a:srgbClr val="FFFFFF"/>
                </a:highlight>
                <a:latin typeface="Calibri" panose="020F0502020204030204" pitchFamily="34" charset="0"/>
                <a:ea typeface="Droid Sans Fallback"/>
                <a:cs typeface="Calibri" panose="020F0502020204030204" pitchFamily="34" charset="0"/>
              </a:rPr>
              <a:t>   </a:t>
            </a:r>
            <a:r>
              <a:rPr lang="en-US" sz="1800" spc="-1" dirty="0">
                <a:highlight>
                  <a:srgbClr val="FFFFFF"/>
                </a:highlight>
                <a:latin typeface="Calibri" panose="020F0502020204030204" pitchFamily="34" charset="0"/>
                <a:ea typeface="Droid Sans Fallback"/>
                <a:cs typeface="Calibri" panose="020F0502020204030204" pitchFamily="34" charset="0"/>
              </a:rPr>
              <a:t> </a:t>
            </a:r>
            <a:r>
              <a:rPr lang="en-US" sz="1800" spc="-1" dirty="0">
                <a:highlight>
                  <a:srgbClr val="FFFFFF"/>
                </a:highlight>
                <a:latin typeface="Consolas" panose="020B0609020204030204" pitchFamily="49" charset="0"/>
                <a:ea typeface="Droid Sans Fallback"/>
              </a:rPr>
              <a:t>My name is Max and I am 20 years old</a:t>
            </a:r>
            <a:endParaRPr lang="de-AT" sz="1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Formatting output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0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194431" cy="269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Escape sequences </a:t>
            </a: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start with a backslash (`\`) 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Whitespaces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special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characters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elle 7"/>
          <p:cNvGraphicFramePr/>
          <p:nvPr>
            <p:extLst>
              <p:ext uri="{D42A27DB-BD31-4B8C-83A1-F6EECF244321}">
                <p14:modId xmlns:p14="http://schemas.microsoft.com/office/powerpoint/2010/main" val="3740704551"/>
              </p:ext>
            </p:extLst>
          </p:nvPr>
        </p:nvGraphicFramePr>
        <p:xfrm>
          <a:off x="2392290" y="2735324"/>
          <a:ext cx="3480009" cy="2376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5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Sequence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endParaRPr lang="en-US" sz="1800" b="1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\n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line</a:t>
                      </a: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>
                          <a:latin typeface="Consolas" panose="020B0609020204030204" pitchFamily="49" charset="0"/>
                        </a:rPr>
                        <a:t>\t</a:t>
                      </a:r>
                      <a:endParaRPr lang="en-US" sz="1800" b="0" strike="noStrike" spc="-1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Tabulator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\'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' character in strings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\"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de-AT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"</a:t>
                      </a:r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character in strings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>
                          <a:latin typeface="Consolas" panose="020B0609020204030204" pitchFamily="49" charset="0"/>
                        </a:rPr>
                        <a:t>\\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\ character (backslash)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Comments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0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599"/>
            <a:ext cx="8194431" cy="3521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Syntax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# single-line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comment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"""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multi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line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</a:p>
          <a:p>
            <a:pPr marL="1371600" lvl="3" indent="0">
              <a:spcBef>
                <a:spcPts val="640"/>
              </a:spcBef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comment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"""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'''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multi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line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</a:p>
          <a:p>
            <a:pPr marL="1371600" lvl="3" indent="0">
              <a:spcBef>
                <a:spcPts val="640"/>
              </a:spcBef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documentation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'''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b="1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Explanations</a:t>
            </a:r>
            <a:r>
              <a:rPr lang="de-AT" sz="1800" b="1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program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flow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structure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Supports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understanding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program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Useful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for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b="1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group</a:t>
            </a:r>
            <a:r>
              <a:rPr lang="de-AT" sz="1800" b="1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b="1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projects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longer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lasting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projects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etc.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None-Keyword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0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194431" cy="30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None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Droid Sans Fallback"/>
                <a:cs typeface="Calibri" panose="020F0502020204030204" pitchFamily="34" charset="0"/>
              </a:rPr>
              <a:t> </a:t>
            </a: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 value, Null value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Placeholder </a:t>
            </a:r>
            <a:r>
              <a:rPr lang="en-US" sz="18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when the variable value is still </a:t>
            </a:r>
            <a:r>
              <a:rPr lang="en-US" sz="1800" b="1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not assigned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x = None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different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0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False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''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v"/>
              <a:tabLst/>
              <a:defRPr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 panose="020B0604020202020204"/>
              </a:rPr>
              <a:t>See Unit 4 Python Notebook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DE" sz="2400" b="1" dirty="0">
              <a:solidFill>
                <a:srgbClr val="D3242A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Boolean variables and operators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Boolean variables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0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194431" cy="1684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Boolean variables (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boolean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bool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store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true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/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false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True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False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Boolean variables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results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b="1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comparisons</a:t>
            </a:r>
            <a:r>
              <a:rPr lang="de-AT" sz="1800" b="1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other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variables</a:t>
            </a:r>
          </a:p>
        </p:txBody>
      </p:sp>
      <p:sp>
        <p:nvSpPr>
          <p:cNvPr id="4" name="Rechteck 3"/>
          <p:cNvSpPr/>
          <p:nvPr/>
        </p:nvSpPr>
        <p:spPr>
          <a:xfrm>
            <a:off x="900098" y="3567723"/>
            <a:ext cx="7001256" cy="914400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value = ((2 + 2) &lt; 4)</a:t>
            </a:r>
            <a:r>
              <a:rPr lang="zh-CN" alt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</a:t>
            </a:r>
            <a:endParaRPr lang="en-US" altLang="zh-CN" sz="1800" b="0" strike="noStrike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e-AT" sz="1800" b="0" strike="noStrike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print</a:t>
            </a:r>
            <a:r>
              <a:rPr lang="de-AT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('This </a:t>
            </a:r>
            <a:r>
              <a:rPr lang="de-AT" sz="1800" b="0" strike="noStrike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is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', value)</a:t>
            </a:r>
            <a:endParaRPr lang="en-US" sz="1800" b="0" strike="noStrike" spc="-1" dirty="0">
              <a:solidFill>
                <a:srgbClr val="E0E0E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Comparison operators</a:t>
            </a:r>
            <a:endParaRPr lang="en-US" noProof="0" dirty="0">
              <a:solidFill>
                <a:schemeClr val="dk1"/>
              </a:solidFill>
            </a:endParaRPr>
          </a:p>
        </p:txBody>
      </p:sp>
      <p:graphicFrame>
        <p:nvGraphicFramePr>
          <p:cNvPr id="7" name="Tabelle 6"/>
          <p:cNvGraphicFramePr/>
          <p:nvPr>
            <p:extLst>
              <p:ext uri="{D42A27DB-BD31-4B8C-83A1-F6EECF244321}">
                <p14:modId xmlns:p14="http://schemas.microsoft.com/office/powerpoint/2010/main" val="3942988167"/>
              </p:ext>
            </p:extLst>
          </p:nvPr>
        </p:nvGraphicFramePr>
        <p:xfrm>
          <a:off x="546144" y="1533784"/>
          <a:ext cx="8051711" cy="3564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2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1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Operator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/>
                        <a:t>Description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Example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b="0" strike="noStrike" spc="-1" dirty="0">
                          <a:solidFill>
                            <a:srgbClr val="00B0F0"/>
                          </a:solidFill>
                        </a:rPr>
                        <a:t>==</a:t>
                      </a:r>
                      <a:endParaRPr lang="en-US" sz="1800" b="0" strike="noStrike" spc="-1" dirty="0">
                        <a:solidFill>
                          <a:srgbClr val="00B0F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/>
                        <a:t>is equal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x == y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!=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/>
                        <a:t>is not equal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x != y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&gt;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/>
                        <a:t>greater than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x &gt; y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&lt;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/>
                        <a:t>smaller than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x &lt; y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&gt;=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/>
                        <a:t>greater or equal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x &gt;= y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&lt;=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/>
                        <a:t>smaller or equals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x &lt;= y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is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/>
                        <a:t>objects are identical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x is y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is not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/>
                        <a:t>objects are different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x is not y</a:t>
                      </a:r>
                      <a:endParaRPr lang="en-US" sz="1800" b="0" strike="noStrike" spc="-1" dirty="0">
                        <a:latin typeface="Consolas" panose="020B0609020204030204" pitchFamily="49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feld 7"/>
          <p:cNvSpPr txBox="1"/>
          <p:nvPr/>
        </p:nvSpPr>
        <p:spPr>
          <a:xfrm>
            <a:off x="1570424" y="5318340"/>
            <a:ext cx="6003149" cy="488160"/>
          </a:xfrm>
          <a:prstGeom prst="rect">
            <a:avLst/>
          </a:prstGeom>
          <a:noFill/>
          <a:ln w="3672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1" spc="-1" dirty="0">
                <a:latin typeface="Calibri" panose="020F0502020204030204" pitchFamily="34" charset="0"/>
                <a:cs typeface="Calibri" panose="020F0502020204030204" pitchFamily="34" charset="0"/>
              </a:rPr>
              <a:t>Result of comparisons</a:t>
            </a:r>
            <a:r>
              <a:rPr lang="en-US" sz="1800" b="1" strike="noStrike" spc="-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800" b="1" spc="-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1800" b="1" strike="noStrike" spc="-1" dirty="0">
                <a:latin typeface="Calibri" panose="020F0502020204030204" pitchFamily="34" charset="0"/>
                <a:cs typeface="Calibri" panose="020F0502020204030204" pitchFamily="34" charset="0"/>
              </a:rPr>
              <a:t>oolean</a:t>
            </a:r>
            <a:r>
              <a:rPr lang="en-US" sz="1800" b="1" spc="-1" dirty="0">
                <a:latin typeface="Calibri" panose="020F0502020204030204" pitchFamily="34" charset="0"/>
                <a:cs typeface="Calibri" panose="020F0502020204030204" pitchFamily="34" charset="0"/>
              </a:rPr>
              <a:t> value</a:t>
            </a:r>
            <a:r>
              <a:rPr lang="en-US" sz="1800" b="1" strike="noStrike" spc="-1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800" b="0" strike="noStrike" spc="-1" dirty="0">
                <a:highlight>
                  <a:srgbClr val="DAE3F3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True</a:t>
            </a:r>
            <a:r>
              <a:rPr lang="en-US" sz="1800" b="1" strike="noStrike" spc="-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strike="noStrike" spc="-1" dirty="0" err="1">
                <a:latin typeface="Calibri" panose="020F0502020204030204" pitchFamily="34" charset="0"/>
                <a:cs typeface="Calibri" panose="020F0502020204030204" pitchFamily="34" charset="0"/>
              </a:rPr>
              <a:t>oder</a:t>
            </a:r>
            <a:r>
              <a:rPr lang="en-US" sz="1800" b="1" strike="noStrike" spc="-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strike="noStrike" spc="-1" dirty="0">
                <a:highlight>
                  <a:srgbClr val="DAE3F3"/>
                </a:highlight>
                <a:latin typeface="Consolas" panose="020B0609020204030204" pitchFamily="49" charset="0"/>
                <a:cs typeface="Calibri" panose="020F0502020204030204" pitchFamily="34" charset="0"/>
              </a:rPr>
              <a:t>False</a:t>
            </a:r>
            <a:r>
              <a:rPr lang="en-US" sz="1800" b="1" strike="noStrike" spc="-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Logical operators</a:t>
            </a:r>
            <a:endParaRPr lang="en-US" noProof="0" dirty="0">
              <a:solidFill>
                <a:schemeClr val="dk1"/>
              </a:solidFill>
            </a:endParaRPr>
          </a:p>
        </p:txBody>
      </p:sp>
      <p:graphicFrame>
        <p:nvGraphicFramePr>
          <p:cNvPr id="5" name="Tabelle 4"/>
          <p:cNvGraphicFramePr/>
          <p:nvPr/>
        </p:nvGraphicFramePr>
        <p:xfrm>
          <a:off x="819736" y="1668134"/>
          <a:ext cx="7739820" cy="2224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96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3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9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Operator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/>
                        <a:t>Description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Example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and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/>
                        <a:t>True </a:t>
                      </a:r>
                      <a:r>
                        <a:rPr lang="en-US" sz="1800" strike="noStrike" spc="-1" dirty="0" err="1"/>
                        <a:t>iff</a:t>
                      </a:r>
                      <a:r>
                        <a:rPr lang="en-US" sz="1800" strike="noStrike" spc="-1" dirty="0"/>
                        <a:t> both statements are true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x == y and y &lt; 5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/>
                        <a:t>or</a:t>
                      </a:r>
                      <a:endParaRPr lang="en-US" sz="1800" b="0" strike="noStrike" spc="-1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/>
                        <a:t>False </a:t>
                      </a:r>
                      <a:r>
                        <a:rPr lang="en-US" sz="1800" strike="noStrike" spc="-1" dirty="0" err="1"/>
                        <a:t>iff</a:t>
                      </a:r>
                      <a:r>
                        <a:rPr lang="en-US" sz="1800" strike="noStrike" spc="-1" dirty="0"/>
                        <a:t> both statement are false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x &gt; 2 or y &gt; 3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strike="noStrike" spc="-1" dirty="0"/>
                        <a:t>not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strike="noStrike" spc="-1" dirty="0"/>
                        <a:t>Negation of the statement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not x == y</a:t>
                      </a:r>
                    </a:p>
                    <a:p>
                      <a:pPr algn="ctr"/>
                      <a:r>
                        <a:rPr lang="en-US" sz="1800" strike="noStrike" spc="-1" dirty="0"/>
                        <a:t>not z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latin typeface="Consolas" panose="020B0609020204030204" pitchFamily="49" charset="0"/>
                          <a:cs typeface="Calibri" panose="020F0502020204030204" pitchFamily="34" charset="0"/>
                        </a:rPr>
                        <a:t>^</a:t>
                      </a: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True </a:t>
                      </a:r>
                      <a:r>
                        <a:rPr lang="en-US" sz="1800" b="0" strike="noStrike" spc="-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iff</a:t>
                      </a:r>
                      <a:r>
                        <a:rPr lang="en-US" sz="1800" b="0" strike="noStrike" spc="-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one of the statements is true (XOR)</a:t>
                      </a: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800" strike="noStrike" spc="-1" dirty="0"/>
                        <a:t>x == 2 ^ y &lt; 4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Google Shape;87;p2"/>
          <p:cNvSpPr txBox="1">
            <a:spLocks noGrp="1"/>
          </p:cNvSpPr>
          <p:nvPr>
            <p:ph type="body" idx="1"/>
          </p:nvPr>
        </p:nvSpPr>
        <p:spPr>
          <a:xfrm>
            <a:off x="819734" y="4004924"/>
            <a:ext cx="7739821" cy="1684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Note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that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^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so-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called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b="1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bitwise</a:t>
            </a:r>
            <a:r>
              <a:rPr lang="de-AT" sz="1800" b="1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b="1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operator</a:t>
            </a:r>
            <a:endParaRPr lang="de-AT" sz="1800" b="1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Works on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bits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Result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each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comparison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boolean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value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Hence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should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work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expected</a:t>
            </a: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O</a:t>
            </a:r>
            <a:r>
              <a:rPr lang="en-US" sz="2800" b="1" noProof="0" dirty="0" err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perator</a:t>
            </a: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 precedence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6" name="Google Shape;87;p2"/>
          <p:cNvSpPr txBox="1">
            <a:spLocks noGrp="1"/>
          </p:cNvSpPr>
          <p:nvPr>
            <p:ph type="body" idx="1"/>
          </p:nvPr>
        </p:nvSpPr>
        <p:spPr>
          <a:xfrm>
            <a:off x="6063015" y="1324406"/>
            <a:ext cx="2610851" cy="91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not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sure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()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See Unit 4 Python Notebook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elle 6"/>
          <p:cNvGraphicFramePr/>
          <p:nvPr>
            <p:extLst>
              <p:ext uri="{D42A27DB-BD31-4B8C-83A1-F6EECF244321}">
                <p14:modId xmlns:p14="http://schemas.microsoft.com/office/powerpoint/2010/main" val="1853369953"/>
              </p:ext>
            </p:extLst>
          </p:nvPr>
        </p:nvGraphicFramePr>
        <p:xfrm>
          <a:off x="146891" y="1324406"/>
          <a:ext cx="5817847" cy="502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817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b="0" strike="noStrike" spc="-1" dirty="0"/>
                        <a:t>Operator precedenc</a:t>
                      </a:r>
                      <a:r>
                        <a:rPr lang="en-US" sz="1800" strike="noStrike" spc="-1" dirty="0"/>
                        <a:t>e</a:t>
                      </a:r>
                    </a:p>
                    <a:p>
                      <a:pPr algn="ctr"/>
                      <a:r>
                        <a:rPr lang="en-US" sz="1800" b="0" strike="noStrike" spc="-1" dirty="0"/>
                        <a:t>(from </a:t>
                      </a:r>
                      <a:r>
                        <a:rPr lang="en-US" sz="1800" b="1" strike="noStrike" spc="-1" dirty="0"/>
                        <a:t>low </a:t>
                      </a:r>
                      <a:r>
                        <a:rPr lang="en-US" sz="1800" b="0" strike="noStrike" spc="-1" dirty="0"/>
                        <a:t>to</a:t>
                      </a:r>
                      <a:r>
                        <a:rPr lang="en-US" sz="1800" b="1" strike="noStrike" spc="-1" dirty="0"/>
                        <a:t> high</a:t>
                      </a:r>
                      <a:r>
                        <a:rPr lang="en-US" sz="1800" b="0" strike="noStrike" spc="-1" dirty="0"/>
                        <a:t>) </a:t>
                      </a:r>
                      <a:endParaRPr lang="en-US" sz="1800" b="0" strike="noStrike" spc="-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or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and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strike="noStrike" spc="-1" dirty="0"/>
                        <a:t>not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in, not in, is, is not, &lt;, &lt;=, &gt;, &gt;=, !=, ==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|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^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&amp;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&lt;&lt;, &gt;&gt;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+, -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*, @, /, //, %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+x, -x, ~x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800" strike="noStrike" spc="-1" dirty="0"/>
                        <a:t>**</a:t>
                      </a:r>
                      <a:endParaRPr lang="en-US" sz="1800" b="0" strike="noStrike" spc="-1" dirty="0">
                        <a:latin typeface="Consolas" panose="020B0609020204030204" pitchFamily="49" charset="0"/>
                        <a:cs typeface="Calibri" panose="020F0502020204030204" pitchFamily="34" charset="0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Conditions (if-Statements)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Branching: if statements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0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599"/>
            <a:ext cx="8194431" cy="270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Checking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whether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conditions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satisfied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Conditional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execution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code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Control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flow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Use if to run code only when a condition is True.</a:t>
            </a: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End the if line with a colon (:).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Indent the code inside the if block by four spaces.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Syntax:</a:t>
            </a:r>
          </a:p>
          <a:p>
            <a:pPr marL="0" indent="0">
              <a:spcBef>
                <a:spcPts val="640"/>
              </a:spcBef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528868" y="4315121"/>
            <a:ext cx="3515594" cy="1048324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Arial" panose="020B0604020202020204"/>
              </a:rPr>
              <a:t>if condition:</a:t>
            </a: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E0E0E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kumimoji="0" lang="de-AT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onsolas" panose="020B0609020204030204" pitchFamily="49" charset="0"/>
                <a:ea typeface="Droid Sans Fallback"/>
                <a:cs typeface="+mn-cs"/>
                <a:sym typeface="Arial" panose="020B0604020202020204"/>
              </a:rPr>
              <a:t>print</a:t>
            </a:r>
            <a:r>
              <a:rPr kumimoji="0" lang="de-AT" sz="1800" b="0" i="0" u="none" strike="noStrike" kern="0" cap="none" spc="-1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onsolas" panose="020B0609020204030204" pitchFamily="49" charset="0"/>
                <a:ea typeface="Droid Sans Fallback"/>
                <a:cs typeface="+mn-cs"/>
                <a:sym typeface="Arial" panose="020B0604020202020204"/>
              </a:rPr>
              <a:t>('Do </a:t>
            </a:r>
            <a:r>
              <a:rPr kumimoji="0" lang="de-AT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onsolas" panose="020B0609020204030204" pitchFamily="49" charset="0"/>
                <a:ea typeface="Droid Sans Fallback"/>
                <a:cs typeface="+mn-cs"/>
                <a:sym typeface="Arial" panose="020B0604020202020204"/>
              </a:rPr>
              <a:t>something</a:t>
            </a:r>
            <a:r>
              <a:rPr kumimoji="0" lang="de-AT" sz="1800" b="0" i="0" u="none" strike="noStrike" kern="0" cap="none" spc="-1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onsolas" panose="020B0609020204030204" pitchFamily="49" charset="0"/>
                <a:ea typeface="Droid Sans Fallback"/>
                <a:cs typeface="+mn-cs"/>
                <a:sym typeface="Arial" panose="020B0604020202020204"/>
              </a:rPr>
              <a:t>')</a:t>
            </a: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E0E0E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552545" y="4686518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" name="Textfeld 10"/>
          <p:cNvSpPr txBox="1"/>
          <p:nvPr/>
        </p:nvSpPr>
        <p:spPr>
          <a:xfrm>
            <a:off x="422031" y="5363445"/>
            <a:ext cx="2017544" cy="3888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>
                <a:solidFill>
                  <a:srgbClr val="0F0F0F"/>
                </a:solidFill>
                <a:highlight>
                  <a:srgbClr val="FC5C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Indented 4 spaces</a:t>
            </a:r>
            <a:endParaRPr lang="en-US" sz="18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ihandform: Form 11"/>
          <p:cNvSpPr/>
          <p:nvPr/>
        </p:nvSpPr>
        <p:spPr>
          <a:xfrm>
            <a:off x="831163" y="5041609"/>
            <a:ext cx="45719" cy="250794"/>
          </a:xfrm>
          <a:custGeom>
            <a:avLst/>
            <a:gdLst/>
            <a:ahLst/>
            <a:cxnLst/>
            <a:rect l="0" t="0" r="r" b="b"/>
            <a:pathLst>
              <a:path h="872" fill="none">
                <a:moveTo>
                  <a:pt x="0" y="872"/>
                </a:moveTo>
                <a:lnTo>
                  <a:pt x="0" y="0"/>
                </a:lnTo>
              </a:path>
            </a:pathLst>
          </a:custGeom>
          <a:ln w="1836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feld 12"/>
          <p:cNvSpPr txBox="1"/>
          <p:nvPr/>
        </p:nvSpPr>
        <p:spPr>
          <a:xfrm>
            <a:off x="4592271" y="4314422"/>
            <a:ext cx="4059360" cy="1049023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if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x &gt; 2</a:t>
            </a:r>
            <a:r>
              <a:rPr lang="en-US" sz="1800" b="1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:</a:t>
            </a:r>
            <a:br>
              <a:rPr sz="1800" dirty="0">
                <a:latin typeface="Consolas" panose="020B0609020204030204" pitchFamily="49" charset="0"/>
              </a:rPr>
            </a:br>
            <a:r>
              <a:rPr lang="en-US" sz="1800" b="1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print('In if')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print('Not in if')</a:t>
            </a:r>
            <a:endParaRPr lang="en-US" sz="1800" b="0" strike="noStrike" spc="-1" dirty="0">
              <a:latin typeface="Consolas" panose="020B0609020204030204" pitchFamily="49" charset="0"/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4592271" y="4650532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Branching: if-else statements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0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194431" cy="1688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Use if-else to choose between two actions.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Run the if block when the condition is True.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Run the else block when the condition is False. 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Syntax:</a:t>
            </a:r>
          </a:p>
          <a:p>
            <a:pPr marL="0" indent="0">
              <a:spcBef>
                <a:spcPts val="640"/>
              </a:spcBef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Rechteck 3"/>
          <p:cNvSpPr/>
          <p:nvPr/>
        </p:nvSpPr>
        <p:spPr>
          <a:xfrm>
            <a:off x="564037" y="3563813"/>
            <a:ext cx="4059360" cy="1320801"/>
          </a:xfrm>
          <a:prstGeom prst="rect">
            <a:avLst/>
          </a:prstGeom>
          <a:solidFill>
            <a:srgbClr val="DAE3F3"/>
          </a:solidFill>
          <a:ln w="3672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800" b="0" i="0" u="none" strike="noStrike" kern="0" cap="none" spc="-1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Arial" panose="020B0604020202020204"/>
              </a:rPr>
              <a:t>if condition:</a:t>
            </a: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E0E0E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 panose="020B06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kumimoji="0" lang="de-AT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onsolas" panose="020B0609020204030204" pitchFamily="49" charset="0"/>
                <a:ea typeface="Droid Sans Fallback"/>
                <a:cs typeface="+mn-cs"/>
                <a:sym typeface="Arial" panose="020B0604020202020204"/>
              </a:rPr>
              <a:t>print</a:t>
            </a:r>
            <a:r>
              <a:rPr kumimoji="0" lang="de-AT" sz="1800" b="0" i="0" u="none" strike="noStrike" kern="0" cap="none" spc="-1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onsolas" panose="020B0609020204030204" pitchFamily="49" charset="0"/>
                <a:ea typeface="Droid Sans Fallback"/>
                <a:cs typeface="+mn-cs"/>
                <a:sym typeface="Arial" panose="020B0604020202020204"/>
              </a:rPr>
              <a:t>('Do </a:t>
            </a:r>
            <a:r>
              <a:rPr kumimoji="0" lang="de-AT" sz="1800" b="0" i="0" u="none" strike="noStrike" kern="0" cap="none" spc="-1" normalizeH="0" baseline="0" noProof="0" dirty="0" err="1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onsolas" panose="020B0609020204030204" pitchFamily="49" charset="0"/>
                <a:ea typeface="Droid Sans Fallback"/>
                <a:cs typeface="+mn-cs"/>
                <a:sym typeface="Arial" panose="020B0604020202020204"/>
              </a:rPr>
              <a:t>something</a:t>
            </a:r>
            <a:r>
              <a:rPr kumimoji="0" lang="de-AT" sz="1800" b="0" i="0" u="none" strike="noStrike" kern="0" cap="none" spc="-1" normalizeH="0" baseline="0" noProof="0" dirty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Consolas" panose="020B0609020204030204" pitchFamily="49" charset="0"/>
                <a:ea typeface="Droid Sans Fallback"/>
                <a:cs typeface="+mn-cs"/>
                <a:sym typeface="Arial" panose="020B0604020202020204"/>
              </a:rPr>
              <a:t>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else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print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('Do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something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else</a:t>
            </a:r>
            <a:r>
              <a:rPr lang="de-AT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')</a:t>
            </a:r>
            <a:endParaRPr kumimoji="0" lang="en-US" sz="1800" b="0" i="0" u="none" strike="noStrike" kern="0" cap="none" spc="-1" normalizeH="0" baseline="0" noProof="0" dirty="0">
              <a:ln>
                <a:noFill/>
              </a:ln>
              <a:solidFill>
                <a:srgbClr val="E0E0E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564037" y="5032407"/>
            <a:ext cx="4059360" cy="1235531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if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x &gt; 2:</a:t>
            </a:r>
            <a:br>
              <a:rPr sz="1800" dirty="0">
                <a:latin typeface="Consolas" panose="020B0609020204030204" pitchFamily="49" charset="0"/>
              </a:rPr>
            </a:br>
            <a:r>
              <a:rPr lang="en-US" sz="1800" b="1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print('In if')</a:t>
            </a:r>
          </a:p>
          <a:p>
            <a:pPr>
              <a:lnSpc>
                <a:spcPct val="100000"/>
              </a:lnSpc>
            </a:pP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</a:rPr>
              <a:t>else: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print('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n else')</a:t>
            </a:r>
            <a:endParaRPr lang="en-US" sz="1800" b="0" strike="noStrike" spc="-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Branching: if-</a:t>
            </a:r>
            <a:r>
              <a:rPr lang="en-US" sz="2800" b="1" noProof="0" dirty="0" err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elif</a:t>
            </a: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-else statements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0" name="Google Shape;87;p2"/>
          <p:cNvSpPr txBox="1">
            <a:spLocks noGrp="1"/>
          </p:cNvSpPr>
          <p:nvPr>
            <p:ph type="body" idx="1"/>
          </p:nvPr>
        </p:nvSpPr>
        <p:spPr>
          <a:xfrm>
            <a:off x="474784" y="1099984"/>
            <a:ext cx="8194431" cy="244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Multiple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branching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for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more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complex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case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Use elif (short for “else if”) to check another condition.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Conditions are checked from top to bottom.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Only the first matching block runs.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If no condition is True, the else block runs.</a:t>
            </a:r>
          </a:p>
          <a:p>
            <a:pPr marL="457200" lvl="1" indent="0">
              <a:spcBef>
                <a:spcPts val="640"/>
              </a:spcBef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87EB264D-BC20-B000-3413-C06E72983442}"/>
              </a:ext>
            </a:extLst>
          </p:cNvPr>
          <p:cNvSpPr txBox="1"/>
          <p:nvPr/>
        </p:nvSpPr>
        <p:spPr>
          <a:xfrm>
            <a:off x="879899" y="3070870"/>
            <a:ext cx="6794148" cy="3201140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05130" lvl="1">
              <a:spcBef>
                <a:spcPts val="565"/>
              </a:spcBef>
              <a:spcAft>
                <a:spcPts val="285"/>
              </a:spcAft>
            </a:pP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if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condition</a:t>
            </a:r>
            <a:r>
              <a:rPr lang="de-AT" sz="16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:</a:t>
            </a:r>
            <a:endParaRPr lang="de-AT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130" lvl="1">
              <a:spcBef>
                <a:spcPts val="565"/>
              </a:spcBef>
              <a:spcAft>
                <a:spcPts val="285"/>
              </a:spcAft>
            </a:pP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print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('Do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something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')</a:t>
            </a:r>
            <a:endParaRPr lang="de-AT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130" lvl="1">
              <a:spcBef>
                <a:spcPts val="565"/>
              </a:spcBef>
              <a:spcAft>
                <a:spcPts val="285"/>
              </a:spcAft>
            </a:pP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elif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condition2</a:t>
            </a:r>
            <a:r>
              <a:rPr lang="de-AT" sz="16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:</a:t>
            </a:r>
            <a:endParaRPr lang="de-AT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130" lvl="1">
              <a:spcBef>
                <a:spcPts val="565"/>
              </a:spcBef>
              <a:spcAft>
                <a:spcPts val="285"/>
              </a:spcAft>
            </a:pP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print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('Do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something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else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')</a:t>
            </a:r>
            <a:endParaRPr lang="de-AT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130" lvl="1">
              <a:spcBef>
                <a:spcPts val="565"/>
              </a:spcBef>
              <a:spcAft>
                <a:spcPts val="285"/>
              </a:spcAft>
            </a:pP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elif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condition3</a:t>
            </a:r>
            <a:r>
              <a:rPr lang="de-AT" sz="16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:</a:t>
            </a:r>
            <a:endParaRPr lang="de-AT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130" lvl="1">
              <a:spcBef>
                <a:spcPts val="565"/>
              </a:spcBef>
              <a:spcAft>
                <a:spcPts val="285"/>
              </a:spcAft>
            </a:pP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print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('Do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something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different')</a:t>
            </a:r>
            <a:endParaRPr lang="de-AT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130" lvl="1">
              <a:spcBef>
                <a:spcPts val="565"/>
              </a:spcBef>
              <a:spcAft>
                <a:spcPts val="285"/>
              </a:spcAft>
            </a:pP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#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there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could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be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more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elifs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below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this</a:t>
            </a:r>
            <a:endParaRPr lang="de-AT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130" lvl="1">
              <a:spcBef>
                <a:spcPts val="565"/>
              </a:spcBef>
              <a:spcAft>
                <a:spcPts val="285"/>
              </a:spcAft>
            </a:pP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else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: # optional</a:t>
            </a:r>
          </a:p>
          <a:p>
            <a:pPr marL="405130" lvl="1">
              <a:spcBef>
                <a:spcPts val="565"/>
              </a:spcBef>
              <a:spcAft>
                <a:spcPts val="285"/>
              </a:spcAft>
            </a:pP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print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('Do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something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</a:t>
            </a:r>
            <a:r>
              <a:rPr lang="de-AT" sz="16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completely</a:t>
            </a:r>
            <a:r>
              <a:rPr lang="de-AT" sz="16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different')</a:t>
            </a:r>
            <a:endParaRPr lang="de-AT" sz="16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Branching: if-</a:t>
            </a:r>
            <a:r>
              <a:rPr lang="en-US" sz="2800" b="1" noProof="0" dirty="0" err="1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elif</a:t>
            </a: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-else statements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0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194431" cy="676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Examples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</a:t>
            </a:r>
          </a:p>
          <a:p>
            <a:pPr marL="0" indent="0">
              <a:spcBef>
                <a:spcPts val="640"/>
              </a:spcBef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PlaceHolder 2"/>
          <p:cNvSpPr txBox="1"/>
          <p:nvPr/>
        </p:nvSpPr>
        <p:spPr>
          <a:xfrm>
            <a:off x="492369" y="2282092"/>
            <a:ext cx="3171676" cy="2606375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05130" lvl="1">
              <a:spcBef>
                <a:spcPts val="285"/>
              </a:spcBef>
            </a:pP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if x &lt; 5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: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print('Small')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130" lvl="1">
              <a:spcBef>
                <a:spcPts val="285"/>
              </a:spcBef>
            </a:pP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elif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x &lt; 15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: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print('Medium')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130" lvl="1">
              <a:spcBef>
                <a:spcPts val="285"/>
              </a:spcBef>
            </a:pPr>
            <a:r>
              <a:rPr lang="en-US" sz="1800" spc="-1" dirty="0" err="1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elif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x &lt; 20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: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print('Big')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130" lvl="1">
              <a:spcBef>
                <a:spcPts val="285"/>
              </a:spcBef>
            </a:pP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else: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print('Huge')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PlaceHolder 6"/>
          <p:cNvSpPr txBox="1"/>
          <p:nvPr/>
        </p:nvSpPr>
        <p:spPr>
          <a:xfrm>
            <a:off x="5515200" y="2282092"/>
            <a:ext cx="3171600" cy="2606375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05130" lvl="1">
              <a:spcBef>
                <a:spcPts val="285"/>
              </a:spcBef>
            </a:pP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if x &lt; 5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: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print('Small')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130" lvl="1">
              <a:spcBef>
                <a:spcPts val="285"/>
              </a:spcBef>
            </a:pP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if x &lt; 15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: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print('Medium')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130" lvl="1">
              <a:spcBef>
                <a:spcPts val="285"/>
              </a:spcBef>
            </a:pP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if x &lt; 20</a:t>
            </a: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: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print('Big')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  <a:p>
            <a:pPr marL="405130" lvl="1">
              <a:spcBef>
                <a:spcPts val="285"/>
              </a:spcBef>
            </a:pP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else:</a:t>
            </a:r>
            <a:br>
              <a:rPr lang="en-US" sz="1800" dirty="0">
                <a:latin typeface="Consolas" panose="020B0609020204030204" pitchFamily="49" charset="0"/>
              </a:rPr>
            </a:br>
            <a:r>
              <a:rPr lang="en-US" sz="1800" b="1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en-US" sz="1800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print('Huge')</a:t>
            </a:r>
            <a:endParaRPr lang="en-US" sz="1800" spc="-1" dirty="0">
              <a:solidFill>
                <a:srgbClr val="0F0F0F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4392505" y="3199538"/>
            <a:ext cx="468720" cy="77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4800" b="0" strike="noStrike" spc="-1" dirty="0">
                <a:solidFill>
                  <a:srgbClr val="0F0F0F"/>
                </a:solidFill>
                <a:latin typeface="Arial" panose="020B0604020202020204"/>
              </a:rPr>
              <a:t>≠</a:t>
            </a:r>
            <a:endParaRPr lang="en-US" sz="48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Indentation rules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0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5600"/>
            <a:ext cx="8194431" cy="349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Standard PEP8 (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hlinkClick r:id="rId3"/>
              </a:rPr>
              <a:t>https://peps.python.org/pep-0008/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4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spaces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tabulators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(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configure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editors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replaces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tabs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with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4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spaces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Block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indentation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Everything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that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indented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after 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Cambria Math" panose="02040503050406030204" pitchFamily="18" charset="0"/>
                <a:cs typeface="Calibri" panose="020F0502020204030204" pitchFamily="34" charset="0"/>
              </a:rPr>
              <a:t>: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belongs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current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block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This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language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syntax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!</a:t>
            </a: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Not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following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syntax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results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in an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error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1200150" lvl="2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Implicitly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: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supports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formatting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and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readability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code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Changes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relation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to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rest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of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the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code</a:t>
            </a:r>
          </a:p>
          <a:p>
            <a:pPr marL="742950" lvl="1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if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for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while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, </a:t>
            </a:r>
            <a:r>
              <a:rPr lang="de-AT" sz="1800" spc="-1" dirty="0" err="1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def</a:t>
            </a:r>
            <a:r>
              <a:rPr lang="de-AT" sz="1800" spc="-1" dirty="0">
                <a:solidFill>
                  <a:srgbClr val="0F0F0F"/>
                </a:solidFill>
                <a:highlight>
                  <a:srgbClr val="DAE3F3"/>
                </a:highlight>
                <a:latin typeface="Consolas" panose="020B0609020204030204" pitchFamily="49" charset="0"/>
                <a:ea typeface="Droid Sans Fallback"/>
              </a:rPr>
              <a:t>, …</a:t>
            </a:r>
            <a:endParaRPr lang="de-AT" sz="1800" spc="-1" dirty="0">
              <a:solidFill>
                <a:srgbClr val="0F0F0F"/>
              </a:solidFill>
              <a:highlight>
                <a:srgbClr val="DAE3F3"/>
              </a:highlight>
              <a:latin typeface="Consolas" panose="020B0609020204030204" pitchFamily="49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Nested indentation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10" name="Google Shape;87;p2"/>
          <p:cNvSpPr txBox="1">
            <a:spLocks noGrp="1"/>
          </p:cNvSpPr>
          <p:nvPr>
            <p:ph type="body" idx="1"/>
          </p:nvPr>
        </p:nvSpPr>
        <p:spPr>
          <a:xfrm>
            <a:off x="371856" y="1063418"/>
            <a:ext cx="8194431" cy="653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Code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blocks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can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be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arbitrarly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nested</a:t>
            </a: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at multiple </a:t>
            </a:r>
            <a:r>
              <a:rPr lang="de-AT" sz="1800" spc="-1" dirty="0" err="1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levels</a:t>
            </a: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1577301" y="1579351"/>
            <a:ext cx="6154920" cy="4410360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age_max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= 35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r>
              <a:rPr lang="en-US" sz="1800" b="0" strike="noStrike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age_peter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= 42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r>
              <a:rPr lang="en-US" sz="1800" b="0" strike="noStrike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age_berta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= 37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endParaRPr lang="en-US" sz="1800" b="0" strike="noStrike" spc="-1" dirty="0">
              <a:latin typeface="Consolas" panose="020B0609020204030204" pitchFamily="49" charset="0"/>
            </a:endParaRPr>
          </a:p>
          <a:p>
            <a:r>
              <a:rPr lang="en-US" sz="180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if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</a:t>
            </a:r>
            <a:r>
              <a:rPr lang="en-US" sz="1800" b="0" strike="noStrike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age_max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&lt; </a:t>
            </a:r>
            <a:r>
              <a:rPr lang="en-US" sz="1800" b="0" strike="noStrike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age_peter</a:t>
            </a:r>
            <a:r>
              <a:rPr lang="en-US" sz="1800" b="1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r>
              <a:rPr lang="en-US" sz="1800" b="1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    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  <a:ea typeface="Droid Sans Fallback"/>
              </a:rPr>
              <a:t>print('Max is younger than Peter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')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   </a:t>
            </a:r>
            <a:r>
              <a:rPr lang="en-US" sz="180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if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</a:t>
            </a:r>
            <a:r>
              <a:rPr lang="en-US" sz="1800" b="0" strike="noStrike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age_berta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&lt; </a:t>
            </a:r>
            <a:r>
              <a:rPr lang="en-US" sz="1800" b="0" strike="noStrike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age_max</a:t>
            </a:r>
            <a:r>
              <a:rPr lang="en-US" sz="1800" b="1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print('Berta is the youngest!')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r>
              <a:rPr lang="en-US" sz="180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   else:</a:t>
            </a:r>
            <a:endParaRPr lang="en-US" sz="1800" strike="noStrike" spc="-1" dirty="0">
              <a:latin typeface="Consolas" panose="020B0609020204030204" pitchFamily="49" charset="0"/>
            </a:endParaRPr>
          </a:p>
          <a:p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print('Max is the youngest!')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r>
              <a:rPr lang="en-US" sz="180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else:</a:t>
            </a:r>
            <a:endParaRPr lang="en-US" sz="1800" strike="noStrike" spc="-1" dirty="0">
              <a:latin typeface="Consolas" panose="020B0609020204030204" pitchFamily="49" charset="0"/>
            </a:endParaRPr>
          </a:p>
          <a:p>
            <a:r>
              <a:rPr lang="en-US" sz="180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   if </a:t>
            </a:r>
            <a:r>
              <a:rPr lang="en-US" sz="1800" b="0" strike="noStrike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age_berta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&lt; </a:t>
            </a:r>
            <a:r>
              <a:rPr lang="en-US" sz="1800" b="0" strike="noStrike" spc="-1" dirty="0" err="1">
                <a:solidFill>
                  <a:srgbClr val="0F0F0F"/>
                </a:solidFill>
                <a:latin typeface="Consolas" panose="020B0609020204030204" pitchFamily="49" charset="0"/>
              </a:rPr>
              <a:t>age_peter</a:t>
            </a:r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: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print('Berta is the youngest!')</a:t>
            </a:r>
            <a:endParaRPr lang="en-US" sz="1800" b="0" strike="noStrike" spc="-1" dirty="0">
              <a:latin typeface="Consolas" panose="020B0609020204030204" pitchFamily="49" charset="0"/>
            </a:endParaRPr>
          </a:p>
          <a:p>
            <a:r>
              <a:rPr lang="en-US" sz="180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   else:</a:t>
            </a:r>
            <a:endParaRPr lang="en-US" sz="1800" strike="noStrike" spc="-1" dirty="0">
              <a:latin typeface="Consolas" panose="020B0609020204030204" pitchFamily="49" charset="0"/>
            </a:endParaRPr>
          </a:p>
          <a:p>
            <a:r>
              <a:rPr lang="en-US" sz="1800" b="0" strike="noStrike" spc="-1" dirty="0">
                <a:solidFill>
                  <a:srgbClr val="0F0F0F"/>
                </a:solidFill>
                <a:latin typeface="Consolas" panose="020B0609020204030204" pitchFamily="49" charset="0"/>
              </a:rPr>
              <a:t>        print('Peter is the youngest!')</a:t>
            </a:r>
            <a:endParaRPr lang="en-US" sz="1800" b="0" strike="noStrike" spc="-1" dirty="0">
              <a:latin typeface="Consolas" panose="020B0609020204030204" pitchFamily="49" charset="0"/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1577301" y="3031761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Rechteck 5"/>
          <p:cNvSpPr/>
          <p:nvPr/>
        </p:nvSpPr>
        <p:spPr>
          <a:xfrm>
            <a:off x="1577301" y="3281150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Rechteck 6"/>
          <p:cNvSpPr/>
          <p:nvPr/>
        </p:nvSpPr>
        <p:spPr>
          <a:xfrm>
            <a:off x="1577300" y="3539212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" name="Rechteck 7"/>
          <p:cNvSpPr/>
          <p:nvPr/>
        </p:nvSpPr>
        <p:spPr>
          <a:xfrm>
            <a:off x="2134537" y="3540344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Rechteck 8"/>
          <p:cNvSpPr/>
          <p:nvPr/>
        </p:nvSpPr>
        <p:spPr>
          <a:xfrm>
            <a:off x="1577300" y="3831421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" name="Rechteck 10"/>
          <p:cNvSpPr/>
          <p:nvPr/>
        </p:nvSpPr>
        <p:spPr>
          <a:xfrm>
            <a:off x="1577300" y="4092068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Rechteck 11"/>
          <p:cNvSpPr/>
          <p:nvPr/>
        </p:nvSpPr>
        <p:spPr>
          <a:xfrm>
            <a:off x="2134536" y="4094709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Rechteck 13"/>
          <p:cNvSpPr/>
          <p:nvPr/>
        </p:nvSpPr>
        <p:spPr>
          <a:xfrm>
            <a:off x="1562606" y="4663768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" name="Rechteck 14"/>
          <p:cNvSpPr/>
          <p:nvPr/>
        </p:nvSpPr>
        <p:spPr>
          <a:xfrm>
            <a:off x="1562605" y="4921830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" name="Rechteck 15"/>
          <p:cNvSpPr/>
          <p:nvPr/>
        </p:nvSpPr>
        <p:spPr>
          <a:xfrm>
            <a:off x="2119842" y="4922962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" name="Rechteck 16"/>
          <p:cNvSpPr/>
          <p:nvPr/>
        </p:nvSpPr>
        <p:spPr>
          <a:xfrm>
            <a:off x="1562605" y="5214039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" name="Rechteck 17"/>
          <p:cNvSpPr/>
          <p:nvPr/>
        </p:nvSpPr>
        <p:spPr>
          <a:xfrm>
            <a:off x="1562605" y="5474686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" name="Rechteck 18"/>
          <p:cNvSpPr/>
          <p:nvPr/>
        </p:nvSpPr>
        <p:spPr>
          <a:xfrm>
            <a:off x="2119841" y="5477327"/>
            <a:ext cx="557237" cy="292209"/>
          </a:xfrm>
          <a:prstGeom prst="rect">
            <a:avLst/>
          </a:prstGeom>
          <a:solidFill>
            <a:srgbClr val="FC5C00"/>
          </a:solidFill>
          <a:ln w="0">
            <a:solidFill>
              <a:srgbClr val="FC5C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" name="Google Shape;87;p2"/>
          <p:cNvSpPr txBox="1"/>
          <p:nvPr/>
        </p:nvSpPr>
        <p:spPr>
          <a:xfrm>
            <a:off x="371856" y="5914507"/>
            <a:ext cx="8194431" cy="653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r>
              <a:rPr lang="de-AT" sz="1800" spc="-1" dirty="0">
                <a:solidFill>
                  <a:srgbClr val="0F0F0F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See Unit 4 Python Notebook</a:t>
            </a: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640"/>
              </a:spcBef>
              <a:buFont typeface="Wingdings" panose="05000000000000000000" pitchFamily="2" charset="2"/>
              <a:buChar char="v"/>
            </a:pPr>
            <a:endParaRPr lang="de-AT" sz="1800" spc="-1" dirty="0">
              <a:solidFill>
                <a:srgbClr val="0F0F0F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/>
              <p:cNvSpPr txBox="1"/>
              <p:nvPr/>
            </p:nvSpPr>
            <p:spPr>
              <a:xfrm>
                <a:off x="461938" y="1605600"/>
                <a:ext cx="8229600" cy="4085286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lvl="0">
                  <a:defRPr/>
                </a:pPr>
                <a:r>
                  <a:rPr kumimoji="0" lang="de-DE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Task 1: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Install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Python3 and 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J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upyter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lab.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You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can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follow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these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installation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  <a:hlinkClick r:id="rId3"/>
                  </a:rPr>
                  <a:t>instructions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. After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installation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is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complete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start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the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jupyter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lab and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implement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following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tasks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in separate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cells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:</a:t>
                </a:r>
              </a:p>
              <a:p>
                <a:pPr marL="342900" lvl="0" indent="-342900">
                  <a:buFont typeface="+mj-lt"/>
                  <a:buAutoNum type="arabicPeriod"/>
                  <a:defRPr/>
                </a:pP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Initialize variables </a:t>
                </a:r>
                <a:r>
                  <a:rPr lang="de-DE" sz="1800" dirty="0" err="1">
                    <a:highlight>
                      <a:srgbClr val="DAE3F3"/>
                    </a:highlight>
                    <a:latin typeface="Consolas" panose="020B0609020204030204" pitchFamily="49" charset="0"/>
                    <a:cs typeface="Calibri" panose="020F0502020204030204" pitchFamily="34" charset="0"/>
                  </a:rPr>
                  <a:t>radius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and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highlight>
                      <a:srgbClr val="DAE3F3"/>
                    </a:highlight>
                    <a:uLnTx/>
                    <a:uFillTx/>
                    <a:latin typeface="Consolas" panose="020B0609020204030204" pitchFamily="49" charset="0"/>
                    <a:cs typeface="Calibri" panose="020F0502020204030204" pitchFamily="34" charset="0"/>
                    <a:sym typeface="Arial" panose="020B0604020202020204"/>
                  </a:rPr>
                  <a:t>side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</a:t>
                </a:r>
                <a:r>
                  <a:rPr kumimoji="0" lang="de-DE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with</a:t>
                </a:r>
                <a:r>
                  <a:rPr kumimoji="0" lang="de-DE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 panose="020B0604020202020204"/>
                  </a:rPr>
                  <a:t> 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positive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values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Compute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area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circle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given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radius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area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square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given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side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Compute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difference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larger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area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smaller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area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two</a:t>
                </a:r>
                <a:r>
                  <a:rPr lang="de-DE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42900" lvl="0" indent="-342900">
                  <a:buFont typeface="+mj-lt"/>
                  <a:buAutoNum type="arabicPeriod"/>
                  <a:defRPr/>
                </a:pP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Initialize an integer variable </a:t>
                </a:r>
                <a:r>
                  <a:rPr lang="de-DE" sz="1800" dirty="0">
                    <a:highlight>
                      <a:srgbClr val="DAE3F3"/>
                    </a:highlight>
                    <a:latin typeface="Consolas" panose="020B0609020204030204" pitchFamily="49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x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 Write a code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to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decide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whether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>
                    <a:highlight>
                      <a:srgbClr val="DAE3F3"/>
                    </a:highlight>
                    <a:latin typeface="Consolas" panose="020B0609020204030204" pitchFamily="49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x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is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divisible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by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both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2 and 3,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by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either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only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2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3,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or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by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neither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2 </a:t>
                </a:r>
                <a:r>
                  <a:rPr lang="de-DE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nor</a:t>
                </a:r>
                <a:r>
                  <a:rPr lang="de-DE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3.</a:t>
                </a:r>
              </a:p>
              <a:p>
                <a:pPr marL="342900" lvl="0" indent="-342900">
                  <a:buFont typeface="+mj-lt"/>
                  <a:buAutoNum type="arabicPeriod"/>
                  <a:defRPr/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 volume of a sphere with radius </a:t>
                </a:r>
                <a:r>
                  <a:rPr lang="en-US" sz="1800" dirty="0">
                    <a:highlight>
                      <a:srgbClr val="DAE3F3"/>
                    </a:highlight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r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num>
                      <m:den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π</m:t>
                    </m:r>
                    <m:sSup>
                      <m:sSup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. Write a cell to compute the volume of a sphere. What is the volume of a sphere with radius 5?</a:t>
                </a:r>
              </a:p>
              <a:p>
                <a:pPr marL="342900" lvl="0" indent="-342900">
                  <a:buFont typeface="+mj-lt"/>
                  <a:buAutoNum type="arabicPeriod"/>
                  <a:defRPr/>
                </a:pP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Suppose the cover price of a book is €24.95, but bookstores get a 40% discount. Shipping costs €3 for the first copy and €0.75 for each additional copy. What is the total wholesale cost for 60 copies? Write a </a:t>
                </a:r>
                <a:r>
                  <a:rPr lang="en-US" sz="180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Jupyter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notebook cell to compute this cost.</a:t>
                </a:r>
                <a:endParaRPr lang="de-DE" sz="18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feld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38" y="1605600"/>
                <a:ext cx="8229600" cy="4085286"/>
              </a:xfrm>
              <a:prstGeom prst="rect">
                <a:avLst/>
              </a:prstGeom>
              <a:blipFill>
                <a:blip r:embed="rId4"/>
                <a:stretch>
                  <a:fillRect l="-616" t="-619" r="-616" b="-1548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2637</Words>
  <Application>Microsoft Macintosh PowerPoint</Application>
  <PresentationFormat>全屏显示(4:3)</PresentationFormat>
  <Paragraphs>552</Paragraphs>
  <Slides>41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8" baseType="lpstr">
      <vt:lpstr>Calibri</vt:lpstr>
      <vt:lpstr>Consolas</vt:lpstr>
      <vt:lpstr>Wingdings</vt:lpstr>
      <vt:lpstr>Cambria Math</vt:lpstr>
      <vt:lpstr>Arial</vt:lpstr>
      <vt:lpstr>Blackadder ITC</vt:lpstr>
      <vt:lpstr>Office Theme</vt:lpstr>
      <vt:lpstr>Fundamentals of Computer Science and Programming </vt:lpstr>
      <vt:lpstr>Outline</vt:lpstr>
      <vt:lpstr>Programming tools</vt:lpstr>
      <vt:lpstr>How does “text” become an executable program?</vt:lpstr>
      <vt:lpstr>Compiler</vt:lpstr>
      <vt:lpstr>Interpreter</vt:lpstr>
      <vt:lpstr>Variables</vt:lpstr>
      <vt:lpstr>Variables</vt:lpstr>
      <vt:lpstr>Variables</vt:lpstr>
      <vt:lpstr>Variables and data types</vt:lpstr>
      <vt:lpstr>Integers and Floats</vt:lpstr>
      <vt:lpstr>Integers and floating point numbers</vt:lpstr>
      <vt:lpstr>Extended operators</vt:lpstr>
      <vt:lpstr>Some special cases</vt:lpstr>
      <vt:lpstr>Strings</vt:lpstr>
      <vt:lpstr>Strings</vt:lpstr>
      <vt:lpstr>Strings</vt:lpstr>
      <vt:lpstr>String slicing</vt:lpstr>
      <vt:lpstr>String slicing</vt:lpstr>
      <vt:lpstr>String slicing: example</vt:lpstr>
      <vt:lpstr>String methods</vt:lpstr>
      <vt:lpstr>Casting, Printing, Commenting, None-Keyword</vt:lpstr>
      <vt:lpstr>Conversion between data types</vt:lpstr>
      <vt:lpstr>Formatting output</vt:lpstr>
      <vt:lpstr>Formatting output</vt:lpstr>
      <vt:lpstr>Comments</vt:lpstr>
      <vt:lpstr>None-Keyword</vt:lpstr>
      <vt:lpstr>Boolean variables and operators</vt:lpstr>
      <vt:lpstr>Boolean variables</vt:lpstr>
      <vt:lpstr>Comparison operators</vt:lpstr>
      <vt:lpstr>Logical operators</vt:lpstr>
      <vt:lpstr>Operator precedence</vt:lpstr>
      <vt:lpstr>Conditions (if-Statements)</vt:lpstr>
      <vt:lpstr>Branching: if statements</vt:lpstr>
      <vt:lpstr>Branching: if-else statements</vt:lpstr>
      <vt:lpstr>Branching: if-elif-else statements</vt:lpstr>
      <vt:lpstr>Branching: if-elif-else statements</vt:lpstr>
      <vt:lpstr>Indentation rules</vt:lpstr>
      <vt:lpstr>Nested indentation</vt:lpstr>
      <vt:lpstr>Exercise</vt:lpstr>
      <vt:lpstr>Student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 Basics of Computer Programming</dc:title>
  <dc:creator>Lyndon Nixon</dc:creator>
  <cp:lastModifiedBy>Libo Ren</cp:lastModifiedBy>
  <cp:revision>925</cp:revision>
  <cp:lastPrinted>2026-10-14T08:05:08Z</cp:lastPrinted>
  <dcterms:created xsi:type="dcterms:W3CDTF">2025-10-13T09:30:00Z</dcterms:created>
  <dcterms:modified xsi:type="dcterms:W3CDTF">2026-10-14T08:06:52Z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56B60DE7464542848B584AD000FA4347_13</vt:lpwstr>
  </property>
  <property fmtid="{D5CDD505-2E9C-101B-9397-08002B2CF9AE}" pid="3" name="KSOProductBuildVer">
    <vt:lpwstr>2052-12.1.0.23125</vt:lpwstr>
  </property>
</Properties>
</file>