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408" r:id="rId5"/>
    <p:sldId id="499" r:id="rId6"/>
    <p:sldId id="276" r:id="rId7"/>
    <p:sldId id="277" r:id="rId8"/>
    <p:sldId id="576" r:id="rId9"/>
    <p:sldId id="278" r:id="rId10"/>
    <p:sldId id="279" r:id="rId11"/>
    <p:sldId id="280" r:id="rId12"/>
    <p:sldId id="281" r:id="rId13"/>
    <p:sldId id="282" r:id="rId14"/>
    <p:sldId id="572" r:id="rId15"/>
    <p:sldId id="284" r:id="rId16"/>
    <p:sldId id="285" r:id="rId17"/>
    <p:sldId id="286" r:id="rId18"/>
    <p:sldId id="287" r:id="rId19"/>
    <p:sldId id="573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574" r:id="rId34"/>
    <p:sldId id="567" r:id="rId35"/>
    <p:sldId id="568" r:id="rId36"/>
    <p:sldId id="569" r:id="rId37"/>
    <p:sldId id="570" r:id="rId38"/>
    <p:sldId id="575" r:id="rId39"/>
    <p:sldId id="554" r:id="rId40"/>
    <p:sldId id="565" r:id="rId41"/>
    <p:sldId id="523" r:id="rId42"/>
    <p:sldId id="461" r:id="rId43"/>
  </p:sldIdLst>
  <p:sldSz cx="9144000" cy="6858000" type="screen4x3"/>
  <p:notesSz cx="7099300" cy="10234295"/>
  <p:embeddedFontLst>
    <p:embeddedFont>
      <p:font typeface="Calibri" panose="020F0502020204030204"/>
      <p:regular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Blackadder ITC" panose="04020505050007020D02" pitchFamily="82" charset="0"/>
      <p:regular r:id="rId52"/>
    </p:embeddedFon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Cambria Math" panose="02040503050406030204" pitchFamily="18" charset="0"/>
      <p:regular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 autoAdjust="0"/>
    <p:restoredTop sz="94651" autoAdjust="0"/>
  </p:normalViewPr>
  <p:slideViewPr>
    <p:cSldViewPr snapToGrid="0" showGuides="1">
      <p:cViewPr varScale="1">
        <p:scale>
          <a:sx n="143" d="100"/>
          <a:sy n="143" d="100"/>
        </p:scale>
        <p:origin x="69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7" Type="http://schemas.openxmlformats.org/officeDocument/2006/relationships/font" Target="fonts/font11.fntdata"/><Relationship Id="rId56" Type="http://schemas.openxmlformats.org/officeDocument/2006/relationships/font" Target="fonts/font10.fntdata"/><Relationship Id="rId55" Type="http://schemas.openxmlformats.org/officeDocument/2006/relationships/font" Target="fonts/font9.fntdata"/><Relationship Id="rId54" Type="http://schemas.openxmlformats.org/officeDocument/2006/relationships/font" Target="fonts/font8.fntdata"/><Relationship Id="rId53" Type="http://schemas.openxmlformats.org/officeDocument/2006/relationships/font" Target="fonts/font7.fntdata"/><Relationship Id="rId52" Type="http://schemas.openxmlformats.org/officeDocument/2006/relationships/font" Target="fonts/font6.fntdata"/><Relationship Id="rId51" Type="http://schemas.openxmlformats.org/officeDocument/2006/relationships/font" Target="fonts/font5.fntdata"/><Relationship Id="rId50" Type="http://schemas.openxmlformats.org/officeDocument/2006/relationships/font" Target="fonts/font4.fntdata"/><Relationship Id="rId5" Type="http://schemas.openxmlformats.org/officeDocument/2006/relationships/slide" Target="slides/slide2.xml"/><Relationship Id="rId49" Type="http://schemas.openxmlformats.org/officeDocument/2006/relationships/font" Target="fonts/font3.fntdata"/><Relationship Id="rId48" Type="http://schemas.openxmlformats.org/officeDocument/2006/relationships/font" Target="fonts/font2.fntdata"/><Relationship Id="rId47" Type="http://schemas.openxmlformats.org/officeDocument/2006/relationships/font" Target="fonts/font1.fntdata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11:30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Generelle Data Science Pipeline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anlegen/laden ➡ Preprocessing ➡ Daten explorieren ➡ Daten verarbeiten ➡ Ergebnisse ausgeben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Python macht man das ganz oft mit pandas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der name pandas kommt (angeblich) von einer abkürzung für “Panel Data”, und das beschreibt oft “tabulare Daten” .Was versteht man unter tabularen Daten? (Tabellendateien)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 (Panel data), numpy (=Numeric Python)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stelle sich eine CSV oder excel Datei vor, dann lad ma die Daten einfach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Zeilen anzeigen</a:t>
            </a:r>
            <a:endParaRPr lang="en-US" sz="1400" b="0" strike="noStrike" spc="-1">
              <a:latin typeface="Arial" panose="020B0604020202020204"/>
            </a:endParaRPr>
          </a:p>
          <a:p>
            <a:pPr marL="1727835" lvl="3" indent="-215900">
              <a:lnSpc>
                <a:spcPct val="10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kann sich das als spezialisiertes Dictionary vorstellen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Die einzelnen spalten: Series, im hintergrund numpy array (ist jetzt für uns nicht wichtig)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0">
              <a:lnSpc>
                <a:spcPct val="100000"/>
              </a:lnSpc>
              <a:spcBef>
                <a:spcPts val="1135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-------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Ganz oft </a:t>
            </a:r>
            <a:r>
              <a:rPr lang="en-US" sz="2000" b="0" strike="noStrike" spc="-1" dirty="0" err="1">
                <a:latin typeface="Arial" panose="020B0604020202020204"/>
              </a:rPr>
              <a:t>kürzt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eben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mit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df</a:t>
            </a:r>
            <a:r>
              <a:rPr lang="en-US" sz="2000" b="0" strike="noStrike" spc="-1" dirty="0">
                <a:latin typeface="Arial" panose="020B0604020202020204"/>
              </a:rPr>
              <a:t> (</a:t>
            </a:r>
            <a:r>
              <a:rPr lang="en-US" sz="2000" b="0" strike="noStrike" spc="-1" dirty="0" err="1">
                <a:latin typeface="Arial" panose="020B0604020202020204"/>
              </a:rPr>
              <a:t>kurz</a:t>
            </a:r>
            <a:r>
              <a:rPr lang="en-US" sz="2000" b="0" strike="noStrike" spc="-1" dirty="0">
                <a:latin typeface="Arial" panose="020B0604020202020204"/>
              </a:rPr>
              <a:t> für </a:t>
            </a:r>
            <a:r>
              <a:rPr lang="en-US" sz="2000" b="0" strike="noStrike" spc="-1" dirty="0" err="1">
                <a:latin typeface="Arial" panose="020B0604020202020204"/>
              </a:rPr>
              <a:t>DataFrame</a:t>
            </a:r>
            <a:r>
              <a:rPr lang="en-US" sz="2000" b="0" strike="noStrike" spc="-1" dirty="0">
                <a:latin typeface="Arial" panose="020B0604020202020204"/>
              </a:rPr>
              <a:t> ab), und </a:t>
            </a:r>
            <a:r>
              <a:rPr lang="en-US" sz="2000" b="0" strike="noStrike" spc="-1" dirty="0" err="1">
                <a:latin typeface="Arial" panose="020B0604020202020204"/>
              </a:rPr>
              <a:t>obwohl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jetzt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vielleicht</a:t>
            </a:r>
            <a:r>
              <a:rPr lang="en-US" sz="2000" b="0" strike="noStrike" spc="-1" dirty="0">
                <a:latin typeface="Arial" panose="020B0604020202020204"/>
              </a:rPr>
              <a:t> nicht </a:t>
            </a:r>
            <a:r>
              <a:rPr lang="en-US" sz="2000" b="0" strike="noStrike" spc="-1" dirty="0" err="1">
                <a:latin typeface="Arial" panose="020B0604020202020204"/>
              </a:rPr>
              <a:t>unbedingt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unserem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CodingStyle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entspricht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hier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scho</a:t>
            </a:r>
            <a:r>
              <a:rPr lang="en-US" sz="2000" b="0" strike="noStrike" spc="-1" dirty="0">
                <a:latin typeface="Arial" panose="020B0604020202020204"/>
              </a:rPr>
              <a:t> so </a:t>
            </a:r>
            <a:r>
              <a:rPr lang="en-US" sz="2000" b="0" strike="noStrike" spc="-1" dirty="0" err="1">
                <a:latin typeface="Arial" panose="020B0604020202020204"/>
              </a:rPr>
              <a:t>machen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weil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namen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der </a:t>
            </a:r>
            <a:r>
              <a:rPr lang="en-US" sz="2000" b="0" strike="noStrike" spc="-1" dirty="0" err="1">
                <a:latin typeface="Arial" panose="020B0604020202020204"/>
              </a:rPr>
              <a:t>si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eingebürgert</a:t>
            </a:r>
            <a:r>
              <a:rPr lang="en-US" sz="2000" b="0" strike="noStrike" spc="-1" dirty="0">
                <a:latin typeface="Arial" panose="020B0604020202020204"/>
              </a:rPr>
              <a:t> hat.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Loc: man </a:t>
            </a:r>
            <a:r>
              <a:rPr lang="en-US" sz="2000" b="0" strike="noStrike" spc="-1" dirty="0" err="1">
                <a:latin typeface="Arial" panose="020B0604020202020204"/>
              </a:rPr>
              <a:t>sieht</a:t>
            </a:r>
            <a:r>
              <a:rPr lang="en-US" sz="2000" b="0" strike="noStrike" spc="-1" dirty="0">
                <a:latin typeface="Arial" panose="020B0604020202020204"/>
              </a:rPr>
              <a:t> es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auch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zwei</a:t>
            </a:r>
            <a:r>
              <a:rPr lang="en-US" sz="2000" b="0" strike="noStrike" spc="-1" dirty="0">
                <a:latin typeface="Arial" panose="020B0604020202020204"/>
              </a:rPr>
              <a:t> parameter </a:t>
            </a:r>
            <a:r>
              <a:rPr lang="en-US" sz="2000" b="0" strike="noStrike" spc="-1" dirty="0" err="1">
                <a:latin typeface="Arial" panose="020B0604020202020204"/>
              </a:rPr>
              <a:t>übernehmen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erstes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immer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welche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Zeilen</a:t>
            </a:r>
            <a:r>
              <a:rPr lang="en-US" sz="2000" b="0" strike="noStrike" spc="-1" dirty="0">
                <a:latin typeface="Arial" panose="020B0604020202020204"/>
              </a:rPr>
              <a:t> man </a:t>
            </a:r>
            <a:r>
              <a:rPr lang="en-US" sz="2000" b="0" strike="noStrike" spc="-1" dirty="0" err="1">
                <a:latin typeface="Arial" panose="020B0604020202020204"/>
              </a:rPr>
              <a:t>nehmen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soll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zweites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dann</a:t>
            </a:r>
            <a:r>
              <a:rPr lang="en-US" sz="2000" b="0" strike="noStrike" spc="-1" dirty="0">
                <a:latin typeface="Arial" panose="020B0604020202020204"/>
              </a:rPr>
              <a:t> die </a:t>
            </a:r>
            <a:r>
              <a:rPr lang="en-US" sz="2000" b="0" strike="noStrike" spc="-1" dirty="0" err="1">
                <a:latin typeface="Arial" panose="020B0604020202020204"/>
              </a:rPr>
              <a:t>jeweilige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Spalte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Welche logischen Operatoren haben wir in der ganz ersten lv gemacht?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Tafel vielleicht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, Content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</a:fld>
            <a:r>
              <a:rPr lang="de-AT" dirty="0">
                <a:solidFill>
                  <a:schemeClr val="bg1"/>
                </a:solidFill>
              </a:rPr>
              <a:t> / 38</a:t>
            </a:r>
            <a:endParaRPr lang="de-A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le, Content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</a:fld>
            <a:r>
              <a:rPr lang="de-AT" dirty="0">
                <a:solidFill>
                  <a:schemeClr val="bg1"/>
                </a:solidFill>
              </a:rPr>
              <a:t> / 38</a:t>
            </a:r>
            <a:endParaRPr lang="de-A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D5A73E5-E1DD-458C-A16A-C4A93D2B617D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slide" Target="slide39.xml"/><Relationship Id="rId4" Type="http://schemas.openxmlformats.org/officeDocument/2006/relationships/slide" Target="slide37.xml"/><Relationship Id="rId3" Type="http://schemas.openxmlformats.org/officeDocument/2006/relationships/slide" Target="slide17.xml"/><Relationship Id="rId2" Type="http://schemas.openxmlformats.org/officeDocument/2006/relationships/slide" Target="slide12.xml"/><Relationship Id="rId1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hyperlink" Target="https://docs.python.org/3/library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hyperlink" Target="https://pandas.pydata.org/pandas-docs/stable/user_guide/text.html#method-summary" TargetMode="Externa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3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hyperlink" Target="https://pandas.pydata.org/docs/reference/api/pandas.DataFrame.plot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1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dhelic/focsp/blob/main/notebooks/unit8_exercise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  <a:endParaRPr lang="en-US" sz="4400" b="1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8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" action="ppaction://hlinksldjump"/>
              </a:rPr>
              <a:t>File I/O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2" action="ppaction://hlinksldjump"/>
              </a:rPr>
              <a:t>CSV files and module imports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Pandas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File I/O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xfrm>
            <a:off x="619431" y="1627973"/>
            <a:ext cx="7934633" cy="21715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(.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open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Path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AT" sz="1800" spc="-1" dirty="0">
              <a:solidFill>
                <a:srgbClr val="0F0F0F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Opening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Default: Access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'ab', 'b',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79" name="Tabelle 478"/>
          <p:cNvGraphicFramePr/>
          <p:nvPr/>
        </p:nvGraphicFramePr>
        <p:xfrm>
          <a:off x="431800" y="4170478"/>
          <a:ext cx="4628753" cy="16301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/>
                <a:gridCol w="3748365"/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'r'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Read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'w'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current file dropped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'a'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append at the end of the current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graphicFrame>
        <p:nvGraphicFramePr>
          <p:cNvPr id="480" name="Tabelle 479"/>
          <p:cNvGraphicFramePr/>
          <p:nvPr/>
        </p:nvGraphicFramePr>
        <p:xfrm>
          <a:off x="5632945" y="4170478"/>
          <a:ext cx="2806875" cy="117335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/>
                <a:gridCol w="1926487"/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</a:tr>
              <a:tr h="495459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't'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 file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318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'b'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sp>
        <p:nvSpPr>
          <p:cNvPr id="481" name="Textfeld 480"/>
          <p:cNvSpPr txBox="1"/>
          <p:nvPr/>
        </p:nvSpPr>
        <p:spPr>
          <a:xfrm>
            <a:off x="5207449" y="4582869"/>
            <a:ext cx="278600" cy="348568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98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+</a:t>
            </a:r>
            <a:endParaRPr lang="en-US" sz="198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4520" y="968187"/>
            <a:ext cx="7934325" cy="56627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2500" lnSpcReduction="20000"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unix_path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ruptho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/code/test.txt'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windows_path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'C:\\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\\code\\test.txt'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text.txt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‘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you‘re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os.sep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On Windows,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On Linux/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macOS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care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pathlib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Path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Path("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") / 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" / 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path.resolve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Prints, e.g.,</a:t>
            </a:r>
            <a:b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C:\Users\Ingo\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(Windows)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/Users/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ingo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macOS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Linux)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you're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5318" y="2442283"/>
            <a:ext cx="7934633" cy="26287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 </a:t>
            </a: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Ⅰ, mount Google Drive.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from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google.colab import drive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drive.mount('/content/drive')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3" indent="45720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Then your absolute path will be 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'/content/drive/MyDrive/file_name'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+mn-ea"/>
            </a:endParaRPr>
          </a:p>
          <a:p>
            <a:pPr marL="0" lvl="3" indent="45720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 Ⅱ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Upload your files to the left panel of Colab after connecting to a runtime. (</a:t>
            </a:r>
            <a:r>
              <a:rPr lang="en-US" altLang="zh-CN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don’t need to mount)</a:t>
            </a:r>
            <a:endParaRPr lang="en-US" altLang="zh-CN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not recommended since it can sometimes be temporary.</a:t>
            </a:r>
            <a:endParaRPr lang="en-US" altLang="zh-CN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835" lvl="2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:</a:t>
            </a:r>
            <a:r>
              <a:rPr lang="en-US" alt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'sample_data/test.txt 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drive/MyDrive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  <a:r>
              <a:rPr lang="en-US" alt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# if you mounted</a:t>
            </a:r>
            <a:endParaRPr lang="en-US" alt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 in Colab</a:t>
            </a:r>
            <a:endParaRPr lang="en-US" sz="2800" b="1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05790" y="500443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2" name="Textfeld 491"/>
          <p:cNvSpPr txBox="1"/>
          <p:nvPr/>
        </p:nvSpPr>
        <p:spPr>
          <a:xfrm>
            <a:off x="634547" y="4319752"/>
            <a:ext cx="7973310" cy="11981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print(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'Access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body" idx="1"/>
          </p:nvPr>
        </p:nvSpPr>
        <p:spPr>
          <a:xfrm>
            <a:off x="619431" y="2142981"/>
            <a:ext cx="7934633" cy="15041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'\n'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7" name="PlaceHolder 5"/>
          <p:cNvSpPr>
            <a:spLocks noGrp="1"/>
          </p:cNvSpPr>
          <p:nvPr>
            <p:ph type="sldNum" idx="72"/>
          </p:nvPr>
        </p:nvSpPr>
        <p:spPr>
          <a:xfrm>
            <a:off x="0" y="1143000"/>
            <a:ext cx="431800" cy="433388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6BC67CA6-E0B2-4728-84E9-29E1FDDF4E9B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498" name="Textfeld 497"/>
          <p:cNvSpPr txBox="1"/>
          <p:nvPr/>
        </p:nvSpPr>
        <p:spPr>
          <a:xfrm>
            <a:off x="590007" y="3804626"/>
            <a:ext cx="8142760" cy="174108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.read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 # read from file object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142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4" name="Textfeld 503"/>
          <p:cNvSpPr txBox="1"/>
          <p:nvPr/>
        </p:nvSpPr>
        <p:spPr>
          <a:xfrm>
            <a:off x="634547" y="3572244"/>
            <a:ext cx="8142760" cy="134659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Iterating over object = Iterating over lines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line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print(line)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 line by line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2335" y="1848231"/>
            <a:ext cx="8295927" cy="1189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0" name="Textfeld 509"/>
          <p:cNvSpPr txBox="1"/>
          <p:nvPr/>
        </p:nvSpPr>
        <p:spPr>
          <a:xfrm>
            <a:off x="634547" y="3454443"/>
            <a:ext cx="8142760" cy="156424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lines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all lines at once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14830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Writing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write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6" name="Textfeld 515"/>
          <p:cNvSpPr txBox="1"/>
          <p:nvPr/>
        </p:nvSpPr>
        <p:spPr>
          <a:xfrm>
            <a:off x="710876" y="4139876"/>
            <a:ext cx="8142760" cy="159877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filename =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'test_write.txt'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open(filename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'w'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Note the newline char (\n)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Programming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do not like Maths.\n'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Writing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CSV files and module imports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622335" y="2000634"/>
            <a:ext cx="8410420" cy="18408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Files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i.e., Excel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delimiter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; \t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software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7" name="Textfeld 526"/>
          <p:cNvSpPr txBox="1"/>
          <p:nvPr/>
        </p:nvSpPr>
        <p:spPr>
          <a:xfrm>
            <a:off x="307351" y="4163538"/>
            <a:ext cx="4329880" cy="154883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528" name="Grafik 527"/>
          <p:cNvPicPr/>
          <p:nvPr/>
        </p:nvPicPr>
        <p:blipFill>
          <a:blip r:embed="rId1"/>
          <a:stretch>
            <a:fillRect/>
          </a:stretch>
        </p:blipFill>
        <p:spPr>
          <a:xfrm>
            <a:off x="5373296" y="4158958"/>
            <a:ext cx="3593816" cy="1339062"/>
          </a:xfrm>
          <a:prstGeom prst="rect">
            <a:avLst/>
          </a:prstGeom>
          <a:ln w="0">
            <a:noFill/>
          </a:ln>
        </p:spPr>
      </p:pic>
      <p:sp>
        <p:nvSpPr>
          <p:cNvPr id="529" name="Pfeil: nach links und rechts 528"/>
          <p:cNvSpPr/>
          <p:nvPr/>
        </p:nvSpPr>
        <p:spPr>
          <a:xfrm>
            <a:off x="4676159" y="4631433"/>
            <a:ext cx="646251" cy="517001"/>
          </a:xfrm>
          <a:prstGeom prst="leftRightArrow">
            <a:avLst>
              <a:gd name="adj1" fmla="val 39203"/>
              <a:gd name="adj2" fmla="val 43487"/>
            </a:avLst>
          </a:prstGeom>
          <a:solidFill>
            <a:srgbClr val="C9211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622335" y="2000633"/>
            <a:ext cx="7930311" cy="26081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575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eyword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own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>
                <a:solidFill>
                  <a:srgbClr val="1C9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Python Standard Library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available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</a:t>
            </a:r>
            <a:r>
              <a:rPr lang="de-AT" sz="1800" spc="-1" dirty="0">
                <a:highlight>
                  <a:srgbClr val="D3D3D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6;p2"/>
          <p:cNvSpPr txBox="1"/>
          <p:nvPr/>
        </p:nvSpPr>
        <p:spPr>
          <a:xfrm>
            <a:off x="313944" y="1324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22452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5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tion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_n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ame&gt;()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0" name="Textfeld 539"/>
          <p:cNvSpPr txBox="1"/>
          <p:nvPr/>
        </p:nvSpPr>
        <p:spPr>
          <a:xfrm>
            <a:off x="622335" y="4482789"/>
            <a:ext cx="8149809" cy="158693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random-module: https://docs.python.org/3/library/random.html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>
                <a:solidFill>
                  <a:srgbClr val="32CD32"/>
                </a:solidFill>
                <a:latin typeface="Consolas" panose="020B0609020204030204" pitchFamily="49" charset="0"/>
                <a:ea typeface="Droid Sans Fallback"/>
              </a:rPr>
              <a:t>random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for example, get random number between 1 and (inclusive) 13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random_number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randint</a:t>
            </a:r>
            <a:r>
              <a:rPr lang="en-US" sz="1800" i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(1, 13)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56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Textfeld 540"/>
          <p:cNvSpPr txBox="1"/>
          <p:nvPr/>
        </p:nvSpPr>
        <p:spPr>
          <a:xfrm>
            <a:off x="646251" y="451895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5" name="PlaceHolder 4"/>
          <p:cNvSpPr>
            <a:spLocks noGrp="1"/>
          </p:cNvSpPr>
          <p:nvPr>
            <p:ph type="sldNum" idx="96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004FD43B-3FC3-423B-B710-A5EA0E474ADD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46" name="Textfeld 545"/>
          <p:cNvSpPr txBox="1"/>
          <p:nvPr/>
        </p:nvSpPr>
        <p:spPr>
          <a:xfrm>
            <a:off x="646251" y="295118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imports are usually at the beginning of files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But for the sake of this example, let's imagine this is a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Jupyter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-Cell!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pandas </a:t>
            </a: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pd        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('students.csv',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sep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=',')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7" name="Textfeld 546"/>
          <p:cNvSpPr txBox="1"/>
          <p:nvPr/>
        </p:nvSpPr>
        <p:spPr>
          <a:xfrm>
            <a:off x="1129667" y="1811591"/>
            <a:ext cx="3489754" cy="107114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8" name="Textfeld 547"/>
          <p:cNvSpPr txBox="1"/>
          <p:nvPr/>
        </p:nvSpPr>
        <p:spPr>
          <a:xfrm rot="16200000">
            <a:off x="-184207" y="2048466"/>
            <a:ext cx="1551002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students.csv</a:t>
            </a:r>
            <a:endParaRPr lang="en-US" sz="1555" spc="-1"/>
          </a:p>
        </p:txBody>
      </p:sp>
      <p:sp>
        <p:nvSpPr>
          <p:cNvPr id="549" name="Textfeld 548"/>
          <p:cNvSpPr txBox="1"/>
          <p:nvPr/>
        </p:nvSpPr>
        <p:spPr>
          <a:xfrm rot="16200000">
            <a:off x="-88541" y="3377096"/>
            <a:ext cx="1156382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Code</a:t>
            </a:r>
            <a:endParaRPr lang="en-US" sz="1555" spc="-1"/>
          </a:p>
        </p:txBody>
      </p:sp>
      <p:sp>
        <p:nvSpPr>
          <p:cNvPr id="550" name="Textfeld 549"/>
          <p:cNvSpPr txBox="1"/>
          <p:nvPr/>
        </p:nvSpPr>
        <p:spPr>
          <a:xfrm rot="16200000">
            <a:off x="-230513" y="5064541"/>
            <a:ext cx="1310821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/>
              <a:t>Output</a:t>
            </a:r>
            <a:endParaRPr lang="en-US" sz="1555" spc="-1" dirty="0"/>
          </a:p>
        </p:txBody>
      </p:sp>
      <p:pic>
        <p:nvPicPr>
          <p:cNvPr id="551" name="Grafik 550"/>
          <p:cNvPicPr/>
          <p:nvPr/>
        </p:nvPicPr>
        <p:blipFill>
          <a:blip r:embed="rId1"/>
          <a:stretch>
            <a:fillRect/>
          </a:stretch>
        </p:blipFill>
        <p:spPr>
          <a:xfrm>
            <a:off x="681617" y="4550756"/>
            <a:ext cx="3092081" cy="1321761"/>
          </a:xfrm>
          <a:prstGeom prst="rect">
            <a:avLst/>
          </a:prstGeom>
          <a:ln w="0">
            <a:noFill/>
          </a:ln>
        </p:spPr>
      </p:pic>
      <p:pic>
        <p:nvPicPr>
          <p:cNvPr id="552" name="Grafik 551"/>
          <p:cNvPicPr/>
          <p:nvPr/>
        </p:nvPicPr>
        <p:blipFill>
          <a:blip r:embed="rId2"/>
          <a:stretch>
            <a:fillRect/>
          </a:stretch>
        </p:blipFill>
        <p:spPr>
          <a:xfrm>
            <a:off x="5438175" y="1760706"/>
            <a:ext cx="3037379" cy="1068095"/>
          </a:xfrm>
          <a:prstGeom prst="rect">
            <a:avLst/>
          </a:prstGeom>
          <a:ln w="0">
            <a:noFill/>
          </a:ln>
        </p:spPr>
      </p:pic>
      <p:sp>
        <p:nvSpPr>
          <p:cNvPr id="553" name="Textfeld 552"/>
          <p:cNvSpPr txBox="1"/>
          <p:nvPr/>
        </p:nvSpPr>
        <p:spPr>
          <a:xfrm rot="16200000">
            <a:off x="352385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4" name="Textfeld 553"/>
          <p:cNvSpPr txBox="1"/>
          <p:nvPr/>
        </p:nvSpPr>
        <p:spPr>
          <a:xfrm rot="16200000">
            <a:off x="4662674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Excel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Google Shape;86;p2"/>
          <p:cNvSpPr txBox="1"/>
          <p:nvPr/>
        </p:nvSpPr>
        <p:spPr>
          <a:xfrm>
            <a:off x="313944" y="1828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pd.read_csv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528004" y="5986287"/>
            <a:ext cx="1931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unit8.ipynb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Pandas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body" idx="1"/>
          </p:nvPr>
        </p:nvSpPr>
        <p:spPr>
          <a:xfrm>
            <a:off x="645707" y="1354703"/>
            <a:ext cx="7934633" cy="30648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Multidimensional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Fixed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9" name="Grafik 368"/>
          <p:cNvPicPr/>
          <p:nvPr/>
        </p:nvPicPr>
        <p:blipFill>
          <a:blip r:embed="rId1"/>
          <a:stretch>
            <a:fillRect/>
          </a:stretch>
        </p:blipFill>
        <p:spPr>
          <a:xfrm>
            <a:off x="6276481" y="2723459"/>
            <a:ext cx="2303859" cy="1836217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313944" y="1900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19431" y="1733075"/>
            <a:ext cx="7934633" cy="37480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Convenient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powerful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	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499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26340" y="1382496"/>
            <a:ext cx="8245804" cy="45926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DataDrame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(e.g., 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3" name="Textfeld 382"/>
          <p:cNvSpPr txBox="1"/>
          <p:nvPr/>
        </p:nvSpPr>
        <p:spPr>
          <a:xfrm>
            <a:off x="371856" y="1803744"/>
            <a:ext cx="5771441" cy="16415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{'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38332521,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	  'New York': 19651127,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             'Florida': 19552860},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423967,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'New York': 141297,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'Florida': 170312}}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84" name="Textfeld 383"/>
          <p:cNvSpPr txBox="1"/>
          <p:nvPr/>
        </p:nvSpPr>
        <p:spPr>
          <a:xfrm>
            <a:off x="371856" y="4142673"/>
            <a:ext cx="5771441" cy="110724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[['California', 423967, 38332521],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['New York', 141297, 19651127],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['Florida', 170312, 19552860]]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columns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=['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pic>
        <p:nvPicPr>
          <p:cNvPr id="385" name="Grafik 384"/>
          <p:cNvPicPr/>
          <p:nvPr/>
        </p:nvPicPr>
        <p:blipFill>
          <a:blip r:embed="rId1"/>
          <a:stretch>
            <a:fillRect/>
          </a:stretch>
        </p:blipFill>
        <p:spPr>
          <a:xfrm>
            <a:off x="6947850" y="1803744"/>
            <a:ext cx="2135172" cy="112177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386" name="Grafik 385"/>
          <p:cNvPicPr/>
          <p:nvPr/>
        </p:nvPicPr>
        <p:blipFill>
          <a:blip r:embed="rId2"/>
          <a:stretch>
            <a:fillRect/>
          </a:stretch>
        </p:blipFill>
        <p:spPr>
          <a:xfrm>
            <a:off x="6785015" y="4142673"/>
            <a:ext cx="2298007" cy="105282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387" name="Pfeil: nach rechts 386"/>
          <p:cNvSpPr/>
          <p:nvPr/>
        </p:nvSpPr>
        <p:spPr>
          <a:xfrm>
            <a:off x="6268124" y="2135162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Pfeil: nach rechts 387"/>
          <p:cNvSpPr/>
          <p:nvPr/>
        </p:nvSpPr>
        <p:spPr>
          <a:xfrm>
            <a:off x="6268124" y="4430353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AT" dirty="0"/>
          </a:p>
        </p:txBody>
      </p:sp>
      <p:sp>
        <p:nvSpPr>
          <p:cNvPr id="13" name="Google Shape;86;p2"/>
          <p:cNvSpPr txBox="1"/>
          <p:nvPr/>
        </p:nvSpPr>
        <p:spPr>
          <a:xfrm>
            <a:off x="421944" y="1715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Creating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manually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feld 392"/>
          <p:cNvSpPr txBox="1"/>
          <p:nvPr/>
        </p:nvSpPr>
        <p:spPr>
          <a:xfrm>
            <a:off x="926124" y="1811592"/>
            <a:ext cx="3085720" cy="1529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state,population,area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California,38332521.0,423967.0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Texas,26448193.0,695662.0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York,19651127.0,141297.0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Florida,19552860.0,170312.0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Jersey,9288994.0,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Hawaii,0.0,0.0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Illinois,12882135.0,149995.0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94" name="Textfeld 393"/>
          <p:cNvSpPr txBox="1"/>
          <p:nvPr/>
        </p:nvSpPr>
        <p:spPr>
          <a:xfrm rot="16200000">
            <a:off x="-1245686" y="3303058"/>
            <a:ext cx="3616206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states.csv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5" name="Textfeld 394"/>
          <p:cNvSpPr txBox="1"/>
          <p:nvPr/>
        </p:nvSpPr>
        <p:spPr>
          <a:xfrm rot="16200000">
            <a:off x="-109659" y="2383549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6" name="Textfeld 395"/>
          <p:cNvSpPr txBox="1"/>
          <p:nvPr/>
        </p:nvSpPr>
        <p:spPr>
          <a:xfrm rot="16200000">
            <a:off x="2947057" y="3361576"/>
            <a:ext cx="3793797" cy="425660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(</a:t>
            </a:r>
            <a:r>
              <a:rPr lang="en-US" sz="1555" b="1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-Notebook)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7" name="Textfeld 396"/>
          <p:cNvSpPr txBox="1"/>
          <p:nvPr/>
        </p:nvSpPr>
        <p:spPr>
          <a:xfrm rot="16200000">
            <a:off x="4685827" y="2011319"/>
            <a:ext cx="1410048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8" name="Textfeld 397"/>
          <p:cNvSpPr txBox="1"/>
          <p:nvPr/>
        </p:nvSpPr>
        <p:spPr>
          <a:xfrm rot="16200000">
            <a:off x="4119977" y="3827691"/>
            <a:ext cx="2542513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9" name="Textfeld 398"/>
          <p:cNvSpPr txBox="1"/>
          <p:nvPr/>
        </p:nvSpPr>
        <p:spPr>
          <a:xfrm rot="16200000">
            <a:off x="-90576" y="4206791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/>
              <a:t>In Excel</a:t>
            </a:r>
            <a:endParaRPr lang="en-US" sz="1270" spc="-1"/>
          </a:p>
        </p:txBody>
      </p:sp>
      <p:pic>
        <p:nvPicPr>
          <p:cNvPr id="400" name="Grafik 399"/>
          <p:cNvPicPr/>
          <p:nvPr/>
        </p:nvPicPr>
        <p:blipFill>
          <a:blip r:embed="rId1"/>
          <a:stretch>
            <a:fillRect/>
          </a:stretch>
        </p:blipFill>
        <p:spPr>
          <a:xfrm>
            <a:off x="904243" y="3507364"/>
            <a:ext cx="3100477" cy="1859116"/>
          </a:xfrm>
          <a:prstGeom prst="rect">
            <a:avLst/>
          </a:prstGeom>
          <a:ln w="0">
            <a:noFill/>
          </a:ln>
        </p:spPr>
      </p:pic>
      <p:sp>
        <p:nvSpPr>
          <p:cNvPr id="401" name="Freihandform: Form 400"/>
          <p:cNvSpPr/>
          <p:nvPr/>
        </p:nvSpPr>
        <p:spPr>
          <a:xfrm>
            <a:off x="4339040" y="1726358"/>
            <a:ext cx="0" cy="3718741"/>
          </a:xfrm>
          <a:custGeom>
            <a:avLst/>
            <a:gdLst/>
            <a:ahLst/>
            <a:cxnLst/>
            <a:rect l="0" t="0" r="r" b="b"/>
            <a:pathLst>
              <a:path h="14616" fill="none">
                <a:moveTo>
                  <a:pt x="0" y="0"/>
                </a:moveTo>
                <a:lnTo>
                  <a:pt x="0" y="14616"/>
                </a:lnTo>
              </a:path>
            </a:pathLst>
          </a:custGeom>
          <a:ln w="36720">
            <a:solidFill>
              <a:srgbClr val="000000"/>
            </a:solidFill>
            <a:round/>
          </a:ln>
        </p:spPr>
        <p:txBody>
          <a:bodyPr/>
          <a:lstStyle/>
          <a:p>
            <a:endParaRPr lang="en-US"/>
          </a:p>
        </p:txBody>
      </p:sp>
      <p:pic>
        <p:nvPicPr>
          <p:cNvPr id="402" name="Grafik 401"/>
          <p:cNvPicPr/>
          <p:nvPr/>
        </p:nvPicPr>
        <p:blipFill>
          <a:blip r:embed="rId2"/>
          <a:stretch>
            <a:fillRect/>
          </a:stretch>
        </p:blipFill>
        <p:spPr>
          <a:xfrm>
            <a:off x="5602537" y="1923287"/>
            <a:ext cx="3508837" cy="3532244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86;p2"/>
          <p:cNvSpPr txBox="1"/>
          <p:nvPr/>
        </p:nvSpPr>
        <p:spPr>
          <a:xfrm>
            <a:off x="486744" y="1314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from a CSV file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2"/>
          <p:cNvSpPr>
            <a:spLocks noGrp="1"/>
          </p:cNvSpPr>
          <p:nvPr>
            <p:ph type="body" idx="1"/>
          </p:nvPr>
        </p:nvSpPr>
        <p:spPr>
          <a:xfrm>
            <a:off x="610634" y="2126986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b="1" spc="-1" dirty="0">
              <a:solidFill>
                <a:srgbClr val="0F0F0F"/>
              </a:solidFill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[3]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87070" lvl="2" indent="0">
              <a:spcBef>
                <a:spcPts val="60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.area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9" name="Grafik 408"/>
          <p:cNvPicPr/>
          <p:nvPr/>
        </p:nvPicPr>
        <p:blipFill>
          <a:blip r:embed="rId1"/>
          <a:stretch>
            <a:fillRect/>
          </a:stretch>
        </p:blipFill>
        <p:spPr>
          <a:xfrm>
            <a:off x="5394922" y="2239797"/>
            <a:ext cx="3690245" cy="3252880"/>
          </a:xfrm>
          <a:prstGeom prst="rect">
            <a:avLst/>
          </a:prstGeom>
          <a:ln w="0">
            <a:noFill/>
          </a:ln>
        </p:spPr>
      </p:pic>
      <p:sp>
        <p:nvSpPr>
          <p:cNvPr id="410" name="Textfeld 409"/>
          <p:cNvSpPr txBox="1"/>
          <p:nvPr/>
        </p:nvSpPr>
        <p:spPr>
          <a:xfrm>
            <a:off x="4776952" y="1903187"/>
            <a:ext cx="4167351" cy="28674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800" spc="-1" dirty="0">
                <a:latin typeface="Consolas" panose="020B0609020204030204" pitchFamily="49" charset="0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411" name="Rechteck 410"/>
          <p:cNvSpPr/>
          <p:nvPr/>
        </p:nvSpPr>
        <p:spPr>
          <a:xfrm>
            <a:off x="1222279" y="3242630"/>
            <a:ext cx="1738516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2" name="Rechteck 411"/>
          <p:cNvSpPr/>
          <p:nvPr/>
        </p:nvSpPr>
        <p:spPr>
          <a:xfrm>
            <a:off x="5418075" y="3935315"/>
            <a:ext cx="3672944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3" name="Rechteck 412"/>
          <p:cNvSpPr/>
          <p:nvPr/>
        </p:nvSpPr>
        <p:spPr>
          <a:xfrm>
            <a:off x="1246704" y="4308054"/>
            <a:ext cx="2405641" cy="11764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4" name="Rechteck 413"/>
          <p:cNvSpPr/>
          <p:nvPr/>
        </p:nvSpPr>
        <p:spPr>
          <a:xfrm>
            <a:off x="8084496" y="2294754"/>
            <a:ext cx="921543" cy="31897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Google Shape;86;p2"/>
          <p:cNvSpPr txBox="1"/>
          <p:nvPr/>
        </p:nvSpPr>
        <p:spPr>
          <a:xfrm>
            <a:off x="472344" y="1530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Accessing rows and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!=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21" name="Tabelle 420"/>
          <p:cNvGraphicFramePr/>
          <p:nvPr/>
        </p:nvGraphicFramePr>
        <p:xfrm>
          <a:off x="2735514" y="3390167"/>
          <a:ext cx="3672971" cy="135578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79243"/>
                <a:gridCol w="1793728"/>
              </a:tblGrid>
              <a:tr h="270289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Logical 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US" sz="1800" b="1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sp>
        <p:nvSpPr>
          <p:cNvPr id="9" name="Google Shape;86;p2"/>
          <p:cNvSpPr txBox="1"/>
          <p:nvPr/>
        </p:nvSpPr>
        <p:spPr>
          <a:xfrm>
            <a:off x="479544" y="16181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2"/>
          <p:cNvSpPr>
            <a:spLocks noGrp="1"/>
          </p:cNvSpPr>
          <p:nvPr>
            <p:ph type="body" idx="1"/>
          </p:nvPr>
        </p:nvSpPr>
        <p:spPr>
          <a:xfrm>
            <a:off x="756065" y="867104"/>
            <a:ext cx="7934633" cy="415684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&gt; 25000000]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Boolean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25000000)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/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[True, True,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28" name="Grafik 427"/>
          <p:cNvPicPr/>
          <p:nvPr/>
        </p:nvPicPr>
        <p:blipFill>
          <a:blip r:embed="rId1"/>
          <a:stretch>
            <a:fillRect/>
          </a:stretch>
        </p:blipFill>
        <p:spPr>
          <a:xfrm>
            <a:off x="5880119" y="2438506"/>
            <a:ext cx="3205048" cy="2825185"/>
          </a:xfrm>
          <a:prstGeom prst="rect">
            <a:avLst/>
          </a:prstGeom>
          <a:ln w="0">
            <a:noFill/>
          </a:ln>
        </p:spPr>
      </p:pic>
      <p:sp>
        <p:nvSpPr>
          <p:cNvPr id="429" name="Textfeld 428"/>
          <p:cNvSpPr txBox="1"/>
          <p:nvPr/>
        </p:nvSpPr>
        <p:spPr>
          <a:xfrm>
            <a:off x="5830506" y="2066276"/>
            <a:ext cx="3287483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</a:rPr>
              <a:t>')</a:t>
            </a:r>
            <a:endParaRPr lang="en-US" sz="127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430" name="Rechteck 429"/>
          <p:cNvSpPr/>
          <p:nvPr/>
        </p:nvSpPr>
        <p:spPr>
          <a:xfrm>
            <a:off x="1479126" y="2013222"/>
            <a:ext cx="4112377" cy="1087330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1" name="Rechteck 430"/>
          <p:cNvSpPr/>
          <p:nvPr/>
        </p:nvSpPr>
        <p:spPr>
          <a:xfrm>
            <a:off x="5849333" y="2830837"/>
            <a:ext cx="3254916" cy="692811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939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2"/>
          <p:cNvSpPr>
            <a:spLocks noGrp="1"/>
          </p:cNvSpPr>
          <p:nvPr>
            <p:ph type="body" idx="1"/>
          </p:nvPr>
        </p:nvSpPr>
        <p:spPr>
          <a:xfrm>
            <a:off x="556368" y="1879695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thousend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km²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200000), 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42" name="Grafik 441"/>
          <p:cNvPicPr/>
          <p:nvPr/>
        </p:nvPicPr>
        <p:blipFill>
          <a:blip r:embed="rId1"/>
          <a:stretch>
            <a:fillRect/>
          </a:stretch>
        </p:blipFill>
        <p:spPr>
          <a:xfrm>
            <a:off x="5921337" y="2419170"/>
            <a:ext cx="3170445" cy="2794653"/>
          </a:xfrm>
          <a:prstGeom prst="rect">
            <a:avLst/>
          </a:prstGeom>
          <a:ln w="0">
            <a:noFill/>
          </a:ln>
        </p:spPr>
      </p:pic>
      <p:sp>
        <p:nvSpPr>
          <p:cNvPr id="443" name="Textfeld 442"/>
          <p:cNvSpPr txBox="1"/>
          <p:nvPr/>
        </p:nvSpPr>
        <p:spPr>
          <a:xfrm>
            <a:off x="5927698" y="2066276"/>
            <a:ext cx="3215734" cy="26740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latin typeface="Consolas" panose="020B0609020204030204" pitchFamily="49" charset="0"/>
              </a:rPr>
              <a:t>')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444" name="Rechteck 443"/>
          <p:cNvSpPr/>
          <p:nvPr/>
        </p:nvSpPr>
        <p:spPr>
          <a:xfrm>
            <a:off x="1250731" y="2785241"/>
            <a:ext cx="4670606" cy="1150328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5" name="Rechteck 444"/>
          <p:cNvSpPr/>
          <p:nvPr/>
        </p:nvSpPr>
        <p:spPr>
          <a:xfrm>
            <a:off x="5947543" y="3484466"/>
            <a:ext cx="3104294" cy="74522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6" name="Rechteck 445"/>
          <p:cNvSpPr/>
          <p:nvPr/>
        </p:nvSpPr>
        <p:spPr>
          <a:xfrm>
            <a:off x="1191128" y="4390234"/>
            <a:ext cx="4756416" cy="11373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7" name="Rechteck 446"/>
          <p:cNvSpPr/>
          <p:nvPr/>
        </p:nvSpPr>
        <p:spPr>
          <a:xfrm>
            <a:off x="6267615" y="3530263"/>
            <a:ext cx="967341" cy="653629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median()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value_counts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Aggregating columns and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CDCDC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atttribute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str.lower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str.upper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str.startswith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str.endswith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str.split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pandas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documentation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0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Select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df.state.str.contains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59" name="Grafik 458"/>
          <p:cNvPicPr/>
          <p:nvPr/>
        </p:nvPicPr>
        <p:blipFill>
          <a:blip r:embed="rId2"/>
          <a:stretch>
            <a:fillRect/>
          </a:stretch>
        </p:blipFill>
        <p:spPr>
          <a:xfrm>
            <a:off x="7233939" y="3854915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60" name="Textfeld 459"/>
          <p:cNvSpPr txBox="1"/>
          <p:nvPr/>
        </p:nvSpPr>
        <p:spPr>
          <a:xfrm>
            <a:off x="7214856" y="3571226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99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99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990" spc="-1" dirty="0">
              <a:latin typeface="Consolas" panose="020B0609020204030204" pitchFamily="49" charset="0"/>
            </a:endParaRPr>
          </a:p>
        </p:txBody>
      </p:sp>
      <p:sp>
        <p:nvSpPr>
          <p:cNvPr id="461" name="Rechteck 460"/>
          <p:cNvSpPr/>
          <p:nvPr/>
        </p:nvSpPr>
        <p:spPr>
          <a:xfrm>
            <a:off x="7249713" y="4491243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2" name="Rechteck 461"/>
          <p:cNvSpPr/>
          <p:nvPr/>
        </p:nvSpPr>
        <p:spPr>
          <a:xfrm>
            <a:off x="7249713" y="4909779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3" name="Rechteck 462"/>
          <p:cNvSpPr/>
          <p:nvPr/>
        </p:nvSpPr>
        <p:spPr>
          <a:xfrm>
            <a:off x="1264681" y="4395409"/>
            <a:ext cx="5494913" cy="66940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operations and filtering via strings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6436569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Arithmetic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 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ratio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0,386 km</a:t>
            </a:r>
            <a:r>
              <a:rPr lang="de-AT" sz="1800" spc="-1" baseline="30000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* 0.386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0.386).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610355.938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69" name="Grafik 468"/>
          <p:cNvPicPr/>
          <p:nvPr/>
        </p:nvPicPr>
        <p:blipFill>
          <a:blip r:embed="rId1"/>
          <a:stretch>
            <a:fillRect/>
          </a:stretch>
        </p:blipFill>
        <p:spPr>
          <a:xfrm>
            <a:off x="7214856" y="1767321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70" name="Textfeld 469"/>
          <p:cNvSpPr txBox="1"/>
          <p:nvPr/>
        </p:nvSpPr>
        <p:spPr>
          <a:xfrm>
            <a:off x="7195774" y="1483632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pic>
        <p:nvPicPr>
          <p:cNvPr id="471" name="Grafik 470"/>
          <p:cNvPicPr/>
          <p:nvPr/>
        </p:nvPicPr>
        <p:blipFill>
          <a:blip r:embed="rId2"/>
          <a:stretch>
            <a:fillRect/>
          </a:stretch>
        </p:blipFill>
        <p:spPr>
          <a:xfrm>
            <a:off x="7208750" y="4074488"/>
            <a:ext cx="1877689" cy="1212356"/>
          </a:xfrm>
          <a:prstGeom prst="rect">
            <a:avLst/>
          </a:prstGeom>
          <a:ln w="36720">
            <a:solidFill>
              <a:srgbClr val="1E90FF"/>
            </a:solidFill>
            <a:round/>
          </a:ln>
        </p:spPr>
      </p:pic>
      <p:sp>
        <p:nvSpPr>
          <p:cNvPr id="472" name="Textfeld 471"/>
          <p:cNvSpPr txBox="1"/>
          <p:nvPr/>
        </p:nvSpPr>
        <p:spPr>
          <a:xfrm>
            <a:off x="7208750" y="5312287"/>
            <a:ext cx="1875145" cy="2050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50" spc="-1" dirty="0">
                <a:latin typeface="Consolas" panose="020B0609020204030204" pitchFamily="49" charset="0"/>
                <a:ea typeface="Droid Sans Fallback"/>
              </a:rPr>
              <a:t>Output in Notebook</a:t>
            </a:r>
            <a:endParaRPr lang="en-US" sz="1050" spc="-1" dirty="0">
              <a:latin typeface="Consolas" panose="020B0609020204030204" pitchFamily="49" charset="0"/>
            </a:endParaRPr>
          </a:p>
        </p:txBody>
      </p:sp>
      <p:sp>
        <p:nvSpPr>
          <p:cNvPr id="473" name="Rechteck 472"/>
          <p:cNvSpPr/>
          <p:nvPr/>
        </p:nvSpPr>
        <p:spPr>
          <a:xfrm>
            <a:off x="1356258" y="3514118"/>
            <a:ext cx="2654717" cy="640282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Arithmetic operations over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python’s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})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17024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  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1"/>
          <a:stretch>
            <a:fillRect/>
          </a:stretch>
        </p:blipFill>
        <p:spPr>
          <a:xfrm>
            <a:off x="6206590" y="3497957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9" name="Rechteck 488"/>
          <p:cNvSpPr/>
          <p:nvPr/>
        </p:nvSpPr>
        <p:spPr>
          <a:xfrm>
            <a:off x="8186677" y="3565635"/>
            <a:ext cx="705278" cy="229164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2808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(= 0)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 &amp;</a:t>
            </a:r>
            <a:b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0)]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1"/>
          <a:stretch>
            <a:fillRect/>
          </a:stretch>
        </p:blipFill>
        <p:spPr>
          <a:xfrm>
            <a:off x="6245448" y="3480143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317600" y="3926687"/>
            <a:ext cx="4888990" cy="3744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Freihandform: Form 10"/>
          <p:cNvSpPr/>
          <p:nvPr/>
        </p:nvSpPr>
        <p:spPr>
          <a:xfrm flipV="1">
            <a:off x="6079134" y="5417712"/>
            <a:ext cx="2973998" cy="45719"/>
          </a:xfrm>
          <a:custGeom>
            <a:avLst/>
            <a:gdLst/>
            <a:ahLst/>
            <a:cxnLst/>
            <a:rect l="0" t="0" r="r" b="b"/>
            <a:pathLst>
              <a:path w="10298" fill="none">
                <a:moveTo>
                  <a:pt x="0" y="0"/>
                </a:moveTo>
                <a:lnTo>
                  <a:pt x="10298" y="0"/>
                </a:lnTo>
              </a:path>
            </a:pathLst>
          </a:custGeom>
          <a:ln w="36720">
            <a:solidFill>
              <a:srgbClr val="32CD32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8223452" y="5004943"/>
            <a:ext cx="682634" cy="254938"/>
          </a:xfrm>
          <a:prstGeom prst="rect">
            <a:avLst/>
          </a:prstGeom>
          <a:solidFill>
            <a:srgbClr val="ADD8E6"/>
          </a:solidFill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76583" tIns="44780" rIns="76583" bIns="44780" anchor="ctr">
            <a:noAutofit/>
          </a:bodyPr>
          <a:lstStyle/>
          <a:p>
            <a:pPr algn="ctr"/>
            <a:r>
              <a:rPr lang="en-US" sz="1130" spc="-1">
                <a:latin typeface="Arial" panose="020B0604020202020204"/>
              </a:rPr>
              <a:t>25000.0</a:t>
            </a:r>
            <a:endParaRPr lang="en-US" sz="1130" spc="-1">
              <a:latin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2"/>
          <p:cNvSpPr>
            <a:spLocks noGrp="1"/>
          </p:cNvSpPr>
          <p:nvPr>
            <p:ph type="body" idx="1"/>
          </p:nvPr>
        </p:nvSpPr>
        <p:spPr>
          <a:xfrm>
            <a:off x="604683" y="1718179"/>
            <a:ext cx="7934633" cy="418582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lvl="1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9" name="Grafik 508"/>
          <p:cNvPicPr/>
          <p:nvPr/>
        </p:nvPicPr>
        <p:blipFill>
          <a:blip r:embed="rId1"/>
          <a:stretch>
            <a:fillRect/>
          </a:stretch>
        </p:blipFill>
        <p:spPr>
          <a:xfrm>
            <a:off x="1820952" y="3286452"/>
            <a:ext cx="5492368" cy="2645303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4"/>
          <p:cNvSpPr>
            <a:spLocks noGrp="1"/>
          </p:cNvSpPr>
          <p:nvPr>
            <p:ph type="sldNum" idx="78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DA01D634-A1FF-4BAE-99DE-4F4DEF0849A1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15" name="Textfeld 514"/>
          <p:cNvSpPr txBox="1"/>
          <p:nvPr/>
        </p:nvSpPr>
        <p:spPr>
          <a:xfrm>
            <a:off x="307096" y="1835763"/>
            <a:ext cx="8698180" cy="125303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1000000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Can also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like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abs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,... 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'], 2)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516" name="Grafik 515"/>
          <p:cNvPicPr/>
          <p:nvPr/>
        </p:nvPicPr>
        <p:blipFill>
          <a:blip r:embed="rId2"/>
          <a:stretch>
            <a:fillRect/>
          </a:stretch>
        </p:blipFill>
        <p:spPr>
          <a:xfrm>
            <a:off x="1744471" y="3285002"/>
            <a:ext cx="3315216" cy="2624185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2"/>
          <p:cNvSpPr>
            <a:spLocks noGrp="1"/>
          </p:cNvSpPr>
          <p:nvPr>
            <p:ph type="body" idx="1"/>
          </p:nvPr>
        </p:nvSpPr>
        <p:spPr>
          <a:xfrm>
            <a:off x="748527" y="2337379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df.plot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Pandas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reference</a:t>
            </a:r>
            <a:r>
              <a:rPr lang="de-AT" sz="1800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Population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density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400"/>
              </a:spcBef>
              <a:spcAft>
                <a:spcPts val="200"/>
              </a:spcAft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2" name="Grafik 521"/>
          <p:cNvPicPr/>
          <p:nvPr/>
        </p:nvPicPr>
        <p:blipFill>
          <a:blip r:embed="rId2"/>
          <a:stretch>
            <a:fillRect/>
          </a:stretch>
        </p:blipFill>
        <p:spPr>
          <a:xfrm>
            <a:off x="5300020" y="1273072"/>
            <a:ext cx="3843411" cy="1851229"/>
          </a:xfrm>
          <a:prstGeom prst="rect">
            <a:avLst/>
          </a:prstGeom>
          <a:ln w="0">
            <a:noFill/>
          </a:ln>
        </p:spPr>
      </p:pic>
      <p:sp>
        <p:nvSpPr>
          <p:cNvPr id="523" name="Textfeld 522"/>
          <p:cNvSpPr txBox="1"/>
          <p:nvPr/>
        </p:nvSpPr>
        <p:spPr>
          <a:xfrm>
            <a:off x="5300020" y="3086900"/>
            <a:ext cx="379761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000" spc="-1" dirty="0">
                <a:highlight>
                  <a:srgbClr val="DAE3F3"/>
                </a:highlight>
                <a:latin typeface="Consolas" panose="020B0609020204030204" pitchFamily="49" charset="0"/>
              </a:rPr>
              <a:t> df</a:t>
            </a:r>
            <a:endParaRPr lang="en-US" sz="10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24" name="Textfeld 523"/>
          <p:cNvSpPr txBox="1"/>
          <p:nvPr/>
        </p:nvSpPr>
        <p:spPr>
          <a:xfrm>
            <a:off x="855138" y="4518020"/>
            <a:ext cx="5242010" cy="903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df.plot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(x='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y='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</a:t>
            </a:r>
            <a:endParaRPr lang="en-US" sz="1600" spc="-1" dirty="0">
              <a:latin typeface="Consolas" panose="020B0609020204030204" pitchFamily="49" charset="0"/>
            </a:endParaRPr>
          </a:p>
          <a:p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title='Population Density per km^2',      	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kind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='bar')</a:t>
            </a:r>
            <a:endParaRPr lang="en-US" sz="1600" spc="-1" dirty="0">
              <a:latin typeface="Consolas" panose="020B0609020204030204" pitchFamily="49" charset="0"/>
            </a:endParaRPr>
          </a:p>
        </p:txBody>
      </p:sp>
      <p:pic>
        <p:nvPicPr>
          <p:cNvPr id="525" name="Grafik 524"/>
          <p:cNvPicPr/>
          <p:nvPr/>
        </p:nvPicPr>
        <p:blipFill>
          <a:blip r:embed="rId3"/>
          <a:stretch>
            <a:fillRect/>
          </a:stretch>
        </p:blipFill>
        <p:spPr>
          <a:xfrm>
            <a:off x="6097148" y="3392215"/>
            <a:ext cx="2973517" cy="2537425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Plotting data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1" name="Grafik 530"/>
          <p:cNvPicPr/>
          <p:nvPr/>
        </p:nvPicPr>
        <p:blipFill>
          <a:blip r:embed="rId1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3" name="Textfeld 532"/>
          <p:cNvSpPr txBox="1"/>
          <p:nvPr/>
        </p:nvSpPr>
        <p:spPr>
          <a:xfrm>
            <a:off x="4754523" y="3852001"/>
            <a:ext cx="3939077" cy="1291346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100" spc="-1" dirty="0" err="1">
                <a:latin typeface="Consolas" panose="020B0609020204030204" pitchFamily="49" charset="0"/>
              </a:rPr>
              <a:t>state,population,area,pop_in_mil,pop_density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California,38332521.0,423967.0,38.0,90.41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Texas,26448193.0,695662.0,26.0,38.02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New York,19651127.0,141297.0,20.0,139.08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Florida,19552860.0,170312.0,20.0,114.81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New Jersey,9288994.0,25000.0,9.0,371.56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Illinois,12882135.0,149995.0,13.0,85.88</a:t>
            </a:r>
            <a:endParaRPr lang="en-US" sz="1100" spc="-1" dirty="0">
              <a:latin typeface="Consolas" panose="020B0609020204030204" pitchFamily="49" charset="0"/>
            </a:endParaRPr>
          </a:p>
        </p:txBody>
      </p:sp>
      <p:sp>
        <p:nvSpPr>
          <p:cNvPr id="534" name="Textfeld 533"/>
          <p:cNvSpPr txBox="1"/>
          <p:nvPr/>
        </p:nvSpPr>
        <p:spPr>
          <a:xfrm>
            <a:off x="4747399" y="5140292"/>
            <a:ext cx="393373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a text editor)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1" name="Grafik 530"/>
          <p:cNvPicPr/>
          <p:nvPr/>
        </p:nvPicPr>
        <p:blipFill>
          <a:blip r:embed="rId1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4777390" y="5132023"/>
            <a:ext cx="416755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Excel)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10" name="Grafik 9"/>
          <p:cNvPicPr/>
          <p:nvPr/>
        </p:nvPicPr>
        <p:blipFill>
          <a:blip r:embed="rId2"/>
          <a:stretch>
            <a:fillRect/>
          </a:stretch>
        </p:blipFill>
        <p:spPr>
          <a:xfrm>
            <a:off x="4762378" y="3632416"/>
            <a:ext cx="4255841" cy="1529375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with pandas and CSV files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825617" y="1501669"/>
            <a:ext cx="7492765" cy="7519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Load, preprocess, and explore the data set containing information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all USA states.</a:t>
            </a:r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661794" y="2337949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 on states dataset and perform some additional computations.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1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11919</Words>
  <Application>WPS 演示</Application>
  <PresentationFormat>On-screen Show (4:3)</PresentationFormat>
  <Paragraphs>546</Paragraphs>
  <Slides>40</Slides>
  <Notes>40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56" baseType="lpstr">
      <vt:lpstr>Arial</vt:lpstr>
      <vt:lpstr>宋体</vt:lpstr>
      <vt:lpstr>Wingdings</vt:lpstr>
      <vt:lpstr>Arial</vt:lpstr>
      <vt:lpstr>Calibri</vt:lpstr>
      <vt:lpstr>Calibri</vt:lpstr>
      <vt:lpstr>Blackadder ITC</vt:lpstr>
      <vt:lpstr>Consolas</vt:lpstr>
      <vt:lpstr>Droid Sans Fallback</vt:lpstr>
      <vt:lpstr>Segoe Print</vt:lpstr>
      <vt:lpstr>Times New Roman</vt:lpstr>
      <vt:lpstr>微软雅黑</vt:lpstr>
      <vt:lpstr>Arial Unicode MS</vt:lpstr>
      <vt:lpstr>Symbol</vt:lpstr>
      <vt:lpstr>Cambria Math</vt:lpstr>
      <vt:lpstr>Office Theme</vt:lpstr>
      <vt:lpstr>Fundamentals of Computer Science and Programming</vt:lpstr>
      <vt:lpstr>Outline</vt:lpstr>
      <vt:lpstr>File I/O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CSV files and module imports</vt:lpstr>
      <vt:lpstr>PowerPoint 演示文稿</vt:lpstr>
      <vt:lpstr>PowerPoint 演示文稿</vt:lpstr>
      <vt:lpstr>PowerPoint 演示文稿</vt:lpstr>
      <vt:lpstr>PowerPoint 演示文稿</vt:lpstr>
      <vt:lpstr>Pandas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Examples</vt:lpstr>
      <vt:lpstr>Example with pandas and CSV files</vt:lpstr>
      <vt:lpstr>Exercise</vt:lpstr>
      <vt:lpstr>Student task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WPS_1220891040</cp:lastModifiedBy>
  <cp:revision>1099</cp:revision>
  <dcterms:created xsi:type="dcterms:W3CDTF">2025-11-19T21:38:00Z</dcterms:created>
  <dcterms:modified xsi:type="dcterms:W3CDTF">2025-11-20T09:25:38Z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EA3D54C9B469495F9CA765BDABD0D192_13</vt:lpwstr>
  </property>
  <property fmtid="{D5CDD505-2E9C-101B-9397-08002B2CF9AE}" pid="3" name="KSOProductBuildVer">
    <vt:lpwstr>2052-12.1.0.23125</vt:lpwstr>
  </property>
</Properties>
</file>