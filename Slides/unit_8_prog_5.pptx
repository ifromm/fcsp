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408" r:id="rId3"/>
    <p:sldId id="499" r:id="rId4"/>
    <p:sldId id="276" r:id="rId5"/>
    <p:sldId id="277" r:id="rId6"/>
    <p:sldId id="576" r:id="rId7"/>
    <p:sldId id="278" r:id="rId8"/>
    <p:sldId id="279" r:id="rId9"/>
    <p:sldId id="280" r:id="rId10"/>
    <p:sldId id="281" r:id="rId11"/>
    <p:sldId id="282" r:id="rId12"/>
    <p:sldId id="572" r:id="rId13"/>
    <p:sldId id="284" r:id="rId14"/>
    <p:sldId id="285" r:id="rId15"/>
    <p:sldId id="286" r:id="rId16"/>
    <p:sldId id="287" r:id="rId17"/>
    <p:sldId id="573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574" r:id="rId32"/>
    <p:sldId id="567" r:id="rId33"/>
    <p:sldId id="568" r:id="rId34"/>
    <p:sldId id="569" r:id="rId35"/>
    <p:sldId id="570" r:id="rId36"/>
    <p:sldId id="575" r:id="rId37"/>
    <p:sldId id="554" r:id="rId38"/>
    <p:sldId id="565" r:id="rId39"/>
    <p:sldId id="523" r:id="rId40"/>
    <p:sldId id="461" r:id="rId41"/>
  </p:sldIdLst>
  <p:sldSz cx="9144000" cy="6858000" type="screen4x3"/>
  <p:notesSz cx="7099300" cy="10234613"/>
  <p:embeddedFontLst>
    <p:embeddedFont>
      <p:font typeface="Blackadder ITC" pitchFamily="82" charset="77"/>
      <p:regular r:id="rId43"/>
    </p:embeddedFont>
    <p:embeddedFont>
      <p:font typeface="Consolas" panose="020B0609020204030204" pitchFamily="49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  <a:srgbClr val="32CD32"/>
    <a:srgbClr val="1E90FF"/>
    <a:srgbClr val="D3242A"/>
    <a:srgbClr val="EDEDED"/>
    <a:srgbClr val="F8D7CD"/>
    <a:srgbClr val="FCECE8"/>
    <a:srgbClr val="ED7D31"/>
    <a:srgbClr val="E2F0D9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E49E4A-50CC-A245-BF18-4863AC6DAE76}" v="14" dt="2025-11-20T08:30:37.9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62" autoAdjust="0"/>
    <p:restoredTop sz="94651" autoAdjust="0"/>
  </p:normalViewPr>
  <p:slideViewPr>
    <p:cSldViewPr snapToGrid="0" showGuides="1">
      <p:cViewPr varScale="1">
        <p:scale>
          <a:sx n="143" d="100"/>
          <a:sy n="143" d="100"/>
        </p:scale>
        <p:origin x="696" y="200"/>
      </p:cViewPr>
      <p:guideLst>
        <p:guide orient="horz" pos="214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go Frommholz" userId="ee3b4549-206f-4e4f-93a1-b7ff676f0af7" providerId="ADAL" clId="{5F8971C4-3D52-5FAB-A951-9912A46CDBB0}"/>
    <pc:docChg chg="undo custSel modSld">
      <pc:chgData name="Ingo Frommholz" userId="ee3b4549-206f-4e4f-93a1-b7ff676f0af7" providerId="ADAL" clId="{5F8971C4-3D52-5FAB-A951-9912A46CDBB0}" dt="2025-11-20T08:34:24.813" v="395" actId="20577"/>
      <pc:docMkLst>
        <pc:docMk/>
      </pc:docMkLst>
      <pc:sldChg chg="delSp modSp mod">
        <pc:chgData name="Ingo Frommholz" userId="ee3b4549-206f-4e4f-93a1-b7ff676f0af7" providerId="ADAL" clId="{5F8971C4-3D52-5FAB-A951-9912A46CDBB0}" dt="2025-11-20T08:34:24.813" v="395" actId="20577"/>
        <pc:sldMkLst>
          <pc:docMk/>
          <pc:sldMk cId="0" sldId="277"/>
        </pc:sldMkLst>
        <pc:spChg chg="del mod">
          <ac:chgData name="Ingo Frommholz" userId="ee3b4549-206f-4e4f-93a1-b7ff676f0af7" providerId="ADAL" clId="{5F8971C4-3D52-5FAB-A951-9912A46CDBB0}" dt="2025-11-20T08:17:42.231" v="62" actId="478"/>
          <ac:spMkLst>
            <pc:docMk/>
            <pc:sldMk cId="0" sldId="277"/>
            <ac:spMk id="2" creationId="{00000000-0000-0000-0000-000000000000}"/>
          </ac:spMkLst>
        </pc:spChg>
        <pc:spChg chg="mod">
          <ac:chgData name="Ingo Frommholz" userId="ee3b4549-206f-4e4f-93a1-b7ff676f0af7" providerId="ADAL" clId="{5F8971C4-3D52-5FAB-A951-9912A46CDBB0}" dt="2025-11-20T08:32:35.067" v="392" actId="1076"/>
          <ac:spMkLst>
            <pc:docMk/>
            <pc:sldMk cId="0" sldId="277"/>
            <ac:spMk id="9" creationId="{00000000-0000-0000-0000-000000000000}"/>
          </ac:spMkLst>
        </pc:spChg>
        <pc:spChg chg="mod">
          <ac:chgData name="Ingo Frommholz" userId="ee3b4549-206f-4e4f-93a1-b7ff676f0af7" providerId="ADAL" clId="{5F8971C4-3D52-5FAB-A951-9912A46CDBB0}" dt="2025-11-20T08:34:24.813" v="395" actId="20577"/>
          <ac:spMkLst>
            <pc:docMk/>
            <pc:sldMk cId="0" sldId="277"/>
            <ac:spMk id="483" creationId="{00000000-0000-0000-0000-000000000000}"/>
          </ac:spMkLst>
        </pc:spChg>
      </pc:sldChg>
      <pc:sldChg chg="modSp mod">
        <pc:chgData name="Ingo Frommholz" userId="ee3b4549-206f-4e4f-93a1-b7ff676f0af7" providerId="ADAL" clId="{5F8971C4-3D52-5FAB-A951-9912A46CDBB0}" dt="2025-11-20T08:06:29.375" v="3" actId="20577"/>
        <pc:sldMkLst>
          <pc:docMk/>
          <pc:sldMk cId="0" sldId="570"/>
        </pc:sldMkLst>
        <pc:spChg chg="mod">
          <ac:chgData name="Ingo Frommholz" userId="ee3b4549-206f-4e4f-93a1-b7ff676f0af7" providerId="ADAL" clId="{5F8971C4-3D52-5FAB-A951-9912A46CDBB0}" dt="2025-11-20T08:06:29.375" v="3" actId="20577"/>
          <ac:spMkLst>
            <pc:docMk/>
            <pc:sldMk cId="0" sldId="570"/>
            <ac:spMk id="13" creationId="{00000000-0000-0000-0000-000000000000}"/>
          </ac:spMkLst>
        </pc:spChg>
      </pc:sldChg>
      <pc:sldChg chg="modSp mod">
        <pc:chgData name="Ingo Frommholz" userId="ee3b4549-206f-4e4f-93a1-b7ff676f0af7" providerId="ADAL" clId="{5F8971C4-3D52-5FAB-A951-9912A46CDBB0}" dt="2025-11-20T08:06:37.675" v="7" actId="20577"/>
        <pc:sldMkLst>
          <pc:docMk/>
          <pc:sldMk cId="0" sldId="575"/>
        </pc:sldMkLst>
        <pc:spChg chg="mod">
          <ac:chgData name="Ingo Frommholz" userId="ee3b4549-206f-4e4f-93a1-b7ff676f0af7" providerId="ADAL" clId="{5F8971C4-3D52-5FAB-A951-9912A46CDBB0}" dt="2025-11-20T08:06:37.675" v="7" actId="20577"/>
          <ac:spMkLst>
            <pc:docMk/>
            <pc:sldMk cId="0" sldId="575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0007020D02" pitchFamily="82" charset="0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0007020D02" pitchFamily="82" charset="0"/>
                <a:cs typeface="Arial" panose="020B0604020202020204"/>
                <a:sym typeface="Arial" panose="020B0604020202020204"/>
              </a:rPr>
              <a:t>1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0007020D02" pitchFamily="82" charset="0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0007020D02" pitchFamily="82" charset="0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0007020D02" pitchFamily="82" charset="0"/>
                <a:cs typeface="Arial" panose="020B0604020202020204"/>
                <a:sym typeface="Arial" panose="020B0604020202020204"/>
              </a:rPr>
              <a:t>2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0007020D02" pitchFamily="82" charset="0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10:35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10:35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10:35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10:35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2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10:35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2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10:35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10:35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10:35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0007020D02" pitchFamily="82" charset="0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0007020D02" pitchFamily="82" charset="0"/>
                <a:cs typeface="Arial" panose="020B0604020202020204"/>
                <a:sym typeface="Arial" panose="020B0604020202020204"/>
              </a:rPr>
              <a:t>11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0007020D02" pitchFamily="82" charset="0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10:35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11:30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3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10:35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10:35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0007020D02" pitchFamily="82" charset="0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0007020D02" pitchFamily="82" charset="0"/>
                <a:cs typeface="Arial" panose="020B0604020202020204"/>
                <a:sym typeface="Arial" panose="020B0604020202020204"/>
              </a:rPr>
              <a:t>16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0007020D02" pitchFamily="82" charset="0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0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05130" lvl="1" indent="-404495">
              <a:lnSpc>
                <a:spcPct val="100000"/>
              </a:lnSpc>
              <a:spcBef>
                <a:spcPts val="1135"/>
              </a:spcBef>
              <a:buClr>
                <a:srgbClr val="0F0F0F"/>
              </a:buClr>
              <a:buFont typeface="Wingdings" panose="05000000000000000000" pitchFamily="2" charset="2"/>
              <a:buChar char=""/>
            </a:pPr>
            <a:r>
              <a:rPr lang="de-AT" sz="1400" b="0" strike="noStrike" spc="-1">
                <a:solidFill>
                  <a:srgbClr val="0F0F0F"/>
                </a:solidFill>
                <a:latin typeface="Arial" panose="020B0604020202020204"/>
                <a:ea typeface="Droid Sans Fallback"/>
              </a:rPr>
              <a:t>Generelle Data Science Pipeline</a:t>
            </a:r>
            <a:endParaRPr lang="en-US" sz="1400" b="0" strike="noStrike" spc="-1">
              <a:latin typeface="Arial" panose="020B0604020202020204"/>
            </a:endParaRPr>
          </a:p>
          <a:p>
            <a:pPr marL="1296035" lvl="2" indent="-28829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de-AT" sz="1400" b="0" strike="noStrike" spc="-1">
                <a:solidFill>
                  <a:srgbClr val="0F0F0F"/>
                </a:solidFill>
                <a:latin typeface="Arial" panose="020B0604020202020204"/>
                <a:ea typeface="Droid Sans Fallback"/>
              </a:rPr>
              <a:t>Daten anlegen/laden ➡ Preprocessing ➡ Daten explorieren ➡ Daten verarbeiten ➡ Ergebnisse ausgeben</a:t>
            </a:r>
            <a:endParaRPr lang="en-US" sz="1400" b="0" strike="noStrike" spc="-1">
              <a:latin typeface="Arial" panose="020B0604020202020204"/>
            </a:endParaRPr>
          </a:p>
          <a:p>
            <a:pPr marL="1296035" lvl="2" indent="0">
              <a:lnSpc>
                <a:spcPct val="100000"/>
              </a:lnSpc>
              <a:spcBef>
                <a:spcPts val="850"/>
              </a:spcBef>
              <a:buNone/>
            </a:pPr>
            <a:r>
              <a:rPr lang="de-AT" sz="1400" b="0" strike="noStrike" spc="-1">
                <a:solidFill>
                  <a:srgbClr val="0F0F0F"/>
                </a:solidFill>
                <a:latin typeface="Arial" panose="020B0604020202020204"/>
                <a:ea typeface="Droid Sans Fallback"/>
              </a:rPr>
              <a:t>-----</a:t>
            </a:r>
            <a:endParaRPr lang="en-US" sz="1400" b="0" strike="noStrike" spc="-1">
              <a:latin typeface="Arial" panose="020B0604020202020204"/>
            </a:endParaRPr>
          </a:p>
          <a:p>
            <a:pPr marL="1296035" lvl="2" indent="-28829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de-AT" sz="1400" b="0" strike="noStrike" spc="-1">
                <a:solidFill>
                  <a:srgbClr val="0F0F0F"/>
                </a:solidFill>
                <a:latin typeface="Arial" panose="020B0604020202020204"/>
                <a:ea typeface="Droid Sans Fallback"/>
              </a:rPr>
              <a:t>Python macht man das ganz oft mit pandas</a:t>
            </a:r>
            <a:endParaRPr lang="en-US" sz="1400" b="0" strike="noStrike" spc="-1">
              <a:latin typeface="Arial" panose="020B0604020202020204"/>
            </a:endParaRPr>
          </a:p>
          <a:p>
            <a:pPr marL="1296035" lvl="2" indent="-28829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de-AT" sz="1400" b="0" strike="noStrike" spc="-1">
                <a:solidFill>
                  <a:srgbClr val="0F0F0F"/>
                </a:solidFill>
                <a:latin typeface="Arial" panose="020B0604020202020204"/>
                <a:ea typeface="Droid Sans Fallback"/>
              </a:rPr>
              <a:t>----</a:t>
            </a:r>
            <a:endParaRPr lang="en-US" sz="1400" b="0" strike="noStrike" spc="-1">
              <a:latin typeface="Arial" panose="020B0604020202020204"/>
            </a:endParaRPr>
          </a:p>
          <a:p>
            <a:pPr marL="1296035" lvl="2" indent="-28829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de-AT" sz="1400" b="0" strike="noStrike" spc="-1">
                <a:solidFill>
                  <a:srgbClr val="0F0F0F"/>
                </a:solidFill>
                <a:latin typeface="Arial" panose="020B0604020202020204"/>
                <a:ea typeface="Droid Sans Fallback"/>
              </a:rPr>
              <a:t>der name pandas kommt (angeblich) von einer abkürzung für “Panel Data”, und das beschreibt oft “tabulare Daten” .Was versteht man unter tabularen Daten? (Tabellendateien)</a:t>
            </a:r>
            <a:endParaRPr lang="en-US" sz="1400" b="0" strike="noStrike" spc="-1">
              <a:latin typeface="Arial" panose="020B0604020202020204"/>
            </a:endParaRPr>
          </a:p>
          <a:p>
            <a:pPr marL="1296035" lvl="2" indent="0">
              <a:lnSpc>
                <a:spcPct val="100000"/>
              </a:lnSpc>
              <a:spcBef>
                <a:spcPts val="850"/>
              </a:spcBef>
              <a:buNone/>
            </a:pPr>
            <a:r>
              <a:rPr lang="de-AT" sz="1400" b="0" strike="noStrike" spc="-1">
                <a:solidFill>
                  <a:srgbClr val="0F0F0F"/>
                </a:solidFill>
                <a:latin typeface="Arial" panose="020B0604020202020204"/>
                <a:ea typeface="Droid Sans Fallback"/>
              </a:rPr>
              <a:t> </a:t>
            </a:r>
            <a:endParaRPr lang="en-US" sz="1400" b="0" strike="noStrike" spc="-1">
              <a:latin typeface="Arial" panose="020B0604020202020204"/>
            </a:endParaRPr>
          </a:p>
          <a:p>
            <a:pPr marL="405130" lvl="1" indent="-404495">
              <a:lnSpc>
                <a:spcPct val="100000"/>
              </a:lnSpc>
              <a:buClr>
                <a:srgbClr val="0F0F0F"/>
              </a:buClr>
              <a:buFont typeface="Wingdings" panose="05000000000000000000" pitchFamily="2" charset="2"/>
              <a:buChar char=""/>
            </a:pPr>
            <a:r>
              <a:rPr lang="de-AT" sz="1400" b="0" strike="noStrike" spc="-1">
                <a:solidFill>
                  <a:srgbClr val="0F0F0F"/>
                </a:solidFill>
                <a:latin typeface="Arial" panose="020B0604020202020204"/>
                <a:ea typeface="Droid Sans Fallback"/>
              </a:rPr>
              <a:t>pandas (Panel data), numpy (=Numeric Python)</a:t>
            </a:r>
            <a:endParaRPr lang="en-US" sz="1400" b="0" strike="noStrike" spc="-1">
              <a:latin typeface="Arial" panose="020B0604020202020204"/>
            </a:endParaRPr>
          </a:p>
          <a:p>
            <a:pPr marL="1296035" lvl="2" indent="-28829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de-AT" sz="1400" b="0" strike="noStrike" spc="-1">
                <a:solidFill>
                  <a:srgbClr val="0F0F0F"/>
                </a:solidFill>
                <a:latin typeface="Arial" panose="020B0604020202020204"/>
                <a:ea typeface="Droid Sans Fallback"/>
              </a:rPr>
              <a:t>Man stelle sich eine CSV oder excel Datei vor, dann lad ma die Daten einfach </a:t>
            </a:r>
            <a:endParaRPr lang="en-US" sz="1400" b="0" strike="noStrike" spc="-1">
              <a:latin typeface="Arial" panose="020B0604020202020204"/>
            </a:endParaRPr>
          </a:p>
          <a:p>
            <a:pPr marL="1296035" lvl="2" indent="-28829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de-AT" sz="1400" b="0" strike="noStrike" spc="-1">
                <a:solidFill>
                  <a:srgbClr val="0F0F0F"/>
                </a:solidFill>
                <a:latin typeface="Arial" panose="020B0604020202020204"/>
                <a:ea typeface="Droid Sans Fallback"/>
              </a:rPr>
              <a:t>Zeilen anzeigen</a:t>
            </a:r>
            <a:endParaRPr lang="en-US" sz="1400" b="0" strike="noStrike" spc="-1">
              <a:latin typeface="Arial" panose="020B0604020202020204"/>
            </a:endParaRPr>
          </a:p>
          <a:p>
            <a:pPr marL="1727835" lvl="3" indent="-215900">
              <a:lnSpc>
                <a:spcPct val="10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de-AT" sz="1400" b="0" strike="noStrike" spc="-1">
                <a:solidFill>
                  <a:srgbClr val="0F0F0F"/>
                </a:solidFill>
                <a:latin typeface="Arial" panose="020B0604020202020204"/>
                <a:ea typeface="Droid Sans Fallback"/>
              </a:rPr>
              <a:t>Man kann sich das als spezialisiertes Dictionary vorstellen</a:t>
            </a:r>
            <a:endParaRPr lang="en-US" sz="1400" b="0" strike="noStrike" spc="-1">
              <a:latin typeface="Arial" panose="020B0604020202020204"/>
            </a:endParaRPr>
          </a:p>
          <a:p>
            <a:pPr marL="1296035" lvl="2" indent="-28829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de-AT" sz="1400" b="0" strike="noStrike" spc="-1">
                <a:solidFill>
                  <a:srgbClr val="0F0F0F"/>
                </a:solidFill>
                <a:latin typeface="Arial" panose="020B0604020202020204"/>
                <a:ea typeface="Droid Sans Fallback"/>
              </a:rPr>
              <a:t>Die einzelnen spalten: Series, im hintergrund numpy array (ist jetzt für uns nicht wichtig)</a:t>
            </a:r>
            <a:endParaRPr lang="en-US" sz="14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05130" lvl="1" indent="0">
              <a:lnSpc>
                <a:spcPct val="100000"/>
              </a:lnSpc>
              <a:spcBef>
                <a:spcPts val="1135"/>
              </a:spcBef>
              <a:buNone/>
            </a:pPr>
            <a:r>
              <a:rPr lang="de-AT" sz="1400" b="0" strike="noStrike" spc="-1">
                <a:solidFill>
                  <a:srgbClr val="0F0F0F"/>
                </a:solidFill>
                <a:latin typeface="Arial" panose="020B0604020202020204"/>
                <a:ea typeface="Droid Sans Fallback"/>
              </a:rPr>
              <a:t> </a:t>
            </a:r>
            <a:endParaRPr lang="en-US" sz="1400" b="0" strike="noStrike" spc="-1">
              <a:latin typeface="Arial" panose="020B0604020202020204"/>
            </a:endParaRPr>
          </a:p>
          <a:p>
            <a:pPr marL="405130" lvl="1" indent="-404495">
              <a:lnSpc>
                <a:spcPct val="100000"/>
              </a:lnSpc>
              <a:spcBef>
                <a:spcPts val="1135"/>
              </a:spcBef>
              <a:buClr>
                <a:srgbClr val="0F0F0F"/>
              </a:buClr>
              <a:buFont typeface="Wingdings" panose="05000000000000000000" pitchFamily="2" charset="2"/>
              <a:buChar char=""/>
            </a:pPr>
            <a:r>
              <a:rPr lang="de-AT" sz="1400" b="0" strike="noStrike" spc="-1">
                <a:solidFill>
                  <a:srgbClr val="0F0F0F"/>
                </a:solidFill>
                <a:latin typeface="Arial" panose="020B0604020202020204"/>
                <a:ea typeface="Droid Sans Fallback"/>
              </a:rPr>
              <a:t>pandas-Funktionalität in dieser Vorlesung: </a:t>
            </a:r>
            <a:endParaRPr lang="en-US" sz="1400" b="0" strike="noStrike" spc="-1">
              <a:latin typeface="Arial" panose="020B0604020202020204"/>
            </a:endParaRPr>
          </a:p>
          <a:p>
            <a:pPr marL="1296035" lvl="2" indent="-28829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de-AT" sz="1400" b="0" strike="noStrike" spc="-1">
                <a:solidFill>
                  <a:srgbClr val="0F0F0F"/>
                </a:solidFill>
                <a:latin typeface="Arial" panose="020B0604020202020204"/>
                <a:ea typeface="Droid Sans Fallback"/>
              </a:rPr>
              <a:t>Daten laden/anlegen ➡ Daten abrufen und filtern ➡ Spalten neu anlegen ➡ Fehlende Daten ausfüllen  ➡ Daten verarbeiten und Ergebnisse berechnen ➡ Neu berechnete Daten speichern</a:t>
            </a:r>
            <a:endParaRPr lang="en-US" sz="1400" b="0" strike="noStrike" spc="-1">
              <a:latin typeface="Arial" panose="020B0604020202020204"/>
            </a:endParaRPr>
          </a:p>
          <a:p>
            <a:pPr marL="1296035" lvl="2" indent="-28829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de-AT" sz="1400" b="0" strike="noStrike" spc="-1">
                <a:solidFill>
                  <a:srgbClr val="0F0F0F"/>
                </a:solidFill>
                <a:latin typeface="Arial" panose="020B0604020202020204"/>
                <a:ea typeface="Droid Sans Fallback"/>
              </a:rPr>
              <a:t>-------</a:t>
            </a:r>
            <a:endParaRPr lang="en-US" sz="14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 dirty="0">
                <a:latin typeface="Arial" panose="020B0604020202020204"/>
              </a:rPr>
              <a:t>Ganz oft </a:t>
            </a:r>
            <a:r>
              <a:rPr lang="en-US" sz="2000" b="0" strike="noStrike" spc="-1" dirty="0" err="1">
                <a:latin typeface="Arial" panose="020B0604020202020204"/>
              </a:rPr>
              <a:t>kürzt</a:t>
            </a:r>
            <a:r>
              <a:rPr lang="en-US" sz="2000" b="0" strike="noStrike" spc="-1" dirty="0">
                <a:latin typeface="Arial" panose="020B0604020202020204"/>
              </a:rPr>
              <a:t> man das </a:t>
            </a:r>
            <a:r>
              <a:rPr lang="en-US" sz="2000" b="0" strike="noStrike" spc="-1" dirty="0" err="1">
                <a:latin typeface="Arial" panose="020B0604020202020204"/>
              </a:rPr>
              <a:t>eben</a:t>
            </a:r>
            <a:r>
              <a:rPr lang="en-US" sz="2000" b="0" strike="noStrike" spc="-1" dirty="0">
                <a:latin typeface="Arial" panose="020B0604020202020204"/>
              </a:rPr>
              <a:t> </a:t>
            </a:r>
            <a:r>
              <a:rPr lang="en-US" sz="2000" b="0" strike="noStrike" spc="-1" dirty="0" err="1">
                <a:latin typeface="Arial" panose="020B0604020202020204"/>
              </a:rPr>
              <a:t>einfach</a:t>
            </a:r>
            <a:r>
              <a:rPr lang="en-US" sz="2000" b="0" strike="noStrike" spc="-1" dirty="0">
                <a:latin typeface="Arial" panose="020B0604020202020204"/>
              </a:rPr>
              <a:t> </a:t>
            </a:r>
            <a:r>
              <a:rPr lang="en-US" sz="2000" b="0" strike="noStrike" spc="-1" dirty="0" err="1">
                <a:latin typeface="Arial" panose="020B0604020202020204"/>
              </a:rPr>
              <a:t>mit</a:t>
            </a:r>
            <a:r>
              <a:rPr lang="en-US" sz="2000" b="0" strike="noStrike" spc="-1" dirty="0">
                <a:latin typeface="Arial" panose="020B0604020202020204"/>
              </a:rPr>
              <a:t> </a:t>
            </a:r>
            <a:r>
              <a:rPr lang="en-US" sz="2000" b="0" strike="noStrike" spc="-1" dirty="0" err="1">
                <a:latin typeface="Arial" panose="020B0604020202020204"/>
              </a:rPr>
              <a:t>df</a:t>
            </a:r>
            <a:r>
              <a:rPr lang="en-US" sz="2000" b="0" strike="noStrike" spc="-1" dirty="0">
                <a:latin typeface="Arial" panose="020B0604020202020204"/>
              </a:rPr>
              <a:t> (</a:t>
            </a:r>
            <a:r>
              <a:rPr lang="en-US" sz="2000" b="0" strike="noStrike" spc="-1" dirty="0" err="1">
                <a:latin typeface="Arial" panose="020B0604020202020204"/>
              </a:rPr>
              <a:t>kurz</a:t>
            </a:r>
            <a:r>
              <a:rPr lang="en-US" sz="2000" b="0" strike="noStrike" spc="-1" dirty="0">
                <a:latin typeface="Arial" panose="020B0604020202020204"/>
              </a:rPr>
              <a:t> für </a:t>
            </a:r>
            <a:r>
              <a:rPr lang="en-US" sz="2000" b="0" strike="noStrike" spc="-1" dirty="0" err="1">
                <a:latin typeface="Arial" panose="020B0604020202020204"/>
              </a:rPr>
              <a:t>DataFrame</a:t>
            </a:r>
            <a:r>
              <a:rPr lang="en-US" sz="2000" b="0" strike="noStrike" spc="-1" dirty="0">
                <a:latin typeface="Arial" panose="020B0604020202020204"/>
              </a:rPr>
              <a:t> ab), und </a:t>
            </a:r>
            <a:r>
              <a:rPr lang="en-US" sz="2000" b="0" strike="noStrike" spc="-1" dirty="0" err="1">
                <a:latin typeface="Arial" panose="020B0604020202020204"/>
              </a:rPr>
              <a:t>obwohl</a:t>
            </a:r>
            <a:r>
              <a:rPr lang="en-US" sz="2000" b="0" strike="noStrike" spc="-1" dirty="0">
                <a:latin typeface="Arial" panose="020B0604020202020204"/>
              </a:rPr>
              <a:t> das </a:t>
            </a:r>
            <a:r>
              <a:rPr lang="en-US" sz="2000" b="0" strike="noStrike" spc="-1" dirty="0" err="1">
                <a:latin typeface="Arial" panose="020B0604020202020204"/>
              </a:rPr>
              <a:t>jetzt</a:t>
            </a:r>
            <a:r>
              <a:rPr lang="en-US" sz="2000" b="0" strike="noStrike" spc="-1" dirty="0">
                <a:latin typeface="Arial" panose="020B0604020202020204"/>
              </a:rPr>
              <a:t> </a:t>
            </a:r>
            <a:r>
              <a:rPr lang="en-US" sz="2000" b="0" strike="noStrike" spc="-1" dirty="0" err="1">
                <a:latin typeface="Arial" panose="020B0604020202020204"/>
              </a:rPr>
              <a:t>vielleicht</a:t>
            </a:r>
            <a:r>
              <a:rPr lang="en-US" sz="2000" b="0" strike="noStrike" spc="-1" dirty="0">
                <a:latin typeface="Arial" panose="020B0604020202020204"/>
              </a:rPr>
              <a:t> nicht </a:t>
            </a:r>
            <a:r>
              <a:rPr lang="en-US" sz="2000" b="0" strike="noStrike" spc="-1" dirty="0" err="1">
                <a:latin typeface="Arial" panose="020B0604020202020204"/>
              </a:rPr>
              <a:t>unbedingt</a:t>
            </a:r>
            <a:r>
              <a:rPr lang="en-US" sz="2000" b="0" strike="noStrike" spc="-1" dirty="0">
                <a:latin typeface="Arial" panose="020B0604020202020204"/>
              </a:rPr>
              <a:t> </a:t>
            </a:r>
            <a:r>
              <a:rPr lang="en-US" sz="2000" b="0" strike="noStrike" spc="-1" dirty="0" err="1">
                <a:latin typeface="Arial" panose="020B0604020202020204"/>
              </a:rPr>
              <a:t>unserem</a:t>
            </a:r>
            <a:r>
              <a:rPr lang="en-US" sz="2000" b="0" strike="noStrike" spc="-1" dirty="0">
                <a:latin typeface="Arial" panose="020B0604020202020204"/>
              </a:rPr>
              <a:t> </a:t>
            </a:r>
            <a:r>
              <a:rPr lang="en-US" sz="2000" b="0" strike="noStrike" spc="-1" dirty="0" err="1">
                <a:latin typeface="Arial" panose="020B0604020202020204"/>
              </a:rPr>
              <a:t>CodingStyle</a:t>
            </a:r>
            <a:r>
              <a:rPr lang="en-US" sz="2000" b="0" strike="noStrike" spc="-1" dirty="0">
                <a:latin typeface="Arial" panose="020B0604020202020204"/>
              </a:rPr>
              <a:t> </a:t>
            </a:r>
            <a:r>
              <a:rPr lang="en-US" sz="2000" b="0" strike="noStrike" spc="-1" dirty="0" err="1">
                <a:latin typeface="Arial" panose="020B0604020202020204"/>
              </a:rPr>
              <a:t>entspricht</a:t>
            </a:r>
            <a:r>
              <a:rPr lang="en-US" sz="2000" b="0" strike="noStrike" spc="-1" dirty="0">
                <a:latin typeface="Arial" panose="020B0604020202020204"/>
              </a:rPr>
              <a:t>, </a:t>
            </a:r>
            <a:r>
              <a:rPr lang="en-US" sz="2000" b="0" strike="noStrike" spc="-1" dirty="0" err="1">
                <a:latin typeface="Arial" panose="020B0604020202020204"/>
              </a:rPr>
              <a:t>kann</a:t>
            </a:r>
            <a:r>
              <a:rPr lang="en-US" sz="2000" b="0" strike="noStrike" spc="-1" dirty="0">
                <a:latin typeface="Arial" panose="020B0604020202020204"/>
              </a:rPr>
              <a:t> man das </a:t>
            </a:r>
            <a:r>
              <a:rPr lang="en-US" sz="2000" b="0" strike="noStrike" spc="-1" dirty="0" err="1">
                <a:latin typeface="Arial" panose="020B0604020202020204"/>
              </a:rPr>
              <a:t>hier</a:t>
            </a:r>
            <a:r>
              <a:rPr lang="en-US" sz="2000" b="0" strike="noStrike" spc="-1" dirty="0">
                <a:latin typeface="Arial" panose="020B0604020202020204"/>
              </a:rPr>
              <a:t> </a:t>
            </a:r>
            <a:r>
              <a:rPr lang="en-US" sz="2000" b="0" strike="noStrike" spc="-1" dirty="0" err="1">
                <a:latin typeface="Arial" panose="020B0604020202020204"/>
              </a:rPr>
              <a:t>scho</a:t>
            </a:r>
            <a:r>
              <a:rPr lang="en-US" sz="2000" b="0" strike="noStrike" spc="-1" dirty="0">
                <a:latin typeface="Arial" panose="020B0604020202020204"/>
              </a:rPr>
              <a:t> so </a:t>
            </a:r>
            <a:r>
              <a:rPr lang="en-US" sz="2000" b="0" strike="noStrike" spc="-1" dirty="0" err="1">
                <a:latin typeface="Arial" panose="020B0604020202020204"/>
              </a:rPr>
              <a:t>machen</a:t>
            </a:r>
            <a:r>
              <a:rPr lang="en-US" sz="2000" b="0" strike="noStrike" spc="-1" dirty="0">
                <a:latin typeface="Arial" panose="020B0604020202020204"/>
              </a:rPr>
              <a:t> </a:t>
            </a:r>
            <a:r>
              <a:rPr lang="en-US" sz="2000" b="0" strike="noStrike" spc="-1" dirty="0" err="1">
                <a:latin typeface="Arial" panose="020B0604020202020204"/>
              </a:rPr>
              <a:t>weil</a:t>
            </a:r>
            <a:r>
              <a:rPr lang="en-US" sz="2000" b="0" strike="noStrike" spc="-1" dirty="0">
                <a:latin typeface="Arial" panose="020B0604020202020204"/>
              </a:rPr>
              <a:t> das </a:t>
            </a:r>
            <a:r>
              <a:rPr lang="en-US" sz="2000" b="0" strike="noStrike" spc="-1" dirty="0" err="1">
                <a:latin typeface="Arial" panose="020B0604020202020204"/>
              </a:rPr>
              <a:t>einfach</a:t>
            </a:r>
            <a:r>
              <a:rPr lang="en-US" sz="2000" b="0" strike="noStrike" spc="-1" dirty="0">
                <a:latin typeface="Arial" panose="020B0604020202020204"/>
              </a:rPr>
              <a:t> </a:t>
            </a:r>
            <a:r>
              <a:rPr lang="en-US" sz="2000" b="0" strike="noStrike" spc="-1" dirty="0" err="1">
                <a:latin typeface="Arial" panose="020B0604020202020204"/>
              </a:rPr>
              <a:t>ein</a:t>
            </a:r>
            <a:r>
              <a:rPr lang="en-US" sz="2000" b="0" strike="noStrike" spc="-1" dirty="0">
                <a:latin typeface="Arial" panose="020B0604020202020204"/>
              </a:rPr>
              <a:t> </a:t>
            </a:r>
            <a:r>
              <a:rPr lang="en-US" sz="2000" b="0" strike="noStrike" spc="-1" dirty="0" err="1">
                <a:latin typeface="Arial" panose="020B0604020202020204"/>
              </a:rPr>
              <a:t>namen</a:t>
            </a:r>
            <a:r>
              <a:rPr lang="en-US" sz="2000" b="0" strike="noStrike" spc="-1" dirty="0">
                <a:latin typeface="Arial" panose="020B0604020202020204"/>
              </a:rPr>
              <a:t> </a:t>
            </a:r>
            <a:r>
              <a:rPr lang="en-US" sz="2000" b="0" strike="noStrike" spc="-1" dirty="0" err="1">
                <a:latin typeface="Arial" panose="020B0604020202020204"/>
              </a:rPr>
              <a:t>ist</a:t>
            </a:r>
            <a:r>
              <a:rPr lang="en-US" sz="2000" b="0" strike="noStrike" spc="-1" dirty="0">
                <a:latin typeface="Arial" panose="020B0604020202020204"/>
              </a:rPr>
              <a:t> der </a:t>
            </a:r>
            <a:r>
              <a:rPr lang="en-US" sz="2000" b="0" strike="noStrike" spc="-1" dirty="0" err="1">
                <a:latin typeface="Arial" panose="020B0604020202020204"/>
              </a:rPr>
              <a:t>si</a:t>
            </a:r>
            <a:r>
              <a:rPr lang="en-US" sz="2000" b="0" strike="noStrike" spc="-1" dirty="0">
                <a:latin typeface="Arial" panose="020B0604020202020204"/>
              </a:rPr>
              <a:t> </a:t>
            </a:r>
            <a:r>
              <a:rPr lang="en-US" sz="2000" b="0" strike="noStrike" spc="-1" dirty="0" err="1">
                <a:latin typeface="Arial" panose="020B0604020202020204"/>
              </a:rPr>
              <a:t>eingebürgert</a:t>
            </a:r>
            <a:r>
              <a:rPr lang="en-US" sz="2000" b="0" strike="noStrike" spc="-1" dirty="0">
                <a:latin typeface="Arial" panose="020B0604020202020204"/>
              </a:rPr>
              <a:t> hat.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10:35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 dirty="0">
                <a:latin typeface="Arial" panose="020B0604020202020204"/>
              </a:rPr>
              <a:t>Loc: man </a:t>
            </a:r>
            <a:r>
              <a:rPr lang="en-US" sz="2000" b="0" strike="noStrike" spc="-1" dirty="0" err="1">
                <a:latin typeface="Arial" panose="020B0604020202020204"/>
              </a:rPr>
              <a:t>sieht</a:t>
            </a:r>
            <a:r>
              <a:rPr lang="en-US" sz="2000" b="0" strike="noStrike" spc="-1" dirty="0">
                <a:latin typeface="Arial" panose="020B0604020202020204"/>
              </a:rPr>
              <a:t> es </a:t>
            </a:r>
            <a:r>
              <a:rPr lang="en-US" sz="2000" b="0" strike="noStrike" spc="-1" dirty="0" err="1">
                <a:latin typeface="Arial" panose="020B0604020202020204"/>
              </a:rPr>
              <a:t>kann</a:t>
            </a:r>
            <a:r>
              <a:rPr lang="en-US" sz="2000" b="0" strike="noStrike" spc="-1" dirty="0">
                <a:latin typeface="Arial" panose="020B0604020202020204"/>
              </a:rPr>
              <a:t> </a:t>
            </a:r>
            <a:r>
              <a:rPr lang="en-US" sz="2000" b="0" strike="noStrike" spc="-1" dirty="0" err="1">
                <a:latin typeface="Arial" panose="020B0604020202020204"/>
              </a:rPr>
              <a:t>auch</a:t>
            </a:r>
            <a:r>
              <a:rPr lang="en-US" sz="2000" b="0" strike="noStrike" spc="-1" dirty="0">
                <a:latin typeface="Arial" panose="020B0604020202020204"/>
              </a:rPr>
              <a:t> </a:t>
            </a:r>
            <a:r>
              <a:rPr lang="en-US" sz="2000" b="0" strike="noStrike" spc="-1" dirty="0" err="1">
                <a:latin typeface="Arial" panose="020B0604020202020204"/>
              </a:rPr>
              <a:t>zwei</a:t>
            </a:r>
            <a:r>
              <a:rPr lang="en-US" sz="2000" b="0" strike="noStrike" spc="-1" dirty="0">
                <a:latin typeface="Arial" panose="020B0604020202020204"/>
              </a:rPr>
              <a:t> parameter </a:t>
            </a:r>
            <a:r>
              <a:rPr lang="en-US" sz="2000" b="0" strike="noStrike" spc="-1" dirty="0" err="1">
                <a:latin typeface="Arial" panose="020B0604020202020204"/>
              </a:rPr>
              <a:t>übernehmen</a:t>
            </a:r>
            <a:r>
              <a:rPr lang="en-US" sz="2000" b="0" strike="noStrike" spc="-1" dirty="0">
                <a:latin typeface="Arial" panose="020B0604020202020204"/>
              </a:rPr>
              <a:t>, </a:t>
            </a:r>
            <a:r>
              <a:rPr lang="en-US" sz="2000" b="0" strike="noStrike" spc="-1" dirty="0" err="1">
                <a:latin typeface="Arial" panose="020B0604020202020204"/>
              </a:rPr>
              <a:t>erstes</a:t>
            </a:r>
            <a:r>
              <a:rPr lang="en-US" sz="2000" b="0" strike="noStrike" spc="-1" dirty="0">
                <a:latin typeface="Arial" panose="020B0604020202020204"/>
              </a:rPr>
              <a:t> </a:t>
            </a:r>
            <a:r>
              <a:rPr lang="en-US" sz="2000" b="0" strike="noStrike" spc="-1" dirty="0" err="1">
                <a:latin typeface="Arial" panose="020B0604020202020204"/>
              </a:rPr>
              <a:t>ist</a:t>
            </a:r>
            <a:r>
              <a:rPr lang="en-US" sz="2000" b="0" strike="noStrike" spc="-1" dirty="0">
                <a:latin typeface="Arial" panose="020B0604020202020204"/>
              </a:rPr>
              <a:t> </a:t>
            </a:r>
            <a:r>
              <a:rPr lang="en-US" sz="2000" b="0" strike="noStrike" spc="-1" dirty="0" err="1">
                <a:latin typeface="Arial" panose="020B0604020202020204"/>
              </a:rPr>
              <a:t>immer</a:t>
            </a:r>
            <a:r>
              <a:rPr lang="en-US" sz="2000" b="0" strike="noStrike" spc="-1" dirty="0">
                <a:latin typeface="Arial" panose="020B0604020202020204"/>
              </a:rPr>
              <a:t> </a:t>
            </a:r>
            <a:r>
              <a:rPr lang="en-US" sz="2000" b="0" strike="noStrike" spc="-1" dirty="0" err="1">
                <a:latin typeface="Arial" panose="020B0604020202020204"/>
              </a:rPr>
              <a:t>welche</a:t>
            </a:r>
            <a:r>
              <a:rPr lang="en-US" sz="2000" b="0" strike="noStrike" spc="-1" dirty="0">
                <a:latin typeface="Arial" panose="020B0604020202020204"/>
              </a:rPr>
              <a:t> </a:t>
            </a:r>
            <a:r>
              <a:rPr lang="en-US" sz="2000" b="0" strike="noStrike" spc="-1" dirty="0" err="1">
                <a:latin typeface="Arial" panose="020B0604020202020204"/>
              </a:rPr>
              <a:t>Zeilen</a:t>
            </a:r>
            <a:r>
              <a:rPr lang="en-US" sz="2000" b="0" strike="noStrike" spc="-1" dirty="0">
                <a:latin typeface="Arial" panose="020B0604020202020204"/>
              </a:rPr>
              <a:t> man </a:t>
            </a:r>
            <a:r>
              <a:rPr lang="en-US" sz="2000" b="0" strike="noStrike" spc="-1" dirty="0" err="1">
                <a:latin typeface="Arial" panose="020B0604020202020204"/>
              </a:rPr>
              <a:t>nehmen</a:t>
            </a:r>
            <a:r>
              <a:rPr lang="en-US" sz="2000" b="0" strike="noStrike" spc="-1" dirty="0">
                <a:latin typeface="Arial" panose="020B0604020202020204"/>
              </a:rPr>
              <a:t> </a:t>
            </a:r>
            <a:r>
              <a:rPr lang="en-US" sz="2000" b="0" strike="noStrike" spc="-1" dirty="0" err="1">
                <a:latin typeface="Arial" panose="020B0604020202020204"/>
              </a:rPr>
              <a:t>soll</a:t>
            </a:r>
            <a:r>
              <a:rPr lang="en-US" sz="2000" b="0" strike="noStrike" spc="-1" dirty="0">
                <a:latin typeface="Arial" panose="020B0604020202020204"/>
              </a:rPr>
              <a:t>, </a:t>
            </a:r>
            <a:r>
              <a:rPr lang="en-US" sz="2000" b="0" strike="noStrike" spc="-1" dirty="0" err="1">
                <a:latin typeface="Arial" panose="020B0604020202020204"/>
              </a:rPr>
              <a:t>zweites</a:t>
            </a:r>
            <a:r>
              <a:rPr lang="en-US" sz="2000" b="0" strike="noStrike" spc="-1" dirty="0">
                <a:latin typeface="Arial" panose="020B0604020202020204"/>
              </a:rPr>
              <a:t> </a:t>
            </a:r>
            <a:r>
              <a:rPr lang="en-US" sz="2000" b="0" strike="noStrike" spc="-1" dirty="0" err="1">
                <a:latin typeface="Arial" panose="020B0604020202020204"/>
              </a:rPr>
              <a:t>ist</a:t>
            </a:r>
            <a:r>
              <a:rPr lang="en-US" sz="2000" b="0" strike="noStrike" spc="-1" dirty="0">
                <a:latin typeface="Arial" panose="020B0604020202020204"/>
              </a:rPr>
              <a:t> </a:t>
            </a:r>
            <a:r>
              <a:rPr lang="en-US" sz="2000" b="0" strike="noStrike" spc="-1" dirty="0" err="1">
                <a:latin typeface="Arial" panose="020B0604020202020204"/>
              </a:rPr>
              <a:t>dann</a:t>
            </a:r>
            <a:r>
              <a:rPr lang="en-US" sz="2000" b="0" strike="noStrike" spc="-1" dirty="0">
                <a:latin typeface="Arial" panose="020B0604020202020204"/>
              </a:rPr>
              <a:t> die </a:t>
            </a:r>
            <a:r>
              <a:rPr lang="en-US" sz="2000" b="0" strike="noStrike" spc="-1" dirty="0" err="1">
                <a:latin typeface="Arial" panose="020B0604020202020204"/>
              </a:rPr>
              <a:t>jeweilige</a:t>
            </a:r>
            <a:r>
              <a:rPr lang="en-US" sz="2000" b="0" strike="noStrike" spc="-1" dirty="0">
                <a:latin typeface="Arial" panose="020B0604020202020204"/>
              </a:rPr>
              <a:t> </a:t>
            </a:r>
            <a:r>
              <a:rPr lang="en-US" sz="2000" b="0" strike="noStrike" spc="-1" dirty="0" err="1">
                <a:latin typeface="Arial" panose="020B0604020202020204"/>
              </a:rPr>
              <a:t>Spalte</a:t>
            </a:r>
            <a:endParaRPr lang="en-US" sz="2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Welche logischen Operatoren haben wir in der ganz ersten lv gemacht?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2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10:35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2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10:35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Tafel vielleicht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10:35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2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10:35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10:35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10:35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10:35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10:35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10:35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4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10:35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10:35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en-US" sz="2000" b="0" strike="noStrike" spc="-1">
                <a:latin typeface="Arial" panose="020B0604020202020204"/>
              </a:rPr>
              <a:t>10:35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0007020D02" pitchFamily="82" charset="0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0007020D02" pitchFamily="82" charset="0"/>
                <a:cs typeface="Arial" panose="020B0604020202020204"/>
                <a:sym typeface="Arial" panose="020B0604020202020204"/>
              </a:rPr>
              <a:t>36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0007020D02" pitchFamily="82" charset="0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0007020D02" pitchFamily="82" charset="0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0007020D02" pitchFamily="82" charset="0"/>
                <a:cs typeface="Arial" panose="020B0604020202020204"/>
                <a:sym typeface="Arial" panose="020B0604020202020204"/>
              </a:rPr>
              <a:t>38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0007020D02" pitchFamily="82" charset="0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2286000" y="338760"/>
            <a:ext cx="6399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Textfeld 1"/>
          <p:cNvSpPr txBox="1"/>
          <p:nvPr userDrawn="1"/>
        </p:nvSpPr>
        <p:spPr>
          <a:xfrm>
            <a:off x="8180614" y="6470198"/>
            <a:ext cx="1232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E9CBD56-2686-4AAC-B011-CC68FE510BD3}" type="slidenum">
              <a:rPr lang="de-AT" smtClean="0">
                <a:solidFill>
                  <a:schemeClr val="bg1"/>
                </a:solidFill>
              </a:rPr>
              <a:t>‹#›</a:t>
            </a:fld>
            <a:r>
              <a:rPr lang="de-AT" dirty="0">
                <a:solidFill>
                  <a:schemeClr val="bg1"/>
                </a:solidFill>
              </a:rPr>
              <a:t> / 38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 preserve="1">
  <p:cSld name="1_Title,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619431" y="2142979"/>
            <a:ext cx="7934633" cy="3525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Textfeld 1"/>
          <p:cNvSpPr txBox="1"/>
          <p:nvPr userDrawn="1"/>
        </p:nvSpPr>
        <p:spPr>
          <a:xfrm>
            <a:off x="8180614" y="6470198"/>
            <a:ext cx="1232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E9CBD56-2686-4AAC-B011-CC68FE510BD3}" type="slidenum">
              <a:rPr lang="de-AT" smtClean="0">
                <a:solidFill>
                  <a:schemeClr val="bg1"/>
                </a:solidFill>
              </a:rPr>
              <a:t>‹#›</a:t>
            </a:fld>
            <a:r>
              <a:rPr lang="de-AT" dirty="0">
                <a:solidFill>
                  <a:schemeClr val="bg1"/>
                </a:solidFill>
              </a:rPr>
              <a:t> / 38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9D5A73E5-E1DD-458C-A16A-C4A93D2B617D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61e8dd047e_0_0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61e8dd047e_0_0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g61e8dd047e_0_0"/>
          <p:cNvSpPr/>
          <p:nvPr/>
        </p:nvSpPr>
        <p:spPr>
          <a:xfrm>
            <a:off x="3657600" y="1481760"/>
            <a:ext cx="1842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3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7.xml"/><Relationship Id="rId5" Type="http://schemas.openxmlformats.org/officeDocument/2006/relationships/slide" Target="slide17.xml"/><Relationship Id="rId4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pandas-docs/stable/user_guide/text.html#method-summary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docs/reference/api/pandas.DataFrame.plot.html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helic/focsp/blob/main/notebooks/unit8_exercise.ipynb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2" y="19050"/>
            <a:ext cx="9144000" cy="6858046"/>
          </a:xfrm>
          <a:prstGeom prst="rect">
            <a:avLst/>
          </a:prstGeom>
          <a:solidFill>
            <a:srgbClr val="D3242A"/>
          </a:solidFill>
          <a:ln>
            <a:noFill/>
          </a:ln>
        </p:spPr>
      </p:pic>
      <p:sp>
        <p:nvSpPr>
          <p:cNvPr id="79" name="Google Shape;79;p1"/>
          <p:cNvSpPr txBox="1">
            <a:spLocks noGrp="1"/>
          </p:cNvSpPr>
          <p:nvPr>
            <p:ph type="title"/>
          </p:nvPr>
        </p:nvSpPr>
        <p:spPr>
          <a:xfrm>
            <a:off x="353192" y="4030874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 panose="020F0502020204030204"/>
              <a:buNone/>
            </a:pPr>
            <a:r>
              <a:rPr lang="en-US" sz="4400" b="1" noProof="0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Fundamentals of Computer Science and Programming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 panose="020F0502020204030204"/>
              <a:buNone/>
            </a:pPr>
            <a:endParaRPr lang="en-US" sz="4400" b="1" noProof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" name="Google Shape;80;p1"/>
          <p:cNvSpPr txBox="1">
            <a:spLocks noGrp="1"/>
          </p:cNvSpPr>
          <p:nvPr>
            <p:ph type="body" idx="1"/>
          </p:nvPr>
        </p:nvSpPr>
        <p:spPr>
          <a:xfrm>
            <a:off x="1841930" y="5268389"/>
            <a:ext cx="5131625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buSzPts val="800"/>
            </a:pP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Unit 8</a:t>
            </a:r>
            <a:r>
              <a:rPr lang="en-US" sz="3200" noProof="0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–</a:t>
            </a:r>
            <a:r>
              <a:rPr lang="en-US" sz="3200" noProof="0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Programming Part V</a:t>
            </a:r>
            <a:endParaRPr lang="en-US" sz="3200" b="0" i="0" u="none" strike="noStrike" cap="none" noProof="0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" name="Rechteck 1"/>
          <p:cNvSpPr/>
          <p:nvPr/>
        </p:nvSpPr>
        <p:spPr>
          <a:xfrm>
            <a:off x="8147261" y="6409467"/>
            <a:ext cx="702051" cy="316357"/>
          </a:xfrm>
          <a:prstGeom prst="rect">
            <a:avLst/>
          </a:prstGeom>
          <a:solidFill>
            <a:srgbClr val="D324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457200" y="1701579"/>
            <a:ext cx="75338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File I/O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4" action="ppaction://hlinksldjump"/>
              </a:rPr>
              <a:t>CSV files and module imports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5" action="ppaction://hlinksldjump"/>
              </a:rPr>
              <a:t>Pandas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6" action="ppaction://hlinksldjump"/>
              </a:rPr>
              <a:t>Examples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7" action="ppaction://hlinksldjump"/>
              </a:rPr>
              <a:t>Exercise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File I/O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86;p2"/>
          <p:cNvSpPr txBox="1"/>
          <p:nvPr/>
        </p:nvSpPr>
        <p:spPr>
          <a:xfrm>
            <a:off x="313944" y="227023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Reading and writing files: File I/O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475" name="PlaceHolder 2"/>
          <p:cNvSpPr>
            <a:spLocks noGrp="1"/>
          </p:cNvSpPr>
          <p:nvPr>
            <p:ph type="body" idx="1"/>
          </p:nvPr>
        </p:nvSpPr>
        <p:spPr>
          <a:xfrm>
            <a:off x="619431" y="1627973"/>
            <a:ext cx="7934633" cy="217151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(.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txt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and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de-AT" sz="1800" spc="-1" dirty="0">
                <a:solidFill>
                  <a:srgbClr val="0F0F0F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solidFill>
                  <a:srgbClr val="0F0F0F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open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files</a:t>
            </a:r>
            <a:r>
              <a:rPr lang="de-AT" sz="1800" spc="-1" dirty="0">
                <a:solidFill>
                  <a:srgbClr val="0F0F0F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open(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filepath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mode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='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rt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')</a:t>
            </a:r>
          </a:p>
          <a:p>
            <a:pPr marL="743585" lvl="2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filepath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de-AT" sz="1800" spc="-1" dirty="0">
                <a:solidFill>
                  <a:srgbClr val="0F0F0F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Path (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de-AT" sz="1800" spc="-1" dirty="0">
                <a:solidFill>
                  <a:srgbClr val="0F0F0F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de-AT" sz="1800" spc="-1" dirty="0">
                <a:solidFill>
                  <a:srgbClr val="0F0F0F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de-AT" sz="1800" spc="-1" dirty="0">
                <a:solidFill>
                  <a:srgbClr val="0F0F0F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AT" sz="1800" spc="-1" dirty="0">
                <a:solidFill>
                  <a:srgbClr val="0F0F0F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string</a:t>
            </a:r>
            <a:endParaRPr lang="de-AT" sz="1800" spc="-1" dirty="0">
              <a:solidFill>
                <a:srgbClr val="0F0F0F"/>
              </a:solidFill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585" lvl="2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mode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Opening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type</a:t>
            </a:r>
          </a:p>
          <a:p>
            <a:pPr marL="1200785" lvl="3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Default: Access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'r'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type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't'</a:t>
            </a:r>
          </a:p>
          <a:p>
            <a:pPr marL="1200785" lvl="3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Combinations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'w', '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wt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', 'ab', 'b', '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rb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', 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</a:t>
            </a:r>
          </a:p>
        </p:txBody>
      </p:sp>
      <p:graphicFrame>
        <p:nvGraphicFramePr>
          <p:cNvPr id="479" name="Tabelle 478"/>
          <p:cNvGraphicFramePr/>
          <p:nvPr/>
        </p:nvGraphicFramePr>
        <p:xfrm>
          <a:off x="431800" y="4170478"/>
          <a:ext cx="4628753" cy="163010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8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8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042">
                <a:tc>
                  <a:txBody>
                    <a:bodyPr/>
                    <a:lstStyle/>
                    <a:p>
                      <a:r>
                        <a:rPr lang="en-US" sz="1800" strike="noStrike" spc="-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Symbol</a:t>
                      </a:r>
                      <a:endParaRPr lang="en-US" sz="1800" b="0" strike="noStrike" spc="-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607" marR="63607" marT="32313" marB="32313" anchor="ctr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  <a:endParaRPr lang="en-US" sz="1800" b="1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607" marR="63607" marT="32313" marB="3231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42">
                <a:tc>
                  <a:txBody>
                    <a:bodyPr/>
                    <a:lstStyle/>
                    <a:p>
                      <a:r>
                        <a:rPr lang="en-US" sz="1800" strike="noStrike" spc="-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'r'</a:t>
                      </a:r>
                      <a:endParaRPr lang="en-US" sz="1800" b="0" strike="noStrike" spc="-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607" marR="63607" marT="32313" marB="32313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 (Default)</a:t>
                      </a:r>
                      <a:endParaRPr lang="en-US" sz="18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607" marR="63607" marT="32313" marB="3231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42">
                <a:tc>
                  <a:txBody>
                    <a:bodyPr/>
                    <a:lstStyle/>
                    <a:p>
                      <a:r>
                        <a:rPr lang="en-US" sz="1800" strike="noStrike" spc="-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'w'</a:t>
                      </a:r>
                      <a:endParaRPr lang="en-US" sz="1800" b="0" strike="noStrike" spc="-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607" marR="63607" marT="32313" marB="32313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Write, current file dropped</a:t>
                      </a:r>
                      <a:endParaRPr lang="en-US" sz="18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607" marR="63607" marT="32313" marB="3231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42">
                <a:tc>
                  <a:txBody>
                    <a:bodyPr/>
                    <a:lstStyle/>
                    <a:p>
                      <a:r>
                        <a:rPr lang="en-US" sz="1800" strike="noStrike" spc="-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'a'</a:t>
                      </a:r>
                      <a:endParaRPr lang="en-US" sz="1800" b="0" strike="noStrike" spc="-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607" marR="63607" marT="32313" marB="32313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Write, append at the end of the current file</a:t>
                      </a:r>
                      <a:endParaRPr lang="en-US" sz="18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607" marR="63607" marT="32313" marB="3231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80" name="Tabelle 479"/>
          <p:cNvGraphicFramePr/>
          <p:nvPr/>
        </p:nvGraphicFramePr>
        <p:xfrm>
          <a:off x="5632945" y="4170478"/>
          <a:ext cx="2806875" cy="117335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8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6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042">
                <a:tc>
                  <a:txBody>
                    <a:bodyPr/>
                    <a:lstStyle/>
                    <a:p>
                      <a:r>
                        <a:rPr lang="en-US" sz="1800" strike="noStrike" spc="-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Symbol</a:t>
                      </a:r>
                      <a:endParaRPr lang="en-US" sz="1800" b="0" strike="noStrike" spc="-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607" marR="63607" marT="32313" marB="32313" anchor="ctr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  <a:endParaRPr lang="en-US" sz="1800" b="1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607" marR="63607" marT="32313" marB="3231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459">
                <a:tc>
                  <a:txBody>
                    <a:bodyPr/>
                    <a:lstStyle/>
                    <a:p>
                      <a:r>
                        <a:rPr lang="en-US" sz="1800" strike="noStrike" spc="-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't'</a:t>
                      </a:r>
                      <a:endParaRPr lang="en-US" sz="1800" b="0" strike="noStrike" spc="-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607" marR="63607" marT="32313" marB="32313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Text file (Default)</a:t>
                      </a:r>
                      <a:endParaRPr lang="en-US" sz="18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607" marR="63607" marT="32313" marB="3231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180">
                <a:tc>
                  <a:txBody>
                    <a:bodyPr/>
                    <a:lstStyle/>
                    <a:p>
                      <a:r>
                        <a:rPr lang="en-US" sz="1800" strike="noStrike" spc="-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'b'</a:t>
                      </a:r>
                      <a:endParaRPr lang="en-US" sz="1800" b="0" strike="noStrike" spc="-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607" marR="63607" marT="32313" marB="32313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Binary file</a:t>
                      </a:r>
                      <a:endParaRPr lang="en-US" sz="18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607" marR="63607" marT="32313" marB="3231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81" name="Textfeld 480"/>
          <p:cNvSpPr txBox="1"/>
          <p:nvPr/>
        </p:nvSpPr>
        <p:spPr>
          <a:xfrm>
            <a:off x="5207449" y="4582869"/>
            <a:ext cx="278600" cy="348568"/>
          </a:xfrm>
          <a:prstGeom prst="rect">
            <a:avLst/>
          </a:prstGeom>
          <a:noFill/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r>
              <a:rPr lang="de-AT" sz="198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+</a:t>
            </a:r>
            <a:endParaRPr lang="en-US" sz="1980" spc="-1" dirty="0">
              <a:highlight>
                <a:srgbClr val="DAE3F3"/>
              </a:highlight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2"/>
          <p:cNvSpPr>
            <a:spLocks noGrp="1"/>
          </p:cNvSpPr>
          <p:nvPr>
            <p:ph type="body" idx="1"/>
          </p:nvPr>
        </p:nvSpPr>
        <p:spPr>
          <a:xfrm>
            <a:off x="604520" y="968187"/>
            <a:ext cx="7934325" cy="566278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2500" lnSpcReduction="20000"/>
          </a:bodyPr>
          <a:lstStyle/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743585" lvl="2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b="1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Absolute </a:t>
            </a:r>
            <a:r>
              <a:rPr lang="de-AT" sz="1800" b="1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785" lvl="3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unix_path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= '/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home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ruptho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/code/test.txt'</a:t>
            </a:r>
          </a:p>
          <a:p>
            <a:pPr marL="1200785" lvl="3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windows_path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= 'C:\\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Documents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\\code\\test.txt'</a:t>
            </a:r>
          </a:p>
          <a:p>
            <a:pPr marL="743585" lvl="2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b="1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Relative </a:t>
            </a:r>
            <a:r>
              <a:rPr lang="de-AT" sz="1800" b="1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Path relative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executable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785" lvl="3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f_path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= 'text.txt'</a:t>
            </a:r>
          </a:p>
          <a:p>
            <a:pPr marL="1200785" lvl="3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Subfolder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files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= '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files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text.txt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‘</a:t>
            </a:r>
          </a:p>
          <a:p>
            <a:pPr marL="743585" lvl="2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you‘re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not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sure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about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separator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200785" lvl="3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import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os</a:t>
            </a:r>
            <a:b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print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os.sep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200785" lvl="3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On Windows,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prints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\</a:t>
            </a:r>
          </a:p>
          <a:p>
            <a:pPr marL="1200785" lvl="3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On Linux/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macOS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prints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</a:p>
          <a:p>
            <a:pPr marL="743585" lvl="2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Python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take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care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this</a:t>
            </a:r>
            <a:endParaRPr lang="de-AT" sz="1800" spc="-1" dirty="0">
              <a:solidFill>
                <a:srgbClr val="0F0F0F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785" lvl="3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pathlib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import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Path</a:t>
            </a:r>
            <a:b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= Path("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folder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") / "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subfolder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" / "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file.txt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b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print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path.resolve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())</a:t>
            </a:r>
          </a:p>
          <a:p>
            <a:pPr marL="1200785" lvl="3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Prints, e.g.,</a:t>
            </a:r>
            <a:b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C:\Users\Ingo\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folder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\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subfolder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\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file.txt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(Windows)</a:t>
            </a:r>
          </a:p>
          <a:p>
            <a:pPr marL="1200785" lvl="3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/Users/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ingo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folder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subfolder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file.txt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macOS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Linux)</a:t>
            </a: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585" lvl="2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you're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not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sure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about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executable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200785" lvl="3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import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os</a:t>
            </a:r>
            <a:b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os.getcwd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endParaRPr lang="de-AT" sz="1800" spc="-1" dirty="0">
              <a:solidFill>
                <a:srgbClr val="0F0F0F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585" lvl="2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Google Shape;86;p2"/>
          <p:cNvSpPr txBox="1"/>
          <p:nvPr/>
        </p:nvSpPr>
        <p:spPr>
          <a:xfrm>
            <a:off x="313944" y="227023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Paths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2"/>
          <p:cNvSpPr>
            <a:spLocks noGrp="1"/>
          </p:cNvSpPr>
          <p:nvPr>
            <p:ph type="body" idx="1"/>
          </p:nvPr>
        </p:nvSpPr>
        <p:spPr>
          <a:xfrm>
            <a:off x="691678" y="2114623"/>
            <a:ext cx="7934633" cy="262871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endParaRPr lang="de-AT" sz="1800" spc="-1" dirty="0" err="1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en-US" altLang="zh-CN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First, mount Google Drive.</a:t>
            </a:r>
          </a:p>
          <a:p>
            <a:pPr marL="1200785" lvl="3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en-US" alt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from</a:t>
            </a:r>
            <a:r>
              <a:rPr lang="en-US" altLang="zh-CN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google.colab import drive</a:t>
            </a:r>
          </a:p>
          <a:p>
            <a:pPr marL="1200785" lvl="3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en-US" altLang="zh-CN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drive.mount('/content/drive')</a:t>
            </a:r>
            <a:endParaRPr lang="en-US" altLang="zh-CN" sz="1800" spc="-1" dirty="0" err="1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endParaRPr lang="en-US" altLang="zh-CN" sz="1800" spc="-1" dirty="0" err="1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743585" lvl="2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Absolute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785" lvl="3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en-US" altLang="zh-CN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file_path = '/content/drive/MyDrive/'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585" lvl="2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Relative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Path relative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executable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785" lvl="3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f_path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= 'text.txt'</a:t>
            </a:r>
          </a:p>
          <a:p>
            <a:pPr marL="1200785" lvl="3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Subfolder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files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= '</a:t>
            </a:r>
            <a:r>
              <a:rPr lang="en-US" altLang="zh-CN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drive/MyDrive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/text.txt'</a:t>
            </a:r>
          </a:p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785" lvl="3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Google Shape;86;p2"/>
          <p:cNvSpPr txBox="1"/>
          <p:nvPr/>
        </p:nvSpPr>
        <p:spPr>
          <a:xfrm>
            <a:off x="313944" y="227023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Paths in Colab</a:t>
            </a:r>
          </a:p>
        </p:txBody>
      </p:sp>
      <p:sp>
        <p:nvSpPr>
          <p:cNvPr id="2" name="PlaceHolder 2"/>
          <p:cNvSpPr>
            <a:spLocks noGrp="1"/>
          </p:cNvSpPr>
          <p:nvPr/>
        </p:nvSpPr>
        <p:spPr>
          <a:xfrm>
            <a:off x="691515" y="4401185"/>
            <a:ext cx="7934325" cy="19519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743585" lvl="2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en-US" altLang="zh-CN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If you're not sure about the executable file path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785" lvl="3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en-US" altLang="zh-CN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import os</a:t>
            </a:r>
          </a:p>
          <a:p>
            <a:pPr marL="1200785" lvl="3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en-US" altLang="zh-CN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os.getcwd()</a:t>
            </a:r>
          </a:p>
          <a:p>
            <a:pPr marL="915035" lvl="3" indent="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</a:pPr>
            <a:endParaRPr lang="en-US" altLang="zh-CN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2"/>
          <p:cNvSpPr>
            <a:spLocks noGrp="1"/>
          </p:cNvSpPr>
          <p:nvPr>
            <p:ph type="body" idx="1"/>
          </p:nvPr>
        </p:nvSpPr>
        <p:spPr>
          <a:xfrm>
            <a:off x="619431" y="2142979"/>
            <a:ext cx="7934633" cy="185620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385" lvl="1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open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200785" lvl="3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opening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785" lvl="3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785" lvl="3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closing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2" name="Textfeld 491"/>
          <p:cNvSpPr txBox="1"/>
          <p:nvPr/>
        </p:nvSpPr>
        <p:spPr>
          <a:xfrm>
            <a:off x="634547" y="4319752"/>
            <a:ext cx="7973310" cy="1198180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r>
              <a:rPr lang="en-US" sz="18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with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open(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'test.txt'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) </a:t>
            </a:r>
            <a:r>
              <a:rPr lang="en-US" sz="1800" b="1" spc="-1" dirty="0">
                <a:solidFill>
                  <a:srgbClr val="0F0F0F"/>
                </a:solidFill>
                <a:latin typeface="Consolas" panose="020B0609020204030204" pitchFamily="49" charset="0"/>
              </a:rPr>
              <a:t>as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</a:t>
            </a:r>
            <a:r>
              <a:rPr lang="en-US" sz="1800" i="1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file_obj</a:t>
            </a:r>
            <a:r>
              <a:rPr lang="en-US" sz="1800" b="1" spc="-1" dirty="0">
                <a:solidFill>
                  <a:srgbClr val="0F0F0F"/>
                </a:solidFill>
                <a:latin typeface="Consolas" panose="020B0609020204030204" pitchFamily="49" charset="0"/>
              </a:rPr>
              <a:t>:</a:t>
            </a:r>
            <a:endParaRPr lang="en-US" sz="1800" spc="-1" dirty="0"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# open() = return object representing file in Python</a:t>
            </a:r>
            <a:endParaRPr lang="en-US" sz="1800" spc="-1" dirty="0"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#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file_obj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variable where file object is stored</a:t>
            </a:r>
            <a:endParaRPr lang="en-US" sz="1800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 print(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'Access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file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and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content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now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using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800" i="1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file_obj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')</a:t>
            </a:r>
            <a:endParaRPr lang="en-US" sz="1800" spc="-1" dirty="0">
              <a:latin typeface="Consolas" panose="020B0609020204030204" pitchFamily="49" charset="0"/>
            </a:endParaRPr>
          </a:p>
        </p:txBody>
      </p:sp>
      <p:sp>
        <p:nvSpPr>
          <p:cNvPr id="11" name="Google Shape;86;p2"/>
          <p:cNvSpPr txBox="1"/>
          <p:nvPr/>
        </p:nvSpPr>
        <p:spPr>
          <a:xfrm>
            <a:off x="313944" y="227023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Reading and writing files: File I/O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body" idx="1"/>
          </p:nvPr>
        </p:nvSpPr>
        <p:spPr>
          <a:xfrm>
            <a:off x="619431" y="2142981"/>
            <a:ext cx="7934633" cy="15041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Lines in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separated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newline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character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'\n'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Reading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'test.txt'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743585" lvl="2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Default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mode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'r'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and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't'</a:t>
            </a:r>
          </a:p>
          <a:p>
            <a:pPr marL="743585" lvl="2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Reading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read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sp>
        <p:nvSpPr>
          <p:cNvPr id="497" name="PlaceHolder 5"/>
          <p:cNvSpPr>
            <a:spLocks noGrp="1"/>
          </p:cNvSpPr>
          <p:nvPr>
            <p:ph type="sldNum" idx="72"/>
          </p:nvPr>
        </p:nvSpPr>
        <p:spPr>
          <a:xfrm>
            <a:off x="0" y="1143000"/>
            <a:ext cx="431800" cy="433388"/>
          </a:xfrm>
          <a:prstGeom prst="rect">
            <a:avLst/>
          </a:prstGeom>
          <a:noFill/>
          <a:ln w="0">
            <a:noFill/>
          </a:ln>
        </p:spPr>
        <p:txBody>
          <a:bodyPr lIns="0" tIns="45797" rIns="0" bIns="45797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en-US" sz="990" b="0" strike="noStrike" spc="-1">
                <a:solidFill>
                  <a:srgbClr val="FFFFFF"/>
                </a:solidFill>
                <a:latin typeface="Arial" panose="020B0604020202020204"/>
              </a:defRPr>
            </a:lvl1pPr>
          </a:lstStyle>
          <a:p>
            <a:fld id="{6BC67CA6-E0B2-4728-84E9-29E1FDDF4E9B}" type="slidenum">
              <a:rPr lang="en-US"/>
              <a:t>7</a:t>
            </a:fld>
            <a:endParaRPr lang="en-US">
              <a:latin typeface="Times New Roman" panose="02020603050405020304"/>
            </a:endParaRPr>
          </a:p>
        </p:txBody>
      </p:sp>
      <p:sp>
        <p:nvSpPr>
          <p:cNvPr id="498" name="Textfeld 497"/>
          <p:cNvSpPr txBox="1"/>
          <p:nvPr/>
        </p:nvSpPr>
        <p:spPr>
          <a:xfrm>
            <a:off x="590007" y="3804626"/>
            <a:ext cx="8142760" cy="1741087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r>
              <a:rPr lang="en-US" sz="18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with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open(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'test.txt'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) </a:t>
            </a:r>
            <a:r>
              <a:rPr lang="en-US" sz="1800" b="1" spc="-1" dirty="0">
                <a:solidFill>
                  <a:srgbClr val="0F0F0F"/>
                </a:solidFill>
                <a:latin typeface="Consolas" panose="020B0609020204030204" pitchFamily="49" charset="0"/>
              </a:rPr>
              <a:t>as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</a:t>
            </a:r>
            <a:r>
              <a:rPr lang="en-US" sz="1800" i="1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file_obj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:</a:t>
            </a:r>
            <a:endParaRPr lang="en-US" sz="1800" spc="-1" dirty="0"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# open() = return object representing file in Python</a:t>
            </a:r>
            <a:endParaRPr lang="en-US" sz="1800" spc="-1" dirty="0"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#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file_obj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variable where file object is stored</a:t>
            </a:r>
            <a:endParaRPr lang="en-US" sz="1800" spc="-1" dirty="0"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file_content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= </a:t>
            </a:r>
            <a:r>
              <a:rPr lang="en-US" sz="1800" i="1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file_obj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.read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() # read from file object</a:t>
            </a:r>
            <a:endParaRPr lang="en-US" sz="1800" spc="-1" dirty="0">
              <a:latin typeface="Consolas" panose="020B0609020204030204" pitchFamily="49" charset="0"/>
            </a:endParaRPr>
          </a:p>
          <a:p>
            <a:endParaRPr lang="en-US" sz="1800" spc="-1" dirty="0"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file_content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)</a:t>
            </a:r>
            <a:endParaRPr lang="en-US" sz="1800" spc="-1" dirty="0">
              <a:latin typeface="Consolas" panose="020B0609020204030204" pitchFamily="49" charset="0"/>
            </a:endParaRPr>
          </a:p>
        </p:txBody>
      </p:sp>
      <p:sp>
        <p:nvSpPr>
          <p:cNvPr id="10" name="Google Shape;86;p2"/>
          <p:cNvSpPr txBox="1"/>
          <p:nvPr/>
        </p:nvSpPr>
        <p:spPr>
          <a:xfrm>
            <a:off x="313944" y="179726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Reading text files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body" idx="1"/>
          </p:nvPr>
        </p:nvSpPr>
        <p:spPr>
          <a:xfrm>
            <a:off x="619431" y="2142979"/>
            <a:ext cx="7934633" cy="114277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Reading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'test.txt'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743585" lvl="2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Default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mode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'r'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and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't'</a:t>
            </a:r>
          </a:p>
          <a:p>
            <a:pPr marL="743585" lvl="2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Reading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a time: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loop</a:t>
            </a:r>
          </a:p>
        </p:txBody>
      </p:sp>
      <p:sp>
        <p:nvSpPr>
          <p:cNvPr id="504" name="Textfeld 503"/>
          <p:cNvSpPr txBox="1"/>
          <p:nvPr/>
        </p:nvSpPr>
        <p:spPr>
          <a:xfrm>
            <a:off x="634547" y="3572244"/>
            <a:ext cx="8142760" cy="1346597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r>
              <a:rPr lang="en-US" sz="18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with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open(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'test.txt'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) </a:t>
            </a:r>
            <a:r>
              <a:rPr lang="en-US" sz="1800" b="1" spc="-1" dirty="0">
                <a:solidFill>
                  <a:srgbClr val="0F0F0F"/>
                </a:solidFill>
                <a:latin typeface="Consolas" panose="020B0609020204030204" pitchFamily="49" charset="0"/>
              </a:rPr>
              <a:t>as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file_obj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:</a:t>
            </a:r>
            <a:endParaRPr lang="en-US" sz="1800" spc="-1" dirty="0"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# Iterating over object = Iterating over lines</a:t>
            </a:r>
            <a:endParaRPr lang="en-US" sz="1800" spc="-1" dirty="0"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</a:t>
            </a:r>
            <a:r>
              <a:rPr lang="en-US" sz="18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for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line </a:t>
            </a:r>
            <a:r>
              <a:rPr lang="en-US" sz="18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in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file_obj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:</a:t>
            </a:r>
            <a:endParaRPr lang="en-US" sz="1800" spc="-1" dirty="0"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    print(line)</a:t>
            </a:r>
            <a:endParaRPr lang="en-US" sz="1800" spc="-1" dirty="0">
              <a:latin typeface="Consolas" panose="020B0609020204030204" pitchFamily="49" charset="0"/>
            </a:endParaRPr>
          </a:p>
        </p:txBody>
      </p:sp>
      <p:sp>
        <p:nvSpPr>
          <p:cNvPr id="10" name="Google Shape;86;p2"/>
          <p:cNvSpPr txBox="1"/>
          <p:nvPr/>
        </p:nvSpPr>
        <p:spPr>
          <a:xfrm>
            <a:off x="313944" y="179726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Reading text files line by line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/>
          </p:nvPr>
        </p:nvSpPr>
        <p:spPr>
          <a:xfrm>
            <a:off x="622335" y="1848231"/>
            <a:ext cx="8295927" cy="11892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Reading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'test.txt'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743585" lvl="2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Default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mode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'r'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and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't'</a:t>
            </a:r>
          </a:p>
          <a:p>
            <a:pPr marL="743585" lvl="2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Reading all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once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readlines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sp>
        <p:nvSpPr>
          <p:cNvPr id="510" name="Textfeld 509"/>
          <p:cNvSpPr txBox="1"/>
          <p:nvPr/>
        </p:nvSpPr>
        <p:spPr>
          <a:xfrm>
            <a:off x="634547" y="3454443"/>
            <a:ext cx="8142760" cy="1564247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r>
              <a:rPr lang="en-US" sz="18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with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open(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'test.txt'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) </a:t>
            </a:r>
            <a:r>
              <a:rPr lang="en-US" sz="1800" b="1" spc="-1" dirty="0">
                <a:solidFill>
                  <a:srgbClr val="0F0F0F"/>
                </a:solidFill>
                <a:latin typeface="Consolas" panose="020B0609020204030204" pitchFamily="49" charset="0"/>
              </a:rPr>
              <a:t>as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file_obj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:</a:t>
            </a:r>
            <a:endParaRPr lang="en-US" sz="1800" spc="-1" dirty="0">
              <a:latin typeface="Consolas" panose="020B0609020204030204" pitchFamily="49" charset="0"/>
            </a:endParaRPr>
          </a:p>
          <a:p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#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store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lines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from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text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in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list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:</a:t>
            </a:r>
            <a:endParaRPr lang="en-US" sz="1800" spc="-1" dirty="0"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lines =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file_obj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.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readlines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()</a:t>
            </a:r>
            <a:endParaRPr lang="en-US" sz="1800" spc="-1" dirty="0">
              <a:latin typeface="Consolas" panose="020B0609020204030204" pitchFamily="49" charset="0"/>
            </a:endParaRPr>
          </a:p>
          <a:p>
            <a:endParaRPr lang="en-US" sz="1800" spc="-1" dirty="0"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print(f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'The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list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lines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is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{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lines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}')</a:t>
            </a:r>
            <a:endParaRPr lang="en-US" sz="1800" spc="-1" dirty="0">
              <a:latin typeface="Consolas" panose="020B0609020204030204" pitchFamily="49" charset="0"/>
            </a:endParaRPr>
          </a:p>
        </p:txBody>
      </p:sp>
      <p:sp>
        <p:nvSpPr>
          <p:cNvPr id="8" name="Google Shape;86;p2"/>
          <p:cNvSpPr txBox="1"/>
          <p:nvPr/>
        </p:nvSpPr>
        <p:spPr>
          <a:xfrm>
            <a:off x="313944" y="179727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Reading all lines at once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2"/>
          <p:cNvSpPr>
            <a:spLocks noGrp="1"/>
          </p:cNvSpPr>
          <p:nvPr>
            <p:ph type="body" idx="1"/>
          </p:nvPr>
        </p:nvSpPr>
        <p:spPr>
          <a:xfrm>
            <a:off x="619431" y="2142980"/>
            <a:ext cx="7934633" cy="148308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Writing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'test.txt'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743585" lvl="2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Setting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mode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'w'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default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type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't'</a:t>
            </a:r>
          </a:p>
          <a:p>
            <a:pPr marL="743585" lvl="2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Append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instead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overwriting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'a'</a:t>
            </a:r>
          </a:p>
          <a:p>
            <a:pPr marL="743585" lvl="2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Writing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characters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write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sp>
        <p:nvSpPr>
          <p:cNvPr id="516" name="Textfeld 515"/>
          <p:cNvSpPr txBox="1"/>
          <p:nvPr/>
        </p:nvSpPr>
        <p:spPr>
          <a:xfrm>
            <a:off x="710876" y="4139876"/>
            <a:ext cx="8142760" cy="1598772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filename = 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'test_write.txt'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endParaRPr lang="en-US" sz="1800" spc="-1" dirty="0">
              <a:latin typeface="Consolas" panose="020B0609020204030204" pitchFamily="49" charset="0"/>
            </a:endParaRPr>
          </a:p>
          <a:p>
            <a:r>
              <a:rPr lang="en-US" sz="18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with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open(filename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, 'w'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) </a:t>
            </a:r>
            <a:r>
              <a:rPr lang="en-US" sz="1800" b="1" spc="-1" dirty="0">
                <a:solidFill>
                  <a:srgbClr val="0F0F0F"/>
                </a:solidFill>
                <a:latin typeface="Consolas" panose="020B0609020204030204" pitchFamily="49" charset="0"/>
              </a:rPr>
              <a:t>as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file_obj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:</a:t>
            </a:r>
            <a:endParaRPr lang="en-US" sz="1800" spc="-1" dirty="0"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# Note the newline char (\n)</a:t>
            </a:r>
            <a:endParaRPr lang="en-US" sz="1800" spc="-1" dirty="0"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file_obj.write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(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'I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love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Programming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.\n'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)</a:t>
            </a:r>
            <a:endParaRPr lang="en-US" sz="1800" spc="-1" dirty="0"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file_obj.write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(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'I do not like Maths.\n'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)</a:t>
            </a:r>
            <a:endParaRPr lang="en-US" sz="1800" spc="-1" dirty="0">
              <a:latin typeface="Consolas" panose="020B0609020204030204" pitchFamily="49" charset="0"/>
            </a:endParaRPr>
          </a:p>
        </p:txBody>
      </p:sp>
      <p:sp>
        <p:nvSpPr>
          <p:cNvPr id="10" name="Google Shape;86;p2"/>
          <p:cNvSpPr txBox="1"/>
          <p:nvPr/>
        </p:nvSpPr>
        <p:spPr>
          <a:xfrm>
            <a:off x="313944" y="179727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Writing text files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CSV files and module imports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2"/>
          <p:cNvSpPr>
            <a:spLocks noGrp="1"/>
          </p:cNvSpPr>
          <p:nvPr>
            <p:ph/>
          </p:nvPr>
        </p:nvSpPr>
        <p:spPr>
          <a:xfrm>
            <a:off x="622335" y="2000634"/>
            <a:ext cx="8410420" cy="18408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385" lvl="1" indent="-285750"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CSV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Files in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i.e., Excel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5490" lvl="1" indent="-285750"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CSV =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Comma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Separated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</a:t>
            </a:r>
          </a:p>
          <a:p>
            <a:pPr marL="745490" lvl="1" indent="-285750"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Cells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separated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delimiter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(e.g.,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; \t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745490" lvl="1" indent="-285750"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Default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separator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depends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language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5490" lvl="1" indent="-285750"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Reading/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csv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external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(e.g.,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csv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pandas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527" name="Textfeld 526"/>
          <p:cNvSpPr txBox="1"/>
          <p:nvPr/>
        </p:nvSpPr>
        <p:spPr>
          <a:xfrm>
            <a:off x="307351" y="4163538"/>
            <a:ext cx="4329880" cy="1548834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Mat.Nr.,</a:t>
            </a:r>
            <a:r>
              <a:rPr lang="en-US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Vorname,Nachname,Punkte</a:t>
            </a:r>
            <a:endParaRPr lang="en-US" sz="1800" spc="-1" dirty="0">
              <a:highlight>
                <a:srgbClr val="DAE3F3"/>
              </a:highlight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1234,Martina,Muster,10</a:t>
            </a:r>
            <a:endParaRPr lang="en-US" sz="1800" spc="-1" dirty="0">
              <a:highlight>
                <a:srgbClr val="DAE3F3"/>
              </a:highlight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1313,Max,Muster,12</a:t>
            </a:r>
            <a:endParaRPr lang="en-US" sz="1800" spc="-1" dirty="0">
              <a:highlight>
                <a:srgbClr val="DAE3F3"/>
              </a:highlight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4242,Test,Student,16</a:t>
            </a:r>
            <a:endParaRPr lang="en-US" sz="1800" spc="-1" dirty="0">
              <a:highlight>
                <a:srgbClr val="DAE3F3"/>
              </a:highlight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2424,Test,Studentin,14</a:t>
            </a:r>
            <a:endParaRPr lang="en-US" sz="1800" spc="-1" dirty="0">
              <a:highlight>
                <a:srgbClr val="DAE3F3"/>
              </a:highlight>
              <a:latin typeface="Consolas" panose="020B0609020204030204" pitchFamily="49" charset="0"/>
            </a:endParaRPr>
          </a:p>
        </p:txBody>
      </p:sp>
      <p:pic>
        <p:nvPicPr>
          <p:cNvPr id="528" name="Grafik 527"/>
          <p:cNvPicPr/>
          <p:nvPr/>
        </p:nvPicPr>
        <p:blipFill>
          <a:blip r:embed="rId3"/>
          <a:stretch>
            <a:fillRect/>
          </a:stretch>
        </p:blipFill>
        <p:spPr>
          <a:xfrm>
            <a:off x="5373296" y="4158958"/>
            <a:ext cx="3593816" cy="1339062"/>
          </a:xfrm>
          <a:prstGeom prst="rect">
            <a:avLst/>
          </a:prstGeom>
          <a:ln w="0">
            <a:noFill/>
          </a:ln>
        </p:spPr>
      </p:pic>
      <p:sp>
        <p:nvSpPr>
          <p:cNvPr id="529" name="Pfeil: nach links und rechts 528"/>
          <p:cNvSpPr/>
          <p:nvPr/>
        </p:nvSpPr>
        <p:spPr>
          <a:xfrm>
            <a:off x="4676159" y="4631433"/>
            <a:ext cx="646251" cy="517001"/>
          </a:xfrm>
          <a:prstGeom prst="leftRightArrow">
            <a:avLst>
              <a:gd name="adj1" fmla="val 39203"/>
              <a:gd name="adj2" fmla="val 43487"/>
            </a:avLst>
          </a:prstGeom>
          <a:solidFill>
            <a:srgbClr val="C9211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Google Shape;86;p2"/>
          <p:cNvSpPr txBox="1"/>
          <p:nvPr/>
        </p:nvSpPr>
        <p:spPr>
          <a:xfrm>
            <a:off x="313944" y="179727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CSV files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2"/>
          <p:cNvSpPr>
            <a:spLocks noGrp="1"/>
          </p:cNvSpPr>
          <p:nvPr>
            <p:ph/>
          </p:nvPr>
        </p:nvSpPr>
        <p:spPr>
          <a:xfrm>
            <a:off x="622335" y="2000633"/>
            <a:ext cx="7930311" cy="260815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285750" lvl="1" indent="-285750"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spc="-1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mport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</a:t>
            </a:r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eyword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2475" lvl="4" indent="-285750"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functionality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scripts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external code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libraries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2475" lvl="5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Functionality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own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2475" lvl="5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u="sng" spc="-1" dirty="0">
                <a:solidFill>
                  <a:srgbClr val="1C9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Python Standard Library</a:t>
            </a:r>
            <a:r>
              <a:rPr lang="de-AT" sz="1800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available</a:t>
            </a:r>
            <a:r>
              <a:rPr lang="de-AT" sz="1800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 </a:t>
            </a:r>
            <a:r>
              <a:rPr lang="de-AT" sz="1800" spc="-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default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2475" lvl="5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</a:t>
            </a:r>
            <a:r>
              <a:rPr lang="de-AT" sz="1800" spc="-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modules</a:t>
            </a:r>
            <a:r>
              <a:rPr lang="de-AT" sz="1800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(e.g., </a:t>
            </a:r>
            <a:r>
              <a:rPr lang="en-US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pandas</a:t>
            </a:r>
            <a:r>
              <a:rPr lang="de-AT" sz="1800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 </a:t>
            </a:r>
            <a:r>
              <a:rPr lang="de-AT" sz="1800" spc="-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installation</a:t>
            </a:r>
            <a:r>
              <a:rPr lang="de-AT" sz="1800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via </a:t>
            </a:r>
            <a:r>
              <a:rPr lang="de-AT" sz="1800" spc="-1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pip</a:t>
            </a:r>
            <a:r>
              <a:rPr lang="de-AT" sz="1800" spc="-1" dirty="0">
                <a:highlight>
                  <a:srgbClr val="D3D3D3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86;p2"/>
          <p:cNvSpPr txBox="1"/>
          <p:nvPr/>
        </p:nvSpPr>
        <p:spPr>
          <a:xfrm>
            <a:off x="313944" y="132431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Importing modules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2"/>
          <p:cNvSpPr>
            <a:spLocks noGrp="1"/>
          </p:cNvSpPr>
          <p:nvPr>
            <p:ph type="body" idx="1"/>
          </p:nvPr>
        </p:nvSpPr>
        <p:spPr>
          <a:xfrm>
            <a:off x="619431" y="2142980"/>
            <a:ext cx="7934633" cy="22452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385" lvl="1" indent="-285750"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import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585" lvl="4" indent="-285750"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import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&lt;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ModuleName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1200785" lvl="6" indent="-285750"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import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>
                <a:solidFill>
                  <a:srgbClr val="32CD32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de-AT" sz="1800" spc="-1" dirty="0" err="1">
                <a:solidFill>
                  <a:srgbClr val="32CD32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ModuleName</a:t>
            </a:r>
            <a:r>
              <a:rPr lang="de-AT" sz="1800" spc="-1" dirty="0">
                <a:solidFill>
                  <a:srgbClr val="32CD32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>
                <a:solidFill>
                  <a:srgbClr val="1E90F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&lt;alias&gt;</a:t>
            </a: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385" lvl="5" indent="-285750"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743585" lvl="6" indent="-285750"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import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random</a:t>
            </a: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585" lvl="6" indent="-285750"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import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pandas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pd</a:t>
            </a: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385" lvl="1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Calling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</a:t>
            </a:r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>
                <a:solidFill>
                  <a:srgbClr val="1E90F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&lt;alias&gt;</a:t>
            </a:r>
            <a:r>
              <a:rPr lang="en-US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800" i="1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de-AT" sz="1800" i="1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800" i="1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lang="de-AT" sz="1800" i="1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1800" i="1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tion</a:t>
            </a:r>
            <a:r>
              <a:rPr lang="de-AT" sz="1800" i="1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_n</a:t>
            </a:r>
            <a:r>
              <a:rPr lang="en-US" sz="1800" i="1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ame&gt;()</a:t>
            </a: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0" name="Textfeld 539"/>
          <p:cNvSpPr txBox="1"/>
          <p:nvPr/>
        </p:nvSpPr>
        <p:spPr>
          <a:xfrm>
            <a:off x="622335" y="4482789"/>
            <a:ext cx="8149809" cy="1586935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# random-module: https://docs.python.org/3/library/random.html</a:t>
            </a:r>
            <a:endParaRPr lang="en-US" sz="1800" spc="-1" dirty="0">
              <a:latin typeface="Consolas" panose="020B0609020204030204" pitchFamily="49" charset="0"/>
            </a:endParaRPr>
          </a:p>
          <a:p>
            <a:r>
              <a:rPr lang="en-US" sz="18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import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en-US" sz="1800" spc="-1" dirty="0">
                <a:solidFill>
                  <a:srgbClr val="32CD32"/>
                </a:solidFill>
                <a:latin typeface="Consolas" panose="020B0609020204030204" pitchFamily="49" charset="0"/>
                <a:ea typeface="Droid Sans Fallback"/>
              </a:rPr>
              <a:t>random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en-US" sz="18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as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en-US" sz="1800" spc="-1" dirty="0" err="1">
                <a:solidFill>
                  <a:srgbClr val="1E90FF"/>
                </a:solidFill>
                <a:latin typeface="Consolas" panose="020B0609020204030204" pitchFamily="49" charset="0"/>
                <a:ea typeface="Droid Sans Fallback"/>
              </a:rPr>
              <a:t>rd</a:t>
            </a:r>
            <a:endParaRPr lang="en-US" sz="1800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  <a:ea typeface="Droid Sans Fallback"/>
            </a:endParaRPr>
          </a:p>
          <a:p>
            <a:pPr>
              <a:lnSpc>
                <a:spcPct val="100000"/>
              </a:lnSpc>
            </a:pP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# for example, get random number between 1 and (inclusive) 13</a:t>
            </a:r>
            <a:endParaRPr lang="en-US" sz="1800" spc="-1" dirty="0">
              <a:latin typeface="Consolas" panose="020B0609020204030204" pitchFamily="49" charset="0"/>
            </a:endParaRPr>
          </a:p>
          <a:p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random_number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= </a:t>
            </a:r>
            <a:r>
              <a:rPr lang="en-US" sz="1800" spc="-1" dirty="0" err="1">
                <a:solidFill>
                  <a:srgbClr val="1E90FF"/>
                </a:solidFill>
                <a:latin typeface="Consolas" panose="020B0609020204030204" pitchFamily="49" charset="0"/>
                <a:ea typeface="Droid Sans Fallback"/>
              </a:rPr>
              <a:t>rd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.</a:t>
            </a:r>
            <a:r>
              <a:rPr lang="en-US" sz="1800" i="1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randint</a:t>
            </a:r>
            <a:r>
              <a:rPr lang="en-US" sz="1800" i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(1, 13)</a:t>
            </a:r>
            <a:endParaRPr lang="en-US" sz="1800" spc="-1" dirty="0">
              <a:latin typeface="Consolas" panose="020B0609020204030204" pitchFamily="49" charset="0"/>
            </a:endParaRPr>
          </a:p>
        </p:txBody>
      </p:sp>
      <p:sp>
        <p:nvSpPr>
          <p:cNvPr id="8" name="Google Shape;86;p2"/>
          <p:cNvSpPr txBox="1"/>
          <p:nvPr/>
        </p:nvSpPr>
        <p:spPr>
          <a:xfrm>
            <a:off x="313944" y="175631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Importing modules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Textfeld 540"/>
          <p:cNvSpPr txBox="1"/>
          <p:nvPr/>
        </p:nvSpPr>
        <p:spPr>
          <a:xfrm>
            <a:off x="646251" y="4518952"/>
            <a:ext cx="8207385" cy="1382824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5" name="PlaceHolder 4"/>
          <p:cNvSpPr>
            <a:spLocks noGrp="1"/>
          </p:cNvSpPr>
          <p:nvPr>
            <p:ph type="sldNum" idx="96"/>
          </p:nvPr>
        </p:nvSpPr>
        <p:spPr>
          <a:xfrm>
            <a:off x="-6360" y="1142697"/>
            <a:ext cx="431512" cy="433802"/>
          </a:xfrm>
          <a:prstGeom prst="rect">
            <a:avLst/>
          </a:prstGeom>
          <a:noFill/>
          <a:ln w="0">
            <a:noFill/>
          </a:ln>
        </p:spPr>
        <p:txBody>
          <a:bodyPr lIns="0" tIns="45797" rIns="0" bIns="45797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en-US" sz="990" b="0" strike="noStrike" spc="-1">
                <a:solidFill>
                  <a:srgbClr val="FFFFFF"/>
                </a:solidFill>
                <a:latin typeface="Arial" panose="020B0604020202020204"/>
              </a:defRPr>
            </a:lvl1pPr>
          </a:lstStyle>
          <a:p>
            <a:fld id="{004FD43B-3FC3-423B-B710-A5EA0E474ADD}" type="slidenum">
              <a:rPr lang="en-US"/>
              <a:t>15</a:t>
            </a:fld>
            <a:endParaRPr lang="en-US">
              <a:latin typeface="Times New Roman" panose="02020603050405020304"/>
            </a:endParaRPr>
          </a:p>
        </p:txBody>
      </p:sp>
      <p:sp>
        <p:nvSpPr>
          <p:cNvPr id="546" name="Textfeld 545"/>
          <p:cNvSpPr txBox="1"/>
          <p:nvPr/>
        </p:nvSpPr>
        <p:spPr>
          <a:xfrm>
            <a:off x="646251" y="2951182"/>
            <a:ext cx="8207385" cy="1382824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7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# imports are usually at the beginning of files</a:t>
            </a:r>
            <a:endParaRPr lang="en-US" sz="1270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27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# But for the sake of this example, let's imagine this is a </a:t>
            </a:r>
            <a:r>
              <a:rPr lang="en-US" sz="127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Jupyter</a:t>
            </a:r>
            <a:r>
              <a:rPr lang="en-US" sz="127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-Cell!</a:t>
            </a:r>
            <a:endParaRPr lang="en-US" sz="1270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27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import</a:t>
            </a:r>
            <a:r>
              <a:rPr lang="en-US" sz="127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pandas </a:t>
            </a:r>
            <a:r>
              <a:rPr lang="en-US" sz="127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as</a:t>
            </a:r>
            <a:r>
              <a:rPr lang="en-US" sz="127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pd        </a:t>
            </a:r>
            <a:endParaRPr lang="en-US" sz="1270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endParaRPr lang="en-US" sz="1270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27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dataframe</a:t>
            </a:r>
            <a:r>
              <a:rPr lang="en-US" sz="127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= </a:t>
            </a:r>
            <a:r>
              <a:rPr lang="en-US" sz="127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pd.read_csv</a:t>
            </a:r>
            <a:r>
              <a:rPr lang="en-US" sz="127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('students.csv', </a:t>
            </a:r>
            <a:r>
              <a:rPr lang="en-US" sz="127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sep</a:t>
            </a:r>
            <a:r>
              <a:rPr lang="en-US" sz="127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=',')</a:t>
            </a:r>
            <a:endParaRPr lang="en-US" sz="1270" spc="-1" dirty="0">
              <a:latin typeface="Consolas" panose="020B0609020204030204" pitchFamily="49" charset="0"/>
            </a:endParaRPr>
          </a:p>
          <a:p>
            <a:r>
              <a:rPr lang="en-US" sz="127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dataframe</a:t>
            </a:r>
            <a:endParaRPr lang="en-US" sz="1270" spc="-1" dirty="0">
              <a:latin typeface="Consolas" panose="020B0609020204030204" pitchFamily="49" charset="0"/>
            </a:endParaRPr>
          </a:p>
        </p:txBody>
      </p:sp>
      <p:sp>
        <p:nvSpPr>
          <p:cNvPr id="547" name="Textfeld 546"/>
          <p:cNvSpPr txBox="1"/>
          <p:nvPr/>
        </p:nvSpPr>
        <p:spPr>
          <a:xfrm>
            <a:off x="1129667" y="1811591"/>
            <a:ext cx="3489754" cy="1071149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r>
              <a:rPr lang="en-US" sz="127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Mat.Nr.,</a:t>
            </a:r>
            <a:r>
              <a:rPr lang="en-US" sz="127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Vorname,Nachname,Punkte</a:t>
            </a:r>
            <a:endParaRPr lang="en-US" sz="1270" spc="-1" dirty="0">
              <a:latin typeface="Consolas" panose="020B0609020204030204" pitchFamily="49" charset="0"/>
            </a:endParaRPr>
          </a:p>
          <a:p>
            <a:r>
              <a:rPr lang="en-US" sz="127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1234,Martina,Muster,10</a:t>
            </a:r>
            <a:endParaRPr lang="en-US" sz="1270" spc="-1" dirty="0">
              <a:latin typeface="Consolas" panose="020B0609020204030204" pitchFamily="49" charset="0"/>
            </a:endParaRPr>
          </a:p>
          <a:p>
            <a:r>
              <a:rPr lang="en-US" sz="127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1313,Max,Muster,12</a:t>
            </a:r>
            <a:endParaRPr lang="en-US" sz="1270" spc="-1" dirty="0">
              <a:latin typeface="Consolas" panose="020B0609020204030204" pitchFamily="49" charset="0"/>
            </a:endParaRPr>
          </a:p>
          <a:p>
            <a:r>
              <a:rPr lang="en-US" sz="127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4242,Test,Student,16</a:t>
            </a:r>
            <a:endParaRPr lang="en-US" sz="1270" spc="-1" dirty="0">
              <a:latin typeface="Consolas" panose="020B0609020204030204" pitchFamily="49" charset="0"/>
            </a:endParaRPr>
          </a:p>
          <a:p>
            <a:r>
              <a:rPr lang="en-US" sz="127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2424,Test,Studentin,14</a:t>
            </a:r>
            <a:endParaRPr lang="en-US" sz="1270" spc="-1" dirty="0">
              <a:latin typeface="Consolas" panose="020B0609020204030204" pitchFamily="49" charset="0"/>
            </a:endParaRPr>
          </a:p>
        </p:txBody>
      </p:sp>
      <p:sp>
        <p:nvSpPr>
          <p:cNvPr id="548" name="Textfeld 547"/>
          <p:cNvSpPr txBox="1"/>
          <p:nvPr/>
        </p:nvSpPr>
        <p:spPr>
          <a:xfrm rot="16200000">
            <a:off x="-184207" y="2048466"/>
            <a:ext cx="1551002" cy="563561"/>
          </a:xfrm>
          <a:prstGeom prst="rect">
            <a:avLst/>
          </a:prstGeom>
          <a:noFill/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algn="ctr"/>
            <a:r>
              <a:rPr lang="en-US" sz="1555" b="1" spc="-1"/>
              <a:t>students.csv</a:t>
            </a:r>
            <a:endParaRPr lang="en-US" sz="1555" spc="-1"/>
          </a:p>
        </p:txBody>
      </p:sp>
      <p:sp>
        <p:nvSpPr>
          <p:cNvPr id="549" name="Textfeld 548"/>
          <p:cNvSpPr txBox="1"/>
          <p:nvPr/>
        </p:nvSpPr>
        <p:spPr>
          <a:xfrm rot="16200000">
            <a:off x="-88541" y="3377096"/>
            <a:ext cx="1156382" cy="313712"/>
          </a:xfrm>
          <a:prstGeom prst="rect">
            <a:avLst/>
          </a:prstGeom>
          <a:noFill/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algn="ctr"/>
            <a:r>
              <a:rPr lang="en-US" sz="1555" b="1" spc="-1"/>
              <a:t>Code</a:t>
            </a:r>
            <a:endParaRPr lang="en-US" sz="1555" spc="-1"/>
          </a:p>
        </p:txBody>
      </p:sp>
      <p:sp>
        <p:nvSpPr>
          <p:cNvPr id="550" name="Textfeld 549"/>
          <p:cNvSpPr txBox="1"/>
          <p:nvPr/>
        </p:nvSpPr>
        <p:spPr>
          <a:xfrm rot="16200000">
            <a:off x="-230513" y="5064541"/>
            <a:ext cx="1310821" cy="313712"/>
          </a:xfrm>
          <a:prstGeom prst="rect">
            <a:avLst/>
          </a:prstGeom>
          <a:noFill/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algn="ctr"/>
            <a:r>
              <a:rPr lang="en-US" sz="1555" b="1" spc="-1" dirty="0"/>
              <a:t>Output</a:t>
            </a:r>
            <a:endParaRPr lang="en-US" sz="1555" spc="-1" dirty="0"/>
          </a:p>
        </p:txBody>
      </p:sp>
      <p:pic>
        <p:nvPicPr>
          <p:cNvPr id="551" name="Grafik 550"/>
          <p:cNvPicPr/>
          <p:nvPr/>
        </p:nvPicPr>
        <p:blipFill>
          <a:blip r:embed="rId3"/>
          <a:stretch>
            <a:fillRect/>
          </a:stretch>
        </p:blipFill>
        <p:spPr>
          <a:xfrm>
            <a:off x="681617" y="4550756"/>
            <a:ext cx="3092081" cy="1321761"/>
          </a:xfrm>
          <a:prstGeom prst="rect">
            <a:avLst/>
          </a:prstGeom>
          <a:ln w="0">
            <a:noFill/>
          </a:ln>
        </p:spPr>
      </p:pic>
      <p:pic>
        <p:nvPicPr>
          <p:cNvPr id="552" name="Grafik 551"/>
          <p:cNvPicPr/>
          <p:nvPr/>
        </p:nvPicPr>
        <p:blipFill>
          <a:blip r:embed="rId4"/>
          <a:stretch>
            <a:fillRect/>
          </a:stretch>
        </p:blipFill>
        <p:spPr>
          <a:xfrm>
            <a:off x="5438175" y="1760706"/>
            <a:ext cx="3037379" cy="1068095"/>
          </a:xfrm>
          <a:prstGeom prst="rect">
            <a:avLst/>
          </a:prstGeom>
          <a:ln w="0">
            <a:noFill/>
          </a:ln>
        </p:spPr>
      </p:pic>
      <p:sp>
        <p:nvSpPr>
          <p:cNvPr id="553" name="Textfeld 552"/>
          <p:cNvSpPr txBox="1"/>
          <p:nvPr/>
        </p:nvSpPr>
        <p:spPr>
          <a:xfrm rot="16200000">
            <a:off x="352385" y="2175681"/>
            <a:ext cx="1227877" cy="244761"/>
          </a:xfrm>
          <a:prstGeom prst="rect">
            <a:avLst/>
          </a:prstGeom>
          <a:noFill/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algn="ctr"/>
            <a:r>
              <a:rPr lang="en-US" sz="1270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a text editor</a:t>
            </a:r>
          </a:p>
        </p:txBody>
      </p:sp>
      <p:sp>
        <p:nvSpPr>
          <p:cNvPr id="554" name="Textfeld 553"/>
          <p:cNvSpPr txBox="1"/>
          <p:nvPr/>
        </p:nvSpPr>
        <p:spPr>
          <a:xfrm rot="16200000">
            <a:off x="4662674" y="2175681"/>
            <a:ext cx="1227877" cy="244761"/>
          </a:xfrm>
          <a:prstGeom prst="rect">
            <a:avLst/>
          </a:prstGeom>
          <a:noFill/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algn="ctr"/>
            <a:r>
              <a:rPr lang="en-US" sz="1270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Excel</a:t>
            </a:r>
          </a:p>
        </p:txBody>
      </p:sp>
      <p:sp>
        <p:nvSpPr>
          <p:cNvPr id="16" name="Google Shape;86;p2"/>
          <p:cNvSpPr txBox="1"/>
          <p:nvPr/>
        </p:nvSpPr>
        <p:spPr>
          <a:xfrm>
            <a:off x="313944" y="182831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Example: </a:t>
            </a:r>
            <a:r>
              <a:rPr lang="en-US" sz="2800" b="1" dirty="0" err="1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pd.read_csv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2" name="Rechteck 1"/>
          <p:cNvSpPr/>
          <p:nvPr/>
        </p:nvSpPr>
        <p:spPr>
          <a:xfrm>
            <a:off x="528004" y="5986287"/>
            <a:ext cx="19316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 unit8.ipynb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Pandas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body" idx="1"/>
          </p:nvPr>
        </p:nvSpPr>
        <p:spPr>
          <a:xfrm>
            <a:off x="645707" y="1354703"/>
            <a:ext cx="7934633" cy="306489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tabular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(e.g.,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xls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csv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743585" lvl="3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import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pandas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pd</a:t>
            </a: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385" lvl="1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DataFrame</a:t>
            </a: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Multidimensional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array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Fixed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descriptors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rows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rows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dictionaries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Individual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rows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69" name="Grafik 368"/>
          <p:cNvPicPr/>
          <p:nvPr/>
        </p:nvPicPr>
        <p:blipFill>
          <a:blip r:embed="rId3"/>
          <a:stretch>
            <a:fillRect/>
          </a:stretch>
        </p:blipFill>
        <p:spPr>
          <a:xfrm>
            <a:off x="6276481" y="2723459"/>
            <a:ext cx="2303859" cy="1836217"/>
          </a:xfrm>
          <a:prstGeom prst="rect">
            <a:avLst/>
          </a:prstGeom>
          <a:ln w="0">
            <a:noFill/>
          </a:ln>
        </p:spPr>
      </p:pic>
      <p:sp>
        <p:nvSpPr>
          <p:cNvPr id="10" name="Google Shape;86;p2"/>
          <p:cNvSpPr txBox="1"/>
          <p:nvPr/>
        </p:nvSpPr>
        <p:spPr>
          <a:xfrm>
            <a:off x="313944" y="190031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Pandas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body" idx="1"/>
          </p:nvPr>
        </p:nvSpPr>
        <p:spPr>
          <a:xfrm>
            <a:off x="619431" y="1733075"/>
            <a:ext cx="7934633" cy="374806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286385" lvl="1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DataFrame</a:t>
            </a: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manipulation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Convenient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powerful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functionality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200785" lvl="3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200785" lvl="3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filtering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785" lvl="3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easy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delete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785" lvl="3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Easy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computations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785" lvl="3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785" lvl="3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ploting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200785" lvl="3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	</a:t>
            </a:r>
          </a:p>
        </p:txBody>
      </p:sp>
      <p:sp>
        <p:nvSpPr>
          <p:cNvPr id="10" name="Google Shape;86;p2"/>
          <p:cNvSpPr txBox="1"/>
          <p:nvPr/>
        </p:nvSpPr>
        <p:spPr>
          <a:xfrm>
            <a:off x="313944" y="149934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Pandas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2"/>
          <p:cNvSpPr>
            <a:spLocks noGrp="1"/>
          </p:cNvSpPr>
          <p:nvPr>
            <p:ph/>
          </p:nvPr>
        </p:nvSpPr>
        <p:spPr>
          <a:xfrm>
            <a:off x="526340" y="1382496"/>
            <a:ext cx="8245804" cy="459263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DataFrame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dictionary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</a:pP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</a:pPr>
            <a:br>
              <a:rPr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72135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2135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DataDrame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2135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2135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2135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(e.g., CSV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383" name="Textfeld 382"/>
          <p:cNvSpPr txBox="1"/>
          <p:nvPr/>
        </p:nvSpPr>
        <p:spPr>
          <a:xfrm>
            <a:off x="371856" y="1803744"/>
            <a:ext cx="5771441" cy="1641539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AT" sz="12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import</a:t>
            </a: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2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pandas</a:t>
            </a: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2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as</a:t>
            </a: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2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pd</a:t>
            </a:r>
            <a:endParaRPr lang="en-US" sz="1200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e-AT" sz="12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data</a:t>
            </a: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= {'</a:t>
            </a:r>
            <a:r>
              <a:rPr lang="de-AT" sz="12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population</a:t>
            </a: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': {'California': 38332521,</a:t>
            </a:r>
            <a:endParaRPr lang="en-US" sz="1200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		  'New York': 19651127, </a:t>
            </a:r>
            <a:endParaRPr lang="en-US" sz="1200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	             'Florida': 19552860},</a:t>
            </a:r>
            <a:endParaRPr lang="en-US" sz="1200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    '</a:t>
            </a:r>
            <a:r>
              <a:rPr lang="de-AT" sz="12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area</a:t>
            </a: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': {'California': 423967, </a:t>
            </a:r>
            <a:endParaRPr lang="en-US" sz="1200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             'New York': 141297, </a:t>
            </a:r>
            <a:endParaRPr lang="en-US" sz="1200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             'Florida': 170312}}</a:t>
            </a:r>
            <a:endParaRPr lang="en-US" sz="1200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e-AT" sz="12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df</a:t>
            </a: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= </a:t>
            </a:r>
            <a:r>
              <a:rPr lang="de-AT" sz="12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pd.DataFrame</a:t>
            </a: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(</a:t>
            </a:r>
            <a:r>
              <a:rPr lang="de-AT" sz="12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data</a:t>
            </a: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)</a:t>
            </a:r>
            <a:endParaRPr lang="en-US" sz="1200" spc="-1" dirty="0">
              <a:latin typeface="Consolas" panose="020B0609020204030204" pitchFamily="49" charset="0"/>
            </a:endParaRPr>
          </a:p>
        </p:txBody>
      </p:sp>
      <p:sp>
        <p:nvSpPr>
          <p:cNvPr id="384" name="Textfeld 383"/>
          <p:cNvSpPr txBox="1"/>
          <p:nvPr/>
        </p:nvSpPr>
        <p:spPr>
          <a:xfrm>
            <a:off x="371856" y="4142673"/>
            <a:ext cx="5771441" cy="1107243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AT" sz="12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import</a:t>
            </a: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2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pandas</a:t>
            </a: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2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as</a:t>
            </a: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2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pd</a:t>
            </a:r>
            <a:endParaRPr lang="en-US" sz="1200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e-AT" sz="12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data</a:t>
            </a: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= [['California', 423967, 38332521], </a:t>
            </a:r>
            <a:endParaRPr lang="en-US" sz="1200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    ['New York', 141297, 19651127],</a:t>
            </a:r>
            <a:endParaRPr lang="en-US" sz="1200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    ['Florida', 170312, 19552860]]</a:t>
            </a:r>
            <a:endParaRPr lang="en-US" sz="1200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e-AT" sz="12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df</a:t>
            </a: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= </a:t>
            </a:r>
            <a:r>
              <a:rPr lang="de-AT" sz="12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pd.DataFrame</a:t>
            </a: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(</a:t>
            </a:r>
            <a:r>
              <a:rPr lang="de-AT" sz="12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data</a:t>
            </a: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, </a:t>
            </a:r>
            <a:r>
              <a:rPr lang="de-AT" sz="12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columns</a:t>
            </a: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=['</a:t>
            </a:r>
            <a:r>
              <a:rPr lang="de-AT" sz="12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state</a:t>
            </a: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','</a:t>
            </a:r>
            <a:r>
              <a:rPr lang="de-AT" sz="12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area</a:t>
            </a: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','</a:t>
            </a:r>
            <a:r>
              <a:rPr lang="de-AT" sz="12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population</a:t>
            </a:r>
            <a:r>
              <a:rPr lang="de-AT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'])</a:t>
            </a:r>
            <a:endParaRPr lang="en-US" sz="1200" spc="-1" dirty="0">
              <a:latin typeface="Consolas" panose="020B0609020204030204" pitchFamily="49" charset="0"/>
            </a:endParaRPr>
          </a:p>
        </p:txBody>
      </p:sp>
      <p:pic>
        <p:nvPicPr>
          <p:cNvPr id="385" name="Grafik 384"/>
          <p:cNvPicPr/>
          <p:nvPr/>
        </p:nvPicPr>
        <p:blipFill>
          <a:blip r:embed="rId3"/>
          <a:stretch>
            <a:fillRect/>
          </a:stretch>
        </p:blipFill>
        <p:spPr>
          <a:xfrm>
            <a:off x="6947850" y="1803744"/>
            <a:ext cx="2135172" cy="1121779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pic>
        <p:nvPicPr>
          <p:cNvPr id="386" name="Grafik 385"/>
          <p:cNvPicPr/>
          <p:nvPr/>
        </p:nvPicPr>
        <p:blipFill>
          <a:blip r:embed="rId4"/>
          <a:stretch>
            <a:fillRect/>
          </a:stretch>
        </p:blipFill>
        <p:spPr>
          <a:xfrm>
            <a:off x="6785015" y="4142673"/>
            <a:ext cx="2298007" cy="1052829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sp>
        <p:nvSpPr>
          <p:cNvPr id="387" name="Pfeil: nach rechts 386"/>
          <p:cNvSpPr/>
          <p:nvPr/>
        </p:nvSpPr>
        <p:spPr>
          <a:xfrm>
            <a:off x="6268124" y="2135162"/>
            <a:ext cx="418282" cy="418282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1E90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8" name="Pfeil: nach rechts 387"/>
          <p:cNvSpPr/>
          <p:nvPr/>
        </p:nvSpPr>
        <p:spPr>
          <a:xfrm>
            <a:off x="6268124" y="4430353"/>
            <a:ext cx="418282" cy="418282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1E90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AT" dirty="0"/>
          </a:p>
        </p:txBody>
      </p:sp>
      <p:sp>
        <p:nvSpPr>
          <p:cNvPr id="13" name="Google Shape;86;p2"/>
          <p:cNvSpPr txBox="1"/>
          <p:nvPr/>
        </p:nvSpPr>
        <p:spPr>
          <a:xfrm>
            <a:off x="421944" y="171534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Creating </a:t>
            </a:r>
            <a:r>
              <a:rPr lang="en-US" sz="2800" b="1" dirty="0" err="1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DataFrames</a:t>
            </a: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 manually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Textfeld 392"/>
          <p:cNvSpPr txBox="1"/>
          <p:nvPr/>
        </p:nvSpPr>
        <p:spPr>
          <a:xfrm>
            <a:off x="926124" y="1811592"/>
            <a:ext cx="3085720" cy="1529375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r>
              <a:rPr lang="en-US" sz="12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state,population,area</a:t>
            </a:r>
            <a:endParaRPr lang="en-US" sz="1200" spc="-1" dirty="0">
              <a:latin typeface="Consolas" panose="020B0609020204030204" pitchFamily="49" charset="0"/>
            </a:endParaRPr>
          </a:p>
          <a:p>
            <a:r>
              <a:rPr lang="en-US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California,38332521.0,423967.0</a:t>
            </a:r>
            <a:endParaRPr lang="en-US" sz="1200" spc="-1" dirty="0">
              <a:latin typeface="Consolas" panose="020B0609020204030204" pitchFamily="49" charset="0"/>
            </a:endParaRPr>
          </a:p>
          <a:p>
            <a:r>
              <a:rPr lang="en-US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Texas,26448193.0,695662.0</a:t>
            </a:r>
            <a:endParaRPr lang="en-US" sz="1200" spc="-1" dirty="0">
              <a:latin typeface="Consolas" panose="020B0609020204030204" pitchFamily="49" charset="0"/>
            </a:endParaRPr>
          </a:p>
          <a:p>
            <a:r>
              <a:rPr lang="en-US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New York,19651127.0,141297.0</a:t>
            </a:r>
            <a:endParaRPr lang="en-US" sz="1200" spc="-1" dirty="0">
              <a:latin typeface="Consolas" panose="020B0609020204030204" pitchFamily="49" charset="0"/>
            </a:endParaRPr>
          </a:p>
          <a:p>
            <a:r>
              <a:rPr lang="en-US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Florida,19552860.0,170312.0</a:t>
            </a:r>
            <a:endParaRPr lang="en-US" sz="1200" spc="-1" dirty="0">
              <a:latin typeface="Consolas" panose="020B0609020204030204" pitchFamily="49" charset="0"/>
            </a:endParaRPr>
          </a:p>
          <a:p>
            <a:r>
              <a:rPr lang="en-US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New Jersey,9288994.0,</a:t>
            </a:r>
            <a:endParaRPr lang="en-US" sz="1200" spc="-1" dirty="0">
              <a:latin typeface="Consolas" panose="020B0609020204030204" pitchFamily="49" charset="0"/>
            </a:endParaRPr>
          </a:p>
          <a:p>
            <a:r>
              <a:rPr lang="en-US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Hawaii,0.0,0.0</a:t>
            </a:r>
            <a:endParaRPr lang="en-US" sz="1200" spc="-1" dirty="0">
              <a:latin typeface="Consolas" panose="020B0609020204030204" pitchFamily="49" charset="0"/>
            </a:endParaRPr>
          </a:p>
          <a:p>
            <a:r>
              <a:rPr lang="en-US" sz="12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Illinois,12882135.0,149995.0</a:t>
            </a:r>
            <a:endParaRPr lang="en-US" sz="1200" spc="-1" dirty="0">
              <a:latin typeface="Consolas" panose="020B0609020204030204" pitchFamily="49" charset="0"/>
            </a:endParaRPr>
          </a:p>
        </p:txBody>
      </p:sp>
      <p:sp>
        <p:nvSpPr>
          <p:cNvPr id="394" name="Textfeld 393"/>
          <p:cNvSpPr txBox="1"/>
          <p:nvPr/>
        </p:nvSpPr>
        <p:spPr>
          <a:xfrm rot="16200000">
            <a:off x="-1245686" y="3303058"/>
            <a:ext cx="3616206" cy="563561"/>
          </a:xfrm>
          <a:prstGeom prst="rect">
            <a:avLst/>
          </a:prstGeom>
          <a:noFill/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algn="ctr"/>
            <a:r>
              <a:rPr lang="en-US" sz="1555" b="1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states.csv</a:t>
            </a:r>
            <a:endParaRPr lang="en-US" sz="1555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5" name="Textfeld 394"/>
          <p:cNvSpPr txBox="1"/>
          <p:nvPr/>
        </p:nvSpPr>
        <p:spPr>
          <a:xfrm rot="16200000">
            <a:off x="-109659" y="2383549"/>
            <a:ext cx="1643614" cy="244761"/>
          </a:xfrm>
          <a:prstGeom prst="rect">
            <a:avLst/>
          </a:prstGeom>
          <a:noFill/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algn="ctr"/>
            <a:r>
              <a:rPr lang="en-US" sz="1270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a text editor</a:t>
            </a:r>
          </a:p>
        </p:txBody>
      </p:sp>
      <p:sp>
        <p:nvSpPr>
          <p:cNvPr id="396" name="Textfeld 395"/>
          <p:cNvSpPr txBox="1"/>
          <p:nvPr/>
        </p:nvSpPr>
        <p:spPr>
          <a:xfrm rot="16200000">
            <a:off x="2947057" y="3361576"/>
            <a:ext cx="3793797" cy="425660"/>
          </a:xfrm>
          <a:prstGeom prst="rect">
            <a:avLst/>
          </a:prstGeom>
          <a:noFill/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algn="ctr"/>
            <a:r>
              <a:rPr lang="en-US" sz="1555" b="1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(</a:t>
            </a:r>
            <a:r>
              <a:rPr lang="en-US" sz="1555" b="1" spc="-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US" sz="1555" b="1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-Notebook)</a:t>
            </a:r>
            <a:endParaRPr lang="en-US" sz="1555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7" name="Textfeld 396"/>
          <p:cNvSpPr txBox="1"/>
          <p:nvPr/>
        </p:nvSpPr>
        <p:spPr>
          <a:xfrm rot="16200000">
            <a:off x="4685827" y="2011319"/>
            <a:ext cx="1410048" cy="522853"/>
          </a:xfrm>
          <a:prstGeom prst="rect">
            <a:avLst/>
          </a:prstGeom>
          <a:noFill/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algn="ctr"/>
            <a:r>
              <a:rPr lang="en-US" sz="1555" spc="-1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DataFrame</a:t>
            </a:r>
            <a:r>
              <a:rPr lang="en-US" sz="1555" spc="-1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sz="1555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AT" sz="1555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</a:t>
            </a:r>
            <a:endParaRPr lang="en-US" sz="1555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8" name="Textfeld 397"/>
          <p:cNvSpPr txBox="1"/>
          <p:nvPr/>
        </p:nvSpPr>
        <p:spPr>
          <a:xfrm rot="16200000">
            <a:off x="4119977" y="3827691"/>
            <a:ext cx="2542513" cy="522853"/>
          </a:xfrm>
          <a:prstGeom prst="rect">
            <a:avLst/>
          </a:prstGeom>
          <a:noFill/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algn="ctr"/>
            <a:r>
              <a:rPr lang="en-US" sz="1555" spc="-1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DataFrame</a:t>
            </a:r>
            <a:r>
              <a:rPr lang="en-US" sz="1555" spc="-1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sz="1555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AT" sz="1555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</a:t>
            </a:r>
            <a:endParaRPr lang="en-US" sz="1555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9" name="Textfeld 398"/>
          <p:cNvSpPr txBox="1"/>
          <p:nvPr/>
        </p:nvSpPr>
        <p:spPr>
          <a:xfrm rot="16200000">
            <a:off x="-90576" y="4206791"/>
            <a:ext cx="1643614" cy="244761"/>
          </a:xfrm>
          <a:prstGeom prst="rect">
            <a:avLst/>
          </a:prstGeom>
          <a:noFill/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algn="ctr"/>
            <a:r>
              <a:rPr lang="en-US" sz="1270" spc="-1"/>
              <a:t>In Excel</a:t>
            </a:r>
          </a:p>
        </p:txBody>
      </p:sp>
      <p:pic>
        <p:nvPicPr>
          <p:cNvPr id="400" name="Grafik 399"/>
          <p:cNvPicPr/>
          <p:nvPr/>
        </p:nvPicPr>
        <p:blipFill>
          <a:blip r:embed="rId3"/>
          <a:stretch>
            <a:fillRect/>
          </a:stretch>
        </p:blipFill>
        <p:spPr>
          <a:xfrm>
            <a:off x="904243" y="3507364"/>
            <a:ext cx="3100477" cy="1859116"/>
          </a:xfrm>
          <a:prstGeom prst="rect">
            <a:avLst/>
          </a:prstGeom>
          <a:ln w="0">
            <a:noFill/>
          </a:ln>
        </p:spPr>
      </p:pic>
      <p:sp>
        <p:nvSpPr>
          <p:cNvPr id="401" name="Freihandform: Form 400"/>
          <p:cNvSpPr/>
          <p:nvPr/>
        </p:nvSpPr>
        <p:spPr>
          <a:xfrm>
            <a:off x="4339040" y="1726358"/>
            <a:ext cx="0" cy="3718741"/>
          </a:xfrm>
          <a:custGeom>
            <a:avLst/>
            <a:gdLst/>
            <a:ahLst/>
            <a:cxnLst/>
            <a:rect l="0" t="0" r="r" b="b"/>
            <a:pathLst>
              <a:path h="14616" fill="none">
                <a:moveTo>
                  <a:pt x="0" y="0"/>
                </a:moveTo>
                <a:lnTo>
                  <a:pt x="0" y="14616"/>
                </a:lnTo>
              </a:path>
            </a:pathLst>
          </a:custGeom>
          <a:ln w="36720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pic>
        <p:nvPicPr>
          <p:cNvPr id="402" name="Grafik 401"/>
          <p:cNvPicPr/>
          <p:nvPr/>
        </p:nvPicPr>
        <p:blipFill>
          <a:blip r:embed="rId4"/>
          <a:stretch>
            <a:fillRect/>
          </a:stretch>
        </p:blipFill>
        <p:spPr>
          <a:xfrm>
            <a:off x="5602537" y="1923287"/>
            <a:ext cx="3508837" cy="3532244"/>
          </a:xfrm>
          <a:prstGeom prst="rect">
            <a:avLst/>
          </a:prstGeom>
          <a:ln w="0">
            <a:noFill/>
          </a:ln>
        </p:spPr>
      </p:pic>
      <p:sp>
        <p:nvSpPr>
          <p:cNvPr id="16" name="Google Shape;86;p2"/>
          <p:cNvSpPr txBox="1"/>
          <p:nvPr/>
        </p:nvSpPr>
        <p:spPr>
          <a:xfrm>
            <a:off x="486744" y="131437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Loading </a:t>
            </a:r>
            <a:r>
              <a:rPr lang="en-US" sz="2800" b="1" dirty="0" err="1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DataFrames</a:t>
            </a: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 from a CSV file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2"/>
          <p:cNvSpPr>
            <a:spLocks noGrp="1"/>
          </p:cNvSpPr>
          <p:nvPr>
            <p:ph type="body" idx="1"/>
          </p:nvPr>
        </p:nvSpPr>
        <p:spPr>
          <a:xfrm>
            <a:off x="610634" y="2126986"/>
            <a:ext cx="7934633" cy="352531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286385" lvl="1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rows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index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385" lvl="1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endParaRPr lang="de-AT" sz="1800" b="1" spc="-1" dirty="0">
              <a:solidFill>
                <a:srgbClr val="0F0F0F"/>
              </a:solidFill>
              <a:highlight>
                <a:srgbClr val="DAE3F3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b="1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.loc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[3]</a:t>
            </a:r>
          </a:p>
          <a:p>
            <a:pPr marL="687070" lvl="2" indent="0">
              <a:spcBef>
                <a:spcPts val="600"/>
              </a:spcBef>
            </a:pP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385" lvl="1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(e.g.,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b="1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</a:t>
            </a: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b="1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.area</a:t>
            </a: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b="1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.loc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[:, '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</a:t>
            </a:r>
          </a:p>
        </p:txBody>
      </p:sp>
      <p:pic>
        <p:nvPicPr>
          <p:cNvPr id="409" name="Grafik 408"/>
          <p:cNvPicPr/>
          <p:nvPr/>
        </p:nvPicPr>
        <p:blipFill>
          <a:blip r:embed="rId3"/>
          <a:stretch>
            <a:fillRect/>
          </a:stretch>
        </p:blipFill>
        <p:spPr>
          <a:xfrm>
            <a:off x="5394922" y="2239797"/>
            <a:ext cx="3690245" cy="3252880"/>
          </a:xfrm>
          <a:prstGeom prst="rect">
            <a:avLst/>
          </a:prstGeom>
          <a:ln w="0">
            <a:noFill/>
          </a:ln>
        </p:spPr>
      </p:pic>
      <p:sp>
        <p:nvSpPr>
          <p:cNvPr id="410" name="Textfeld 409"/>
          <p:cNvSpPr txBox="1"/>
          <p:nvPr/>
        </p:nvSpPr>
        <p:spPr>
          <a:xfrm>
            <a:off x="4776952" y="1903187"/>
            <a:ext cx="4167351" cy="286742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algn="ctr"/>
            <a:r>
              <a:rPr lang="en-US" sz="1800" b="1" spc="-1" dirty="0">
                <a:latin typeface="Consolas" panose="020B0609020204030204" pitchFamily="49" charset="0"/>
                <a:ea typeface="Droid Sans Fallback"/>
              </a:rPr>
              <a:t>df</a:t>
            </a:r>
            <a:r>
              <a:rPr lang="en-US" sz="1800" spc="-1" dirty="0">
                <a:latin typeface="Consolas" panose="020B0609020204030204" pitchFamily="49" charset="0"/>
                <a:ea typeface="Droid Sans Fallback"/>
              </a:rPr>
              <a:t> = </a:t>
            </a:r>
            <a:r>
              <a:rPr lang="en-US" sz="1800" spc="-1" dirty="0" err="1">
                <a:latin typeface="Consolas" panose="020B0609020204030204" pitchFamily="49" charset="0"/>
                <a:ea typeface="Droid Sans Fallback"/>
              </a:rPr>
              <a:t>pd.read_csv</a:t>
            </a:r>
            <a:r>
              <a:rPr lang="en-US" sz="1800" spc="-1" dirty="0">
                <a:latin typeface="Consolas" panose="020B0609020204030204" pitchFamily="49" charset="0"/>
                <a:ea typeface="Droid Sans Fallback"/>
              </a:rPr>
              <a:t>('states.csv</a:t>
            </a:r>
            <a:r>
              <a:rPr lang="en-US" sz="1800" spc="-1" dirty="0">
                <a:latin typeface="Consolas" panose="020B0609020204030204" pitchFamily="49" charset="0"/>
              </a:rPr>
              <a:t>')</a:t>
            </a:r>
          </a:p>
        </p:txBody>
      </p:sp>
      <p:sp>
        <p:nvSpPr>
          <p:cNvPr id="411" name="Rechteck 410"/>
          <p:cNvSpPr/>
          <p:nvPr/>
        </p:nvSpPr>
        <p:spPr>
          <a:xfrm>
            <a:off x="1222279" y="3242630"/>
            <a:ext cx="1738516" cy="372739"/>
          </a:xfrm>
          <a:prstGeom prst="rect">
            <a:avLst/>
          </a:prstGeom>
          <a:noFill/>
          <a:ln w="36720">
            <a:solidFill>
              <a:srgbClr val="1E90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2" name="Rechteck 411"/>
          <p:cNvSpPr/>
          <p:nvPr/>
        </p:nvSpPr>
        <p:spPr>
          <a:xfrm>
            <a:off x="5418075" y="3935315"/>
            <a:ext cx="3672944" cy="372739"/>
          </a:xfrm>
          <a:prstGeom prst="rect">
            <a:avLst/>
          </a:prstGeom>
          <a:noFill/>
          <a:ln w="36720">
            <a:solidFill>
              <a:srgbClr val="1E90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3" name="Rechteck 412"/>
          <p:cNvSpPr/>
          <p:nvPr/>
        </p:nvSpPr>
        <p:spPr>
          <a:xfrm>
            <a:off x="1246704" y="4308054"/>
            <a:ext cx="2405641" cy="1176482"/>
          </a:xfrm>
          <a:prstGeom prst="rect">
            <a:avLst/>
          </a:prstGeom>
          <a:noFill/>
          <a:ln w="36720">
            <a:solidFill>
              <a:srgbClr val="32CD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4" name="Rechteck 413"/>
          <p:cNvSpPr/>
          <p:nvPr/>
        </p:nvSpPr>
        <p:spPr>
          <a:xfrm>
            <a:off x="8084496" y="2294754"/>
            <a:ext cx="921543" cy="3189782"/>
          </a:xfrm>
          <a:prstGeom prst="rect">
            <a:avLst/>
          </a:prstGeom>
          <a:noFill/>
          <a:ln w="36720">
            <a:solidFill>
              <a:srgbClr val="32CD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" name="Google Shape;86;p2"/>
          <p:cNvSpPr txBox="1"/>
          <p:nvPr/>
        </p:nvSpPr>
        <p:spPr>
          <a:xfrm>
            <a:off x="472344" y="153037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Accessing rows and columns in </a:t>
            </a:r>
            <a:r>
              <a:rPr lang="en-US" sz="2800" b="1" dirty="0" err="1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DataFrames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385" lvl="1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operators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Comparison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operators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previously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&gt;,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&lt;,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&gt;=,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&lt;=,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==,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!=</a:t>
            </a: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Logical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operators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operators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972820" lvl="2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72820" lvl="2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72820" lvl="2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72820" lvl="2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385" lvl="1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operator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DataFrame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boolean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mask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DataFrame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boolean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mask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selection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21" name="Tabelle 420"/>
          <p:cNvGraphicFramePr/>
          <p:nvPr/>
        </p:nvGraphicFramePr>
        <p:xfrm>
          <a:off x="2735514" y="3390167"/>
          <a:ext cx="3672971" cy="135578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79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89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Logical operator</a:t>
                      </a:r>
                      <a:endParaRPr lang="en-US" sz="18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607" marR="63607" marT="32313" marB="323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pandas</a:t>
                      </a:r>
                      <a:endParaRPr lang="en-US" sz="1800" b="1" strike="noStrike" spc="-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607" marR="63607" marT="32313" marB="3231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125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and</a:t>
                      </a:r>
                      <a:endParaRPr lang="en-US" sz="18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607" marR="63607" marT="32313" marB="323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&amp;</a:t>
                      </a:r>
                      <a:endParaRPr lang="en-US" sz="18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607" marR="63607" marT="32313" marB="3231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125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</a:t>
                      </a:r>
                      <a:endParaRPr lang="en-US" sz="1800" b="0" strike="noStrike" spc="-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607" marR="63607" marT="32313" marB="323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|</a:t>
                      </a:r>
                      <a:endParaRPr lang="en-US" sz="18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607" marR="63607" marT="32313" marB="3231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125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</a:t>
                      </a:r>
                      <a:endParaRPr lang="en-US" sz="18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607" marR="63607" marT="32313" marB="323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</a:t>
                      </a:r>
                      <a:endParaRPr lang="en-US" sz="18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607" marR="63607" marT="32313" marB="3231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Google Shape;86;p2"/>
          <p:cNvSpPr txBox="1"/>
          <p:nvPr/>
        </p:nvSpPr>
        <p:spPr>
          <a:xfrm>
            <a:off x="479544" y="16181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Filtering columns in </a:t>
            </a:r>
            <a:r>
              <a:rPr lang="en-US" sz="2800" b="1" dirty="0" err="1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DataFrames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2"/>
          <p:cNvSpPr>
            <a:spLocks noGrp="1"/>
          </p:cNvSpPr>
          <p:nvPr>
            <p:ph type="body" idx="1"/>
          </p:nvPr>
        </p:nvSpPr>
        <p:spPr>
          <a:xfrm>
            <a:off x="756065" y="867104"/>
            <a:ext cx="7934633" cy="415684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286385" lvl="1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rows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25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million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people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df.population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&gt; 25000000]</a:t>
            </a: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population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 &gt; 25000000]</a:t>
            </a: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df.loc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df.population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&gt; 25000000]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385" lvl="1" indent="-285750">
              <a:spcBef>
                <a:spcPts val="1200"/>
              </a:spcBef>
              <a:spcAft>
                <a:spcPts val="4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 Boolean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masking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!</a:t>
            </a:r>
          </a:p>
          <a:p>
            <a:pPr marL="743585" lvl="2" indent="-285750">
              <a:spcBef>
                <a:spcPts val="1200"/>
              </a:spcBef>
              <a:spcAft>
                <a:spcPts val="4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df.population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&gt; 25000000)</a:t>
            </a:r>
            <a:r>
              <a:rPr lang="de-AT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=&gt;</a:t>
            </a:r>
          </a:p>
          <a:p>
            <a:pPr marL="286385" lvl="1"/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[True, True,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</a:p>
        </p:txBody>
      </p:sp>
      <p:pic>
        <p:nvPicPr>
          <p:cNvPr id="428" name="Grafik 427"/>
          <p:cNvPicPr/>
          <p:nvPr/>
        </p:nvPicPr>
        <p:blipFill>
          <a:blip r:embed="rId3"/>
          <a:stretch>
            <a:fillRect/>
          </a:stretch>
        </p:blipFill>
        <p:spPr>
          <a:xfrm>
            <a:off x="5880119" y="2438506"/>
            <a:ext cx="3205048" cy="2825185"/>
          </a:xfrm>
          <a:prstGeom prst="rect">
            <a:avLst/>
          </a:prstGeom>
          <a:ln w="0">
            <a:noFill/>
          </a:ln>
        </p:spPr>
      </p:pic>
      <p:sp>
        <p:nvSpPr>
          <p:cNvPr id="429" name="Textfeld 428"/>
          <p:cNvSpPr txBox="1"/>
          <p:nvPr/>
        </p:nvSpPr>
        <p:spPr>
          <a:xfrm>
            <a:off x="5830506" y="2066276"/>
            <a:ext cx="3287483" cy="247051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algn="ctr"/>
            <a:r>
              <a:rPr lang="en-US" sz="1270" spc="-1" dirty="0"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df = </a:t>
            </a:r>
            <a:r>
              <a:rPr lang="en-US" sz="1270" spc="-1" dirty="0" err="1"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pd.read_csv</a:t>
            </a:r>
            <a:r>
              <a:rPr lang="en-US" sz="1270" spc="-1" dirty="0"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('states.csv</a:t>
            </a:r>
            <a:r>
              <a:rPr lang="en-US" sz="1270" spc="-1" dirty="0">
                <a:highlight>
                  <a:srgbClr val="DAE3F3"/>
                </a:highlight>
                <a:latin typeface="Consolas" panose="020B0609020204030204" pitchFamily="49" charset="0"/>
              </a:rPr>
              <a:t>')</a:t>
            </a:r>
          </a:p>
        </p:txBody>
      </p:sp>
      <p:sp>
        <p:nvSpPr>
          <p:cNvPr id="430" name="Rechteck 429"/>
          <p:cNvSpPr/>
          <p:nvPr/>
        </p:nvSpPr>
        <p:spPr>
          <a:xfrm>
            <a:off x="1479126" y="2013222"/>
            <a:ext cx="4112377" cy="1087330"/>
          </a:xfrm>
          <a:prstGeom prst="rect">
            <a:avLst/>
          </a:prstGeom>
          <a:noFill/>
          <a:ln w="36720">
            <a:solidFill>
              <a:srgbClr val="1E90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1" name="Rechteck 430"/>
          <p:cNvSpPr/>
          <p:nvPr/>
        </p:nvSpPr>
        <p:spPr>
          <a:xfrm>
            <a:off x="5849333" y="2830837"/>
            <a:ext cx="3254916" cy="692811"/>
          </a:xfrm>
          <a:prstGeom prst="rect">
            <a:avLst/>
          </a:prstGeom>
          <a:noFill/>
          <a:ln w="36720">
            <a:solidFill>
              <a:srgbClr val="1E90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" name="Google Shape;86;p2"/>
          <p:cNvSpPr txBox="1"/>
          <p:nvPr/>
        </p:nvSpPr>
        <p:spPr>
          <a:xfrm>
            <a:off x="493944" y="157714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Filtering columns in </a:t>
            </a:r>
            <a:r>
              <a:rPr lang="en-US" sz="2800" b="1" dirty="0" err="1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DataFrames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2"/>
          <p:cNvSpPr>
            <a:spLocks noGrp="1"/>
          </p:cNvSpPr>
          <p:nvPr>
            <p:ph type="body" idx="1"/>
          </p:nvPr>
        </p:nvSpPr>
        <p:spPr>
          <a:xfrm>
            <a:off x="556368" y="1879695"/>
            <a:ext cx="7934633" cy="352531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385" lvl="1" indent="-285750">
              <a:spcBef>
                <a:spcPts val="6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rows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millions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people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200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thousend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km²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743585" lvl="3" indent="-285750">
              <a:spcBef>
                <a:spcPts val="6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[(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df.population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&lt; 15000000) &amp;</a:t>
            </a:r>
            <a:br>
              <a:rPr sz="16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(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df.area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&lt; 200000)]</a:t>
            </a:r>
          </a:p>
          <a:p>
            <a:pPr marL="743585" lvl="3" indent="-285750">
              <a:spcBef>
                <a:spcPts val="6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df.loc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[(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df.population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&lt; 15000000) &amp;</a:t>
            </a:r>
            <a:br>
              <a:rPr sz="16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	  (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df.area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&lt; 200000)]</a:t>
            </a:r>
          </a:p>
          <a:p>
            <a:pPr marL="286385" lvl="1" indent="-285750">
              <a:spcBef>
                <a:spcPts val="8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  </a:t>
            </a:r>
          </a:p>
          <a:p>
            <a:pPr marL="743585" lvl="2" indent="-285750">
              <a:spcBef>
                <a:spcPts val="8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[(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df.population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&lt; 15000000) &amp;</a:t>
            </a:r>
            <a:br>
              <a:rPr sz="16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(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df.area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&lt; 200000)]</a:t>
            </a:r>
            <a:r>
              <a:rPr lang="de-AT" sz="1600" spc="-1" dirty="0">
                <a:solidFill>
                  <a:srgbClr val="32CD32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de-AT" sz="1600" spc="-1" dirty="0" err="1">
                <a:solidFill>
                  <a:srgbClr val="32CD32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state</a:t>
            </a:r>
            <a:r>
              <a:rPr lang="de-AT" sz="1600" spc="-1" dirty="0">
                <a:solidFill>
                  <a:srgbClr val="32CD32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</a:t>
            </a:r>
            <a:endParaRPr lang="de-AT" sz="16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585" lvl="2" indent="-285750">
              <a:spcBef>
                <a:spcPts val="8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df.loc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[(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df.population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&lt; 15000000) &amp;</a:t>
            </a:r>
            <a:br>
              <a:rPr sz="16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	  (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df.area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&lt; 200000), </a:t>
            </a:r>
            <a:r>
              <a:rPr lang="de-AT" sz="1600" spc="-1" dirty="0">
                <a:solidFill>
                  <a:srgbClr val="32CD32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</a:t>
            </a:r>
            <a:r>
              <a:rPr lang="de-AT" sz="1600" spc="-1" dirty="0" err="1">
                <a:solidFill>
                  <a:srgbClr val="32CD32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state</a:t>
            </a:r>
            <a:r>
              <a:rPr lang="de-AT" sz="1600" spc="-1" dirty="0">
                <a:solidFill>
                  <a:srgbClr val="32CD32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</a:p>
        </p:txBody>
      </p:sp>
      <p:pic>
        <p:nvPicPr>
          <p:cNvPr id="442" name="Grafik 441"/>
          <p:cNvPicPr/>
          <p:nvPr/>
        </p:nvPicPr>
        <p:blipFill>
          <a:blip r:embed="rId3"/>
          <a:stretch>
            <a:fillRect/>
          </a:stretch>
        </p:blipFill>
        <p:spPr>
          <a:xfrm>
            <a:off x="5921337" y="2419170"/>
            <a:ext cx="3170445" cy="2794653"/>
          </a:xfrm>
          <a:prstGeom prst="rect">
            <a:avLst/>
          </a:prstGeom>
          <a:ln w="0">
            <a:noFill/>
          </a:ln>
        </p:spPr>
      </p:pic>
      <p:sp>
        <p:nvSpPr>
          <p:cNvPr id="443" name="Textfeld 442"/>
          <p:cNvSpPr txBox="1"/>
          <p:nvPr/>
        </p:nvSpPr>
        <p:spPr>
          <a:xfrm>
            <a:off x="5927698" y="2066276"/>
            <a:ext cx="3215734" cy="267405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algn="ctr"/>
            <a:r>
              <a:rPr lang="en-US" sz="1270" spc="-1" dirty="0">
                <a:latin typeface="Consolas" panose="020B0609020204030204" pitchFamily="49" charset="0"/>
                <a:ea typeface="Droid Sans Fallback"/>
              </a:rPr>
              <a:t>df = </a:t>
            </a:r>
            <a:r>
              <a:rPr lang="en-US" sz="1270" spc="-1" dirty="0" err="1">
                <a:latin typeface="Consolas" panose="020B0609020204030204" pitchFamily="49" charset="0"/>
                <a:ea typeface="Droid Sans Fallback"/>
              </a:rPr>
              <a:t>pd.read_csv</a:t>
            </a:r>
            <a:r>
              <a:rPr lang="en-US" sz="1270" spc="-1" dirty="0">
                <a:latin typeface="Consolas" panose="020B0609020204030204" pitchFamily="49" charset="0"/>
                <a:ea typeface="Droid Sans Fallback"/>
              </a:rPr>
              <a:t>('states.csv</a:t>
            </a:r>
            <a:r>
              <a:rPr lang="en-US" sz="1270" spc="-1" dirty="0">
                <a:latin typeface="Consolas" panose="020B0609020204030204" pitchFamily="49" charset="0"/>
              </a:rPr>
              <a:t>')</a:t>
            </a:r>
          </a:p>
        </p:txBody>
      </p:sp>
      <p:sp>
        <p:nvSpPr>
          <p:cNvPr id="444" name="Rechteck 443"/>
          <p:cNvSpPr/>
          <p:nvPr/>
        </p:nvSpPr>
        <p:spPr>
          <a:xfrm>
            <a:off x="1250731" y="2785241"/>
            <a:ext cx="4670606" cy="1150328"/>
          </a:xfrm>
          <a:prstGeom prst="rect">
            <a:avLst/>
          </a:prstGeom>
          <a:noFill/>
          <a:ln w="36720">
            <a:solidFill>
              <a:srgbClr val="1E90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5" name="Rechteck 444"/>
          <p:cNvSpPr/>
          <p:nvPr/>
        </p:nvSpPr>
        <p:spPr>
          <a:xfrm>
            <a:off x="5947543" y="3484466"/>
            <a:ext cx="3104294" cy="745224"/>
          </a:xfrm>
          <a:prstGeom prst="rect">
            <a:avLst/>
          </a:prstGeom>
          <a:noFill/>
          <a:ln w="36720">
            <a:solidFill>
              <a:srgbClr val="1E90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6" name="Rechteck 445"/>
          <p:cNvSpPr/>
          <p:nvPr/>
        </p:nvSpPr>
        <p:spPr>
          <a:xfrm>
            <a:off x="1191128" y="4390234"/>
            <a:ext cx="4756416" cy="1137300"/>
          </a:xfrm>
          <a:prstGeom prst="rect">
            <a:avLst/>
          </a:prstGeom>
          <a:noFill/>
          <a:ln w="36720">
            <a:solidFill>
              <a:srgbClr val="32CD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7" name="Rechteck 446"/>
          <p:cNvSpPr/>
          <p:nvPr/>
        </p:nvSpPr>
        <p:spPr>
          <a:xfrm>
            <a:off x="6267615" y="3530263"/>
            <a:ext cx="967341" cy="653629"/>
          </a:xfrm>
          <a:prstGeom prst="rect">
            <a:avLst/>
          </a:prstGeom>
          <a:noFill/>
          <a:ln w="36720">
            <a:solidFill>
              <a:srgbClr val="32CD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" name="Google Shape;86;p2"/>
          <p:cNvSpPr txBox="1"/>
          <p:nvPr/>
        </p:nvSpPr>
        <p:spPr>
          <a:xfrm>
            <a:off x="479544" y="157714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Filtering columns in </a:t>
            </a:r>
            <a:r>
              <a:rPr lang="en-US" sz="2800" b="1" dirty="0" err="1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DataFrames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286385" lvl="1" indent="-285750">
              <a:spcBef>
                <a:spcPts val="400"/>
              </a:spcBef>
              <a:spcAft>
                <a:spcPts val="4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DataFrame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385" lvl="1" indent="-285750">
              <a:spcBef>
                <a:spcPts val="400"/>
              </a:spcBef>
              <a:spcAft>
                <a:spcPts val="4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585" lvl="2" indent="-285750">
              <a:spcBef>
                <a:spcPts val="400"/>
              </a:spcBef>
              <a:spcAft>
                <a:spcPts val="4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Lists:</a:t>
            </a:r>
          </a:p>
          <a:p>
            <a:pPr marL="1200785" lvl="3" indent="-285750">
              <a:spcBef>
                <a:spcPts val="400"/>
              </a:spcBef>
              <a:spcAft>
                <a:spcPts val="4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b="1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</a:t>
            </a:r>
            <a:r>
              <a:rPr lang="de-AT" sz="1800" b="1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sum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max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min()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len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… </a:t>
            </a:r>
          </a:p>
          <a:p>
            <a:pPr marL="1200785" lvl="3" indent="-285750">
              <a:spcBef>
                <a:spcPts val="400"/>
              </a:spcBef>
              <a:spcAft>
                <a:spcPts val="4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len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elements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743585" lvl="2" indent="-285750">
              <a:spcBef>
                <a:spcPts val="400"/>
              </a:spcBef>
              <a:spcAft>
                <a:spcPts val="4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200785" lvl="3" indent="-285750">
              <a:spcBef>
                <a:spcPts val="400"/>
              </a:spcBef>
              <a:spcAft>
                <a:spcPts val="4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b="1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Methods: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sum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max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min()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count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median()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mean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value_counts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... </a:t>
            </a:r>
          </a:p>
          <a:p>
            <a:pPr marL="1200785" lvl="3" indent="-285750">
              <a:spcBef>
                <a:spcPts val="400"/>
              </a:spcBef>
              <a:spcAft>
                <a:spcPts val="4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DataFrame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'].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sum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sp>
        <p:nvSpPr>
          <p:cNvPr id="8" name="Google Shape;86;p2"/>
          <p:cNvSpPr txBox="1"/>
          <p:nvPr/>
        </p:nvSpPr>
        <p:spPr>
          <a:xfrm>
            <a:off x="479544" y="157714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Aggregating columns and </a:t>
            </a:r>
            <a:r>
              <a:rPr lang="en-US" sz="2800" b="1" dirty="0" err="1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DataFrames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String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callable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CDCDC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atttribute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585" lvl="2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1200785" lvl="3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str.lower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str.upper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str.contains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str.startswith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str.endswith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str.split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... </a:t>
            </a:r>
          </a:p>
          <a:p>
            <a:pPr marL="1200785" lvl="3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u="sng" spc="-1" dirty="0" err="1">
                <a:solidFill>
                  <a:srgbClr val="00B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pandas</a:t>
            </a:r>
            <a:r>
              <a:rPr lang="de-AT" sz="1800" u="sng" spc="-1" dirty="0">
                <a:solidFill>
                  <a:srgbClr val="00B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 </a:t>
            </a:r>
            <a:r>
              <a:rPr lang="de-AT" sz="1800" u="sng" spc="-1" dirty="0" err="1">
                <a:solidFill>
                  <a:srgbClr val="00B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documentation</a:t>
            </a:r>
            <a:br>
              <a:rPr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AT" sz="1800" u="sng" spc="-1" dirty="0">
                <a:solidFill>
                  <a:srgbClr val="00B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385" lvl="1" indent="-285750">
              <a:spcBef>
                <a:spcPts val="10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Select all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98220" lvl="2" indent="-285750">
              <a:spcBef>
                <a:spcPts val="200"/>
              </a:spcBef>
              <a:spcAft>
                <a:spcPts val="200"/>
              </a:spcAft>
              <a:buSzPct val="45000"/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state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'].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str.contains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('New')]</a:t>
            </a:r>
          </a:p>
          <a:p>
            <a:pPr marL="998220" lvl="2" indent="-285750">
              <a:spcBef>
                <a:spcPts val="200"/>
              </a:spcBef>
              <a:spcAft>
                <a:spcPts val="200"/>
              </a:spcAft>
              <a:buSzPct val="45000"/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df.state.str.contains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('New')]   </a:t>
            </a:r>
          </a:p>
        </p:txBody>
      </p:sp>
      <p:pic>
        <p:nvPicPr>
          <p:cNvPr id="459" name="Grafik 458"/>
          <p:cNvPicPr/>
          <p:nvPr/>
        </p:nvPicPr>
        <p:blipFill>
          <a:blip r:embed="rId4"/>
          <a:stretch>
            <a:fillRect/>
          </a:stretch>
        </p:blipFill>
        <p:spPr>
          <a:xfrm>
            <a:off x="7233939" y="3854915"/>
            <a:ext cx="1894227" cy="1669566"/>
          </a:xfrm>
          <a:prstGeom prst="rect">
            <a:avLst/>
          </a:prstGeom>
          <a:ln w="0">
            <a:noFill/>
          </a:ln>
        </p:spPr>
      </p:pic>
      <p:sp>
        <p:nvSpPr>
          <p:cNvPr id="460" name="Textfeld 459"/>
          <p:cNvSpPr txBox="1"/>
          <p:nvPr/>
        </p:nvSpPr>
        <p:spPr>
          <a:xfrm>
            <a:off x="7214856" y="3571226"/>
            <a:ext cx="1921197" cy="206088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algn="ctr"/>
            <a:r>
              <a:rPr lang="en-US" sz="990" spc="-1" dirty="0" err="1">
                <a:latin typeface="Consolas" panose="020B0609020204030204" pitchFamily="49" charset="0"/>
                <a:ea typeface="Droid Sans Fallback"/>
              </a:rPr>
              <a:t>DataFrame</a:t>
            </a:r>
            <a:r>
              <a:rPr lang="en-US" sz="990" spc="-1" dirty="0">
                <a:latin typeface="Consolas" panose="020B0609020204030204" pitchFamily="49" charset="0"/>
                <a:ea typeface="Droid Sans Fallback"/>
              </a:rPr>
              <a:t> df</a:t>
            </a:r>
            <a:endParaRPr lang="en-US" sz="990" spc="-1" dirty="0">
              <a:latin typeface="Consolas" panose="020B0609020204030204" pitchFamily="49" charset="0"/>
            </a:endParaRPr>
          </a:p>
        </p:txBody>
      </p:sp>
      <p:sp>
        <p:nvSpPr>
          <p:cNvPr id="461" name="Rechteck 460"/>
          <p:cNvSpPr/>
          <p:nvPr/>
        </p:nvSpPr>
        <p:spPr>
          <a:xfrm>
            <a:off x="7249713" y="4491243"/>
            <a:ext cx="1854536" cy="223389"/>
          </a:xfrm>
          <a:prstGeom prst="rect">
            <a:avLst/>
          </a:prstGeom>
          <a:noFill/>
          <a:ln w="36720">
            <a:solidFill>
              <a:srgbClr val="1E90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62" name="Rechteck 461"/>
          <p:cNvSpPr/>
          <p:nvPr/>
        </p:nvSpPr>
        <p:spPr>
          <a:xfrm>
            <a:off x="7249713" y="4909779"/>
            <a:ext cx="1854536" cy="223389"/>
          </a:xfrm>
          <a:prstGeom prst="rect">
            <a:avLst/>
          </a:prstGeom>
          <a:noFill/>
          <a:ln w="36720">
            <a:solidFill>
              <a:srgbClr val="1E90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63" name="Rechteck 462"/>
          <p:cNvSpPr/>
          <p:nvPr/>
        </p:nvSpPr>
        <p:spPr>
          <a:xfrm>
            <a:off x="1264681" y="4395409"/>
            <a:ext cx="5494913" cy="669404"/>
          </a:xfrm>
          <a:prstGeom prst="rect">
            <a:avLst/>
          </a:prstGeom>
          <a:noFill/>
          <a:ln w="36720">
            <a:solidFill>
              <a:srgbClr val="1E90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" name="Google Shape;86;p2"/>
          <p:cNvSpPr txBox="1"/>
          <p:nvPr/>
        </p:nvSpPr>
        <p:spPr>
          <a:xfrm>
            <a:off x="486744" y="157714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String operations and filtering via strings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2"/>
          <p:cNvSpPr>
            <a:spLocks noGrp="1"/>
          </p:cNvSpPr>
          <p:nvPr>
            <p:ph type="body" idx="1"/>
          </p:nvPr>
        </p:nvSpPr>
        <p:spPr>
          <a:xfrm>
            <a:off x="619431" y="2142979"/>
            <a:ext cx="6436569" cy="352531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385" lvl="1" indent="-285750">
              <a:spcBef>
                <a:spcPts val="4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Arithmetic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585" lvl="2" indent="-285750">
              <a:spcBef>
                <a:spcPts val="4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...   </a:t>
            </a:r>
          </a:p>
          <a:p>
            <a:pPr marL="743585" lvl="2" indent="-285750">
              <a:spcBef>
                <a:spcPts val="4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another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Series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squared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ratio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0,386 km</a:t>
            </a:r>
            <a:r>
              <a:rPr lang="de-AT" sz="1800" spc="-1" baseline="30000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743585" lvl="2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 * 0.386</a:t>
            </a:r>
          </a:p>
          <a:p>
            <a:pPr marL="743585" lvl="2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df.area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* 0.386   </a:t>
            </a:r>
          </a:p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directly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aggregation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(e.g.,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 marL="743585" lvl="2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 * 0.386).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sum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743585" lvl="2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610355.938</a:t>
            </a:r>
          </a:p>
        </p:txBody>
      </p:sp>
      <p:pic>
        <p:nvPicPr>
          <p:cNvPr id="469" name="Grafik 468"/>
          <p:cNvPicPr/>
          <p:nvPr/>
        </p:nvPicPr>
        <p:blipFill>
          <a:blip r:embed="rId3"/>
          <a:stretch>
            <a:fillRect/>
          </a:stretch>
        </p:blipFill>
        <p:spPr>
          <a:xfrm>
            <a:off x="7214856" y="1767321"/>
            <a:ext cx="1894227" cy="1669566"/>
          </a:xfrm>
          <a:prstGeom prst="rect">
            <a:avLst/>
          </a:prstGeom>
          <a:ln w="0">
            <a:noFill/>
          </a:ln>
        </p:spPr>
      </p:pic>
      <p:sp>
        <p:nvSpPr>
          <p:cNvPr id="470" name="Textfeld 469"/>
          <p:cNvSpPr txBox="1"/>
          <p:nvPr/>
        </p:nvSpPr>
        <p:spPr>
          <a:xfrm>
            <a:off x="7195774" y="1483632"/>
            <a:ext cx="1921197" cy="206088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algn="ctr"/>
            <a:r>
              <a:rPr lang="en-US" sz="1000" spc="-1" dirty="0" err="1">
                <a:latin typeface="Consolas" panose="020B0609020204030204" pitchFamily="49" charset="0"/>
                <a:ea typeface="Droid Sans Fallback"/>
              </a:rPr>
              <a:t>DataFrame</a:t>
            </a:r>
            <a:r>
              <a:rPr lang="en-US" sz="1000" spc="-1" dirty="0">
                <a:latin typeface="Consolas" panose="020B0609020204030204" pitchFamily="49" charset="0"/>
                <a:ea typeface="Droid Sans Fallback"/>
              </a:rPr>
              <a:t> df</a:t>
            </a:r>
            <a:endParaRPr lang="en-US" sz="1000" spc="-1" dirty="0">
              <a:latin typeface="Consolas" panose="020B0609020204030204" pitchFamily="49" charset="0"/>
            </a:endParaRPr>
          </a:p>
        </p:txBody>
      </p:sp>
      <p:pic>
        <p:nvPicPr>
          <p:cNvPr id="471" name="Grafik 470"/>
          <p:cNvPicPr/>
          <p:nvPr/>
        </p:nvPicPr>
        <p:blipFill>
          <a:blip r:embed="rId4"/>
          <a:stretch>
            <a:fillRect/>
          </a:stretch>
        </p:blipFill>
        <p:spPr>
          <a:xfrm>
            <a:off x="7208750" y="4074488"/>
            <a:ext cx="1877689" cy="1212356"/>
          </a:xfrm>
          <a:prstGeom prst="rect">
            <a:avLst/>
          </a:prstGeom>
          <a:ln w="36720">
            <a:solidFill>
              <a:srgbClr val="1E90FF"/>
            </a:solidFill>
            <a:round/>
          </a:ln>
        </p:spPr>
      </p:pic>
      <p:sp>
        <p:nvSpPr>
          <p:cNvPr id="472" name="Textfeld 471"/>
          <p:cNvSpPr txBox="1"/>
          <p:nvPr/>
        </p:nvSpPr>
        <p:spPr>
          <a:xfrm>
            <a:off x="7208750" y="5312287"/>
            <a:ext cx="1875145" cy="205070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algn="ctr"/>
            <a:r>
              <a:rPr lang="en-US" sz="1050" spc="-1" dirty="0">
                <a:latin typeface="Consolas" panose="020B0609020204030204" pitchFamily="49" charset="0"/>
                <a:ea typeface="Droid Sans Fallback"/>
              </a:rPr>
              <a:t>Output in Notebook</a:t>
            </a:r>
            <a:endParaRPr lang="en-US" sz="1050" spc="-1" dirty="0">
              <a:latin typeface="Consolas" panose="020B0609020204030204" pitchFamily="49" charset="0"/>
            </a:endParaRPr>
          </a:p>
        </p:txBody>
      </p:sp>
      <p:sp>
        <p:nvSpPr>
          <p:cNvPr id="473" name="Rechteck 472"/>
          <p:cNvSpPr/>
          <p:nvPr/>
        </p:nvSpPr>
        <p:spPr>
          <a:xfrm>
            <a:off x="1356258" y="3514118"/>
            <a:ext cx="2654717" cy="640282"/>
          </a:xfrm>
          <a:prstGeom prst="rect">
            <a:avLst/>
          </a:prstGeom>
          <a:noFill/>
          <a:ln w="36720">
            <a:solidFill>
              <a:srgbClr val="1E90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" name="Google Shape;86;p2"/>
          <p:cNvSpPr txBox="1"/>
          <p:nvPr/>
        </p:nvSpPr>
        <p:spPr>
          <a:xfrm>
            <a:off x="486744" y="157714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Arithmetic operations over columns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286385" lvl="1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cells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NaN</a:t>
            </a: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NaN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representation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python’s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None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6385" lvl="1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replacement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NaNs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DataFrame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 marL="1200785" lvl="3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df.fillna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column</a:t>
            </a: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785" lvl="3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column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 =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column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'].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fillna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200785" lvl="3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df.fillna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({'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column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':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})        </a:t>
            </a:r>
          </a:p>
        </p:txBody>
      </p:sp>
      <p:sp>
        <p:nvSpPr>
          <p:cNvPr id="8" name="Google Shape;86;p2"/>
          <p:cNvSpPr txBox="1"/>
          <p:nvPr/>
        </p:nvSpPr>
        <p:spPr>
          <a:xfrm>
            <a:off x="486744" y="157714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Missing data and data with errors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2"/>
          <p:cNvSpPr>
            <a:spLocks noGrp="1"/>
          </p:cNvSpPr>
          <p:nvPr>
            <p:ph type="body" idx="1"/>
          </p:nvPr>
        </p:nvSpPr>
        <p:spPr>
          <a:xfrm>
            <a:off x="604683" y="1598119"/>
            <a:ext cx="7934633" cy="170245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385" lvl="1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all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default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25000 km².</a:t>
            </a: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 =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'].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fillna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(25000)        </a:t>
            </a: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df.loc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[:, '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 =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'].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fillna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(25000) </a:t>
            </a: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df.fillna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({'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': 25000})              </a:t>
            </a:r>
          </a:p>
          <a:p>
            <a:pPr marL="915670" lvl="2">
              <a:spcBef>
                <a:spcPts val="600"/>
              </a:spcBef>
            </a:pPr>
            <a:endParaRPr lang="de-AT" sz="1695" spc="-1" dirty="0">
              <a:solidFill>
                <a:srgbClr val="0F0F0F"/>
              </a:solidFill>
            </a:endParaRPr>
          </a:p>
        </p:txBody>
      </p:sp>
      <p:pic>
        <p:nvPicPr>
          <p:cNvPr id="486" name="Grafik 485"/>
          <p:cNvPicPr/>
          <p:nvPr/>
        </p:nvPicPr>
        <p:blipFill>
          <a:blip r:embed="rId3"/>
          <a:stretch>
            <a:fillRect/>
          </a:stretch>
        </p:blipFill>
        <p:spPr>
          <a:xfrm>
            <a:off x="6206590" y="3497957"/>
            <a:ext cx="2699496" cy="2379679"/>
          </a:xfrm>
          <a:prstGeom prst="rect">
            <a:avLst/>
          </a:prstGeom>
          <a:ln w="0">
            <a:noFill/>
          </a:ln>
        </p:spPr>
      </p:pic>
      <p:sp>
        <p:nvSpPr>
          <p:cNvPr id="487" name="Textfeld 486"/>
          <p:cNvSpPr txBox="1"/>
          <p:nvPr/>
        </p:nvSpPr>
        <p:spPr>
          <a:xfrm>
            <a:off x="6226181" y="3298230"/>
            <a:ext cx="2679905" cy="247051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algn="ctr"/>
            <a:r>
              <a:rPr lang="en-US" sz="1000" b="1" spc="-1" dirty="0">
                <a:latin typeface="Consolas" panose="020B0609020204030204" pitchFamily="49" charset="0"/>
                <a:ea typeface="Droid Sans Fallback"/>
              </a:rPr>
              <a:t>df</a:t>
            </a:r>
            <a:r>
              <a:rPr lang="en-US" sz="1000" spc="-1" dirty="0">
                <a:latin typeface="Consolas" panose="020B0609020204030204" pitchFamily="49" charset="0"/>
                <a:ea typeface="Droid Sans Fallback"/>
              </a:rPr>
              <a:t> = </a:t>
            </a:r>
            <a:r>
              <a:rPr lang="en-US" sz="1000" spc="-1" dirty="0" err="1">
                <a:latin typeface="Consolas" panose="020B0609020204030204" pitchFamily="49" charset="0"/>
                <a:ea typeface="Droid Sans Fallback"/>
              </a:rPr>
              <a:t>pd.read_csv</a:t>
            </a:r>
            <a:r>
              <a:rPr lang="en-US" sz="1000" spc="-1" dirty="0">
                <a:latin typeface="Consolas" panose="020B0609020204030204" pitchFamily="49" charset="0"/>
                <a:ea typeface="Droid Sans Fallback"/>
              </a:rPr>
              <a:t>('states.csv</a:t>
            </a:r>
            <a:r>
              <a:rPr lang="en-US" sz="1000" spc="-1" dirty="0">
                <a:latin typeface="Consolas" panose="020B0609020204030204" pitchFamily="49" charset="0"/>
              </a:rPr>
              <a:t>')</a:t>
            </a:r>
          </a:p>
        </p:txBody>
      </p:sp>
      <p:sp>
        <p:nvSpPr>
          <p:cNvPr id="488" name="Rechteck 487"/>
          <p:cNvSpPr/>
          <p:nvPr/>
        </p:nvSpPr>
        <p:spPr>
          <a:xfrm>
            <a:off x="1241871" y="2035951"/>
            <a:ext cx="5734929" cy="1119016"/>
          </a:xfrm>
          <a:prstGeom prst="rect">
            <a:avLst/>
          </a:prstGeom>
          <a:noFill/>
          <a:ln w="36720">
            <a:solidFill>
              <a:srgbClr val="1E90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9" name="Rechteck 488"/>
          <p:cNvSpPr/>
          <p:nvPr/>
        </p:nvSpPr>
        <p:spPr>
          <a:xfrm>
            <a:off x="8186677" y="3565635"/>
            <a:ext cx="705278" cy="2291646"/>
          </a:xfrm>
          <a:prstGeom prst="rect">
            <a:avLst/>
          </a:prstGeom>
          <a:noFill/>
          <a:ln w="36720">
            <a:solidFill>
              <a:srgbClr val="1E90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" name="Google Shape;86;p2"/>
          <p:cNvSpPr txBox="1"/>
          <p:nvPr/>
        </p:nvSpPr>
        <p:spPr>
          <a:xfrm>
            <a:off x="486744" y="157714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Missing data and data with errors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2"/>
          <p:cNvSpPr>
            <a:spLocks noGrp="1"/>
          </p:cNvSpPr>
          <p:nvPr>
            <p:ph type="body" idx="1"/>
          </p:nvPr>
        </p:nvSpPr>
        <p:spPr>
          <a:xfrm>
            <a:off x="604683" y="1598119"/>
            <a:ext cx="7934633" cy="28082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385" lvl="1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all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default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25000 km².</a:t>
            </a: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 =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'].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fillna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(25000)        </a:t>
            </a: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df.loc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[:, '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 =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'].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fillna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(25000) </a:t>
            </a: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df.fillna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({'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': 25000})    </a:t>
            </a:r>
          </a:p>
          <a:p>
            <a:pPr marL="286385" lvl="1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 all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cells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(= 0) in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population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all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cells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population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&gt; 0</a:t>
            </a:r>
          </a:p>
          <a:p>
            <a:pPr marL="743585" lvl="2" indent="-28575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[(</a:t>
            </a: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df.area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&gt; 0) &amp;</a:t>
            </a:r>
            <a:b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df.population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&gt; 0)]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</a:p>
          <a:p>
            <a:pPr marL="915670" lvl="2">
              <a:spcBef>
                <a:spcPts val="600"/>
              </a:spcBef>
            </a:pPr>
            <a:endParaRPr lang="de-AT" sz="1695" spc="-1" dirty="0">
              <a:solidFill>
                <a:srgbClr val="0F0F0F"/>
              </a:solidFill>
            </a:endParaRPr>
          </a:p>
        </p:txBody>
      </p:sp>
      <p:pic>
        <p:nvPicPr>
          <p:cNvPr id="486" name="Grafik 485"/>
          <p:cNvPicPr/>
          <p:nvPr/>
        </p:nvPicPr>
        <p:blipFill>
          <a:blip r:embed="rId3"/>
          <a:stretch>
            <a:fillRect/>
          </a:stretch>
        </p:blipFill>
        <p:spPr>
          <a:xfrm>
            <a:off x="6245448" y="3480143"/>
            <a:ext cx="2699496" cy="2379679"/>
          </a:xfrm>
          <a:prstGeom prst="rect">
            <a:avLst/>
          </a:prstGeom>
          <a:ln w="0">
            <a:noFill/>
          </a:ln>
        </p:spPr>
      </p:pic>
      <p:sp>
        <p:nvSpPr>
          <p:cNvPr id="487" name="Textfeld 486"/>
          <p:cNvSpPr txBox="1"/>
          <p:nvPr/>
        </p:nvSpPr>
        <p:spPr>
          <a:xfrm>
            <a:off x="6226181" y="3298230"/>
            <a:ext cx="2679905" cy="247051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algn="ctr"/>
            <a:r>
              <a:rPr lang="en-US" sz="1000" b="1" spc="-1" dirty="0">
                <a:latin typeface="Consolas" panose="020B0609020204030204" pitchFamily="49" charset="0"/>
                <a:ea typeface="Droid Sans Fallback"/>
              </a:rPr>
              <a:t>df</a:t>
            </a:r>
            <a:r>
              <a:rPr lang="en-US" sz="1000" spc="-1" dirty="0">
                <a:latin typeface="Consolas" panose="020B0609020204030204" pitchFamily="49" charset="0"/>
                <a:ea typeface="Droid Sans Fallback"/>
              </a:rPr>
              <a:t> = </a:t>
            </a:r>
            <a:r>
              <a:rPr lang="en-US" sz="1000" spc="-1" dirty="0" err="1">
                <a:latin typeface="Consolas" panose="020B0609020204030204" pitchFamily="49" charset="0"/>
                <a:ea typeface="Droid Sans Fallback"/>
              </a:rPr>
              <a:t>pd.read_csv</a:t>
            </a:r>
            <a:r>
              <a:rPr lang="en-US" sz="1000" spc="-1" dirty="0">
                <a:latin typeface="Consolas" panose="020B0609020204030204" pitchFamily="49" charset="0"/>
                <a:ea typeface="Droid Sans Fallback"/>
              </a:rPr>
              <a:t>('states.csv</a:t>
            </a:r>
            <a:r>
              <a:rPr lang="en-US" sz="1000" spc="-1" dirty="0">
                <a:latin typeface="Consolas" panose="020B0609020204030204" pitchFamily="49" charset="0"/>
              </a:rPr>
              <a:t>')</a:t>
            </a:r>
          </a:p>
        </p:txBody>
      </p:sp>
      <p:sp>
        <p:nvSpPr>
          <p:cNvPr id="488" name="Rechteck 487"/>
          <p:cNvSpPr/>
          <p:nvPr/>
        </p:nvSpPr>
        <p:spPr>
          <a:xfrm>
            <a:off x="1241871" y="2035951"/>
            <a:ext cx="5734929" cy="1119016"/>
          </a:xfrm>
          <a:prstGeom prst="rect">
            <a:avLst/>
          </a:prstGeom>
          <a:noFill/>
          <a:ln w="36720">
            <a:solidFill>
              <a:srgbClr val="1E90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" name="Google Shape;86;p2"/>
          <p:cNvSpPr txBox="1"/>
          <p:nvPr/>
        </p:nvSpPr>
        <p:spPr>
          <a:xfrm>
            <a:off x="486744" y="157714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Missing data and data with errors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10" name="Rechteck 9"/>
          <p:cNvSpPr/>
          <p:nvPr/>
        </p:nvSpPr>
        <p:spPr>
          <a:xfrm>
            <a:off x="1317600" y="3926687"/>
            <a:ext cx="4888990" cy="374400"/>
          </a:xfrm>
          <a:prstGeom prst="rect">
            <a:avLst/>
          </a:prstGeom>
          <a:noFill/>
          <a:ln w="36720">
            <a:solidFill>
              <a:srgbClr val="32CD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" name="Freihandform: Form 10"/>
          <p:cNvSpPr/>
          <p:nvPr/>
        </p:nvSpPr>
        <p:spPr>
          <a:xfrm flipV="1">
            <a:off x="6079134" y="5417712"/>
            <a:ext cx="2973998" cy="45719"/>
          </a:xfrm>
          <a:custGeom>
            <a:avLst/>
            <a:gdLst/>
            <a:ahLst/>
            <a:cxnLst/>
            <a:rect l="0" t="0" r="r" b="b"/>
            <a:pathLst>
              <a:path w="10298" fill="none">
                <a:moveTo>
                  <a:pt x="0" y="0"/>
                </a:moveTo>
                <a:lnTo>
                  <a:pt x="10298" y="0"/>
                </a:lnTo>
              </a:path>
            </a:pathLst>
          </a:custGeom>
          <a:ln w="36720">
            <a:solidFill>
              <a:srgbClr val="32CD32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hteck 12"/>
          <p:cNvSpPr/>
          <p:nvPr/>
        </p:nvSpPr>
        <p:spPr>
          <a:xfrm>
            <a:off x="8223452" y="5004943"/>
            <a:ext cx="682634" cy="254938"/>
          </a:xfrm>
          <a:prstGeom prst="rect">
            <a:avLst/>
          </a:prstGeom>
          <a:solidFill>
            <a:srgbClr val="ADD8E6"/>
          </a:solidFill>
          <a:ln w="36720">
            <a:solidFill>
              <a:srgbClr val="1E90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76583" tIns="44780" rIns="76583" bIns="44780" anchor="ctr">
            <a:noAutofit/>
          </a:bodyPr>
          <a:lstStyle/>
          <a:p>
            <a:pPr algn="ctr"/>
            <a:r>
              <a:rPr lang="en-US" sz="1130" spc="-1">
                <a:latin typeface="Arial" panose="020B0604020202020204"/>
              </a:rPr>
              <a:t>25000.0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2"/>
          <p:cNvSpPr>
            <a:spLocks noGrp="1"/>
          </p:cNvSpPr>
          <p:nvPr>
            <p:ph type="body" idx="1"/>
          </p:nvPr>
        </p:nvSpPr>
        <p:spPr>
          <a:xfrm>
            <a:off x="604683" y="1718179"/>
            <a:ext cx="7934633" cy="41858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lvl="1" indent="-34290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35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</a:t>
            </a:r>
            <a:r>
              <a:rPr lang="de-AT" sz="1835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</a:t>
            </a:r>
            <a:r>
              <a:rPr lang="de-AT" sz="1835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de-AT" sz="1835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</a:t>
            </a:r>
            <a:r>
              <a:rPr lang="de-AT" sz="1835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35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35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35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adding</a:t>
            </a:r>
            <a:r>
              <a:rPr lang="de-AT" sz="1835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35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key-value</a:t>
            </a:r>
            <a:r>
              <a:rPr lang="de-AT" sz="1835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pair </a:t>
            </a:r>
            <a:r>
              <a:rPr lang="de-AT" sz="1835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35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35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dictionary</a:t>
            </a:r>
            <a:endParaRPr lang="de-AT" sz="1835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2" indent="-34290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35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</a:t>
            </a:r>
            <a:r>
              <a:rPr lang="de-AT" sz="1835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de-AT" sz="1835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35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35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all </a:t>
            </a:r>
            <a:r>
              <a:rPr lang="de-AT" sz="1835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rows</a:t>
            </a:r>
            <a:r>
              <a:rPr lang="de-AT" sz="1835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257300" lvl="3" indent="-34290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new_column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 = 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      </a:t>
            </a:r>
          </a:p>
          <a:p>
            <a:pPr marL="1257300" lvl="3" indent="-34290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df.loc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[:, '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new_column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 = 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endParaRPr lang="de-AT" sz="16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2" indent="-34290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35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de-AT" sz="1835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35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</a:t>
            </a:r>
            <a:r>
              <a:rPr lang="de-AT" sz="1835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an </a:t>
            </a:r>
            <a:r>
              <a:rPr lang="de-AT" sz="1835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</a:t>
            </a:r>
            <a:r>
              <a:rPr lang="de-AT" sz="1835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35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</a:t>
            </a:r>
            <a:endParaRPr lang="de-AT" sz="1835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57300" lvl="3" indent="-34290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pop_in_mil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 = 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population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 / 1000000</a:t>
            </a:r>
          </a:p>
          <a:p>
            <a:pPr marL="1257300" lvl="3" indent="-34290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df.loc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[:, '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pop_in_mil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 = 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population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 / 1000000</a:t>
            </a:r>
          </a:p>
          <a:p>
            <a:pPr marL="800100" lvl="2" indent="-34290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35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de-AT" sz="1835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35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</a:t>
            </a:r>
            <a:r>
              <a:rPr lang="de-AT" sz="1835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35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35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35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several</a:t>
            </a:r>
            <a:r>
              <a:rPr lang="de-AT" sz="1835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35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</a:t>
            </a:r>
            <a:r>
              <a:rPr lang="de-AT" sz="1835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35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columns</a:t>
            </a:r>
            <a:endParaRPr lang="de-AT" sz="1835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57300" lvl="3" indent="-34290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pop_density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 = 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population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 / 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</a:t>
            </a:r>
          </a:p>
          <a:p>
            <a:pPr marL="1257300" lvl="3" indent="-342900">
              <a:spcBef>
                <a:spcPts val="8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df.loc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[:, '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pop_density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 = 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population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 / 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de-AT" sz="16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de-AT" sz="16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']</a:t>
            </a:r>
          </a:p>
        </p:txBody>
      </p:sp>
      <p:sp>
        <p:nvSpPr>
          <p:cNvPr id="8" name="Google Shape;86;p2"/>
          <p:cNvSpPr txBox="1"/>
          <p:nvPr/>
        </p:nvSpPr>
        <p:spPr>
          <a:xfrm>
            <a:off x="486744" y="157714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Adding new columns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" name="Grafik 508"/>
          <p:cNvPicPr/>
          <p:nvPr/>
        </p:nvPicPr>
        <p:blipFill>
          <a:blip r:embed="rId3"/>
          <a:stretch>
            <a:fillRect/>
          </a:stretch>
        </p:blipFill>
        <p:spPr>
          <a:xfrm>
            <a:off x="1820952" y="3286452"/>
            <a:ext cx="5492368" cy="2645303"/>
          </a:xfrm>
          <a:prstGeom prst="rect">
            <a:avLst/>
          </a:prstGeom>
          <a:ln w="0">
            <a:noFill/>
          </a:ln>
        </p:spPr>
      </p:pic>
      <p:sp>
        <p:nvSpPr>
          <p:cNvPr id="513" name="PlaceHolder 4"/>
          <p:cNvSpPr>
            <a:spLocks noGrp="1"/>
          </p:cNvSpPr>
          <p:nvPr>
            <p:ph type="sldNum" idx="78"/>
          </p:nvPr>
        </p:nvSpPr>
        <p:spPr>
          <a:xfrm>
            <a:off x="-6360" y="1142697"/>
            <a:ext cx="431512" cy="433802"/>
          </a:xfrm>
          <a:prstGeom prst="rect">
            <a:avLst/>
          </a:prstGeom>
          <a:noFill/>
          <a:ln w="0">
            <a:noFill/>
          </a:ln>
        </p:spPr>
        <p:txBody>
          <a:bodyPr lIns="0" tIns="45797" rIns="0" bIns="45797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en-US" sz="990" b="0" strike="noStrike" spc="-1">
                <a:solidFill>
                  <a:srgbClr val="FFFFFF"/>
                </a:solidFill>
                <a:latin typeface="Arial" panose="020B0604020202020204"/>
              </a:defRPr>
            </a:lvl1pPr>
          </a:lstStyle>
          <a:p>
            <a:fld id="{DA01D634-A1FF-4BAE-99DE-4F4DEF0849A1}" type="slidenum">
              <a:rPr lang="en-US"/>
              <a:t>32</a:t>
            </a:fld>
            <a:endParaRPr lang="en-US">
              <a:latin typeface="Times New Roman" panose="02020603050405020304"/>
            </a:endParaRPr>
          </a:p>
        </p:txBody>
      </p:sp>
      <p:sp>
        <p:nvSpPr>
          <p:cNvPr id="515" name="Textfeld 514"/>
          <p:cNvSpPr txBox="1"/>
          <p:nvPr/>
        </p:nvSpPr>
        <p:spPr>
          <a:xfrm>
            <a:off x="307096" y="1835763"/>
            <a:ext cx="8698180" cy="1253037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df.loc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[:, '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pop_in_mil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'] =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['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population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'] / 1000000</a:t>
            </a:r>
            <a:endParaRPr lang="en-US" sz="1800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# Can also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use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Python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math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operations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like </a:t>
            </a:r>
            <a:r>
              <a:rPr lang="de-AT" sz="1800" b="1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round</a:t>
            </a:r>
            <a:r>
              <a:rPr lang="de-AT" sz="18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()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,</a:t>
            </a:r>
            <a:r>
              <a:rPr lang="de-AT" sz="18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800" b="1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abs</a:t>
            </a:r>
            <a:r>
              <a:rPr lang="de-AT" sz="18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()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,... </a:t>
            </a:r>
            <a:endParaRPr lang="en-US" sz="1800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df.loc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[:, '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pop_in_mil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'] = </a:t>
            </a:r>
            <a:r>
              <a:rPr lang="de-AT" sz="1800" b="1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round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(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['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pop_in_mil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'])</a:t>
            </a:r>
            <a:endParaRPr lang="en-US" sz="1800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df.loc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[:, '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pop_density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'] = </a:t>
            </a:r>
            <a:r>
              <a:rPr lang="de-AT" sz="1800" b="1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round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(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['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population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'] /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df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['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area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'], 2)</a:t>
            </a:r>
            <a:endParaRPr lang="en-US" sz="1800" spc="-1" dirty="0">
              <a:latin typeface="Consolas" panose="020B0609020204030204" pitchFamily="49" charset="0"/>
            </a:endParaRPr>
          </a:p>
        </p:txBody>
      </p:sp>
      <p:pic>
        <p:nvPicPr>
          <p:cNvPr id="516" name="Grafik 515"/>
          <p:cNvPicPr/>
          <p:nvPr/>
        </p:nvPicPr>
        <p:blipFill>
          <a:blip r:embed="rId4"/>
          <a:stretch>
            <a:fillRect/>
          </a:stretch>
        </p:blipFill>
        <p:spPr>
          <a:xfrm>
            <a:off x="1744471" y="3285002"/>
            <a:ext cx="3315216" cy="2624185"/>
          </a:xfrm>
          <a:prstGeom prst="rect">
            <a:avLst/>
          </a:prstGeom>
          <a:ln w="0">
            <a:noFill/>
          </a:ln>
        </p:spPr>
      </p:pic>
      <p:sp>
        <p:nvSpPr>
          <p:cNvPr id="10" name="Google Shape;86;p2"/>
          <p:cNvSpPr txBox="1"/>
          <p:nvPr/>
        </p:nvSpPr>
        <p:spPr>
          <a:xfrm>
            <a:off x="486744" y="157714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Adding new columns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2"/>
          <p:cNvSpPr>
            <a:spLocks noGrp="1"/>
          </p:cNvSpPr>
          <p:nvPr>
            <p:ph type="body" idx="1"/>
          </p:nvPr>
        </p:nvSpPr>
        <p:spPr>
          <a:xfrm>
            <a:off x="748527" y="2337379"/>
            <a:ext cx="7934633" cy="352531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286385" lvl="1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plotting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interface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df.plot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743585" lvl="4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 </a:t>
            </a:r>
            <a:r>
              <a:rPr lang="de-AT" sz="1800" u="sng" spc="-1" dirty="0">
                <a:solidFill>
                  <a:srgbClr val="00B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Pandas </a:t>
            </a:r>
            <a:r>
              <a:rPr lang="de-AT" sz="1800" u="sng" spc="-1" dirty="0" err="1">
                <a:solidFill>
                  <a:srgbClr val="00B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reference</a:t>
            </a:r>
            <a:r>
              <a:rPr lang="de-AT" sz="1800" spc="-1" dirty="0">
                <a:solidFill>
                  <a:srgbClr val="00B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585" lvl="4" indent="-285750">
              <a:spcBef>
                <a:spcPts val="200"/>
              </a:spcBef>
              <a:spcAft>
                <a:spcPts val="200"/>
              </a:spcAft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Population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density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bar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chart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5670" lvl="2">
              <a:spcBef>
                <a:spcPts val="400"/>
              </a:spcBef>
              <a:spcAft>
                <a:spcPts val="200"/>
              </a:spcAft>
            </a:pP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22" name="Grafik 521"/>
          <p:cNvPicPr/>
          <p:nvPr/>
        </p:nvPicPr>
        <p:blipFill>
          <a:blip r:embed="rId4"/>
          <a:stretch>
            <a:fillRect/>
          </a:stretch>
        </p:blipFill>
        <p:spPr>
          <a:xfrm>
            <a:off x="5300020" y="1273072"/>
            <a:ext cx="3843411" cy="1851229"/>
          </a:xfrm>
          <a:prstGeom prst="rect">
            <a:avLst/>
          </a:prstGeom>
          <a:ln w="0">
            <a:noFill/>
          </a:ln>
        </p:spPr>
      </p:pic>
      <p:sp>
        <p:nvSpPr>
          <p:cNvPr id="523" name="Textfeld 522"/>
          <p:cNvSpPr txBox="1"/>
          <p:nvPr/>
        </p:nvSpPr>
        <p:spPr>
          <a:xfrm>
            <a:off x="5300020" y="3086900"/>
            <a:ext cx="3797614" cy="247051"/>
          </a:xfrm>
          <a:prstGeom prst="rect">
            <a:avLst/>
          </a:prstGeom>
          <a:noFill/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algn="ctr"/>
            <a:r>
              <a:rPr lang="en-US" sz="1000" spc="-1" dirty="0" err="1">
                <a:highlight>
                  <a:srgbClr val="DAE3F3"/>
                </a:highlight>
                <a:latin typeface="Consolas" panose="020B0609020204030204" pitchFamily="49" charset="0"/>
              </a:rPr>
              <a:t>DataFrame</a:t>
            </a:r>
            <a:r>
              <a:rPr lang="en-US" sz="1000" spc="-1" dirty="0">
                <a:highlight>
                  <a:srgbClr val="DAE3F3"/>
                </a:highlight>
                <a:latin typeface="Consolas" panose="020B0609020204030204" pitchFamily="49" charset="0"/>
              </a:rPr>
              <a:t> df</a:t>
            </a:r>
          </a:p>
        </p:txBody>
      </p:sp>
      <p:sp>
        <p:nvSpPr>
          <p:cNvPr id="524" name="Textfeld 523"/>
          <p:cNvSpPr txBox="1"/>
          <p:nvPr/>
        </p:nvSpPr>
        <p:spPr>
          <a:xfrm>
            <a:off x="855138" y="4518020"/>
            <a:ext cx="5242010" cy="903580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df.plot</a:t>
            </a: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(x='</a:t>
            </a:r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state</a:t>
            </a: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', y='</a:t>
            </a:r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pop_density</a:t>
            </a: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', </a:t>
            </a:r>
            <a:endParaRPr lang="en-US" sz="1600" spc="-1" dirty="0">
              <a:latin typeface="Consolas" panose="020B0609020204030204" pitchFamily="49" charset="0"/>
            </a:endParaRPr>
          </a:p>
          <a:p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    title='Population Density per km^2',      	</a:t>
            </a:r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kind</a:t>
            </a: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='bar')</a:t>
            </a:r>
            <a:endParaRPr lang="en-US" sz="1600" spc="-1" dirty="0">
              <a:latin typeface="Consolas" panose="020B0609020204030204" pitchFamily="49" charset="0"/>
            </a:endParaRPr>
          </a:p>
        </p:txBody>
      </p:sp>
      <p:pic>
        <p:nvPicPr>
          <p:cNvPr id="525" name="Grafik 524"/>
          <p:cNvPicPr/>
          <p:nvPr/>
        </p:nvPicPr>
        <p:blipFill>
          <a:blip r:embed="rId5"/>
          <a:stretch>
            <a:fillRect/>
          </a:stretch>
        </p:blipFill>
        <p:spPr>
          <a:xfrm>
            <a:off x="6097148" y="3392215"/>
            <a:ext cx="2973517" cy="2537425"/>
          </a:xfrm>
          <a:prstGeom prst="rect">
            <a:avLst/>
          </a:prstGeom>
          <a:ln w="0">
            <a:noFill/>
          </a:ln>
        </p:spPr>
      </p:pic>
      <p:sp>
        <p:nvSpPr>
          <p:cNvPr id="11" name="Google Shape;86;p2"/>
          <p:cNvSpPr txBox="1"/>
          <p:nvPr/>
        </p:nvSpPr>
        <p:spPr>
          <a:xfrm>
            <a:off x="486744" y="157714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Plotting data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385" lvl="1" indent="-285750"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via a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DataFrame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to_csv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743585" lvl="2" indent="-285750"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File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585" lvl="2" indent="-285750"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Optional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index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(Boolean)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whether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385" lvl="1" indent="-285750">
              <a:spcBef>
                <a:spcPts val="4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df.to_csv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('states_processed.csv',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index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</a:p>
        </p:txBody>
      </p:sp>
      <p:pic>
        <p:nvPicPr>
          <p:cNvPr id="531" name="Grafik 530"/>
          <p:cNvPicPr/>
          <p:nvPr/>
        </p:nvPicPr>
        <p:blipFill>
          <a:blip r:embed="rId3"/>
          <a:stretch>
            <a:fillRect/>
          </a:stretch>
        </p:blipFill>
        <p:spPr>
          <a:xfrm>
            <a:off x="610631" y="3569954"/>
            <a:ext cx="3594834" cy="1731392"/>
          </a:xfrm>
          <a:prstGeom prst="rect">
            <a:avLst/>
          </a:prstGeom>
          <a:ln w="0">
            <a:noFill/>
          </a:ln>
        </p:spPr>
      </p:pic>
      <p:sp>
        <p:nvSpPr>
          <p:cNvPr id="532" name="Textfeld 531"/>
          <p:cNvSpPr txBox="1"/>
          <p:nvPr/>
        </p:nvSpPr>
        <p:spPr>
          <a:xfrm>
            <a:off x="620045" y="5255549"/>
            <a:ext cx="3543439" cy="247051"/>
          </a:xfrm>
          <a:prstGeom prst="rect">
            <a:avLst/>
          </a:prstGeom>
          <a:noFill/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algn="ctr"/>
            <a:r>
              <a:rPr lang="en-US" sz="1100" spc="-1" dirty="0" err="1">
                <a:highlight>
                  <a:srgbClr val="DAE3F3"/>
                </a:highlight>
                <a:latin typeface="Consolas" panose="020B0609020204030204" pitchFamily="49" charset="0"/>
              </a:rPr>
              <a:t>DataFrame</a:t>
            </a:r>
            <a:r>
              <a:rPr lang="en-US" sz="1100" spc="-1" dirty="0">
                <a:highlight>
                  <a:srgbClr val="DAE3F3"/>
                </a:highlight>
                <a:latin typeface="Consolas" panose="020B0609020204030204" pitchFamily="49" charset="0"/>
              </a:rPr>
              <a:t> </a:t>
            </a:r>
            <a:r>
              <a:rPr lang="en-US" sz="1100" b="1" spc="-1" dirty="0">
                <a:highlight>
                  <a:srgbClr val="DAE3F3"/>
                </a:highlight>
                <a:latin typeface="Consolas" panose="020B0609020204030204" pitchFamily="49" charset="0"/>
              </a:rPr>
              <a:t>df</a:t>
            </a:r>
            <a:endParaRPr lang="en-US" sz="1100" spc="-1" dirty="0">
              <a:highlight>
                <a:srgbClr val="DAE3F3"/>
              </a:highlight>
              <a:latin typeface="Consolas" panose="020B0609020204030204" pitchFamily="49" charset="0"/>
            </a:endParaRPr>
          </a:p>
        </p:txBody>
      </p:sp>
      <p:sp>
        <p:nvSpPr>
          <p:cNvPr id="533" name="Textfeld 532"/>
          <p:cNvSpPr txBox="1"/>
          <p:nvPr/>
        </p:nvSpPr>
        <p:spPr>
          <a:xfrm>
            <a:off x="4754523" y="3852001"/>
            <a:ext cx="3939077" cy="1291346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r>
              <a:rPr lang="en-US" sz="1100" spc="-1" dirty="0" err="1">
                <a:latin typeface="Consolas" panose="020B0609020204030204" pitchFamily="49" charset="0"/>
              </a:rPr>
              <a:t>state,population,area,pop_in_mil,pop_density</a:t>
            </a:r>
            <a:endParaRPr lang="en-US" sz="1100" spc="-1" dirty="0">
              <a:latin typeface="Consolas" panose="020B0609020204030204" pitchFamily="49" charset="0"/>
            </a:endParaRPr>
          </a:p>
          <a:p>
            <a:r>
              <a:rPr lang="en-US" sz="1100" spc="-1" dirty="0">
                <a:latin typeface="Consolas" panose="020B0609020204030204" pitchFamily="49" charset="0"/>
              </a:rPr>
              <a:t>California,38332521.0,423967.0,38.0,90.41</a:t>
            </a:r>
          </a:p>
          <a:p>
            <a:r>
              <a:rPr lang="en-US" sz="1100" spc="-1" dirty="0">
                <a:latin typeface="Consolas" panose="020B0609020204030204" pitchFamily="49" charset="0"/>
              </a:rPr>
              <a:t>Texas,26448193.0,695662.0,26.0,38.02</a:t>
            </a:r>
          </a:p>
          <a:p>
            <a:r>
              <a:rPr lang="en-US" sz="1100" spc="-1" dirty="0">
                <a:latin typeface="Consolas" panose="020B0609020204030204" pitchFamily="49" charset="0"/>
              </a:rPr>
              <a:t>New York,19651127.0,141297.0,20.0,139.08</a:t>
            </a:r>
          </a:p>
          <a:p>
            <a:r>
              <a:rPr lang="en-US" sz="1100" spc="-1" dirty="0">
                <a:latin typeface="Consolas" panose="020B0609020204030204" pitchFamily="49" charset="0"/>
              </a:rPr>
              <a:t>Florida,19552860.0,170312.0,20.0,114.81</a:t>
            </a:r>
          </a:p>
          <a:p>
            <a:r>
              <a:rPr lang="en-US" sz="1100" spc="-1" dirty="0">
                <a:latin typeface="Consolas" panose="020B0609020204030204" pitchFamily="49" charset="0"/>
              </a:rPr>
              <a:t>New Jersey,9288994.0,25000.0,9.0,371.56</a:t>
            </a:r>
          </a:p>
          <a:p>
            <a:r>
              <a:rPr lang="en-US" sz="1100" spc="-1" dirty="0">
                <a:latin typeface="Consolas" panose="020B0609020204030204" pitchFamily="49" charset="0"/>
              </a:rPr>
              <a:t>Illinois,12882135.0,149995.0,13.0,85.88</a:t>
            </a:r>
          </a:p>
        </p:txBody>
      </p:sp>
      <p:sp>
        <p:nvSpPr>
          <p:cNvPr id="534" name="Textfeld 533"/>
          <p:cNvSpPr txBox="1"/>
          <p:nvPr/>
        </p:nvSpPr>
        <p:spPr>
          <a:xfrm>
            <a:off x="4747399" y="5140292"/>
            <a:ext cx="3933734" cy="247051"/>
          </a:xfrm>
          <a:prstGeom prst="rect">
            <a:avLst/>
          </a:prstGeom>
          <a:noFill/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algn="ctr"/>
            <a:r>
              <a:rPr lang="en-US" sz="1100" spc="-1" dirty="0">
                <a:highlight>
                  <a:srgbClr val="DAE3F3"/>
                </a:highlight>
                <a:latin typeface="Consolas" panose="020B0609020204030204" pitchFamily="49" charset="0"/>
              </a:rPr>
              <a:t>states_new.csv (in a text editor)</a:t>
            </a:r>
          </a:p>
        </p:txBody>
      </p:sp>
      <p:sp>
        <p:nvSpPr>
          <p:cNvPr id="535" name="Pfeil: nach rechts 534"/>
          <p:cNvSpPr/>
          <p:nvPr/>
        </p:nvSpPr>
        <p:spPr>
          <a:xfrm>
            <a:off x="4202666" y="4311107"/>
            <a:ext cx="503261" cy="424643"/>
          </a:xfrm>
          <a:prstGeom prst="rightArrow">
            <a:avLst>
              <a:gd name="adj1" fmla="val 46521"/>
              <a:gd name="adj2" fmla="val 58545"/>
            </a:avLst>
          </a:prstGeom>
          <a:solidFill>
            <a:srgbClr val="1E90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" name="Google Shape;86;p2"/>
          <p:cNvSpPr txBox="1"/>
          <p:nvPr/>
        </p:nvSpPr>
        <p:spPr>
          <a:xfrm>
            <a:off x="486744" y="157714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Storing </a:t>
            </a:r>
            <a:r>
              <a:rPr lang="en-US" sz="2800" b="1" dirty="0" err="1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DataFrames</a:t>
            </a: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 as CSV files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385" lvl="1" indent="-285750"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via a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DataFrame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to_csv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743585" lvl="2" indent="-285750"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File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585" lvl="2" indent="-285750"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Optional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index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(Boolean)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whether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385" lvl="1" indent="-285750">
              <a:spcBef>
                <a:spcPts val="400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df.to_csv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('states_processed.csv',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index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</a:p>
        </p:txBody>
      </p:sp>
      <p:pic>
        <p:nvPicPr>
          <p:cNvPr id="531" name="Grafik 530"/>
          <p:cNvPicPr/>
          <p:nvPr/>
        </p:nvPicPr>
        <p:blipFill>
          <a:blip r:embed="rId3"/>
          <a:stretch>
            <a:fillRect/>
          </a:stretch>
        </p:blipFill>
        <p:spPr>
          <a:xfrm>
            <a:off x="610631" y="3569954"/>
            <a:ext cx="3594834" cy="1731392"/>
          </a:xfrm>
          <a:prstGeom prst="rect">
            <a:avLst/>
          </a:prstGeom>
          <a:ln w="0">
            <a:noFill/>
          </a:ln>
        </p:spPr>
      </p:pic>
      <p:sp>
        <p:nvSpPr>
          <p:cNvPr id="532" name="Textfeld 531"/>
          <p:cNvSpPr txBox="1"/>
          <p:nvPr/>
        </p:nvSpPr>
        <p:spPr>
          <a:xfrm>
            <a:off x="620045" y="5255549"/>
            <a:ext cx="3543439" cy="247051"/>
          </a:xfrm>
          <a:prstGeom prst="rect">
            <a:avLst/>
          </a:prstGeom>
          <a:noFill/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algn="ctr"/>
            <a:r>
              <a:rPr lang="en-US" sz="1100" spc="-1" dirty="0" err="1">
                <a:highlight>
                  <a:srgbClr val="DAE3F3"/>
                </a:highlight>
                <a:latin typeface="Consolas" panose="020B0609020204030204" pitchFamily="49" charset="0"/>
              </a:rPr>
              <a:t>DataFrame</a:t>
            </a:r>
            <a:r>
              <a:rPr lang="en-US" sz="1100" spc="-1" dirty="0">
                <a:highlight>
                  <a:srgbClr val="DAE3F3"/>
                </a:highlight>
                <a:latin typeface="Consolas" panose="020B0609020204030204" pitchFamily="49" charset="0"/>
              </a:rPr>
              <a:t> </a:t>
            </a:r>
            <a:r>
              <a:rPr lang="en-US" sz="1100" b="1" spc="-1" dirty="0">
                <a:highlight>
                  <a:srgbClr val="DAE3F3"/>
                </a:highlight>
                <a:latin typeface="Consolas" panose="020B0609020204030204" pitchFamily="49" charset="0"/>
              </a:rPr>
              <a:t>df</a:t>
            </a:r>
            <a:endParaRPr lang="en-US" sz="1100" spc="-1" dirty="0">
              <a:highlight>
                <a:srgbClr val="DAE3F3"/>
              </a:highlight>
              <a:latin typeface="Consolas" panose="020B0609020204030204" pitchFamily="49" charset="0"/>
            </a:endParaRPr>
          </a:p>
        </p:txBody>
      </p:sp>
      <p:sp>
        <p:nvSpPr>
          <p:cNvPr id="535" name="Pfeil: nach rechts 534"/>
          <p:cNvSpPr/>
          <p:nvPr/>
        </p:nvSpPr>
        <p:spPr>
          <a:xfrm>
            <a:off x="4202666" y="4311107"/>
            <a:ext cx="503261" cy="424643"/>
          </a:xfrm>
          <a:prstGeom prst="rightArrow">
            <a:avLst>
              <a:gd name="adj1" fmla="val 46521"/>
              <a:gd name="adj2" fmla="val 58545"/>
            </a:avLst>
          </a:prstGeom>
          <a:solidFill>
            <a:srgbClr val="1E90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" name="Google Shape;86;p2"/>
          <p:cNvSpPr txBox="1"/>
          <p:nvPr/>
        </p:nvSpPr>
        <p:spPr>
          <a:xfrm>
            <a:off x="486744" y="157714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Storing </a:t>
            </a:r>
            <a:r>
              <a:rPr lang="en-US" sz="2800" b="1" dirty="0" err="1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DataFrames</a:t>
            </a: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 as CSV files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4777390" y="5132023"/>
            <a:ext cx="4167554" cy="247051"/>
          </a:xfrm>
          <a:prstGeom prst="rect">
            <a:avLst/>
          </a:prstGeom>
          <a:noFill/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algn="ctr"/>
            <a:r>
              <a:rPr lang="en-US" sz="1100" spc="-1" dirty="0">
                <a:highlight>
                  <a:srgbClr val="DAE3F3"/>
                </a:highlight>
                <a:latin typeface="Consolas" panose="020B0609020204030204" pitchFamily="49" charset="0"/>
              </a:rPr>
              <a:t>states_new.csv (in Excel)</a:t>
            </a:r>
          </a:p>
        </p:txBody>
      </p:sp>
      <p:pic>
        <p:nvPicPr>
          <p:cNvPr id="10" name="Grafik 9"/>
          <p:cNvPicPr/>
          <p:nvPr/>
        </p:nvPicPr>
        <p:blipFill>
          <a:blip r:embed="rId4"/>
          <a:stretch>
            <a:fillRect/>
          </a:stretch>
        </p:blipFill>
        <p:spPr>
          <a:xfrm>
            <a:off x="4762378" y="3632416"/>
            <a:ext cx="4255841" cy="1529375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Examples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Example with pandas and CSV files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825617" y="1501669"/>
            <a:ext cx="7492765" cy="751931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algn="just"/>
            <a:r>
              <a:rPr lang="en-US" sz="1800" b="1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1. </a:t>
            </a:r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Load, preprocess, and explore the data set containing information</a:t>
            </a:r>
          </a:p>
          <a:p>
            <a:pPr algn="just"/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all USA states.</a:t>
            </a:r>
            <a:r>
              <a:rPr lang="en-US" sz="1800" b="1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Google Shape;87;p2"/>
          <p:cNvSpPr txBox="1">
            <a:spLocks noGrp="1"/>
          </p:cNvSpPr>
          <p:nvPr>
            <p:ph type="body" idx="1"/>
          </p:nvPr>
        </p:nvSpPr>
        <p:spPr>
          <a:xfrm>
            <a:off x="661794" y="2337949"/>
            <a:ext cx="8036099" cy="585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unit8_exercise.ipynb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p:sp>
        <p:nvSpPr>
          <p:cNvPr id="4" name="Textfeld 2"/>
          <p:cNvSpPr txBox="1"/>
          <p:nvPr/>
        </p:nvSpPr>
        <p:spPr>
          <a:xfrm>
            <a:off x="461938" y="1605600"/>
            <a:ext cx="8229600" cy="9233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lvl="0">
              <a:defRPr/>
            </a:pP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Task 1:</a:t>
            </a:r>
            <a:r>
              <a:rPr lang="de-DE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 on states dataset and perform some additional computations.</a:t>
            </a:r>
          </a:p>
          <a:p>
            <a:pPr lvl="0">
              <a:defRPr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3"/>
            </a:endParaRPr>
          </a:p>
          <a:p>
            <a:pPr>
              <a:defRPr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unit8_exercise.ipynb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3059</Words>
  <Application>Microsoft Macintosh PowerPoint</Application>
  <PresentationFormat>On-screen Show (4:3)</PresentationFormat>
  <Paragraphs>434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Consolas</vt:lpstr>
      <vt:lpstr>Symbol</vt:lpstr>
      <vt:lpstr>Arial</vt:lpstr>
      <vt:lpstr>Calibri</vt:lpstr>
      <vt:lpstr>Blackadder ITC</vt:lpstr>
      <vt:lpstr>Times New Roman</vt:lpstr>
      <vt:lpstr>Wingdings</vt:lpstr>
      <vt:lpstr>Office Theme</vt:lpstr>
      <vt:lpstr>Fundamentals of Computer Science and Programming </vt:lpstr>
      <vt:lpstr>Outline</vt:lpstr>
      <vt:lpstr>File I/O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CSV files and module imports</vt:lpstr>
      <vt:lpstr>PowerPoint Presentation</vt:lpstr>
      <vt:lpstr>PowerPoint Presentation</vt:lpstr>
      <vt:lpstr>PowerPoint Presentation</vt:lpstr>
      <vt:lpstr>PowerPoint Presentation</vt:lpstr>
      <vt:lpstr>Pandas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Examples</vt:lpstr>
      <vt:lpstr>Example with pandas and CSV files</vt:lpstr>
      <vt:lpstr>Exercise</vt:lpstr>
      <vt:lpstr>Student 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 Basics of Computer Programming</dc:title>
  <dc:creator>Lyndon Nixon</dc:creator>
  <cp:lastModifiedBy>Ingo Frommholz</cp:lastModifiedBy>
  <cp:revision>1097</cp:revision>
  <dcterms:created xsi:type="dcterms:W3CDTF">2025-11-19T21:38:26Z</dcterms:created>
  <dcterms:modified xsi:type="dcterms:W3CDTF">2025-11-20T08:34:34Z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3A8537BADE61422A897FF4E91493026C_12</vt:lpwstr>
  </property>
  <property fmtid="{D5CDD505-2E9C-101B-9397-08002B2CF9AE}" pid="3" name="KSOProductBuildVer">
    <vt:lpwstr>2052-12.1.0.23125</vt:lpwstr>
  </property>
</Properties>
</file>