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408" r:id="rId3"/>
    <p:sldId id="499" r:id="rId4"/>
    <p:sldId id="276" r:id="rId5"/>
    <p:sldId id="277" r:id="rId6"/>
    <p:sldId id="576" r:id="rId7"/>
    <p:sldId id="278" r:id="rId8"/>
    <p:sldId id="279" r:id="rId9"/>
    <p:sldId id="280" r:id="rId10"/>
    <p:sldId id="281" r:id="rId11"/>
    <p:sldId id="282" r:id="rId12"/>
    <p:sldId id="572" r:id="rId13"/>
    <p:sldId id="284" r:id="rId14"/>
    <p:sldId id="285" r:id="rId15"/>
    <p:sldId id="286" r:id="rId16"/>
    <p:sldId id="287" r:id="rId17"/>
    <p:sldId id="573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574" r:id="rId32"/>
    <p:sldId id="567" r:id="rId33"/>
    <p:sldId id="568" r:id="rId34"/>
    <p:sldId id="569" r:id="rId35"/>
    <p:sldId id="570" r:id="rId36"/>
    <p:sldId id="575" r:id="rId37"/>
    <p:sldId id="554" r:id="rId38"/>
    <p:sldId id="565" r:id="rId39"/>
    <p:sldId id="523" r:id="rId40"/>
    <p:sldId id="461" r:id="rId41"/>
  </p:sldIdLst>
  <p:sldSz cx="9144000" cy="6858000" type="screen4x3"/>
  <p:notesSz cx="7099300" cy="10234613"/>
  <p:embeddedFontLst>
    <p:embeddedFont>
      <p:font typeface="Blackadder ITC" pitchFamily="82" charset="77"/>
      <p:regular r:id="rId43"/>
    </p:embeddedFont>
    <p:embeddedFont>
      <p:font typeface="Consolas" panose="020B0609020204030204" pitchFamily="49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48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32CD32"/>
    <a:srgbClr val="1E90FF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76" autoAdjust="0"/>
    <p:restoredTop sz="94651" autoAdjust="0"/>
  </p:normalViewPr>
  <p:slideViewPr>
    <p:cSldViewPr snapToGrid="0" showGuides="1">
      <p:cViewPr varScale="1">
        <p:scale>
          <a:sx n="143" d="100"/>
          <a:sy n="143" d="100"/>
        </p:scale>
        <p:origin x="704" y="200"/>
      </p:cViewPr>
      <p:guideLst>
        <p:guide orient="horz" pos="2148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modSld">
      <pc:chgData name="Ingo Frommholz" userId="ee3b4549-206f-4e4f-93a1-b7ff676f0af7" providerId="ADAL" clId="{5F8971C4-3D52-5FAB-A951-9912A46CDBB0}" dt="2025-11-20T08:06:37.675" v="7" actId="20577"/>
      <pc:docMkLst>
        <pc:docMk/>
      </pc:docMkLst>
      <pc:sldChg chg="modSp mod">
        <pc:chgData name="Ingo Frommholz" userId="ee3b4549-206f-4e4f-93a1-b7ff676f0af7" providerId="ADAL" clId="{5F8971C4-3D52-5FAB-A951-9912A46CDBB0}" dt="2025-11-20T08:06:29.375" v="3" actId="20577"/>
        <pc:sldMkLst>
          <pc:docMk/>
          <pc:sldMk cId="0" sldId="570"/>
        </pc:sldMkLst>
        <pc:spChg chg="mod">
          <ac:chgData name="Ingo Frommholz" userId="ee3b4549-206f-4e4f-93a1-b7ff676f0af7" providerId="ADAL" clId="{5F8971C4-3D52-5FAB-A951-9912A46CDBB0}" dt="2025-11-20T08:06:29.375" v="3" actId="20577"/>
          <ac:spMkLst>
            <pc:docMk/>
            <pc:sldMk cId="0" sldId="570"/>
            <ac:spMk id="13" creationId="{00000000-0000-0000-0000-000000000000}"/>
          </ac:spMkLst>
        </pc:spChg>
      </pc:sldChg>
      <pc:sldChg chg="modSp mod">
        <pc:chgData name="Ingo Frommholz" userId="ee3b4549-206f-4e4f-93a1-b7ff676f0af7" providerId="ADAL" clId="{5F8971C4-3D52-5FAB-A951-9912A46CDBB0}" dt="2025-11-20T08:06:37.675" v="7" actId="20577"/>
        <pc:sldMkLst>
          <pc:docMk/>
          <pc:sldMk cId="0" sldId="575"/>
        </pc:sldMkLst>
        <pc:spChg chg="mod">
          <ac:chgData name="Ingo Frommholz" userId="ee3b4549-206f-4e4f-93a1-b7ff676f0af7" providerId="ADAL" clId="{5F8971C4-3D52-5FAB-A951-9912A46CDBB0}" dt="2025-11-20T08:06:37.675" v="7" actId="20577"/>
          <ac:spMkLst>
            <pc:docMk/>
            <pc:sldMk cId="0" sldId="575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11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11:30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16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130" lvl="1" indent="-404495">
              <a:lnSpc>
                <a:spcPct val="100000"/>
              </a:lnSpc>
              <a:spcBef>
                <a:spcPts val="1135"/>
              </a:spcBef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Generelle Data Science Pipeline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Daten anlegen/laden ➡ Preprocessing ➡ Daten explorieren ➡ Daten verarbeiten ➡ Ergebnisse ausgeben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0">
              <a:lnSpc>
                <a:spcPct val="100000"/>
              </a:lnSpc>
              <a:spcBef>
                <a:spcPts val="850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-----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Python macht man das ganz oft mit pandas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der name pandas kommt (angeblich) von einer abkürzung für “Panel Data”, und das beschreibt oft “tabulare Daten” .Was versteht man unter tabularen Daten? (Tabellendateien)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0">
              <a:lnSpc>
                <a:spcPct val="100000"/>
              </a:lnSpc>
              <a:spcBef>
                <a:spcPts val="850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 </a:t>
            </a:r>
            <a:endParaRPr lang="en-US" sz="1400" b="0" strike="noStrike" spc="-1">
              <a:latin typeface="Arial" panose="020B0604020202020204"/>
            </a:endParaRPr>
          </a:p>
          <a:p>
            <a:pPr marL="405130" lvl="1" indent="-404495">
              <a:lnSpc>
                <a:spcPct val="100000"/>
              </a:lnSpc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pandas (Panel data), numpy (=Numeric Python)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Man stelle sich eine CSV oder excel Datei vor, dann lad ma die Daten einfach 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Zeilen anzeigen</a:t>
            </a:r>
            <a:endParaRPr lang="en-US" sz="1400" b="0" strike="noStrike" spc="-1">
              <a:latin typeface="Arial" panose="020B0604020202020204"/>
            </a:endParaRPr>
          </a:p>
          <a:p>
            <a:pPr marL="1727835" lvl="3" indent="-215900">
              <a:lnSpc>
                <a:spcPct val="100000"/>
              </a:lnSpc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Man kann sich das als spezialisiertes Dictionary vorstellen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Die einzelnen spalten: Series, im hintergrund numpy array (ist jetzt für uns nicht wichtig)</a:t>
            </a:r>
            <a:endParaRPr lang="en-US" sz="14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130" lvl="1" indent="0">
              <a:lnSpc>
                <a:spcPct val="100000"/>
              </a:lnSpc>
              <a:spcBef>
                <a:spcPts val="1135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 </a:t>
            </a:r>
            <a:endParaRPr lang="en-US" sz="1400" b="0" strike="noStrike" spc="-1">
              <a:latin typeface="Arial" panose="020B0604020202020204"/>
            </a:endParaRPr>
          </a:p>
          <a:p>
            <a:pPr marL="405130" lvl="1" indent="-404495">
              <a:lnSpc>
                <a:spcPct val="100000"/>
              </a:lnSpc>
              <a:spcBef>
                <a:spcPts val="1135"/>
              </a:spcBef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pandas-Funktionalität in dieser Vorlesung: 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Daten laden/anlegen ➡ Daten abrufen und filtern ➡ Spalten neu anlegen ➡ Fehlende Daten ausfüllen  ➡ Daten verarbeiten und Ergebnisse berechnen ➡ Neu berechnete Daten speichern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-------</a:t>
            </a:r>
            <a:endParaRPr lang="en-US" sz="14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 dirty="0">
                <a:latin typeface="Arial" panose="020B0604020202020204"/>
              </a:rPr>
              <a:t>Ganz oft </a:t>
            </a:r>
            <a:r>
              <a:rPr lang="en-US" sz="2000" b="0" strike="noStrike" spc="-1" dirty="0" err="1">
                <a:latin typeface="Arial" panose="020B0604020202020204"/>
              </a:rPr>
              <a:t>kürzt</a:t>
            </a:r>
            <a:r>
              <a:rPr lang="en-US" sz="2000" b="0" strike="noStrike" spc="-1" dirty="0">
                <a:latin typeface="Arial" panose="020B0604020202020204"/>
              </a:rPr>
              <a:t> man das </a:t>
            </a:r>
            <a:r>
              <a:rPr lang="en-US" sz="2000" b="0" strike="noStrike" spc="-1" dirty="0" err="1">
                <a:latin typeface="Arial" panose="020B0604020202020204"/>
              </a:rPr>
              <a:t>eben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einfach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mit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df</a:t>
            </a:r>
            <a:r>
              <a:rPr lang="en-US" sz="2000" b="0" strike="noStrike" spc="-1" dirty="0">
                <a:latin typeface="Arial" panose="020B0604020202020204"/>
              </a:rPr>
              <a:t> (</a:t>
            </a:r>
            <a:r>
              <a:rPr lang="en-US" sz="2000" b="0" strike="noStrike" spc="-1" dirty="0" err="1">
                <a:latin typeface="Arial" panose="020B0604020202020204"/>
              </a:rPr>
              <a:t>kurz</a:t>
            </a:r>
            <a:r>
              <a:rPr lang="en-US" sz="2000" b="0" strike="noStrike" spc="-1" dirty="0">
                <a:latin typeface="Arial" panose="020B0604020202020204"/>
              </a:rPr>
              <a:t> für </a:t>
            </a:r>
            <a:r>
              <a:rPr lang="en-US" sz="2000" b="0" strike="noStrike" spc="-1" dirty="0" err="1">
                <a:latin typeface="Arial" panose="020B0604020202020204"/>
              </a:rPr>
              <a:t>DataFrame</a:t>
            </a:r>
            <a:r>
              <a:rPr lang="en-US" sz="2000" b="0" strike="noStrike" spc="-1" dirty="0">
                <a:latin typeface="Arial" panose="020B0604020202020204"/>
              </a:rPr>
              <a:t> ab), und </a:t>
            </a:r>
            <a:r>
              <a:rPr lang="en-US" sz="2000" b="0" strike="noStrike" spc="-1" dirty="0" err="1">
                <a:latin typeface="Arial" panose="020B0604020202020204"/>
              </a:rPr>
              <a:t>obwohl</a:t>
            </a:r>
            <a:r>
              <a:rPr lang="en-US" sz="2000" b="0" strike="noStrike" spc="-1" dirty="0">
                <a:latin typeface="Arial" panose="020B0604020202020204"/>
              </a:rPr>
              <a:t> das </a:t>
            </a:r>
            <a:r>
              <a:rPr lang="en-US" sz="2000" b="0" strike="noStrike" spc="-1" dirty="0" err="1">
                <a:latin typeface="Arial" panose="020B0604020202020204"/>
              </a:rPr>
              <a:t>jetzt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vielleicht</a:t>
            </a:r>
            <a:r>
              <a:rPr lang="en-US" sz="2000" b="0" strike="noStrike" spc="-1" dirty="0">
                <a:latin typeface="Arial" panose="020B0604020202020204"/>
              </a:rPr>
              <a:t> nicht </a:t>
            </a:r>
            <a:r>
              <a:rPr lang="en-US" sz="2000" b="0" strike="noStrike" spc="-1" dirty="0" err="1">
                <a:latin typeface="Arial" panose="020B0604020202020204"/>
              </a:rPr>
              <a:t>unbedingt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unserem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CodingStyle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entspricht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kann</a:t>
            </a:r>
            <a:r>
              <a:rPr lang="en-US" sz="2000" b="0" strike="noStrike" spc="-1" dirty="0">
                <a:latin typeface="Arial" panose="020B0604020202020204"/>
              </a:rPr>
              <a:t> man das </a:t>
            </a:r>
            <a:r>
              <a:rPr lang="en-US" sz="2000" b="0" strike="noStrike" spc="-1" dirty="0" err="1">
                <a:latin typeface="Arial" panose="020B0604020202020204"/>
              </a:rPr>
              <a:t>hier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scho</a:t>
            </a:r>
            <a:r>
              <a:rPr lang="en-US" sz="2000" b="0" strike="noStrike" spc="-1" dirty="0">
                <a:latin typeface="Arial" panose="020B0604020202020204"/>
              </a:rPr>
              <a:t> so </a:t>
            </a:r>
            <a:r>
              <a:rPr lang="en-US" sz="2000" b="0" strike="noStrike" spc="-1" dirty="0" err="1">
                <a:latin typeface="Arial" panose="020B0604020202020204"/>
              </a:rPr>
              <a:t>machen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weil</a:t>
            </a:r>
            <a:r>
              <a:rPr lang="en-US" sz="2000" b="0" strike="noStrike" spc="-1" dirty="0">
                <a:latin typeface="Arial" panose="020B0604020202020204"/>
              </a:rPr>
              <a:t> das </a:t>
            </a:r>
            <a:r>
              <a:rPr lang="en-US" sz="2000" b="0" strike="noStrike" spc="-1" dirty="0" err="1">
                <a:latin typeface="Arial" panose="020B0604020202020204"/>
              </a:rPr>
              <a:t>einfach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namen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der </a:t>
            </a:r>
            <a:r>
              <a:rPr lang="en-US" sz="2000" b="0" strike="noStrike" spc="-1" dirty="0" err="1">
                <a:latin typeface="Arial" panose="020B0604020202020204"/>
              </a:rPr>
              <a:t>si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eingebürgert</a:t>
            </a:r>
            <a:r>
              <a:rPr lang="en-US" sz="2000" b="0" strike="noStrike" spc="-1" dirty="0">
                <a:latin typeface="Arial" panose="020B0604020202020204"/>
              </a:rPr>
              <a:t> hat.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 dirty="0">
                <a:latin typeface="Arial" panose="020B0604020202020204"/>
              </a:rPr>
              <a:t>Loc: man </a:t>
            </a:r>
            <a:r>
              <a:rPr lang="en-US" sz="2000" b="0" strike="noStrike" spc="-1" dirty="0" err="1">
                <a:latin typeface="Arial" panose="020B0604020202020204"/>
              </a:rPr>
              <a:t>sieht</a:t>
            </a:r>
            <a:r>
              <a:rPr lang="en-US" sz="2000" b="0" strike="noStrike" spc="-1" dirty="0">
                <a:latin typeface="Arial" panose="020B0604020202020204"/>
              </a:rPr>
              <a:t> es </a:t>
            </a:r>
            <a:r>
              <a:rPr lang="en-US" sz="2000" b="0" strike="noStrike" spc="-1" dirty="0" err="1">
                <a:latin typeface="Arial" panose="020B0604020202020204"/>
              </a:rPr>
              <a:t>kann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auch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zwei</a:t>
            </a:r>
            <a:r>
              <a:rPr lang="en-US" sz="2000" b="0" strike="noStrike" spc="-1" dirty="0">
                <a:latin typeface="Arial" panose="020B0604020202020204"/>
              </a:rPr>
              <a:t> parameter </a:t>
            </a:r>
            <a:r>
              <a:rPr lang="en-US" sz="2000" b="0" strike="noStrike" spc="-1" dirty="0" err="1">
                <a:latin typeface="Arial" panose="020B0604020202020204"/>
              </a:rPr>
              <a:t>übernehmen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erstes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immer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welche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Zeilen</a:t>
            </a:r>
            <a:r>
              <a:rPr lang="en-US" sz="2000" b="0" strike="noStrike" spc="-1" dirty="0">
                <a:latin typeface="Arial" panose="020B0604020202020204"/>
              </a:rPr>
              <a:t> man </a:t>
            </a:r>
            <a:r>
              <a:rPr lang="en-US" sz="2000" b="0" strike="noStrike" spc="-1" dirty="0" err="1">
                <a:latin typeface="Arial" panose="020B0604020202020204"/>
              </a:rPr>
              <a:t>nehmen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soll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zweites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dann</a:t>
            </a:r>
            <a:r>
              <a:rPr lang="en-US" sz="2000" b="0" strike="noStrike" spc="-1" dirty="0">
                <a:latin typeface="Arial" panose="020B0604020202020204"/>
              </a:rPr>
              <a:t> die </a:t>
            </a:r>
            <a:r>
              <a:rPr lang="en-US" sz="2000" b="0" strike="noStrike" spc="-1" dirty="0" err="1">
                <a:latin typeface="Arial" panose="020B0604020202020204"/>
              </a:rPr>
              <a:t>jeweilige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Spalte</a:t>
            </a:r>
            <a:endParaRPr lang="en-US" sz="2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Welche logischen Operatoren haben wir in der ganz ersten lv gemacht?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Tafel vielleicht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36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38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/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38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 preserve="1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/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38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9D5A73E5-E1DD-458C-A16A-C4A93D2B617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/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39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37.xml"/><Relationship Id="rId5" Type="http://schemas.openxmlformats.org/officeDocument/2006/relationships/slide" Target="slide17.xml"/><Relationship Id="rId4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pandas.pydata.org/pandas-docs/stable/user_guide/text.html#method-summary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pandas.pydata.org/docs/reference/api/pandas.DataFrame.plot.html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helic/focsp/blob/main/notebooks/unit8_exercise.ipynb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endParaRPr lang="en-US" sz="4400" b="1" noProof="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Unit 8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Programming Part V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" name="Rechteck 1"/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/>
          <p:cNvSpPr txBox="1"/>
          <p:nvPr/>
        </p:nvSpPr>
        <p:spPr>
          <a:xfrm>
            <a:off x="457200" y="1701579"/>
            <a:ext cx="75338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File I/O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CSV files and module imports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Pandas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Examples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File I/O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and writing files: File I/O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 type="body" idx="1"/>
          </p:nvPr>
        </p:nvSpPr>
        <p:spPr>
          <a:xfrm>
            <a:off x="619431" y="1627973"/>
            <a:ext cx="7934633" cy="21715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(.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open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open(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Path 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endParaRPr lang="de-AT" sz="1800" spc="-1" dirty="0">
              <a:solidFill>
                <a:srgbClr val="0F0F0F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Opening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+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Default: Access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'w',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'ab', 'b',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rb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...</a:t>
            </a:r>
          </a:p>
        </p:txBody>
      </p:sp>
      <p:graphicFrame>
        <p:nvGraphicFramePr>
          <p:cNvPr id="479" name="Tabelle 478"/>
          <p:cNvGraphicFramePr/>
          <p:nvPr/>
        </p:nvGraphicFramePr>
        <p:xfrm>
          <a:off x="431800" y="4170478"/>
          <a:ext cx="4628753" cy="163010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0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8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Symbol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US" sz="1800" b="1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'r'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Read (Default)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'w'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Write, current file dropped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'a'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Write, append at the end of the current file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80" name="Tabelle 479"/>
          <p:cNvGraphicFramePr/>
          <p:nvPr/>
        </p:nvGraphicFramePr>
        <p:xfrm>
          <a:off x="5632945" y="4170478"/>
          <a:ext cx="2806875" cy="117335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0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64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Symbol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US" sz="1800" b="1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459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't'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Text file (Default)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18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'b'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Binary file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81" name="Textfeld 480"/>
          <p:cNvSpPr txBox="1"/>
          <p:nvPr/>
        </p:nvSpPr>
        <p:spPr>
          <a:xfrm>
            <a:off x="5207449" y="4582869"/>
            <a:ext cx="278600" cy="348568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de-AT" sz="198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+</a:t>
            </a:r>
            <a:endParaRPr lang="en-US" sz="198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2"/>
          <p:cNvSpPr>
            <a:spLocks noGrp="1"/>
          </p:cNvSpPr>
          <p:nvPr>
            <p:ph type="body" idx="1"/>
          </p:nvPr>
        </p:nvSpPr>
        <p:spPr>
          <a:xfrm>
            <a:off x="604520" y="1370330"/>
            <a:ext cx="7934325" cy="351345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Absolute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unix_path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home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ruptho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/code/test.txt'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windows_path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'C:\\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Documents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\\code\\test.txt'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Path 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'text.txt'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Subfolder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/text.txt'</a:t>
            </a:r>
          </a:p>
        </p:txBody>
      </p:sp>
      <p:sp>
        <p:nvSpPr>
          <p:cNvPr id="9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Paths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" name="PlaceHolder 2"/>
          <p:cNvSpPr>
            <a:spLocks noGrp="1"/>
          </p:cNvSpPr>
          <p:nvPr/>
        </p:nvSpPr>
        <p:spPr>
          <a:xfrm>
            <a:off x="604520" y="3921125"/>
            <a:ext cx="7934325" cy="19519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If you're not sure about the executable file path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 os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os.getcwd()</a:t>
            </a:r>
          </a:p>
          <a:p>
            <a:pPr marL="915035" lvl="3" indent="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</a:pP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2"/>
          <p:cNvSpPr>
            <a:spLocks noGrp="1"/>
          </p:cNvSpPr>
          <p:nvPr>
            <p:ph type="body" idx="1"/>
          </p:nvPr>
        </p:nvSpPr>
        <p:spPr>
          <a:xfrm>
            <a:off x="691678" y="2114623"/>
            <a:ext cx="7934633" cy="26287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First, mount Google Drive.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from</a:t>
            </a: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google.colab import drive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drive.mount('/content/drive')</a:t>
            </a:r>
            <a:endParaRPr lang="en-US" altLang="zh-CN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en-US" altLang="zh-CN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Absolute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file_path = '/content/drive/MyDrive/'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Path 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'text.txt'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Subfolder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</a:t>
            </a: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drive/MyDrive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/text.txt'</a:t>
            </a: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Paths in Colab</a:t>
            </a:r>
          </a:p>
        </p:txBody>
      </p:sp>
      <p:sp>
        <p:nvSpPr>
          <p:cNvPr id="2" name="PlaceHolder 2"/>
          <p:cNvSpPr>
            <a:spLocks noGrp="1"/>
          </p:cNvSpPr>
          <p:nvPr/>
        </p:nvSpPr>
        <p:spPr>
          <a:xfrm>
            <a:off x="691515" y="4401185"/>
            <a:ext cx="7934325" cy="19519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If you're not sure about the executable file path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 os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os.getcwd()</a:t>
            </a:r>
          </a:p>
          <a:p>
            <a:pPr marL="915035" lvl="3" indent="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</a:pP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85620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open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2" name="Textfeld 491"/>
          <p:cNvSpPr txBox="1"/>
          <p:nvPr/>
        </p:nvSpPr>
        <p:spPr>
          <a:xfrm>
            <a:off x="634547" y="4319752"/>
            <a:ext cx="7973310" cy="11981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# open() = return object representing file in Python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#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variable where file object is stored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print(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'Access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now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using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i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1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and writing files: File I/O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body" idx="1"/>
          </p:nvPr>
        </p:nvSpPr>
        <p:spPr>
          <a:xfrm>
            <a:off x="619431" y="2142981"/>
            <a:ext cx="7934633" cy="150411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Lines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newline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'\n'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read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497" name="PlaceHolder 5"/>
          <p:cNvSpPr>
            <a:spLocks noGrp="1"/>
          </p:cNvSpPr>
          <p:nvPr>
            <p:ph type="sldNum" idx="72"/>
          </p:nvPr>
        </p:nvSpPr>
        <p:spPr>
          <a:xfrm>
            <a:off x="0" y="1143000"/>
            <a:ext cx="431800" cy="433388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6BC67CA6-E0B2-4728-84E9-29E1FDDF4E9B}" type="slidenum">
              <a:rPr lang="en-US"/>
              <a:t>7</a:t>
            </a:fld>
            <a:endParaRPr lang="en-US">
              <a:latin typeface="Times New Roman" panose="02020603050405020304"/>
            </a:endParaRPr>
          </a:p>
        </p:txBody>
      </p:sp>
      <p:sp>
        <p:nvSpPr>
          <p:cNvPr id="498" name="Textfeld 497"/>
          <p:cNvSpPr txBox="1"/>
          <p:nvPr/>
        </p:nvSpPr>
        <p:spPr>
          <a:xfrm>
            <a:off x="590007" y="3804626"/>
            <a:ext cx="8142760" cy="174108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# open() = return object representing file in Python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#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variable where file object is stored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file_content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.read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 # read from file object</a:t>
            </a:r>
            <a:endParaRPr lang="en-US" sz="1800" spc="-1" dirty="0">
              <a:latin typeface="Consolas" panose="020B0609020204030204" pitchFamily="49" charset="0"/>
            </a:endParaRPr>
          </a:p>
          <a:p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file_content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6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text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14277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a time: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</a:t>
            </a:r>
          </a:p>
        </p:txBody>
      </p:sp>
      <p:sp>
        <p:nvSpPr>
          <p:cNvPr id="504" name="Textfeld 503"/>
          <p:cNvSpPr txBox="1"/>
          <p:nvPr/>
        </p:nvSpPr>
        <p:spPr>
          <a:xfrm>
            <a:off x="634547" y="3572244"/>
            <a:ext cx="8142760" cy="134659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Iterating over object = Iterating over lines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line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print(line)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6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text files line by line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/>
          </p:nvPr>
        </p:nvSpPr>
        <p:spPr>
          <a:xfrm>
            <a:off x="622335" y="1848231"/>
            <a:ext cx="8295927" cy="11892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readlines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510" name="Textfeld 509"/>
          <p:cNvSpPr txBox="1"/>
          <p:nvPr/>
        </p:nvSpPr>
        <p:spPr>
          <a:xfrm>
            <a:off x="634547" y="3454443"/>
            <a:ext cx="8142760" cy="156424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#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lines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readlines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endParaRPr lang="en-US" sz="1800" spc="-1" dirty="0">
              <a:latin typeface="Consolas" panose="020B0609020204030204" pitchFamily="49" charset="0"/>
            </a:endParaRPr>
          </a:p>
          <a:p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print(f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'The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{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}')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all lines at once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2"/>
          <p:cNvSpPr>
            <a:spLocks noGrp="1"/>
          </p:cNvSpPr>
          <p:nvPr>
            <p:ph type="body" idx="1"/>
          </p:nvPr>
        </p:nvSpPr>
        <p:spPr>
          <a:xfrm>
            <a:off x="619431" y="2142980"/>
            <a:ext cx="7934633" cy="14830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Writing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Setting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'w'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Append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instead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'a'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write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516" name="Textfeld 515"/>
          <p:cNvSpPr txBox="1"/>
          <p:nvPr/>
        </p:nvSpPr>
        <p:spPr>
          <a:xfrm>
            <a:off x="710876" y="4139876"/>
            <a:ext cx="8142760" cy="159877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filename =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'test_write.txt'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open(filename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 'w'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Note the newline char (\n)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file_obj.write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'I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love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Programming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.\n'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file_obj.write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'I do not like Maths.\n'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Writing text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CSV files and module imports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2"/>
          <p:cNvSpPr>
            <a:spLocks noGrp="1"/>
          </p:cNvSpPr>
          <p:nvPr>
            <p:ph/>
          </p:nvPr>
        </p:nvSpPr>
        <p:spPr>
          <a:xfrm>
            <a:off x="622335" y="2000634"/>
            <a:ext cx="8410420" cy="18408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Files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i.e., Excel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 =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Value</a:t>
            </a: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delimiter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; \t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depends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language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software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external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527" name="Textfeld 526"/>
          <p:cNvSpPr txBox="1"/>
          <p:nvPr/>
        </p:nvSpPr>
        <p:spPr>
          <a:xfrm>
            <a:off x="307351" y="4163538"/>
            <a:ext cx="4329880" cy="154883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Mat.Nr.,</a:t>
            </a:r>
            <a:r>
              <a:rPr lang="en-US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Vorname,Nachname,Punkte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1234,Martina,Muster,10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1313,Max,Muster,12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4242,Test,Student,16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2424,Test,Studentin,14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pic>
        <p:nvPicPr>
          <p:cNvPr id="528" name="Grafik 527"/>
          <p:cNvPicPr/>
          <p:nvPr/>
        </p:nvPicPr>
        <p:blipFill>
          <a:blip r:embed="rId3"/>
          <a:stretch>
            <a:fillRect/>
          </a:stretch>
        </p:blipFill>
        <p:spPr>
          <a:xfrm>
            <a:off x="5373296" y="4158958"/>
            <a:ext cx="3593816" cy="1339062"/>
          </a:xfrm>
          <a:prstGeom prst="rect">
            <a:avLst/>
          </a:prstGeom>
          <a:ln w="0">
            <a:noFill/>
          </a:ln>
        </p:spPr>
      </p:pic>
      <p:sp>
        <p:nvSpPr>
          <p:cNvPr id="529" name="Pfeil: nach links und rechts 528"/>
          <p:cNvSpPr/>
          <p:nvPr/>
        </p:nvSpPr>
        <p:spPr>
          <a:xfrm>
            <a:off x="4676159" y="4631433"/>
            <a:ext cx="646251" cy="517001"/>
          </a:xfrm>
          <a:prstGeom prst="leftRightArrow">
            <a:avLst>
              <a:gd name="adj1" fmla="val 39203"/>
              <a:gd name="adj2" fmla="val 43487"/>
            </a:avLst>
          </a:prstGeom>
          <a:solidFill>
            <a:srgbClr val="C9211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CSV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2"/>
          <p:cNvSpPr>
            <a:spLocks noGrp="1"/>
          </p:cNvSpPr>
          <p:nvPr>
            <p:ph/>
          </p:nvPr>
        </p:nvSpPr>
        <p:spPr>
          <a:xfrm>
            <a:off x="622335" y="2000633"/>
            <a:ext cx="7930311" cy="260815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575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1800" spc="-1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eyword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4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scripts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external code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libraries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own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u="sng" spc="-1" dirty="0">
                <a:solidFill>
                  <a:srgbClr val="1C9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Python Standard Library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available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per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External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installation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</a:t>
            </a:r>
            <a:r>
              <a:rPr lang="de-AT" sz="1800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pip</a:t>
            </a:r>
            <a:r>
              <a:rPr lang="de-AT" sz="1800" spc="-1" dirty="0">
                <a:highlight>
                  <a:srgbClr val="D3D3D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Google Shape;86;p2"/>
          <p:cNvSpPr txBox="1"/>
          <p:nvPr/>
        </p:nvSpPr>
        <p:spPr>
          <a:xfrm>
            <a:off x="313944" y="1324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Importing modules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2"/>
          <p:cNvSpPr>
            <a:spLocks noGrp="1"/>
          </p:cNvSpPr>
          <p:nvPr>
            <p:ph type="body" idx="1"/>
          </p:nvPr>
        </p:nvSpPr>
        <p:spPr>
          <a:xfrm>
            <a:off x="619431" y="2142980"/>
            <a:ext cx="7934633" cy="22452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syntax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4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ModuleName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  <a:p>
            <a:pPr marL="12007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de-AT" sz="18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ModuleName</a:t>
            </a:r>
            <a:r>
              <a:rPr lang="de-AT" sz="18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1E90F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&lt;alias&gt;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5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35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pd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1E90F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&lt;alias&gt;</a:t>
            </a:r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un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tion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_n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ame&gt;()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0" name="Textfeld 539"/>
          <p:cNvSpPr txBox="1"/>
          <p:nvPr/>
        </p:nvSpPr>
        <p:spPr>
          <a:xfrm>
            <a:off x="622335" y="4482789"/>
            <a:ext cx="8149809" cy="158693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random-module: https://docs.python.org/3/library/random.html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>
                <a:solidFill>
                  <a:srgbClr val="32CD32"/>
                </a:solidFill>
                <a:latin typeface="Consolas" panose="020B0609020204030204" pitchFamily="49" charset="0"/>
                <a:ea typeface="Droid Sans Fallback"/>
              </a:rPr>
              <a:t>random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 err="1">
                <a:solidFill>
                  <a:srgbClr val="1E90FF"/>
                </a:solidFill>
                <a:latin typeface="Consolas" panose="020B0609020204030204" pitchFamily="49" charset="0"/>
                <a:ea typeface="Droid Sans Fallback"/>
              </a:rPr>
              <a:t>rd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  <a:ea typeface="Droid Sans Fallback"/>
            </a:endParaRPr>
          </a:p>
          <a:p>
            <a:pPr>
              <a:lnSpc>
                <a:spcPct val="100000"/>
              </a:lnSpc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for example, get random number between 1 and (inclusive) 13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random_number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spc="-1" dirty="0" err="1">
                <a:solidFill>
                  <a:srgbClr val="1E90FF"/>
                </a:solidFill>
                <a:latin typeface="Consolas" panose="020B0609020204030204" pitchFamily="49" charset="0"/>
                <a:ea typeface="Droid Sans Fallback"/>
              </a:rPr>
              <a:t>rd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randint</a:t>
            </a:r>
            <a:r>
              <a:rPr lang="en-US" sz="1800" i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(1, 13)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313944" y="1756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Importing modules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Textfeld 540"/>
          <p:cNvSpPr txBox="1"/>
          <p:nvPr/>
        </p:nvSpPr>
        <p:spPr>
          <a:xfrm>
            <a:off x="646251" y="4518952"/>
            <a:ext cx="8207385" cy="138282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45" name="PlaceHolder 4"/>
          <p:cNvSpPr>
            <a:spLocks noGrp="1"/>
          </p:cNvSpPr>
          <p:nvPr>
            <p:ph type="sldNum" idx="96"/>
          </p:nvPr>
        </p:nvSpPr>
        <p:spPr>
          <a:xfrm>
            <a:off x="-6360" y="1142697"/>
            <a:ext cx="431512" cy="433802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004FD43B-3FC3-423B-B710-A5EA0E474ADD}" type="slidenum">
              <a:rPr lang="en-US"/>
              <a:t>15</a:t>
            </a:fld>
            <a:endParaRPr lang="en-US">
              <a:latin typeface="Times New Roman" panose="02020603050405020304"/>
            </a:endParaRPr>
          </a:p>
        </p:txBody>
      </p:sp>
      <p:sp>
        <p:nvSpPr>
          <p:cNvPr id="546" name="Textfeld 545"/>
          <p:cNvSpPr txBox="1"/>
          <p:nvPr/>
        </p:nvSpPr>
        <p:spPr>
          <a:xfrm>
            <a:off x="646251" y="2951182"/>
            <a:ext cx="8207385" cy="138282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imports are usually at the beginning of files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But for the sake of this example, let's imagine this is a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Jupyter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-Cell!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pandas </a:t>
            </a:r>
            <a:r>
              <a:rPr lang="en-US" sz="127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pd        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('students.csv',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sep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=',')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dataframe</a:t>
            </a:r>
            <a:endParaRPr lang="en-US" sz="1270" spc="-1" dirty="0">
              <a:latin typeface="Consolas" panose="020B0609020204030204" pitchFamily="49" charset="0"/>
            </a:endParaRPr>
          </a:p>
        </p:txBody>
      </p:sp>
      <p:sp>
        <p:nvSpPr>
          <p:cNvPr id="547" name="Textfeld 546"/>
          <p:cNvSpPr txBox="1"/>
          <p:nvPr/>
        </p:nvSpPr>
        <p:spPr>
          <a:xfrm>
            <a:off x="1129667" y="1811591"/>
            <a:ext cx="3489754" cy="107114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Mat.Nr.,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Vorname,Nachname,Punkte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1234,Martina,Muster,10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1313,Max,Muster,12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4242,Test,Student,16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2424,Test,Studentin,14</a:t>
            </a:r>
            <a:endParaRPr lang="en-US" sz="1270" spc="-1" dirty="0">
              <a:latin typeface="Consolas" panose="020B0609020204030204" pitchFamily="49" charset="0"/>
            </a:endParaRPr>
          </a:p>
        </p:txBody>
      </p:sp>
      <p:sp>
        <p:nvSpPr>
          <p:cNvPr id="548" name="Textfeld 547"/>
          <p:cNvSpPr txBox="1"/>
          <p:nvPr/>
        </p:nvSpPr>
        <p:spPr>
          <a:xfrm rot="16200000">
            <a:off x="-184207" y="2048466"/>
            <a:ext cx="1551002" cy="5635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/>
              <a:t>students.csv</a:t>
            </a:r>
            <a:endParaRPr lang="en-US" sz="1555" spc="-1"/>
          </a:p>
        </p:txBody>
      </p:sp>
      <p:sp>
        <p:nvSpPr>
          <p:cNvPr id="549" name="Textfeld 548"/>
          <p:cNvSpPr txBox="1"/>
          <p:nvPr/>
        </p:nvSpPr>
        <p:spPr>
          <a:xfrm rot="16200000">
            <a:off x="-88541" y="3377096"/>
            <a:ext cx="1156382" cy="313712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/>
              <a:t>Code</a:t>
            </a:r>
            <a:endParaRPr lang="en-US" sz="1555" spc="-1"/>
          </a:p>
        </p:txBody>
      </p:sp>
      <p:sp>
        <p:nvSpPr>
          <p:cNvPr id="550" name="Textfeld 549"/>
          <p:cNvSpPr txBox="1"/>
          <p:nvPr/>
        </p:nvSpPr>
        <p:spPr>
          <a:xfrm rot="16200000">
            <a:off x="-230513" y="5064541"/>
            <a:ext cx="1310821" cy="313712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/>
              <a:t>Output</a:t>
            </a:r>
            <a:endParaRPr lang="en-US" sz="1555" spc="-1" dirty="0"/>
          </a:p>
        </p:txBody>
      </p:sp>
      <p:pic>
        <p:nvPicPr>
          <p:cNvPr id="551" name="Grafik 550"/>
          <p:cNvPicPr/>
          <p:nvPr/>
        </p:nvPicPr>
        <p:blipFill>
          <a:blip r:embed="rId3"/>
          <a:stretch>
            <a:fillRect/>
          </a:stretch>
        </p:blipFill>
        <p:spPr>
          <a:xfrm>
            <a:off x="681617" y="4550756"/>
            <a:ext cx="3092081" cy="1321761"/>
          </a:xfrm>
          <a:prstGeom prst="rect">
            <a:avLst/>
          </a:prstGeom>
          <a:ln w="0">
            <a:noFill/>
          </a:ln>
        </p:spPr>
      </p:pic>
      <p:pic>
        <p:nvPicPr>
          <p:cNvPr id="552" name="Grafik 551"/>
          <p:cNvPicPr/>
          <p:nvPr/>
        </p:nvPicPr>
        <p:blipFill>
          <a:blip r:embed="rId4"/>
          <a:stretch>
            <a:fillRect/>
          </a:stretch>
        </p:blipFill>
        <p:spPr>
          <a:xfrm>
            <a:off x="5438175" y="1760706"/>
            <a:ext cx="3037379" cy="1068095"/>
          </a:xfrm>
          <a:prstGeom prst="rect">
            <a:avLst/>
          </a:prstGeom>
          <a:ln w="0">
            <a:noFill/>
          </a:ln>
        </p:spPr>
      </p:pic>
      <p:sp>
        <p:nvSpPr>
          <p:cNvPr id="553" name="Textfeld 552"/>
          <p:cNvSpPr txBox="1"/>
          <p:nvPr/>
        </p:nvSpPr>
        <p:spPr>
          <a:xfrm rot="16200000">
            <a:off x="352385" y="2175681"/>
            <a:ext cx="1227877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a text editor</a:t>
            </a:r>
          </a:p>
        </p:txBody>
      </p:sp>
      <p:sp>
        <p:nvSpPr>
          <p:cNvPr id="554" name="Textfeld 553"/>
          <p:cNvSpPr txBox="1"/>
          <p:nvPr/>
        </p:nvSpPr>
        <p:spPr>
          <a:xfrm rot="16200000">
            <a:off x="4662674" y="2175681"/>
            <a:ext cx="1227877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Excel</a:t>
            </a:r>
          </a:p>
        </p:txBody>
      </p:sp>
      <p:sp>
        <p:nvSpPr>
          <p:cNvPr id="16" name="Google Shape;86;p2"/>
          <p:cNvSpPr txBox="1"/>
          <p:nvPr/>
        </p:nvSpPr>
        <p:spPr>
          <a:xfrm>
            <a:off x="313944" y="1828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pd.read_csv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" name="Rechteck 1"/>
          <p:cNvSpPr/>
          <p:nvPr/>
        </p:nvSpPr>
        <p:spPr>
          <a:xfrm>
            <a:off x="528004" y="5986287"/>
            <a:ext cx="19316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unit8.ipynb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Pandas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body" idx="1"/>
          </p:nvPr>
        </p:nvSpPr>
        <p:spPr>
          <a:xfrm>
            <a:off x="645707" y="1354703"/>
            <a:ext cx="7934633" cy="306489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tabular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pd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Multidimensional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array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Fixed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dictionaries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Individual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9" name="Grafik 368"/>
          <p:cNvPicPr/>
          <p:nvPr/>
        </p:nvPicPr>
        <p:blipFill>
          <a:blip r:embed="rId3"/>
          <a:stretch>
            <a:fillRect/>
          </a:stretch>
        </p:blipFill>
        <p:spPr>
          <a:xfrm>
            <a:off x="6276481" y="2723459"/>
            <a:ext cx="2303859" cy="1836217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86;p2"/>
          <p:cNvSpPr txBox="1"/>
          <p:nvPr/>
        </p:nvSpPr>
        <p:spPr>
          <a:xfrm>
            <a:off x="313944" y="1900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Pandas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body" idx="1"/>
          </p:nvPr>
        </p:nvSpPr>
        <p:spPr>
          <a:xfrm>
            <a:off x="619431" y="1733075"/>
            <a:ext cx="7934633" cy="37480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manipulation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Convenient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powerful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easy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delete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Easy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visualization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	</a:t>
            </a: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4993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Pandas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526340" y="1382496"/>
            <a:ext cx="8245804" cy="45926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</a:pP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</a:pP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DataDrame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practice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(e.g., CSV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383" name="Textfeld 382"/>
          <p:cNvSpPr txBox="1"/>
          <p:nvPr/>
        </p:nvSpPr>
        <p:spPr>
          <a:xfrm>
            <a:off x="371856" y="1803744"/>
            <a:ext cx="5771441" cy="16415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pandas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{'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': {'California': 38332521,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		  'New York': 19651127,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	             'Florida': 19552860},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': {'California': 423967,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         'New York': 141297,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         'Florida': 170312}}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pd.DataFrame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)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sp>
        <p:nvSpPr>
          <p:cNvPr id="384" name="Textfeld 383"/>
          <p:cNvSpPr txBox="1"/>
          <p:nvPr/>
        </p:nvSpPr>
        <p:spPr>
          <a:xfrm>
            <a:off x="371856" y="4142673"/>
            <a:ext cx="5771441" cy="1107243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pandas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[['California', 423967, 38332521],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['New York', 141297, 19651127],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['Florida', 170312, 19552860]]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pd.DataFrame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columns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=['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pic>
        <p:nvPicPr>
          <p:cNvPr id="385" name="Grafik 384"/>
          <p:cNvPicPr/>
          <p:nvPr/>
        </p:nvPicPr>
        <p:blipFill>
          <a:blip r:embed="rId3"/>
          <a:stretch>
            <a:fillRect/>
          </a:stretch>
        </p:blipFill>
        <p:spPr>
          <a:xfrm>
            <a:off x="6947850" y="1803744"/>
            <a:ext cx="2135172" cy="1121779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386" name="Grafik 385"/>
          <p:cNvPicPr/>
          <p:nvPr/>
        </p:nvPicPr>
        <p:blipFill>
          <a:blip r:embed="rId4"/>
          <a:stretch>
            <a:fillRect/>
          </a:stretch>
        </p:blipFill>
        <p:spPr>
          <a:xfrm>
            <a:off x="6785015" y="4142673"/>
            <a:ext cx="2298007" cy="1052829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387" name="Pfeil: nach rechts 386"/>
          <p:cNvSpPr/>
          <p:nvPr/>
        </p:nvSpPr>
        <p:spPr>
          <a:xfrm>
            <a:off x="6268124" y="2135162"/>
            <a:ext cx="418282" cy="418282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8" name="Pfeil: nach rechts 387"/>
          <p:cNvSpPr/>
          <p:nvPr/>
        </p:nvSpPr>
        <p:spPr>
          <a:xfrm>
            <a:off x="6268124" y="4430353"/>
            <a:ext cx="418282" cy="418282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AT" dirty="0"/>
          </a:p>
        </p:txBody>
      </p:sp>
      <p:sp>
        <p:nvSpPr>
          <p:cNvPr id="13" name="Google Shape;86;p2"/>
          <p:cNvSpPr txBox="1"/>
          <p:nvPr/>
        </p:nvSpPr>
        <p:spPr>
          <a:xfrm>
            <a:off x="421944" y="17153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Creating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manually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extfeld 392"/>
          <p:cNvSpPr txBox="1"/>
          <p:nvPr/>
        </p:nvSpPr>
        <p:spPr>
          <a:xfrm>
            <a:off x="926124" y="1811592"/>
            <a:ext cx="3085720" cy="152937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state,population,area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California,38332521.0,423967.0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Texas,26448193.0,695662.0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New York,19651127.0,141297.0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Florida,19552860.0,170312.0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New Jersey,9288994.0,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Hawaii,0.0,0.0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Illinois,12882135.0,149995.0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sp>
        <p:nvSpPr>
          <p:cNvPr id="394" name="Textfeld 393"/>
          <p:cNvSpPr txBox="1"/>
          <p:nvPr/>
        </p:nvSpPr>
        <p:spPr>
          <a:xfrm rot="16200000">
            <a:off x="-1245686" y="3303058"/>
            <a:ext cx="3616206" cy="5635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states.csv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5" name="Textfeld 394"/>
          <p:cNvSpPr txBox="1"/>
          <p:nvPr/>
        </p:nvSpPr>
        <p:spPr>
          <a:xfrm rot="16200000">
            <a:off x="-109659" y="2383549"/>
            <a:ext cx="1643614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a text editor</a:t>
            </a:r>
          </a:p>
        </p:txBody>
      </p:sp>
      <p:sp>
        <p:nvSpPr>
          <p:cNvPr id="396" name="Textfeld 395"/>
          <p:cNvSpPr txBox="1"/>
          <p:nvPr/>
        </p:nvSpPr>
        <p:spPr>
          <a:xfrm rot="16200000">
            <a:off x="2947057" y="3361576"/>
            <a:ext cx="3793797" cy="425660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(</a:t>
            </a:r>
            <a:r>
              <a:rPr lang="en-US" sz="1555" b="1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-Notebook)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7" name="Textfeld 396"/>
          <p:cNvSpPr txBox="1"/>
          <p:nvPr/>
        </p:nvSpPr>
        <p:spPr>
          <a:xfrm rot="16200000">
            <a:off x="4685827" y="2011319"/>
            <a:ext cx="1410048" cy="522853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US" sz="1555" spc="-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555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555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8" name="Textfeld 397"/>
          <p:cNvSpPr txBox="1"/>
          <p:nvPr/>
        </p:nvSpPr>
        <p:spPr>
          <a:xfrm rot="16200000">
            <a:off x="4119977" y="3827691"/>
            <a:ext cx="2542513" cy="522853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US" sz="1555" spc="-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555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555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display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9" name="Textfeld 398"/>
          <p:cNvSpPr txBox="1"/>
          <p:nvPr/>
        </p:nvSpPr>
        <p:spPr>
          <a:xfrm rot="16200000">
            <a:off x="-90576" y="4206791"/>
            <a:ext cx="1643614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/>
              <a:t>In Excel</a:t>
            </a:r>
          </a:p>
        </p:txBody>
      </p:sp>
      <p:pic>
        <p:nvPicPr>
          <p:cNvPr id="400" name="Grafik 399"/>
          <p:cNvPicPr/>
          <p:nvPr/>
        </p:nvPicPr>
        <p:blipFill>
          <a:blip r:embed="rId3"/>
          <a:stretch>
            <a:fillRect/>
          </a:stretch>
        </p:blipFill>
        <p:spPr>
          <a:xfrm>
            <a:off x="904243" y="3507364"/>
            <a:ext cx="3100477" cy="1859116"/>
          </a:xfrm>
          <a:prstGeom prst="rect">
            <a:avLst/>
          </a:prstGeom>
          <a:ln w="0">
            <a:noFill/>
          </a:ln>
        </p:spPr>
      </p:pic>
      <p:sp>
        <p:nvSpPr>
          <p:cNvPr id="401" name="Freihandform: Form 400"/>
          <p:cNvSpPr/>
          <p:nvPr/>
        </p:nvSpPr>
        <p:spPr>
          <a:xfrm>
            <a:off x="4339040" y="1726358"/>
            <a:ext cx="0" cy="3718741"/>
          </a:xfrm>
          <a:custGeom>
            <a:avLst/>
            <a:gdLst/>
            <a:ahLst/>
            <a:cxnLst/>
            <a:rect l="0" t="0" r="r" b="b"/>
            <a:pathLst>
              <a:path h="14616" fill="none">
                <a:moveTo>
                  <a:pt x="0" y="0"/>
                </a:moveTo>
                <a:lnTo>
                  <a:pt x="0" y="14616"/>
                </a:lnTo>
              </a:path>
            </a:pathLst>
          </a:custGeom>
          <a:ln w="36720">
            <a:solidFill>
              <a:srgbClr val="000000"/>
            </a:solidFill>
            <a:round/>
          </a:ln>
        </p:spPr>
        <p:txBody>
          <a:bodyPr/>
          <a:lstStyle/>
          <a:p>
            <a:endParaRPr lang="en-US"/>
          </a:p>
        </p:txBody>
      </p:sp>
      <p:pic>
        <p:nvPicPr>
          <p:cNvPr id="402" name="Grafik 401"/>
          <p:cNvPicPr/>
          <p:nvPr/>
        </p:nvPicPr>
        <p:blipFill>
          <a:blip r:embed="rId4"/>
          <a:stretch>
            <a:fillRect/>
          </a:stretch>
        </p:blipFill>
        <p:spPr>
          <a:xfrm>
            <a:off x="5602537" y="1923287"/>
            <a:ext cx="3508837" cy="3532244"/>
          </a:xfrm>
          <a:prstGeom prst="rect">
            <a:avLst/>
          </a:prstGeom>
          <a:ln w="0">
            <a:noFill/>
          </a:ln>
        </p:spPr>
      </p:pic>
      <p:sp>
        <p:nvSpPr>
          <p:cNvPr id="16" name="Google Shape;86;p2"/>
          <p:cNvSpPr txBox="1"/>
          <p:nvPr/>
        </p:nvSpPr>
        <p:spPr>
          <a:xfrm>
            <a:off x="486744" y="13143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Loading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from a CSV file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2"/>
          <p:cNvSpPr>
            <a:spLocks noGrp="1"/>
          </p:cNvSpPr>
          <p:nvPr>
            <p:ph type="body" idx="1"/>
          </p:nvPr>
        </p:nvSpPr>
        <p:spPr>
          <a:xfrm>
            <a:off x="610634" y="2126986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b="1" spc="-1" dirty="0">
              <a:solidFill>
                <a:srgbClr val="0F0F0F"/>
              </a:solidFill>
              <a:highlight>
                <a:srgbClr val="DAE3F3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[3]</a:t>
            </a:r>
          </a:p>
          <a:p>
            <a:pPr marL="687070" lvl="2" indent="0">
              <a:spcBef>
                <a:spcPts val="600"/>
              </a:spcBef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.area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</p:txBody>
      </p:sp>
      <p:pic>
        <p:nvPicPr>
          <p:cNvPr id="409" name="Grafik 408"/>
          <p:cNvPicPr/>
          <p:nvPr/>
        </p:nvPicPr>
        <p:blipFill>
          <a:blip r:embed="rId3"/>
          <a:stretch>
            <a:fillRect/>
          </a:stretch>
        </p:blipFill>
        <p:spPr>
          <a:xfrm>
            <a:off x="5394922" y="2239797"/>
            <a:ext cx="3690245" cy="3252880"/>
          </a:xfrm>
          <a:prstGeom prst="rect">
            <a:avLst/>
          </a:prstGeom>
          <a:ln w="0">
            <a:noFill/>
          </a:ln>
        </p:spPr>
      </p:pic>
      <p:sp>
        <p:nvSpPr>
          <p:cNvPr id="410" name="Textfeld 409"/>
          <p:cNvSpPr txBox="1"/>
          <p:nvPr/>
        </p:nvSpPr>
        <p:spPr>
          <a:xfrm>
            <a:off x="4776952" y="1903187"/>
            <a:ext cx="4167351" cy="28674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8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800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11" name="Rechteck 410"/>
          <p:cNvSpPr/>
          <p:nvPr/>
        </p:nvSpPr>
        <p:spPr>
          <a:xfrm>
            <a:off x="1222279" y="3242630"/>
            <a:ext cx="1738516" cy="37273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2" name="Rechteck 411"/>
          <p:cNvSpPr/>
          <p:nvPr/>
        </p:nvSpPr>
        <p:spPr>
          <a:xfrm>
            <a:off x="5418075" y="3935315"/>
            <a:ext cx="3672944" cy="37273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3" name="Rechteck 412"/>
          <p:cNvSpPr/>
          <p:nvPr/>
        </p:nvSpPr>
        <p:spPr>
          <a:xfrm>
            <a:off x="1246704" y="4308054"/>
            <a:ext cx="2405641" cy="1176482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4" name="Rechteck 413"/>
          <p:cNvSpPr/>
          <p:nvPr/>
        </p:nvSpPr>
        <p:spPr>
          <a:xfrm>
            <a:off x="8084496" y="2294754"/>
            <a:ext cx="921543" cy="3189782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Google Shape;86;p2"/>
          <p:cNvSpPr txBox="1"/>
          <p:nvPr/>
        </p:nvSpPr>
        <p:spPr>
          <a:xfrm>
            <a:off x="472344" y="15303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Accessing rows and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Comparison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previously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!=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21" name="Tabelle 420"/>
          <p:cNvGraphicFramePr/>
          <p:nvPr/>
        </p:nvGraphicFramePr>
        <p:xfrm>
          <a:off x="2735514" y="3390167"/>
          <a:ext cx="3672971" cy="135578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79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0289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Logical operator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pandas</a:t>
                      </a:r>
                      <a:endParaRPr lang="en-US" sz="1800" b="1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and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&amp;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or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|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not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Google Shape;86;p2"/>
          <p:cNvSpPr txBox="1"/>
          <p:nvPr/>
        </p:nvSpPr>
        <p:spPr>
          <a:xfrm>
            <a:off x="479544" y="16181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2"/>
          <p:cNvSpPr>
            <a:spLocks noGrp="1"/>
          </p:cNvSpPr>
          <p:nvPr>
            <p:ph type="body" idx="1"/>
          </p:nvPr>
        </p:nvSpPr>
        <p:spPr>
          <a:xfrm>
            <a:off x="756065" y="867104"/>
            <a:ext cx="7934633" cy="415684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million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25000000]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&gt; 25000000]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25000000]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12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syntax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 Boolean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743585" lvl="2" indent="-285750">
              <a:spcBef>
                <a:spcPts val="12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25000000)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=&gt;</a:t>
            </a:r>
          </a:p>
          <a:p>
            <a:pPr marL="286385" lvl="1"/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[True, True,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</p:txBody>
      </p:sp>
      <p:pic>
        <p:nvPicPr>
          <p:cNvPr id="428" name="Grafik 427"/>
          <p:cNvPicPr/>
          <p:nvPr/>
        </p:nvPicPr>
        <p:blipFill>
          <a:blip r:embed="rId3"/>
          <a:stretch>
            <a:fillRect/>
          </a:stretch>
        </p:blipFill>
        <p:spPr>
          <a:xfrm>
            <a:off x="5880119" y="2438506"/>
            <a:ext cx="3205048" cy="2825185"/>
          </a:xfrm>
          <a:prstGeom prst="rect">
            <a:avLst/>
          </a:prstGeom>
          <a:ln w="0">
            <a:noFill/>
          </a:ln>
        </p:spPr>
      </p:pic>
      <p:sp>
        <p:nvSpPr>
          <p:cNvPr id="429" name="Textfeld 428"/>
          <p:cNvSpPr txBox="1"/>
          <p:nvPr/>
        </p:nvSpPr>
        <p:spPr>
          <a:xfrm>
            <a:off x="5830506" y="2066276"/>
            <a:ext cx="3287483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df = </a:t>
            </a:r>
            <a:r>
              <a:rPr lang="en-US" sz="1270" spc="-1" dirty="0" err="1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30" name="Rechteck 429"/>
          <p:cNvSpPr/>
          <p:nvPr/>
        </p:nvSpPr>
        <p:spPr>
          <a:xfrm>
            <a:off x="1479126" y="2013222"/>
            <a:ext cx="4112377" cy="1087330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31" name="Rechteck 430"/>
          <p:cNvSpPr/>
          <p:nvPr/>
        </p:nvSpPr>
        <p:spPr>
          <a:xfrm>
            <a:off x="5849333" y="2830837"/>
            <a:ext cx="3254916" cy="692811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939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2"/>
          <p:cNvSpPr>
            <a:spLocks noGrp="1"/>
          </p:cNvSpPr>
          <p:nvPr>
            <p:ph type="body" idx="1"/>
          </p:nvPr>
        </p:nvSpPr>
        <p:spPr>
          <a:xfrm>
            <a:off x="556368" y="1879695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millions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200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thousend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km²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743585" lvl="3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</a:p>
          <a:p>
            <a:pPr marL="743585" lvl="3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	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</a:p>
          <a:p>
            <a:pPr marL="286385" lvl="1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  </a:t>
            </a:r>
          </a:p>
          <a:p>
            <a:pPr marL="743585" lvl="2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	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200000), 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de-AT" sz="16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</p:txBody>
      </p:sp>
      <p:pic>
        <p:nvPicPr>
          <p:cNvPr id="442" name="Grafik 441"/>
          <p:cNvPicPr/>
          <p:nvPr/>
        </p:nvPicPr>
        <p:blipFill>
          <a:blip r:embed="rId3"/>
          <a:stretch>
            <a:fillRect/>
          </a:stretch>
        </p:blipFill>
        <p:spPr>
          <a:xfrm>
            <a:off x="5921337" y="2419170"/>
            <a:ext cx="3170445" cy="2794653"/>
          </a:xfrm>
          <a:prstGeom prst="rect">
            <a:avLst/>
          </a:prstGeom>
          <a:ln w="0">
            <a:noFill/>
          </a:ln>
        </p:spPr>
      </p:pic>
      <p:sp>
        <p:nvSpPr>
          <p:cNvPr id="443" name="Textfeld 442"/>
          <p:cNvSpPr txBox="1"/>
          <p:nvPr/>
        </p:nvSpPr>
        <p:spPr>
          <a:xfrm>
            <a:off x="5927698" y="2066276"/>
            <a:ext cx="3215734" cy="26740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onsolas" panose="020B0609020204030204" pitchFamily="49" charset="0"/>
                <a:ea typeface="Droid Sans Fallback"/>
              </a:rPr>
              <a:t>df = </a:t>
            </a:r>
            <a:r>
              <a:rPr lang="en-US" sz="127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270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44" name="Rechteck 443"/>
          <p:cNvSpPr/>
          <p:nvPr/>
        </p:nvSpPr>
        <p:spPr>
          <a:xfrm>
            <a:off x="1250731" y="2785241"/>
            <a:ext cx="4670606" cy="1150328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5" name="Rechteck 444"/>
          <p:cNvSpPr/>
          <p:nvPr/>
        </p:nvSpPr>
        <p:spPr>
          <a:xfrm>
            <a:off x="5947543" y="3484466"/>
            <a:ext cx="3104294" cy="745224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6" name="Rechteck 445"/>
          <p:cNvSpPr/>
          <p:nvPr/>
        </p:nvSpPr>
        <p:spPr>
          <a:xfrm>
            <a:off x="1191128" y="4390234"/>
            <a:ext cx="4756416" cy="1137300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7" name="Rechteck 446"/>
          <p:cNvSpPr/>
          <p:nvPr/>
        </p:nvSpPr>
        <p:spPr>
          <a:xfrm>
            <a:off x="6267615" y="3530263"/>
            <a:ext cx="967341" cy="653629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Google Shape;86;p2"/>
          <p:cNvSpPr txBox="1"/>
          <p:nvPr/>
        </p:nvSpPr>
        <p:spPr>
          <a:xfrm>
            <a:off x="4795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Lists:</a:t>
            </a: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… </a:t>
            </a: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count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median()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mean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value_counts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</a:t>
            </a: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8" name="Google Shape;86;p2"/>
          <p:cNvSpPr txBox="1"/>
          <p:nvPr/>
        </p:nvSpPr>
        <p:spPr>
          <a:xfrm>
            <a:off x="4795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Aggregating columns and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CDCDC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atttribute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str.lower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str.upper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str.startswith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str.endswith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str.split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pandas</a:t>
            </a: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documentation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10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Select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98220" lvl="2" indent="-285750">
              <a:spcBef>
                <a:spcPts val="200"/>
              </a:spcBef>
              <a:spcAft>
                <a:spcPts val="200"/>
              </a:spcAft>
              <a:buSzPct val="45000"/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('New')]</a:t>
            </a:r>
          </a:p>
          <a:p>
            <a:pPr marL="998220" lvl="2" indent="-285750">
              <a:spcBef>
                <a:spcPts val="200"/>
              </a:spcBef>
              <a:spcAft>
                <a:spcPts val="200"/>
              </a:spcAft>
              <a:buSzPct val="45000"/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df.state.str.contains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('New')]   </a:t>
            </a:r>
          </a:p>
        </p:txBody>
      </p:sp>
      <p:pic>
        <p:nvPicPr>
          <p:cNvPr id="459" name="Grafik 458"/>
          <p:cNvPicPr/>
          <p:nvPr/>
        </p:nvPicPr>
        <p:blipFill>
          <a:blip r:embed="rId4"/>
          <a:stretch>
            <a:fillRect/>
          </a:stretch>
        </p:blipFill>
        <p:spPr>
          <a:xfrm>
            <a:off x="7233939" y="3854915"/>
            <a:ext cx="1894227" cy="1669566"/>
          </a:xfrm>
          <a:prstGeom prst="rect">
            <a:avLst/>
          </a:prstGeom>
          <a:ln w="0">
            <a:noFill/>
          </a:ln>
        </p:spPr>
      </p:pic>
      <p:sp>
        <p:nvSpPr>
          <p:cNvPr id="460" name="Textfeld 459"/>
          <p:cNvSpPr txBox="1"/>
          <p:nvPr/>
        </p:nvSpPr>
        <p:spPr>
          <a:xfrm>
            <a:off x="7214856" y="3571226"/>
            <a:ext cx="1921197" cy="20608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990" spc="-1" dirty="0" err="1"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990" spc="-1" dirty="0">
                <a:latin typeface="Consolas" panose="020B0609020204030204" pitchFamily="49" charset="0"/>
                <a:ea typeface="Droid Sans Fallback"/>
              </a:rPr>
              <a:t> df</a:t>
            </a:r>
            <a:endParaRPr lang="en-US" sz="990" spc="-1" dirty="0">
              <a:latin typeface="Consolas" panose="020B0609020204030204" pitchFamily="49" charset="0"/>
            </a:endParaRPr>
          </a:p>
        </p:txBody>
      </p:sp>
      <p:sp>
        <p:nvSpPr>
          <p:cNvPr id="461" name="Rechteck 460"/>
          <p:cNvSpPr/>
          <p:nvPr/>
        </p:nvSpPr>
        <p:spPr>
          <a:xfrm>
            <a:off x="7249713" y="4491243"/>
            <a:ext cx="1854536" cy="22338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2" name="Rechteck 461"/>
          <p:cNvSpPr/>
          <p:nvPr/>
        </p:nvSpPr>
        <p:spPr>
          <a:xfrm>
            <a:off x="7249713" y="4909779"/>
            <a:ext cx="1854536" cy="22338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3" name="Rechteck 462"/>
          <p:cNvSpPr/>
          <p:nvPr/>
        </p:nvSpPr>
        <p:spPr>
          <a:xfrm>
            <a:off x="1264681" y="4395409"/>
            <a:ext cx="5494913" cy="669404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String operations and filtering via strings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6436569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Arithmetic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standard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*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  </a:t>
            </a:r>
          </a:p>
          <a:p>
            <a:pPr marL="743585" lvl="2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Series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squared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ratio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0,386 km</a:t>
            </a:r>
            <a:r>
              <a:rPr lang="de-AT" sz="1800" spc="-1" baseline="30000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* 0.386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* 0.386   </a:t>
            </a: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directly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aggregation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* 0.386).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610355.938</a:t>
            </a:r>
          </a:p>
        </p:txBody>
      </p:sp>
      <p:pic>
        <p:nvPicPr>
          <p:cNvPr id="469" name="Grafik 468"/>
          <p:cNvPicPr/>
          <p:nvPr/>
        </p:nvPicPr>
        <p:blipFill>
          <a:blip r:embed="rId3"/>
          <a:stretch>
            <a:fillRect/>
          </a:stretch>
        </p:blipFill>
        <p:spPr>
          <a:xfrm>
            <a:off x="7214856" y="1767321"/>
            <a:ext cx="1894227" cy="1669566"/>
          </a:xfrm>
          <a:prstGeom prst="rect">
            <a:avLst/>
          </a:prstGeom>
          <a:ln w="0">
            <a:noFill/>
          </a:ln>
        </p:spPr>
      </p:pic>
      <p:sp>
        <p:nvSpPr>
          <p:cNvPr id="470" name="Textfeld 469"/>
          <p:cNvSpPr txBox="1"/>
          <p:nvPr/>
        </p:nvSpPr>
        <p:spPr>
          <a:xfrm>
            <a:off x="7195774" y="1483632"/>
            <a:ext cx="1921197" cy="20608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df</a:t>
            </a:r>
            <a:endParaRPr lang="en-US" sz="1000" spc="-1" dirty="0">
              <a:latin typeface="Consolas" panose="020B0609020204030204" pitchFamily="49" charset="0"/>
            </a:endParaRPr>
          </a:p>
        </p:txBody>
      </p:sp>
      <p:pic>
        <p:nvPicPr>
          <p:cNvPr id="471" name="Grafik 470"/>
          <p:cNvPicPr/>
          <p:nvPr/>
        </p:nvPicPr>
        <p:blipFill>
          <a:blip r:embed="rId4"/>
          <a:stretch>
            <a:fillRect/>
          </a:stretch>
        </p:blipFill>
        <p:spPr>
          <a:xfrm>
            <a:off x="7208750" y="4074488"/>
            <a:ext cx="1877689" cy="1212356"/>
          </a:xfrm>
          <a:prstGeom prst="rect">
            <a:avLst/>
          </a:prstGeom>
          <a:ln w="36720">
            <a:solidFill>
              <a:srgbClr val="1E90FF"/>
            </a:solidFill>
            <a:round/>
          </a:ln>
        </p:spPr>
      </p:pic>
      <p:sp>
        <p:nvSpPr>
          <p:cNvPr id="472" name="Textfeld 471"/>
          <p:cNvSpPr txBox="1"/>
          <p:nvPr/>
        </p:nvSpPr>
        <p:spPr>
          <a:xfrm>
            <a:off x="7208750" y="5312287"/>
            <a:ext cx="1875145" cy="20507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50" spc="-1" dirty="0">
                <a:latin typeface="Consolas" panose="020B0609020204030204" pitchFamily="49" charset="0"/>
                <a:ea typeface="Droid Sans Fallback"/>
              </a:rPr>
              <a:t>Output in Notebook</a:t>
            </a:r>
            <a:endParaRPr lang="en-US" sz="1050" spc="-1" dirty="0">
              <a:latin typeface="Consolas" panose="020B0609020204030204" pitchFamily="49" charset="0"/>
            </a:endParaRPr>
          </a:p>
        </p:txBody>
      </p:sp>
      <p:sp>
        <p:nvSpPr>
          <p:cNvPr id="473" name="Rechteck 472"/>
          <p:cNvSpPr/>
          <p:nvPr/>
        </p:nvSpPr>
        <p:spPr>
          <a:xfrm>
            <a:off x="1356258" y="3514118"/>
            <a:ext cx="2654717" cy="640282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Arithmetic operations over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NaN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python’s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replacement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specific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})        </a:t>
            </a:r>
          </a:p>
        </p:txBody>
      </p:sp>
      <p:sp>
        <p:nvSpPr>
          <p:cNvPr id="8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2"/>
          <p:cNvSpPr>
            <a:spLocks noGrp="1"/>
          </p:cNvSpPr>
          <p:nvPr>
            <p:ph type="body" idx="1"/>
          </p:nvPr>
        </p:nvSpPr>
        <p:spPr>
          <a:xfrm>
            <a:off x="604683" y="1598119"/>
            <a:ext cx="7934633" cy="170245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25000 km².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       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25000})              </a:t>
            </a:r>
          </a:p>
          <a:p>
            <a:pPr marL="915670" lvl="2">
              <a:spcBef>
                <a:spcPts val="600"/>
              </a:spcBef>
            </a:pPr>
            <a:endParaRPr lang="de-AT" sz="1695" spc="-1" dirty="0">
              <a:solidFill>
                <a:srgbClr val="0F0F0F"/>
              </a:solidFill>
            </a:endParaRPr>
          </a:p>
        </p:txBody>
      </p:sp>
      <p:pic>
        <p:nvPicPr>
          <p:cNvPr id="486" name="Grafik 485"/>
          <p:cNvPicPr/>
          <p:nvPr/>
        </p:nvPicPr>
        <p:blipFill>
          <a:blip r:embed="rId3"/>
          <a:stretch>
            <a:fillRect/>
          </a:stretch>
        </p:blipFill>
        <p:spPr>
          <a:xfrm>
            <a:off x="6206590" y="3497957"/>
            <a:ext cx="2699496" cy="2379679"/>
          </a:xfrm>
          <a:prstGeom prst="rect">
            <a:avLst/>
          </a:prstGeom>
          <a:ln w="0">
            <a:noFill/>
          </a:ln>
        </p:spPr>
      </p:pic>
      <p:sp>
        <p:nvSpPr>
          <p:cNvPr id="487" name="Textfeld 486"/>
          <p:cNvSpPr txBox="1"/>
          <p:nvPr/>
        </p:nvSpPr>
        <p:spPr>
          <a:xfrm>
            <a:off x="6226181" y="3298230"/>
            <a:ext cx="2679905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000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88" name="Rechteck 487"/>
          <p:cNvSpPr/>
          <p:nvPr/>
        </p:nvSpPr>
        <p:spPr>
          <a:xfrm>
            <a:off x="1241871" y="2035951"/>
            <a:ext cx="5734929" cy="111901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89" name="Rechteck 488"/>
          <p:cNvSpPr/>
          <p:nvPr/>
        </p:nvSpPr>
        <p:spPr>
          <a:xfrm>
            <a:off x="8186677" y="3565635"/>
            <a:ext cx="705278" cy="229164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2"/>
          <p:cNvSpPr>
            <a:spLocks noGrp="1"/>
          </p:cNvSpPr>
          <p:nvPr>
            <p:ph type="body" idx="1"/>
          </p:nvPr>
        </p:nvSpPr>
        <p:spPr>
          <a:xfrm>
            <a:off x="604683" y="1598119"/>
            <a:ext cx="7934633" cy="28082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25000 km².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       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25000})    </a:t>
            </a: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 all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(= 0) in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 0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0) &amp;</a:t>
            </a:r>
            <a:b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0)]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</a:p>
          <a:p>
            <a:pPr marL="915670" lvl="2">
              <a:spcBef>
                <a:spcPts val="600"/>
              </a:spcBef>
            </a:pPr>
            <a:endParaRPr lang="de-AT" sz="1695" spc="-1" dirty="0">
              <a:solidFill>
                <a:srgbClr val="0F0F0F"/>
              </a:solidFill>
            </a:endParaRPr>
          </a:p>
        </p:txBody>
      </p:sp>
      <p:pic>
        <p:nvPicPr>
          <p:cNvPr id="486" name="Grafik 485"/>
          <p:cNvPicPr/>
          <p:nvPr/>
        </p:nvPicPr>
        <p:blipFill>
          <a:blip r:embed="rId3"/>
          <a:stretch>
            <a:fillRect/>
          </a:stretch>
        </p:blipFill>
        <p:spPr>
          <a:xfrm>
            <a:off x="6245448" y="3480143"/>
            <a:ext cx="2699496" cy="2379679"/>
          </a:xfrm>
          <a:prstGeom prst="rect">
            <a:avLst/>
          </a:prstGeom>
          <a:ln w="0">
            <a:noFill/>
          </a:ln>
        </p:spPr>
      </p:pic>
      <p:sp>
        <p:nvSpPr>
          <p:cNvPr id="487" name="Textfeld 486"/>
          <p:cNvSpPr txBox="1"/>
          <p:nvPr/>
        </p:nvSpPr>
        <p:spPr>
          <a:xfrm>
            <a:off x="6226181" y="3298230"/>
            <a:ext cx="2679905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000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88" name="Rechteck 487"/>
          <p:cNvSpPr/>
          <p:nvPr/>
        </p:nvSpPr>
        <p:spPr>
          <a:xfrm>
            <a:off x="1241871" y="2035951"/>
            <a:ext cx="5734929" cy="111901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10" name="Rechteck 9"/>
          <p:cNvSpPr/>
          <p:nvPr/>
        </p:nvSpPr>
        <p:spPr>
          <a:xfrm>
            <a:off x="1317600" y="3926687"/>
            <a:ext cx="4888990" cy="374400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Freihandform: Form 10"/>
          <p:cNvSpPr/>
          <p:nvPr/>
        </p:nvSpPr>
        <p:spPr>
          <a:xfrm flipV="1">
            <a:off x="6079134" y="5417712"/>
            <a:ext cx="2973998" cy="45719"/>
          </a:xfrm>
          <a:custGeom>
            <a:avLst/>
            <a:gdLst/>
            <a:ahLst/>
            <a:cxnLst/>
            <a:rect l="0" t="0" r="r" b="b"/>
            <a:pathLst>
              <a:path w="10298" fill="none">
                <a:moveTo>
                  <a:pt x="0" y="0"/>
                </a:moveTo>
                <a:lnTo>
                  <a:pt x="10298" y="0"/>
                </a:lnTo>
              </a:path>
            </a:pathLst>
          </a:custGeom>
          <a:ln w="36720">
            <a:solidFill>
              <a:srgbClr val="32CD32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hteck 12"/>
          <p:cNvSpPr/>
          <p:nvPr/>
        </p:nvSpPr>
        <p:spPr>
          <a:xfrm>
            <a:off x="8223452" y="5004943"/>
            <a:ext cx="682634" cy="254938"/>
          </a:xfrm>
          <a:prstGeom prst="rect">
            <a:avLst/>
          </a:prstGeom>
          <a:solidFill>
            <a:srgbClr val="ADD8E6"/>
          </a:solidFill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76583" tIns="44780" rIns="76583" bIns="44780" anchor="ctr">
            <a:noAutofit/>
          </a:bodyPr>
          <a:lstStyle/>
          <a:p>
            <a:pPr algn="ctr"/>
            <a:r>
              <a:rPr lang="en-US" sz="1130" spc="-1">
                <a:latin typeface="Arial" panose="020B0604020202020204"/>
              </a:rPr>
              <a:t>25000.0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2"/>
          <p:cNvSpPr>
            <a:spLocks noGrp="1"/>
          </p:cNvSpPr>
          <p:nvPr>
            <p:ph type="body" idx="1"/>
          </p:nvPr>
        </p:nvSpPr>
        <p:spPr>
          <a:xfrm>
            <a:off x="604683" y="1718179"/>
            <a:ext cx="7934633" cy="418582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lvl="1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key-value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pair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Same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new_column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</a:t>
            </a: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new_column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an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pop_in_mil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1000000</a:t>
            </a: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pop_in_mil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1000000</a:t>
            </a: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several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</p:txBody>
      </p:sp>
      <p:sp>
        <p:nvSpPr>
          <p:cNvPr id="8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Adding new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9" name="Grafik 508"/>
          <p:cNvPicPr/>
          <p:nvPr/>
        </p:nvPicPr>
        <p:blipFill>
          <a:blip r:embed="rId3"/>
          <a:stretch>
            <a:fillRect/>
          </a:stretch>
        </p:blipFill>
        <p:spPr>
          <a:xfrm>
            <a:off x="1820952" y="3286452"/>
            <a:ext cx="5492368" cy="2645303"/>
          </a:xfrm>
          <a:prstGeom prst="rect">
            <a:avLst/>
          </a:prstGeom>
          <a:ln w="0">
            <a:noFill/>
          </a:ln>
        </p:spPr>
      </p:pic>
      <p:sp>
        <p:nvSpPr>
          <p:cNvPr id="513" name="PlaceHolder 4"/>
          <p:cNvSpPr>
            <a:spLocks noGrp="1"/>
          </p:cNvSpPr>
          <p:nvPr>
            <p:ph type="sldNum" idx="78"/>
          </p:nvPr>
        </p:nvSpPr>
        <p:spPr>
          <a:xfrm>
            <a:off x="-6360" y="1142697"/>
            <a:ext cx="431512" cy="433802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DA01D634-A1FF-4BAE-99DE-4F4DEF0849A1}" type="slidenum">
              <a:rPr lang="en-US"/>
              <a:t>32</a:t>
            </a:fld>
            <a:endParaRPr lang="en-US">
              <a:latin typeface="Times New Roman" panose="02020603050405020304"/>
            </a:endParaRPr>
          </a:p>
        </p:txBody>
      </p:sp>
      <p:sp>
        <p:nvSpPr>
          <p:cNvPr id="515" name="Textfeld 514"/>
          <p:cNvSpPr txBox="1"/>
          <p:nvPr/>
        </p:nvSpPr>
        <p:spPr>
          <a:xfrm>
            <a:off x="307096" y="1835763"/>
            <a:ext cx="8698180" cy="125303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/ 1000000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Can also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use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Python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math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like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abs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,... 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pop_density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/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'], 2)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pic>
        <p:nvPicPr>
          <p:cNvPr id="516" name="Grafik 515"/>
          <p:cNvPicPr/>
          <p:nvPr/>
        </p:nvPicPr>
        <p:blipFill>
          <a:blip r:embed="rId4"/>
          <a:stretch>
            <a:fillRect/>
          </a:stretch>
        </p:blipFill>
        <p:spPr>
          <a:xfrm>
            <a:off x="1744471" y="3285002"/>
            <a:ext cx="3315216" cy="2624185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Adding new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2"/>
          <p:cNvSpPr>
            <a:spLocks noGrp="1"/>
          </p:cNvSpPr>
          <p:nvPr>
            <p:ph type="body" idx="1"/>
          </p:nvPr>
        </p:nvSpPr>
        <p:spPr>
          <a:xfrm>
            <a:off x="748527" y="2337379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Simple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interface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df.plot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743585" lvl="4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 </a:t>
            </a: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Pandas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reference</a:t>
            </a:r>
            <a:r>
              <a:rPr lang="de-AT" sz="1800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4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Population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density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bar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670" lvl="2">
              <a:spcBef>
                <a:spcPts val="400"/>
              </a:spcBef>
              <a:spcAft>
                <a:spcPts val="200"/>
              </a:spcAft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2" name="Grafik 521"/>
          <p:cNvPicPr/>
          <p:nvPr/>
        </p:nvPicPr>
        <p:blipFill>
          <a:blip r:embed="rId4"/>
          <a:stretch>
            <a:fillRect/>
          </a:stretch>
        </p:blipFill>
        <p:spPr>
          <a:xfrm>
            <a:off x="5300020" y="1273072"/>
            <a:ext cx="3843411" cy="1851229"/>
          </a:xfrm>
          <a:prstGeom prst="rect">
            <a:avLst/>
          </a:prstGeom>
          <a:ln w="0">
            <a:noFill/>
          </a:ln>
        </p:spPr>
      </p:pic>
      <p:sp>
        <p:nvSpPr>
          <p:cNvPr id="523" name="Textfeld 522"/>
          <p:cNvSpPr txBox="1"/>
          <p:nvPr/>
        </p:nvSpPr>
        <p:spPr>
          <a:xfrm>
            <a:off x="5300020" y="3086900"/>
            <a:ext cx="379761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000" spc="-1" dirty="0">
                <a:highlight>
                  <a:srgbClr val="DAE3F3"/>
                </a:highlight>
                <a:latin typeface="Consolas" panose="020B0609020204030204" pitchFamily="49" charset="0"/>
              </a:rPr>
              <a:t> df</a:t>
            </a:r>
          </a:p>
        </p:txBody>
      </p:sp>
      <p:sp>
        <p:nvSpPr>
          <p:cNvPr id="524" name="Textfeld 523"/>
          <p:cNvSpPr txBox="1"/>
          <p:nvPr/>
        </p:nvSpPr>
        <p:spPr>
          <a:xfrm>
            <a:off x="855138" y="4518020"/>
            <a:ext cx="5242010" cy="9035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df.plot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(x='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y='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</a:t>
            </a:r>
            <a:endParaRPr lang="en-US" sz="1600" spc="-1" dirty="0">
              <a:latin typeface="Consolas" panose="020B0609020204030204" pitchFamily="49" charset="0"/>
            </a:endParaRPr>
          </a:p>
          <a:p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title='Population Density per km^2',      	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kind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='bar')</a:t>
            </a:r>
            <a:endParaRPr lang="en-US" sz="1600" spc="-1" dirty="0">
              <a:latin typeface="Consolas" panose="020B0609020204030204" pitchFamily="49" charset="0"/>
            </a:endParaRPr>
          </a:p>
        </p:txBody>
      </p:sp>
      <p:pic>
        <p:nvPicPr>
          <p:cNvPr id="525" name="Grafik 524"/>
          <p:cNvPicPr/>
          <p:nvPr/>
        </p:nvPicPr>
        <p:blipFill>
          <a:blip r:embed="rId5"/>
          <a:stretch>
            <a:fillRect/>
          </a:stretch>
        </p:blipFill>
        <p:spPr>
          <a:xfrm>
            <a:off x="6097148" y="3392215"/>
            <a:ext cx="2973517" cy="2537425"/>
          </a:xfrm>
          <a:prstGeom prst="rect">
            <a:avLst/>
          </a:prstGeom>
          <a:ln w="0">
            <a:noFill/>
          </a:ln>
        </p:spPr>
      </p:pic>
      <p:sp>
        <p:nvSpPr>
          <p:cNvPr id="11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Plotting data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(Boolean)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('states_processed.csv',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</p:txBody>
      </p:sp>
      <p:pic>
        <p:nvPicPr>
          <p:cNvPr id="531" name="Grafik 530"/>
          <p:cNvPicPr/>
          <p:nvPr/>
        </p:nvPicPr>
        <p:blipFill>
          <a:blip r:embed="rId3"/>
          <a:stretch>
            <a:fillRect/>
          </a:stretch>
        </p:blipFill>
        <p:spPr>
          <a:xfrm>
            <a:off x="610631" y="3569954"/>
            <a:ext cx="3594834" cy="1731392"/>
          </a:xfrm>
          <a:prstGeom prst="rect">
            <a:avLst/>
          </a:prstGeom>
          <a:ln w="0">
            <a:noFill/>
          </a:ln>
        </p:spPr>
      </p:pic>
      <p:sp>
        <p:nvSpPr>
          <p:cNvPr id="532" name="Textfeld 531"/>
          <p:cNvSpPr txBox="1"/>
          <p:nvPr/>
        </p:nvSpPr>
        <p:spPr>
          <a:xfrm>
            <a:off x="620045" y="5255549"/>
            <a:ext cx="3543439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 </a:t>
            </a:r>
            <a:r>
              <a:rPr lang="en-US" sz="1100" b="1" spc="-1" dirty="0">
                <a:highlight>
                  <a:srgbClr val="DAE3F3"/>
                </a:highlight>
                <a:latin typeface="Consolas" panose="020B0609020204030204" pitchFamily="49" charset="0"/>
              </a:rPr>
              <a:t>df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3" name="Textfeld 532"/>
          <p:cNvSpPr txBox="1"/>
          <p:nvPr/>
        </p:nvSpPr>
        <p:spPr>
          <a:xfrm>
            <a:off x="4754523" y="3852001"/>
            <a:ext cx="3939077" cy="1291346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100" spc="-1" dirty="0" err="1">
                <a:latin typeface="Consolas" panose="020B0609020204030204" pitchFamily="49" charset="0"/>
              </a:rPr>
              <a:t>state,population,area,pop_in_mil,pop_density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California,38332521.0,423967.0,38.0,90.41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Texas,26448193.0,695662.0,26.0,38.02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New York,19651127.0,141297.0,20.0,139.08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Florida,19552860.0,170312.0,20.0,114.81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New Jersey,9288994.0,25000.0,9.0,371.56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Illinois,12882135.0,149995.0,13.0,85.88</a:t>
            </a:r>
          </a:p>
        </p:txBody>
      </p:sp>
      <p:sp>
        <p:nvSpPr>
          <p:cNvPr id="534" name="Textfeld 533"/>
          <p:cNvSpPr txBox="1"/>
          <p:nvPr/>
        </p:nvSpPr>
        <p:spPr>
          <a:xfrm>
            <a:off x="4747399" y="5140292"/>
            <a:ext cx="393373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states_new.csv (in a text editor)</a:t>
            </a:r>
          </a:p>
        </p:txBody>
      </p:sp>
      <p:sp>
        <p:nvSpPr>
          <p:cNvPr id="535" name="Pfeil: nach rechts 534"/>
          <p:cNvSpPr/>
          <p:nvPr/>
        </p:nvSpPr>
        <p:spPr>
          <a:xfrm>
            <a:off x="4202666" y="4311107"/>
            <a:ext cx="503261" cy="424643"/>
          </a:xfrm>
          <a:prstGeom prst="rightArrow">
            <a:avLst>
              <a:gd name="adj1" fmla="val 46521"/>
              <a:gd name="adj2" fmla="val 58545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Storing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as CSV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(Boolean)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('states_processed.csv',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</p:txBody>
      </p:sp>
      <p:pic>
        <p:nvPicPr>
          <p:cNvPr id="531" name="Grafik 530"/>
          <p:cNvPicPr/>
          <p:nvPr/>
        </p:nvPicPr>
        <p:blipFill>
          <a:blip r:embed="rId3"/>
          <a:stretch>
            <a:fillRect/>
          </a:stretch>
        </p:blipFill>
        <p:spPr>
          <a:xfrm>
            <a:off x="610631" y="3569954"/>
            <a:ext cx="3594834" cy="1731392"/>
          </a:xfrm>
          <a:prstGeom prst="rect">
            <a:avLst/>
          </a:prstGeom>
          <a:ln w="0">
            <a:noFill/>
          </a:ln>
        </p:spPr>
      </p:pic>
      <p:sp>
        <p:nvSpPr>
          <p:cNvPr id="532" name="Textfeld 531"/>
          <p:cNvSpPr txBox="1"/>
          <p:nvPr/>
        </p:nvSpPr>
        <p:spPr>
          <a:xfrm>
            <a:off x="620045" y="5255549"/>
            <a:ext cx="3543439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 </a:t>
            </a:r>
            <a:r>
              <a:rPr lang="en-US" sz="1100" b="1" spc="-1" dirty="0">
                <a:highlight>
                  <a:srgbClr val="DAE3F3"/>
                </a:highlight>
                <a:latin typeface="Consolas" panose="020B0609020204030204" pitchFamily="49" charset="0"/>
              </a:rPr>
              <a:t>df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5" name="Pfeil: nach rechts 534"/>
          <p:cNvSpPr/>
          <p:nvPr/>
        </p:nvSpPr>
        <p:spPr>
          <a:xfrm>
            <a:off x="4202666" y="4311107"/>
            <a:ext cx="503261" cy="424643"/>
          </a:xfrm>
          <a:prstGeom prst="rightArrow">
            <a:avLst>
              <a:gd name="adj1" fmla="val 46521"/>
              <a:gd name="adj2" fmla="val 58545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Storing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as CSV files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4777390" y="5132023"/>
            <a:ext cx="416755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states_new.csv (in Excel)</a:t>
            </a:r>
          </a:p>
        </p:txBody>
      </p:sp>
      <p:pic>
        <p:nvPicPr>
          <p:cNvPr id="10" name="Grafik 9"/>
          <p:cNvPicPr/>
          <p:nvPr/>
        </p:nvPicPr>
        <p:blipFill>
          <a:blip r:embed="rId4"/>
          <a:stretch>
            <a:fillRect/>
          </a:stretch>
        </p:blipFill>
        <p:spPr>
          <a:xfrm>
            <a:off x="4762378" y="3632416"/>
            <a:ext cx="4255841" cy="1529375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 with pandas and CSV files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825617" y="1501669"/>
            <a:ext cx="7492765" cy="75193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 algn="just"/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1. 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Load, preprocess, and explore the data set containing information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all USA states.</a:t>
            </a:r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Google Shape;87;p2"/>
          <p:cNvSpPr txBox="1">
            <a:spLocks noGrp="1"/>
          </p:cNvSpPr>
          <p:nvPr>
            <p:ph type="body" idx="1"/>
          </p:nvPr>
        </p:nvSpPr>
        <p:spPr>
          <a:xfrm>
            <a:off x="661794" y="2337949"/>
            <a:ext cx="8036099" cy="585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unit8_exercise.ipynb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/>
          <p:cNvSpPr txBox="1"/>
          <p:nvPr/>
        </p:nvSpPr>
        <p:spPr>
          <a:xfrm>
            <a:off x="461938" y="1605600"/>
            <a:ext cx="8229600" cy="92333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</a:t>
            </a:r>
            <a:r>
              <a:rPr lang="de-DE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 on states dataset and perform some additional computations.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hlinkClick r:id="rId3"/>
            </a:endParaRPr>
          </a:p>
          <a:p>
            <a:pPr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unit8_exercise.ipynb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2948</Words>
  <Application>Microsoft Macintosh PowerPoint</Application>
  <PresentationFormat>On-screen Show (4:3)</PresentationFormat>
  <Paragraphs>427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Consolas</vt:lpstr>
      <vt:lpstr>Symbol</vt:lpstr>
      <vt:lpstr>Arial</vt:lpstr>
      <vt:lpstr>Calibri</vt:lpstr>
      <vt:lpstr>Blackadder ITC</vt:lpstr>
      <vt:lpstr>Times New Roman</vt:lpstr>
      <vt:lpstr>Wingdings</vt:lpstr>
      <vt:lpstr>Office Theme</vt:lpstr>
      <vt:lpstr>Fundamentals of Computer Science and Programming </vt:lpstr>
      <vt:lpstr>Outline</vt:lpstr>
      <vt:lpstr>File I/O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CSV files and module imports</vt:lpstr>
      <vt:lpstr>PowerPoint Presentation</vt:lpstr>
      <vt:lpstr>PowerPoint Presentation</vt:lpstr>
      <vt:lpstr>PowerPoint Presentation</vt:lpstr>
      <vt:lpstr>PowerPoint Presentation</vt:lpstr>
      <vt:lpstr>Pandas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Examples</vt:lpstr>
      <vt:lpstr>Example with pandas and CSV files</vt:lpstr>
      <vt:lpstr>Exercise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1097</cp:revision>
  <dcterms:created xsi:type="dcterms:W3CDTF">2025-11-19T21:38:26Z</dcterms:created>
  <dcterms:modified xsi:type="dcterms:W3CDTF">2025-11-20T08:06:47Z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3A8537BADE61422A897FF4E91493026C_12</vt:lpwstr>
  </property>
  <property fmtid="{D5CDD505-2E9C-101B-9397-08002B2CF9AE}" pid="3" name="KSOProductBuildVer">
    <vt:lpwstr>2052-12.1.0.23125</vt:lpwstr>
  </property>
</Properties>
</file>