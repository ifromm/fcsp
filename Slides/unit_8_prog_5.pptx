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fonts/font1.fntdata" ContentType="application/x-fontdata"/>
  <Override PartName="/ppt/fonts/font10.fntdata" ContentType="application/x-fontdata"/>
  <Override PartName="/ppt/fonts/font11.fntdata" ContentType="application/x-fontdata"/>
  <Override PartName="/ppt/fonts/font2.fntdata" ContentType="application/x-fontdata"/>
  <Override PartName="/ppt/fonts/font3.fntdata" ContentType="application/x-fontdata"/>
  <Override PartName="/ppt/fonts/font4.fntdata" ContentType="application/x-fontdata"/>
  <Override PartName="/ppt/fonts/font5.fntdata" ContentType="application/x-fontdata"/>
  <Override PartName="/ppt/fonts/font6.fntdata" ContentType="application/x-fontdata"/>
  <Override PartName="/ppt/fonts/font7.fntdata" ContentType="application/x-fontdata"/>
  <Override PartName="/ppt/fonts/font8.fntdata" ContentType="application/x-fontdata"/>
  <Override PartName="/ppt/fonts/font9.fntdata" ContentType="application/x-fontdata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0" showSpecialPlsOnTitleSld="0" strictFirstAndLastChars="0" embedTrueTypeFonts="1" saveSubsetFonts="1" autoCompressPictures="0">
  <p:sldMasterIdLst>
    <p:sldMasterId id="2147483648" r:id="rId1"/>
  </p:sldMasterIdLst>
  <p:notesMasterIdLst>
    <p:notesMasterId r:id="rId4"/>
  </p:notesMasterIdLst>
  <p:sldIdLst>
    <p:sldId id="256" r:id="rId3"/>
    <p:sldId id="408" r:id="rId5"/>
    <p:sldId id="499" r:id="rId6"/>
    <p:sldId id="276" r:id="rId7"/>
    <p:sldId id="277" r:id="rId8"/>
    <p:sldId id="576" r:id="rId9"/>
    <p:sldId id="278" r:id="rId10"/>
    <p:sldId id="279" r:id="rId11"/>
    <p:sldId id="280" r:id="rId12"/>
    <p:sldId id="281" r:id="rId13"/>
    <p:sldId id="282" r:id="rId14"/>
    <p:sldId id="572" r:id="rId15"/>
    <p:sldId id="284" r:id="rId16"/>
    <p:sldId id="285" r:id="rId17"/>
    <p:sldId id="286" r:id="rId18"/>
    <p:sldId id="287" r:id="rId19"/>
    <p:sldId id="573" r:id="rId20"/>
    <p:sldId id="263" r:id="rId21"/>
    <p:sldId id="264" r:id="rId22"/>
    <p:sldId id="265" r:id="rId23"/>
    <p:sldId id="266" r:id="rId24"/>
    <p:sldId id="267" r:id="rId25"/>
    <p:sldId id="268" r:id="rId26"/>
    <p:sldId id="269" r:id="rId27"/>
    <p:sldId id="270" r:id="rId28"/>
    <p:sldId id="271" r:id="rId29"/>
    <p:sldId id="272" r:id="rId30"/>
    <p:sldId id="273" r:id="rId31"/>
    <p:sldId id="274" r:id="rId32"/>
    <p:sldId id="275" r:id="rId33"/>
    <p:sldId id="574" r:id="rId34"/>
    <p:sldId id="567" r:id="rId35"/>
    <p:sldId id="568" r:id="rId36"/>
    <p:sldId id="569" r:id="rId37"/>
    <p:sldId id="570" r:id="rId38"/>
    <p:sldId id="575" r:id="rId39"/>
    <p:sldId id="554" r:id="rId40"/>
    <p:sldId id="565" r:id="rId41"/>
    <p:sldId id="523" r:id="rId42"/>
    <p:sldId id="461" r:id="rId43"/>
  </p:sldIdLst>
  <p:sldSz cx="9144000" cy="6858000" type="screen4x3"/>
  <p:notesSz cx="7099300" cy="10234295"/>
  <p:embeddedFontLst>
    <p:embeddedFont>
      <p:font typeface="Calibri" panose="020F0502020204030204"/>
      <p:regular r:id="rId47"/>
    </p:embeddedFont>
    <p:embeddedFont>
      <p:font typeface="Calibri" panose="020F0502020204030204" pitchFamily="34" charset="0"/>
      <p:regular r:id="rId48"/>
      <p:bold r:id="rId49"/>
      <p:italic r:id="rId50"/>
      <p:boldItalic r:id="rId51"/>
    </p:embeddedFont>
    <p:embeddedFont>
      <p:font typeface="Blackadder ITC" panose="04020505050007020D02" pitchFamily="82" charset="0"/>
      <p:regular r:id="rId52"/>
    </p:embeddedFont>
    <p:embeddedFont>
      <p:font typeface="Consolas" panose="020B0609020204030204" pitchFamily="49" charset="0"/>
      <p:regular r:id="rId53"/>
      <p:bold r:id="rId54"/>
      <p:italic r:id="rId55"/>
      <p:boldItalic r:id="rId56"/>
    </p:embeddedFont>
    <p:embeddedFont>
      <p:font typeface="Cambria Math" panose="02040503050406030204" pitchFamily="18" charset="0"/>
      <p:regular r:id="rId57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9pPr>
  </p:defaultTextStyle>
  <p:extLst>
    <p:ext uri="{EFAFB233-063F-42B5-8137-9DF3F51BA10A}">
      <p15:sldGuideLst xmlns:p15="http://schemas.microsoft.com/office/powerpoint/2012/main">
        <p15:guide id="1" orient="horz" pos="2148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AE3F3"/>
    <a:srgbClr val="32CD32"/>
    <a:srgbClr val="1E90FF"/>
    <a:srgbClr val="D3242A"/>
    <a:srgbClr val="EDEDED"/>
    <a:srgbClr val="F8D7CD"/>
    <a:srgbClr val="FCECE8"/>
    <a:srgbClr val="ED7D31"/>
    <a:srgbClr val="E2F0D9"/>
    <a:srgbClr val="5B9BD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中度样式 2 - 强调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750" autoAdjust="0"/>
    <p:restoredTop sz="94651" autoAdjust="0"/>
  </p:normalViewPr>
  <p:slideViewPr>
    <p:cSldViewPr snapToGrid="0" showGuides="1">
      <p:cViewPr varScale="1">
        <p:scale>
          <a:sx n="143" d="100"/>
          <a:sy n="143" d="100"/>
        </p:scale>
        <p:origin x="1248" y="200"/>
      </p:cViewPr>
      <p:guideLst>
        <p:guide orient="horz" pos="2148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7" Type="http://schemas.openxmlformats.org/officeDocument/2006/relationships/font" Target="fonts/font11.fntdata"/><Relationship Id="rId56" Type="http://schemas.openxmlformats.org/officeDocument/2006/relationships/font" Target="fonts/font10.fntdata"/><Relationship Id="rId55" Type="http://schemas.openxmlformats.org/officeDocument/2006/relationships/font" Target="fonts/font9.fntdata"/><Relationship Id="rId54" Type="http://schemas.openxmlformats.org/officeDocument/2006/relationships/font" Target="fonts/font8.fntdata"/><Relationship Id="rId53" Type="http://schemas.openxmlformats.org/officeDocument/2006/relationships/font" Target="fonts/font7.fntdata"/><Relationship Id="rId52" Type="http://schemas.openxmlformats.org/officeDocument/2006/relationships/font" Target="fonts/font6.fntdata"/><Relationship Id="rId51" Type="http://schemas.openxmlformats.org/officeDocument/2006/relationships/font" Target="fonts/font5.fntdata"/><Relationship Id="rId50" Type="http://schemas.openxmlformats.org/officeDocument/2006/relationships/font" Target="fonts/font4.fntdata"/><Relationship Id="rId5" Type="http://schemas.openxmlformats.org/officeDocument/2006/relationships/slide" Target="slides/slide2.xml"/><Relationship Id="rId49" Type="http://schemas.openxmlformats.org/officeDocument/2006/relationships/font" Target="fonts/font3.fntdata"/><Relationship Id="rId48" Type="http://schemas.openxmlformats.org/officeDocument/2006/relationships/font" Target="fonts/font2.fntdata"/><Relationship Id="rId47" Type="http://schemas.openxmlformats.org/officeDocument/2006/relationships/font" Target="fonts/font1.fntdata"/><Relationship Id="rId46" Type="http://schemas.openxmlformats.org/officeDocument/2006/relationships/tableStyles" Target="tableStyles.xml"/><Relationship Id="rId45" Type="http://schemas.openxmlformats.org/officeDocument/2006/relationships/viewProps" Target="viewProps.xml"/><Relationship Id="rId44" Type="http://schemas.openxmlformats.org/officeDocument/2006/relationships/presProps" Target="presProps.xml"/><Relationship Id="rId43" Type="http://schemas.openxmlformats.org/officeDocument/2006/relationships/slide" Target="slides/slide40.xml"/><Relationship Id="rId42" Type="http://schemas.openxmlformats.org/officeDocument/2006/relationships/slide" Target="slides/slide39.xml"/><Relationship Id="rId41" Type="http://schemas.openxmlformats.org/officeDocument/2006/relationships/slide" Target="slides/slide38.xml"/><Relationship Id="rId40" Type="http://schemas.openxmlformats.org/officeDocument/2006/relationships/slide" Target="slides/slide37.xml"/><Relationship Id="rId4" Type="http://schemas.openxmlformats.org/officeDocument/2006/relationships/notesMaster" Target="notesMasters/notesMaster1.xml"/><Relationship Id="rId39" Type="http://schemas.openxmlformats.org/officeDocument/2006/relationships/slide" Target="slides/slide36.xml"/><Relationship Id="rId38" Type="http://schemas.openxmlformats.org/officeDocument/2006/relationships/slide" Target="slides/slide35.xml"/><Relationship Id="rId37" Type="http://schemas.openxmlformats.org/officeDocument/2006/relationships/slide" Target="slides/slide34.xml"/><Relationship Id="rId36" Type="http://schemas.openxmlformats.org/officeDocument/2006/relationships/slide" Target="slides/slide33.xml"/><Relationship Id="rId35" Type="http://schemas.openxmlformats.org/officeDocument/2006/relationships/slide" Target="slides/slide32.xml"/><Relationship Id="rId34" Type="http://schemas.openxmlformats.org/officeDocument/2006/relationships/slide" Target="slides/slide31.xml"/><Relationship Id="rId33" Type="http://schemas.openxmlformats.org/officeDocument/2006/relationships/slide" Target="slides/slide30.xml"/><Relationship Id="rId32" Type="http://schemas.openxmlformats.org/officeDocument/2006/relationships/slide" Target="slides/slide29.xml"/><Relationship Id="rId31" Type="http://schemas.openxmlformats.org/officeDocument/2006/relationships/slide" Target="slides/slide28.xml"/><Relationship Id="rId30" Type="http://schemas.openxmlformats.org/officeDocument/2006/relationships/slide" Target="slides/slide27.xml"/><Relationship Id="rId3" Type="http://schemas.openxmlformats.org/officeDocument/2006/relationships/slide" Target="slides/slide1.xml"/><Relationship Id="rId29" Type="http://schemas.openxmlformats.org/officeDocument/2006/relationships/slide" Target="slides/slide26.xml"/><Relationship Id="rId28" Type="http://schemas.openxmlformats.org/officeDocument/2006/relationships/slide" Target="slides/slide25.xml"/><Relationship Id="rId27" Type="http://schemas.openxmlformats.org/officeDocument/2006/relationships/slide" Target="slides/slide24.xml"/><Relationship Id="rId26" Type="http://schemas.openxmlformats.org/officeDocument/2006/relationships/slide" Target="slides/slide23.xml"/><Relationship Id="rId25" Type="http://schemas.openxmlformats.org/officeDocument/2006/relationships/slide" Target="slides/slide22.xml"/><Relationship Id="rId24" Type="http://schemas.openxmlformats.org/officeDocument/2006/relationships/slide" Target="slides/slide21.xml"/><Relationship Id="rId23" Type="http://schemas.openxmlformats.org/officeDocument/2006/relationships/slide" Target="slides/slide20.xml"/><Relationship Id="rId22" Type="http://schemas.openxmlformats.org/officeDocument/2006/relationships/slide" Target="slides/slide19.xml"/><Relationship Id="rId21" Type="http://schemas.openxmlformats.org/officeDocument/2006/relationships/slide" Target="slides/slide18.xml"/><Relationship Id="rId20" Type="http://schemas.openxmlformats.org/officeDocument/2006/relationships/slide" Target="slides/slide17.xml"/><Relationship Id="rId2" Type="http://schemas.openxmlformats.org/officeDocument/2006/relationships/theme" Target="theme/theme1.xml"/><Relationship Id="rId19" Type="http://schemas.openxmlformats.org/officeDocument/2006/relationships/slide" Target="slides/slide16.xml"/><Relationship Id="rId18" Type="http://schemas.openxmlformats.org/officeDocument/2006/relationships/slide" Target="slides/slide15.xml"/><Relationship Id="rId17" Type="http://schemas.openxmlformats.org/officeDocument/2006/relationships/slide" Target="slides/slide14.xml"/><Relationship Id="rId16" Type="http://schemas.openxmlformats.org/officeDocument/2006/relationships/slide" Target="slides/slide13.xml"/><Relationship Id="rId15" Type="http://schemas.openxmlformats.org/officeDocument/2006/relationships/slide" Target="slides/slide12.xml"/><Relationship Id="rId14" Type="http://schemas.openxmlformats.org/officeDocument/2006/relationships/slide" Target="slides/slide11.xml"/><Relationship Id="rId13" Type="http://schemas.openxmlformats.org/officeDocument/2006/relationships/slide" Target="slides/slide10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992188" y="768350"/>
            <a:ext cx="5116512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709932" y="4861443"/>
            <a:ext cx="5679439" cy="46055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4725" tIns="94725" rIns="94725" bIns="94725" anchor="t" anchorCtr="0">
            <a:noAutofit/>
          </a:bodyPr>
          <a:lstStyle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1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1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1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1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1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1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1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1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1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/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0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2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3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4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5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6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7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8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9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0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2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3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4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5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6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7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8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9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0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2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3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4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5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6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7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8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9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:notes"/>
          <p:cNvSpPr txBox="1">
            <a:spLocks noGrp="1"/>
          </p:cNvSpPr>
          <p:nvPr>
            <p:ph type="body" idx="1"/>
          </p:nvPr>
        </p:nvSpPr>
        <p:spPr>
          <a:xfrm>
            <a:off x="709932" y="4861443"/>
            <a:ext cx="5679439" cy="46055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4725" tIns="94725" rIns="94725" bIns="947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100" b="0" i="0" u="none" strike="noStrike" cap="none">
              <a:solidFill>
                <a:schemeClr val="dk1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76" name="Google Shape;76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992188" y="768350"/>
            <a:ext cx="5114925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992188" y="768350"/>
            <a:ext cx="5116512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83" name="Google Shape;83;p2:notes"/>
          <p:cNvSpPr txBox="1">
            <a:spLocks noGrp="1"/>
          </p:cNvSpPr>
          <p:nvPr>
            <p:ph type="body" idx="1"/>
          </p:nvPr>
        </p:nvSpPr>
        <p:spPr>
          <a:xfrm>
            <a:off x="709932" y="4861443"/>
            <a:ext cx="5679439" cy="46055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4725" tIns="94725" rIns="94725" bIns="94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100" b="0" i="0" u="none" strike="noStrike" cap="none" dirty="0">
              <a:solidFill>
                <a:schemeClr val="dk1"/>
              </a:solidFill>
              <a:latin typeface="Blackadder ITC" panose="04020505050007020D02" pitchFamily="82" charset="0"/>
              <a:sym typeface="Arial" panose="020B0604020202020204"/>
            </a:endParaRPr>
          </a:p>
        </p:txBody>
      </p:sp>
      <p:sp>
        <p:nvSpPr>
          <p:cNvPr id="84" name="Google Shape;84;p2:notes"/>
          <p:cNvSpPr txBox="1">
            <a:spLocks noGrp="1"/>
          </p:cNvSpPr>
          <p:nvPr>
            <p:ph type="sldNum" idx="12"/>
          </p:nvPr>
        </p:nvSpPr>
        <p:spPr>
          <a:xfrm>
            <a:off x="4021294" y="9721106"/>
            <a:ext cx="3076363" cy="5117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25" tIns="49500" rIns="99025" bIns="495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/>
            </a:pPr>
            <a:fld id="{00000000-1234-1234-1234-123412341234}" type="slidenum">
              <a:rPr kumimoji="0" lang="de-DE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Blackadder ITC" panose="04020505050007020D02" pitchFamily="82" charset="0"/>
                <a:cs typeface="Arial" panose="020B0604020202020204"/>
                <a:sym typeface="Arial" panose="020B0604020202020204"/>
              </a:rPr>
            </a:fld>
            <a:endParaRPr kumimoji="0" sz="1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Blackadder ITC" panose="04020505050007020D02" pitchFamily="82" charset="0"/>
              <a:cs typeface="Arial" panose="020B0604020202020204"/>
              <a:sym typeface="Arial" panose="020B0604020202020204"/>
            </a:endParaRP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992188" y="768350"/>
            <a:ext cx="5116512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83" name="Google Shape;83;p2:notes"/>
          <p:cNvSpPr txBox="1">
            <a:spLocks noGrp="1"/>
          </p:cNvSpPr>
          <p:nvPr>
            <p:ph type="body" idx="1"/>
          </p:nvPr>
        </p:nvSpPr>
        <p:spPr>
          <a:xfrm>
            <a:off x="709932" y="4861443"/>
            <a:ext cx="5679439" cy="46055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4725" tIns="94725" rIns="94725" bIns="94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100" b="0" i="0" u="none" strike="noStrike" cap="none" dirty="0">
              <a:solidFill>
                <a:schemeClr val="dk1"/>
              </a:solidFill>
              <a:latin typeface="Blackadder ITC" panose="04020505050007020D02" pitchFamily="82" charset="0"/>
              <a:sym typeface="Arial" panose="020B0604020202020204"/>
            </a:endParaRPr>
          </a:p>
        </p:txBody>
      </p:sp>
      <p:sp>
        <p:nvSpPr>
          <p:cNvPr id="84" name="Google Shape;84;p2:notes"/>
          <p:cNvSpPr txBox="1">
            <a:spLocks noGrp="1"/>
          </p:cNvSpPr>
          <p:nvPr>
            <p:ph type="sldNum" idx="12"/>
          </p:nvPr>
        </p:nvSpPr>
        <p:spPr>
          <a:xfrm>
            <a:off x="4021294" y="9721106"/>
            <a:ext cx="3076363" cy="5117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25" tIns="49500" rIns="99025" bIns="495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/>
            </a:pPr>
            <a:fld id="{00000000-1234-1234-1234-123412341234}" type="slidenum">
              <a:rPr kumimoji="0" lang="de-DE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Blackadder ITC" panose="04020505050007020D02" pitchFamily="82" charset="0"/>
                <a:cs typeface="Arial" panose="020B0604020202020204"/>
                <a:sym typeface="Arial" panose="020B0604020202020204"/>
              </a:rPr>
            </a:fld>
            <a:endParaRPr kumimoji="0" sz="1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Blackadder ITC" panose="04020505050007020D02" pitchFamily="82" charset="0"/>
              <a:cs typeface="Arial" panose="020B0604020202020204"/>
              <a:sym typeface="Arial" panose="020B0604020202020204"/>
            </a:endParaRP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3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1370013" y="763588"/>
            <a:ext cx="5030787" cy="3771900"/>
          </a:xfrm>
          <a:prstGeom prst="rect">
            <a:avLst/>
          </a:prstGeom>
          <a:ln w="0">
            <a:noFill/>
          </a:ln>
        </p:spPr>
      </p:sp>
      <p:sp>
        <p:nvSpPr>
          <p:cNvPr id="614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7560" cy="4525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5900" indent="0">
              <a:buNone/>
            </a:pPr>
            <a:r>
              <a:rPr lang="en-US" sz="2000" b="0" strike="noStrike" spc="-1">
                <a:latin typeface="Arial" panose="020B0604020202020204"/>
              </a:rPr>
              <a:t>10:35</a:t>
            </a:r>
            <a:endParaRPr lang="en-US" sz="2000" b="0" strike="noStrike" spc="-1">
              <a:latin typeface="Arial" panose="020B0604020202020204"/>
            </a:endParaRP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5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1370013" y="763588"/>
            <a:ext cx="5030787" cy="3771900"/>
          </a:xfrm>
          <a:prstGeom prst="rect">
            <a:avLst/>
          </a:prstGeom>
          <a:ln w="0">
            <a:noFill/>
          </a:ln>
        </p:spPr>
      </p:sp>
      <p:sp>
        <p:nvSpPr>
          <p:cNvPr id="616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7560" cy="4525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5900" indent="0">
              <a:buNone/>
            </a:pPr>
            <a:r>
              <a:rPr lang="en-US" sz="2000" b="0" strike="noStrike" spc="-1">
                <a:latin typeface="Arial" panose="020B0604020202020204"/>
              </a:rPr>
              <a:t>10:35</a:t>
            </a:r>
            <a:endParaRPr lang="en-US" sz="2000" b="0" strike="noStrike" spc="-1">
              <a:latin typeface="Arial" panose="020B0604020202020204"/>
            </a:endParaRP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5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1370013" y="763588"/>
            <a:ext cx="5030787" cy="3771900"/>
          </a:xfrm>
          <a:prstGeom prst="rect">
            <a:avLst/>
          </a:prstGeom>
          <a:ln w="0">
            <a:noFill/>
          </a:ln>
        </p:spPr>
      </p:sp>
      <p:sp>
        <p:nvSpPr>
          <p:cNvPr id="616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7560" cy="4525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5900" indent="0">
              <a:buNone/>
            </a:pPr>
            <a:r>
              <a:rPr lang="en-US" sz="2000" b="0" strike="noStrike" spc="-1">
                <a:latin typeface="Arial" panose="020B0604020202020204"/>
              </a:rPr>
              <a:t>10:35</a:t>
            </a:r>
            <a:endParaRPr lang="en-US" sz="2000" b="0" strike="noStrike" spc="-1">
              <a:latin typeface="Arial" panose="020B0604020202020204"/>
            </a:endParaRP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7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1370013" y="763588"/>
            <a:ext cx="5030787" cy="3771900"/>
          </a:xfrm>
          <a:prstGeom prst="rect">
            <a:avLst/>
          </a:prstGeom>
          <a:ln w="0">
            <a:noFill/>
          </a:ln>
        </p:spPr>
      </p:sp>
      <p:sp>
        <p:nvSpPr>
          <p:cNvPr id="618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7560" cy="4525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5900" indent="0">
              <a:buNone/>
            </a:pPr>
            <a:r>
              <a:rPr lang="en-US" sz="2000" b="0" strike="noStrike" spc="-1">
                <a:latin typeface="Arial" panose="020B0604020202020204"/>
              </a:rPr>
              <a:t>10:35</a:t>
            </a:r>
            <a:endParaRPr lang="en-US" sz="2000" b="0" strike="noStrike" spc="-1">
              <a:latin typeface="Arial" panose="020B0604020202020204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9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1370013" y="763588"/>
            <a:ext cx="5030787" cy="3771900"/>
          </a:xfrm>
          <a:prstGeom prst="rect">
            <a:avLst/>
          </a:prstGeom>
          <a:ln w="0">
            <a:noFill/>
          </a:ln>
        </p:spPr>
      </p:sp>
      <p:sp>
        <p:nvSpPr>
          <p:cNvPr id="620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7560" cy="4525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5900" indent="0">
              <a:buNone/>
            </a:pPr>
            <a:r>
              <a:rPr lang="en-US" sz="2000" b="0" strike="noStrike" spc="-1">
                <a:latin typeface="Arial" panose="020B0604020202020204"/>
              </a:rPr>
              <a:t>10:35</a:t>
            </a:r>
            <a:endParaRPr lang="en-US" sz="2000" b="0" strike="noStrike" spc="-1">
              <a:latin typeface="Arial" panose="020B0604020202020204"/>
            </a:endParaRP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1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1370013" y="763588"/>
            <a:ext cx="5030787" cy="3771900"/>
          </a:xfrm>
          <a:prstGeom prst="rect">
            <a:avLst/>
          </a:prstGeom>
          <a:ln w="0">
            <a:noFill/>
          </a:ln>
        </p:spPr>
      </p:sp>
      <p:sp>
        <p:nvSpPr>
          <p:cNvPr id="622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7560" cy="4525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5900" indent="0">
              <a:buNone/>
            </a:pPr>
            <a:r>
              <a:rPr lang="en-US" sz="2000" b="0" strike="noStrike" spc="-1">
                <a:latin typeface="Arial" panose="020B0604020202020204"/>
              </a:rPr>
              <a:t>10:35</a:t>
            </a:r>
            <a:endParaRPr lang="en-US" sz="2000" b="0" strike="noStrike" spc="-1">
              <a:latin typeface="Arial" panose="020B0604020202020204"/>
            </a:endParaRP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3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1370013" y="763588"/>
            <a:ext cx="5030787" cy="3771900"/>
          </a:xfrm>
          <a:prstGeom prst="rect">
            <a:avLst/>
          </a:prstGeom>
          <a:ln w="0">
            <a:noFill/>
          </a:ln>
        </p:spPr>
      </p:sp>
      <p:sp>
        <p:nvSpPr>
          <p:cNvPr id="624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7560" cy="4525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5900" indent="0">
              <a:buNone/>
            </a:pPr>
            <a:r>
              <a:rPr lang="en-US" sz="2000" b="0" strike="noStrike" spc="-1">
                <a:latin typeface="Arial" panose="020B0604020202020204"/>
              </a:rPr>
              <a:t>10:35</a:t>
            </a:r>
            <a:endParaRPr lang="en-US" sz="2000" b="0" strike="noStrike" spc="-1">
              <a:latin typeface="Arial" panose="020B0604020202020204"/>
            </a:endParaRP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5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1370013" y="763588"/>
            <a:ext cx="5030787" cy="3771900"/>
          </a:xfrm>
          <a:prstGeom prst="rect">
            <a:avLst/>
          </a:prstGeom>
          <a:ln w="0">
            <a:noFill/>
          </a:ln>
        </p:spPr>
      </p:sp>
      <p:sp>
        <p:nvSpPr>
          <p:cNvPr id="626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7560" cy="4525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5900" indent="0">
              <a:buNone/>
            </a:pPr>
            <a:r>
              <a:rPr lang="en-US" sz="2000" b="0" strike="noStrike" spc="-1">
                <a:latin typeface="Arial" panose="020B0604020202020204"/>
              </a:rPr>
              <a:t>10:35</a:t>
            </a:r>
            <a:endParaRPr lang="en-US" sz="2000" b="0" strike="noStrike" spc="-1">
              <a:latin typeface="Arial" panose="020B0604020202020204"/>
            </a:endParaRP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992188" y="768350"/>
            <a:ext cx="5116512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83" name="Google Shape;83;p2:notes"/>
          <p:cNvSpPr txBox="1">
            <a:spLocks noGrp="1"/>
          </p:cNvSpPr>
          <p:nvPr>
            <p:ph type="body" idx="1"/>
          </p:nvPr>
        </p:nvSpPr>
        <p:spPr>
          <a:xfrm>
            <a:off x="709932" y="4861443"/>
            <a:ext cx="5679439" cy="46055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4725" tIns="94725" rIns="94725" bIns="94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100" b="0" i="0" u="none" strike="noStrike" cap="none" dirty="0">
              <a:solidFill>
                <a:schemeClr val="dk1"/>
              </a:solidFill>
              <a:latin typeface="Blackadder ITC" panose="04020505050007020D02" pitchFamily="82" charset="0"/>
              <a:sym typeface="Arial" panose="020B0604020202020204"/>
            </a:endParaRPr>
          </a:p>
        </p:txBody>
      </p:sp>
      <p:sp>
        <p:nvSpPr>
          <p:cNvPr id="84" name="Google Shape;84;p2:notes"/>
          <p:cNvSpPr txBox="1">
            <a:spLocks noGrp="1"/>
          </p:cNvSpPr>
          <p:nvPr>
            <p:ph type="sldNum" idx="12"/>
          </p:nvPr>
        </p:nvSpPr>
        <p:spPr>
          <a:xfrm>
            <a:off x="4021294" y="9721106"/>
            <a:ext cx="3076363" cy="5117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25" tIns="49500" rIns="99025" bIns="495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/>
            </a:pPr>
            <a:fld id="{00000000-1234-1234-1234-123412341234}" type="slidenum">
              <a:rPr kumimoji="0" lang="de-DE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Blackadder ITC" panose="04020505050007020D02" pitchFamily="82" charset="0"/>
                <a:cs typeface="Arial" panose="020B0604020202020204"/>
                <a:sym typeface="Arial" panose="020B0604020202020204"/>
              </a:rPr>
            </a:fld>
            <a:endParaRPr kumimoji="0" sz="1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Blackadder ITC" panose="04020505050007020D02" pitchFamily="82" charset="0"/>
              <a:cs typeface="Arial" panose="020B0604020202020204"/>
              <a:sym typeface="Arial" panose="020B0604020202020204"/>
            </a:endParaRP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9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1370013" y="763588"/>
            <a:ext cx="5030787" cy="3771900"/>
          </a:xfrm>
          <a:prstGeom prst="rect">
            <a:avLst/>
          </a:prstGeom>
          <a:ln w="0">
            <a:noFill/>
          </a:ln>
        </p:spPr>
      </p:sp>
      <p:sp>
        <p:nvSpPr>
          <p:cNvPr id="630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7560" cy="4525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5900" indent="0">
              <a:buNone/>
            </a:pPr>
            <a:r>
              <a:rPr lang="en-US" sz="2000" b="0" strike="noStrike" spc="-1">
                <a:latin typeface="Arial" panose="020B0604020202020204"/>
              </a:rPr>
              <a:t>10:35</a:t>
            </a:r>
            <a:endParaRPr lang="en-US" sz="2000" b="0" strike="noStrike" spc="-1">
              <a:latin typeface="Arial" panose="020B0604020202020204"/>
            </a:endParaRP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1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1370013" y="763588"/>
            <a:ext cx="5030787" cy="3771900"/>
          </a:xfrm>
          <a:prstGeom prst="rect">
            <a:avLst/>
          </a:prstGeom>
          <a:ln w="0">
            <a:noFill/>
          </a:ln>
        </p:spPr>
      </p:sp>
      <p:sp>
        <p:nvSpPr>
          <p:cNvPr id="632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7560" cy="4525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5900" indent="0">
              <a:buNone/>
            </a:pPr>
            <a:r>
              <a:rPr lang="en-US" sz="2000" b="0" strike="noStrike" spc="-1">
                <a:latin typeface="Arial" panose="020B0604020202020204"/>
              </a:rPr>
              <a:t>11:30</a:t>
            </a:r>
            <a:endParaRPr lang="en-US" sz="2000" b="0" strike="noStrike" spc="-1">
              <a:latin typeface="Arial" panose="020B0604020202020204"/>
            </a:endParaRP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3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1370013" y="763588"/>
            <a:ext cx="5030787" cy="3771900"/>
          </a:xfrm>
          <a:prstGeom prst="rect">
            <a:avLst/>
          </a:prstGeom>
          <a:ln w="0">
            <a:noFill/>
          </a:ln>
        </p:spPr>
      </p:sp>
      <p:sp>
        <p:nvSpPr>
          <p:cNvPr id="634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7560" cy="4525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5900" indent="0">
              <a:buNone/>
            </a:pPr>
            <a:r>
              <a:rPr lang="en-US" sz="2000" b="0" strike="noStrike" spc="-1">
                <a:latin typeface="Arial" panose="020B0604020202020204"/>
              </a:rPr>
              <a:t>10:35</a:t>
            </a:r>
            <a:endParaRPr lang="en-US" sz="2000" b="0" strike="noStrike" spc="-1">
              <a:latin typeface="Arial" panose="020B0604020202020204"/>
            </a:endParaRP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5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1370013" y="763588"/>
            <a:ext cx="5030787" cy="3771900"/>
          </a:xfrm>
          <a:prstGeom prst="rect">
            <a:avLst/>
          </a:prstGeom>
          <a:ln w="0">
            <a:noFill/>
          </a:ln>
        </p:spPr>
      </p:sp>
      <p:sp>
        <p:nvSpPr>
          <p:cNvPr id="636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7560" cy="4525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5900" indent="0">
              <a:buNone/>
            </a:pPr>
            <a:r>
              <a:rPr lang="en-US" sz="2000" b="0" strike="noStrike" spc="-1">
                <a:latin typeface="Arial" panose="020B0604020202020204"/>
              </a:rPr>
              <a:t>10:35</a:t>
            </a:r>
            <a:endParaRPr lang="en-US" sz="2000" b="0" strike="noStrike" spc="-1">
              <a:latin typeface="Arial" panose="020B0604020202020204"/>
            </a:endParaRP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992188" y="768350"/>
            <a:ext cx="5116512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83" name="Google Shape;83;p2:notes"/>
          <p:cNvSpPr txBox="1">
            <a:spLocks noGrp="1"/>
          </p:cNvSpPr>
          <p:nvPr>
            <p:ph type="body" idx="1"/>
          </p:nvPr>
        </p:nvSpPr>
        <p:spPr>
          <a:xfrm>
            <a:off x="709932" y="4861443"/>
            <a:ext cx="5679439" cy="46055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4725" tIns="94725" rIns="94725" bIns="94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100" b="0" i="0" u="none" strike="noStrike" cap="none" dirty="0">
              <a:solidFill>
                <a:schemeClr val="dk1"/>
              </a:solidFill>
              <a:latin typeface="Blackadder ITC" panose="04020505050007020D02" pitchFamily="82" charset="0"/>
              <a:sym typeface="Arial" panose="020B0604020202020204"/>
            </a:endParaRPr>
          </a:p>
        </p:txBody>
      </p:sp>
      <p:sp>
        <p:nvSpPr>
          <p:cNvPr id="84" name="Google Shape;84;p2:notes"/>
          <p:cNvSpPr txBox="1">
            <a:spLocks noGrp="1"/>
          </p:cNvSpPr>
          <p:nvPr>
            <p:ph type="sldNum" idx="12"/>
          </p:nvPr>
        </p:nvSpPr>
        <p:spPr>
          <a:xfrm>
            <a:off x="4021294" y="9721106"/>
            <a:ext cx="3076363" cy="5117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25" tIns="49500" rIns="99025" bIns="495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/>
            </a:pPr>
            <a:fld id="{00000000-1234-1234-1234-123412341234}" type="slidenum">
              <a:rPr kumimoji="0" lang="de-DE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Blackadder ITC" panose="04020505050007020D02" pitchFamily="82" charset="0"/>
                <a:cs typeface="Arial" panose="020B0604020202020204"/>
                <a:sym typeface="Arial" panose="020B0604020202020204"/>
              </a:rPr>
            </a:fld>
            <a:endParaRPr kumimoji="0" sz="1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Blackadder ITC" panose="04020505050007020D02" pitchFamily="82" charset="0"/>
              <a:cs typeface="Arial" panose="020B0604020202020204"/>
              <a:sym typeface="Arial" panose="020B0604020202020204"/>
            </a:endParaRP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7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1370013" y="763588"/>
            <a:ext cx="5030787" cy="3771900"/>
          </a:xfrm>
          <a:prstGeom prst="rect">
            <a:avLst/>
          </a:prstGeom>
          <a:ln w="0">
            <a:noFill/>
          </a:ln>
        </p:spPr>
      </p:sp>
      <p:sp>
        <p:nvSpPr>
          <p:cNvPr id="608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7560" cy="4525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05130" lvl="1" indent="-404495">
              <a:lnSpc>
                <a:spcPct val="100000"/>
              </a:lnSpc>
              <a:spcBef>
                <a:spcPts val="1135"/>
              </a:spcBef>
              <a:buClr>
                <a:srgbClr val="0F0F0F"/>
              </a:buClr>
              <a:buFont typeface="Wingdings" panose="05000000000000000000" pitchFamily="2" charset="2"/>
              <a:buChar char=""/>
            </a:pPr>
            <a:r>
              <a:rPr lang="de-AT" sz="1400" b="0" strike="noStrike" spc="-1">
                <a:solidFill>
                  <a:srgbClr val="0F0F0F"/>
                </a:solidFill>
                <a:latin typeface="Arial" panose="020B0604020202020204"/>
                <a:ea typeface="Droid Sans Fallback"/>
              </a:rPr>
              <a:t>Generelle Data Science Pipeline</a:t>
            </a:r>
            <a:endParaRPr lang="en-US" sz="1400" b="0" strike="noStrike" spc="-1">
              <a:latin typeface="Arial" panose="020B0604020202020204"/>
            </a:endParaRPr>
          </a:p>
          <a:p>
            <a:pPr marL="1296035" lvl="2" indent="-28829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panose="05000000000000000000" pitchFamily="2" charset="2"/>
              <a:buChar char=""/>
            </a:pPr>
            <a:r>
              <a:rPr lang="de-AT" sz="1400" b="0" strike="noStrike" spc="-1">
                <a:solidFill>
                  <a:srgbClr val="0F0F0F"/>
                </a:solidFill>
                <a:latin typeface="Arial" panose="020B0604020202020204"/>
                <a:ea typeface="Droid Sans Fallback"/>
              </a:rPr>
              <a:t>Daten anlegen/laden ➡ Preprocessing ➡ Daten explorieren ➡ Daten verarbeiten ➡ Ergebnisse ausgeben</a:t>
            </a:r>
            <a:endParaRPr lang="en-US" sz="1400" b="0" strike="noStrike" spc="-1">
              <a:latin typeface="Arial" panose="020B0604020202020204"/>
            </a:endParaRPr>
          </a:p>
          <a:p>
            <a:pPr marL="1296035" lvl="2" indent="0">
              <a:lnSpc>
                <a:spcPct val="100000"/>
              </a:lnSpc>
              <a:spcBef>
                <a:spcPts val="850"/>
              </a:spcBef>
              <a:buNone/>
            </a:pPr>
            <a:r>
              <a:rPr lang="de-AT" sz="1400" b="0" strike="noStrike" spc="-1">
                <a:solidFill>
                  <a:srgbClr val="0F0F0F"/>
                </a:solidFill>
                <a:latin typeface="Arial" panose="020B0604020202020204"/>
                <a:ea typeface="Droid Sans Fallback"/>
              </a:rPr>
              <a:t>-----</a:t>
            </a:r>
            <a:endParaRPr lang="en-US" sz="1400" b="0" strike="noStrike" spc="-1">
              <a:latin typeface="Arial" panose="020B0604020202020204"/>
            </a:endParaRPr>
          </a:p>
          <a:p>
            <a:pPr marL="1296035" lvl="2" indent="-28829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panose="05000000000000000000" pitchFamily="2" charset="2"/>
              <a:buChar char=""/>
            </a:pPr>
            <a:r>
              <a:rPr lang="de-AT" sz="1400" b="0" strike="noStrike" spc="-1">
                <a:solidFill>
                  <a:srgbClr val="0F0F0F"/>
                </a:solidFill>
                <a:latin typeface="Arial" panose="020B0604020202020204"/>
                <a:ea typeface="Droid Sans Fallback"/>
              </a:rPr>
              <a:t>Python macht man das ganz oft mit pandas</a:t>
            </a:r>
            <a:endParaRPr lang="en-US" sz="1400" b="0" strike="noStrike" spc="-1">
              <a:latin typeface="Arial" panose="020B0604020202020204"/>
            </a:endParaRPr>
          </a:p>
          <a:p>
            <a:pPr marL="1296035" lvl="2" indent="-28829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panose="05000000000000000000" pitchFamily="2" charset="2"/>
              <a:buChar char=""/>
            </a:pPr>
            <a:r>
              <a:rPr lang="de-AT" sz="1400" b="0" strike="noStrike" spc="-1">
                <a:solidFill>
                  <a:srgbClr val="0F0F0F"/>
                </a:solidFill>
                <a:latin typeface="Arial" panose="020B0604020202020204"/>
                <a:ea typeface="Droid Sans Fallback"/>
              </a:rPr>
              <a:t>----</a:t>
            </a:r>
            <a:endParaRPr lang="en-US" sz="1400" b="0" strike="noStrike" spc="-1">
              <a:latin typeface="Arial" panose="020B0604020202020204"/>
            </a:endParaRPr>
          </a:p>
          <a:p>
            <a:pPr marL="1296035" lvl="2" indent="-28829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panose="05000000000000000000" pitchFamily="2" charset="2"/>
              <a:buChar char=""/>
            </a:pPr>
            <a:r>
              <a:rPr lang="de-AT" sz="1400" b="0" strike="noStrike" spc="-1">
                <a:solidFill>
                  <a:srgbClr val="0F0F0F"/>
                </a:solidFill>
                <a:latin typeface="Arial" panose="020B0604020202020204"/>
                <a:ea typeface="Droid Sans Fallback"/>
              </a:rPr>
              <a:t>der name pandas kommt (angeblich) von einer abkürzung für “Panel Data”, und das beschreibt oft “tabulare Daten” .Was versteht man unter tabularen Daten? (Tabellendateien)</a:t>
            </a:r>
            <a:endParaRPr lang="en-US" sz="1400" b="0" strike="noStrike" spc="-1">
              <a:latin typeface="Arial" panose="020B0604020202020204"/>
            </a:endParaRPr>
          </a:p>
          <a:p>
            <a:pPr marL="1296035" lvl="2" indent="0">
              <a:lnSpc>
                <a:spcPct val="100000"/>
              </a:lnSpc>
              <a:spcBef>
                <a:spcPts val="850"/>
              </a:spcBef>
              <a:buNone/>
            </a:pPr>
            <a:r>
              <a:rPr lang="de-AT" sz="1400" b="0" strike="noStrike" spc="-1">
                <a:solidFill>
                  <a:srgbClr val="0F0F0F"/>
                </a:solidFill>
                <a:latin typeface="Arial" panose="020B0604020202020204"/>
                <a:ea typeface="Droid Sans Fallback"/>
              </a:rPr>
              <a:t> </a:t>
            </a:r>
            <a:endParaRPr lang="en-US" sz="1400" b="0" strike="noStrike" spc="-1">
              <a:latin typeface="Arial" panose="020B0604020202020204"/>
            </a:endParaRPr>
          </a:p>
          <a:p>
            <a:pPr marL="405130" lvl="1" indent="-404495">
              <a:lnSpc>
                <a:spcPct val="100000"/>
              </a:lnSpc>
              <a:buClr>
                <a:srgbClr val="0F0F0F"/>
              </a:buClr>
              <a:buFont typeface="Wingdings" panose="05000000000000000000" pitchFamily="2" charset="2"/>
              <a:buChar char=""/>
            </a:pPr>
            <a:r>
              <a:rPr lang="de-AT" sz="1400" b="0" strike="noStrike" spc="-1">
                <a:solidFill>
                  <a:srgbClr val="0F0F0F"/>
                </a:solidFill>
                <a:latin typeface="Arial" panose="020B0604020202020204"/>
                <a:ea typeface="Droid Sans Fallback"/>
              </a:rPr>
              <a:t>pandas (Panel data), numpy (=Numeric Python)</a:t>
            </a:r>
            <a:endParaRPr lang="en-US" sz="1400" b="0" strike="noStrike" spc="-1">
              <a:latin typeface="Arial" panose="020B0604020202020204"/>
            </a:endParaRPr>
          </a:p>
          <a:p>
            <a:pPr marL="1296035" lvl="2" indent="-288290">
              <a:lnSpc>
                <a:spcPct val="100000"/>
              </a:lnSpc>
              <a:buClr>
                <a:srgbClr val="000000"/>
              </a:buClr>
              <a:buSzPct val="45000"/>
              <a:buFont typeface="Wingdings" panose="05000000000000000000" pitchFamily="2" charset="2"/>
              <a:buChar char=""/>
            </a:pPr>
            <a:r>
              <a:rPr lang="de-AT" sz="1400" b="0" strike="noStrike" spc="-1">
                <a:solidFill>
                  <a:srgbClr val="0F0F0F"/>
                </a:solidFill>
                <a:latin typeface="Arial" panose="020B0604020202020204"/>
                <a:ea typeface="Droid Sans Fallback"/>
              </a:rPr>
              <a:t>Man stelle sich eine CSV oder excel Datei vor, dann lad ma die Daten einfach </a:t>
            </a:r>
            <a:endParaRPr lang="en-US" sz="1400" b="0" strike="noStrike" spc="-1">
              <a:latin typeface="Arial" panose="020B0604020202020204"/>
            </a:endParaRPr>
          </a:p>
          <a:p>
            <a:pPr marL="1296035" lvl="2" indent="-288290">
              <a:lnSpc>
                <a:spcPct val="100000"/>
              </a:lnSpc>
              <a:buClr>
                <a:srgbClr val="000000"/>
              </a:buClr>
              <a:buSzPct val="45000"/>
              <a:buFont typeface="Wingdings" panose="05000000000000000000" pitchFamily="2" charset="2"/>
              <a:buChar char=""/>
            </a:pPr>
            <a:r>
              <a:rPr lang="de-AT" sz="1400" b="0" strike="noStrike" spc="-1">
                <a:solidFill>
                  <a:srgbClr val="0F0F0F"/>
                </a:solidFill>
                <a:latin typeface="Arial" panose="020B0604020202020204"/>
                <a:ea typeface="Droid Sans Fallback"/>
              </a:rPr>
              <a:t>Zeilen anzeigen</a:t>
            </a:r>
            <a:endParaRPr lang="en-US" sz="1400" b="0" strike="noStrike" spc="-1">
              <a:latin typeface="Arial" panose="020B0604020202020204"/>
            </a:endParaRPr>
          </a:p>
          <a:p>
            <a:pPr marL="1727835" lvl="3" indent="-215900">
              <a:lnSpc>
                <a:spcPct val="100000"/>
              </a:lnSpc>
              <a:spcBef>
                <a:spcPts val="565"/>
              </a:spcBef>
              <a:buClr>
                <a:srgbClr val="000000"/>
              </a:buClr>
              <a:buSzPct val="75000"/>
              <a:buFont typeface="Symbol" panose="05050102010706020507" charset="2"/>
              <a:buChar char=""/>
            </a:pPr>
            <a:r>
              <a:rPr lang="de-AT" sz="1400" b="0" strike="noStrike" spc="-1">
                <a:solidFill>
                  <a:srgbClr val="0F0F0F"/>
                </a:solidFill>
                <a:latin typeface="Arial" panose="020B0604020202020204"/>
                <a:ea typeface="Droid Sans Fallback"/>
              </a:rPr>
              <a:t>Man kann sich das als spezialisiertes Dictionary vorstellen</a:t>
            </a:r>
            <a:endParaRPr lang="en-US" sz="1400" b="0" strike="noStrike" spc="-1">
              <a:latin typeface="Arial" panose="020B0604020202020204"/>
            </a:endParaRPr>
          </a:p>
          <a:p>
            <a:pPr marL="1296035" lvl="2" indent="-28829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panose="05000000000000000000" pitchFamily="2" charset="2"/>
              <a:buChar char=""/>
            </a:pPr>
            <a:r>
              <a:rPr lang="de-AT" sz="1400" b="0" strike="noStrike" spc="-1">
                <a:solidFill>
                  <a:srgbClr val="0F0F0F"/>
                </a:solidFill>
                <a:latin typeface="Arial" panose="020B0604020202020204"/>
                <a:ea typeface="Droid Sans Fallback"/>
              </a:rPr>
              <a:t>Die einzelnen spalten: Series, im hintergrund numpy array (ist jetzt für uns nicht wichtig)</a:t>
            </a:r>
            <a:endParaRPr lang="en-US" sz="1400" b="0" strike="noStrike" spc="-1">
              <a:latin typeface="Arial" panose="020B0604020202020204"/>
            </a:endParaRP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9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1370013" y="763588"/>
            <a:ext cx="5030787" cy="3771900"/>
          </a:xfrm>
          <a:prstGeom prst="rect">
            <a:avLst/>
          </a:prstGeom>
          <a:ln w="0">
            <a:noFill/>
          </a:ln>
        </p:spPr>
      </p:sp>
      <p:sp>
        <p:nvSpPr>
          <p:cNvPr id="610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7560" cy="4525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05130" lvl="1" indent="0">
              <a:lnSpc>
                <a:spcPct val="100000"/>
              </a:lnSpc>
              <a:spcBef>
                <a:spcPts val="1135"/>
              </a:spcBef>
              <a:buNone/>
            </a:pPr>
            <a:r>
              <a:rPr lang="de-AT" sz="1400" b="0" strike="noStrike" spc="-1">
                <a:solidFill>
                  <a:srgbClr val="0F0F0F"/>
                </a:solidFill>
                <a:latin typeface="Arial" panose="020B0604020202020204"/>
                <a:ea typeface="Droid Sans Fallback"/>
              </a:rPr>
              <a:t> </a:t>
            </a:r>
            <a:endParaRPr lang="en-US" sz="1400" b="0" strike="noStrike" spc="-1">
              <a:latin typeface="Arial" panose="020B0604020202020204"/>
            </a:endParaRPr>
          </a:p>
          <a:p>
            <a:pPr marL="405130" lvl="1" indent="-404495">
              <a:lnSpc>
                <a:spcPct val="100000"/>
              </a:lnSpc>
              <a:spcBef>
                <a:spcPts val="1135"/>
              </a:spcBef>
              <a:buClr>
                <a:srgbClr val="0F0F0F"/>
              </a:buClr>
              <a:buFont typeface="Wingdings" panose="05000000000000000000" pitchFamily="2" charset="2"/>
              <a:buChar char=""/>
            </a:pPr>
            <a:r>
              <a:rPr lang="de-AT" sz="1400" b="0" strike="noStrike" spc="-1">
                <a:solidFill>
                  <a:srgbClr val="0F0F0F"/>
                </a:solidFill>
                <a:latin typeface="Arial" panose="020B0604020202020204"/>
                <a:ea typeface="Droid Sans Fallback"/>
              </a:rPr>
              <a:t>pandas-Funktionalität in dieser Vorlesung: </a:t>
            </a:r>
            <a:endParaRPr lang="en-US" sz="1400" b="0" strike="noStrike" spc="-1">
              <a:latin typeface="Arial" panose="020B0604020202020204"/>
            </a:endParaRPr>
          </a:p>
          <a:p>
            <a:pPr marL="1296035" lvl="2" indent="-28829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panose="05000000000000000000" pitchFamily="2" charset="2"/>
              <a:buChar char=""/>
            </a:pPr>
            <a:r>
              <a:rPr lang="de-AT" sz="1400" b="0" strike="noStrike" spc="-1">
                <a:solidFill>
                  <a:srgbClr val="0F0F0F"/>
                </a:solidFill>
                <a:latin typeface="Arial" panose="020B0604020202020204"/>
                <a:ea typeface="Droid Sans Fallback"/>
              </a:rPr>
              <a:t>Daten laden/anlegen ➡ Daten abrufen und filtern ➡ Spalten neu anlegen ➡ Fehlende Daten ausfüllen  ➡ Daten verarbeiten und Ergebnisse berechnen ➡ Neu berechnete Daten speichern</a:t>
            </a:r>
            <a:endParaRPr lang="en-US" sz="1400" b="0" strike="noStrike" spc="-1">
              <a:latin typeface="Arial" panose="020B0604020202020204"/>
            </a:endParaRPr>
          </a:p>
          <a:p>
            <a:pPr marL="1296035" lvl="2" indent="-28829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panose="05000000000000000000" pitchFamily="2" charset="2"/>
              <a:buChar char=""/>
            </a:pPr>
            <a:r>
              <a:rPr lang="de-AT" sz="1400" b="0" strike="noStrike" spc="-1">
                <a:solidFill>
                  <a:srgbClr val="0F0F0F"/>
                </a:solidFill>
                <a:latin typeface="Arial" panose="020B0604020202020204"/>
                <a:ea typeface="Droid Sans Fallback"/>
              </a:rPr>
              <a:t>-------</a:t>
            </a:r>
            <a:endParaRPr lang="en-US" sz="1400" b="0" strike="noStrike" spc="-1">
              <a:latin typeface="Arial" panose="020B0604020202020204"/>
            </a:endParaRP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1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1370013" y="763588"/>
            <a:ext cx="5030787" cy="3771900"/>
          </a:xfrm>
          <a:prstGeom prst="rect">
            <a:avLst/>
          </a:prstGeom>
          <a:ln w="0">
            <a:noFill/>
          </a:ln>
        </p:spPr>
      </p:sp>
      <p:sp>
        <p:nvSpPr>
          <p:cNvPr id="612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7560" cy="4525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5900" indent="0">
              <a:buNone/>
            </a:pPr>
            <a:r>
              <a:rPr lang="en-US" sz="2000" b="0" strike="noStrike" spc="-1" dirty="0">
                <a:latin typeface="Arial" panose="020B0604020202020204"/>
              </a:rPr>
              <a:t>Ganz oft </a:t>
            </a:r>
            <a:r>
              <a:rPr lang="en-US" sz="2000" b="0" strike="noStrike" spc="-1" dirty="0" err="1">
                <a:latin typeface="Arial" panose="020B0604020202020204"/>
              </a:rPr>
              <a:t>kürzt</a:t>
            </a:r>
            <a:r>
              <a:rPr lang="en-US" sz="2000" b="0" strike="noStrike" spc="-1" dirty="0">
                <a:latin typeface="Arial" panose="020B0604020202020204"/>
              </a:rPr>
              <a:t> man das </a:t>
            </a:r>
            <a:r>
              <a:rPr lang="en-US" sz="2000" b="0" strike="noStrike" spc="-1" dirty="0" err="1">
                <a:latin typeface="Arial" panose="020B0604020202020204"/>
              </a:rPr>
              <a:t>eben</a:t>
            </a:r>
            <a:r>
              <a:rPr lang="en-US" sz="2000" b="0" strike="noStrike" spc="-1" dirty="0">
                <a:latin typeface="Arial" panose="020B0604020202020204"/>
              </a:rPr>
              <a:t> </a:t>
            </a:r>
            <a:r>
              <a:rPr lang="en-US" sz="2000" b="0" strike="noStrike" spc="-1" dirty="0" err="1">
                <a:latin typeface="Arial" panose="020B0604020202020204"/>
              </a:rPr>
              <a:t>einfach</a:t>
            </a:r>
            <a:r>
              <a:rPr lang="en-US" sz="2000" b="0" strike="noStrike" spc="-1" dirty="0">
                <a:latin typeface="Arial" panose="020B0604020202020204"/>
              </a:rPr>
              <a:t> </a:t>
            </a:r>
            <a:r>
              <a:rPr lang="en-US" sz="2000" b="0" strike="noStrike" spc="-1" dirty="0" err="1">
                <a:latin typeface="Arial" panose="020B0604020202020204"/>
              </a:rPr>
              <a:t>mit</a:t>
            </a:r>
            <a:r>
              <a:rPr lang="en-US" sz="2000" b="0" strike="noStrike" spc="-1" dirty="0">
                <a:latin typeface="Arial" panose="020B0604020202020204"/>
              </a:rPr>
              <a:t> </a:t>
            </a:r>
            <a:r>
              <a:rPr lang="en-US" sz="2000" b="0" strike="noStrike" spc="-1" dirty="0" err="1">
                <a:latin typeface="Arial" panose="020B0604020202020204"/>
              </a:rPr>
              <a:t>df</a:t>
            </a:r>
            <a:r>
              <a:rPr lang="en-US" sz="2000" b="0" strike="noStrike" spc="-1" dirty="0">
                <a:latin typeface="Arial" panose="020B0604020202020204"/>
              </a:rPr>
              <a:t> (</a:t>
            </a:r>
            <a:r>
              <a:rPr lang="en-US" sz="2000" b="0" strike="noStrike" spc="-1" dirty="0" err="1">
                <a:latin typeface="Arial" panose="020B0604020202020204"/>
              </a:rPr>
              <a:t>kurz</a:t>
            </a:r>
            <a:r>
              <a:rPr lang="en-US" sz="2000" b="0" strike="noStrike" spc="-1" dirty="0">
                <a:latin typeface="Arial" panose="020B0604020202020204"/>
              </a:rPr>
              <a:t> für </a:t>
            </a:r>
            <a:r>
              <a:rPr lang="en-US" sz="2000" b="0" strike="noStrike" spc="-1" dirty="0" err="1">
                <a:latin typeface="Arial" panose="020B0604020202020204"/>
              </a:rPr>
              <a:t>DataFrame</a:t>
            </a:r>
            <a:r>
              <a:rPr lang="en-US" sz="2000" b="0" strike="noStrike" spc="-1" dirty="0">
                <a:latin typeface="Arial" panose="020B0604020202020204"/>
              </a:rPr>
              <a:t> ab), und </a:t>
            </a:r>
            <a:r>
              <a:rPr lang="en-US" sz="2000" b="0" strike="noStrike" spc="-1" dirty="0" err="1">
                <a:latin typeface="Arial" panose="020B0604020202020204"/>
              </a:rPr>
              <a:t>obwohl</a:t>
            </a:r>
            <a:r>
              <a:rPr lang="en-US" sz="2000" b="0" strike="noStrike" spc="-1" dirty="0">
                <a:latin typeface="Arial" panose="020B0604020202020204"/>
              </a:rPr>
              <a:t> das </a:t>
            </a:r>
            <a:r>
              <a:rPr lang="en-US" sz="2000" b="0" strike="noStrike" spc="-1" dirty="0" err="1">
                <a:latin typeface="Arial" panose="020B0604020202020204"/>
              </a:rPr>
              <a:t>jetzt</a:t>
            </a:r>
            <a:r>
              <a:rPr lang="en-US" sz="2000" b="0" strike="noStrike" spc="-1" dirty="0">
                <a:latin typeface="Arial" panose="020B0604020202020204"/>
              </a:rPr>
              <a:t> </a:t>
            </a:r>
            <a:r>
              <a:rPr lang="en-US" sz="2000" b="0" strike="noStrike" spc="-1" dirty="0" err="1">
                <a:latin typeface="Arial" panose="020B0604020202020204"/>
              </a:rPr>
              <a:t>vielleicht</a:t>
            </a:r>
            <a:r>
              <a:rPr lang="en-US" sz="2000" b="0" strike="noStrike" spc="-1" dirty="0">
                <a:latin typeface="Arial" panose="020B0604020202020204"/>
              </a:rPr>
              <a:t> nicht </a:t>
            </a:r>
            <a:r>
              <a:rPr lang="en-US" sz="2000" b="0" strike="noStrike" spc="-1" dirty="0" err="1">
                <a:latin typeface="Arial" panose="020B0604020202020204"/>
              </a:rPr>
              <a:t>unbedingt</a:t>
            </a:r>
            <a:r>
              <a:rPr lang="en-US" sz="2000" b="0" strike="noStrike" spc="-1" dirty="0">
                <a:latin typeface="Arial" panose="020B0604020202020204"/>
              </a:rPr>
              <a:t> </a:t>
            </a:r>
            <a:r>
              <a:rPr lang="en-US" sz="2000" b="0" strike="noStrike" spc="-1" dirty="0" err="1">
                <a:latin typeface="Arial" panose="020B0604020202020204"/>
              </a:rPr>
              <a:t>unserem</a:t>
            </a:r>
            <a:r>
              <a:rPr lang="en-US" sz="2000" b="0" strike="noStrike" spc="-1" dirty="0">
                <a:latin typeface="Arial" panose="020B0604020202020204"/>
              </a:rPr>
              <a:t> </a:t>
            </a:r>
            <a:r>
              <a:rPr lang="en-US" sz="2000" b="0" strike="noStrike" spc="-1" dirty="0" err="1">
                <a:latin typeface="Arial" panose="020B0604020202020204"/>
              </a:rPr>
              <a:t>CodingStyle</a:t>
            </a:r>
            <a:r>
              <a:rPr lang="en-US" sz="2000" b="0" strike="noStrike" spc="-1" dirty="0">
                <a:latin typeface="Arial" panose="020B0604020202020204"/>
              </a:rPr>
              <a:t> </a:t>
            </a:r>
            <a:r>
              <a:rPr lang="en-US" sz="2000" b="0" strike="noStrike" spc="-1" dirty="0" err="1">
                <a:latin typeface="Arial" panose="020B0604020202020204"/>
              </a:rPr>
              <a:t>entspricht</a:t>
            </a:r>
            <a:r>
              <a:rPr lang="en-US" sz="2000" b="0" strike="noStrike" spc="-1" dirty="0">
                <a:latin typeface="Arial" panose="020B0604020202020204"/>
              </a:rPr>
              <a:t>, </a:t>
            </a:r>
            <a:r>
              <a:rPr lang="en-US" sz="2000" b="0" strike="noStrike" spc="-1" dirty="0" err="1">
                <a:latin typeface="Arial" panose="020B0604020202020204"/>
              </a:rPr>
              <a:t>kann</a:t>
            </a:r>
            <a:r>
              <a:rPr lang="en-US" sz="2000" b="0" strike="noStrike" spc="-1" dirty="0">
                <a:latin typeface="Arial" panose="020B0604020202020204"/>
              </a:rPr>
              <a:t> man das </a:t>
            </a:r>
            <a:r>
              <a:rPr lang="en-US" sz="2000" b="0" strike="noStrike" spc="-1" dirty="0" err="1">
                <a:latin typeface="Arial" panose="020B0604020202020204"/>
              </a:rPr>
              <a:t>hier</a:t>
            </a:r>
            <a:r>
              <a:rPr lang="en-US" sz="2000" b="0" strike="noStrike" spc="-1" dirty="0">
                <a:latin typeface="Arial" panose="020B0604020202020204"/>
              </a:rPr>
              <a:t> </a:t>
            </a:r>
            <a:r>
              <a:rPr lang="en-US" sz="2000" b="0" strike="noStrike" spc="-1" dirty="0" err="1">
                <a:latin typeface="Arial" panose="020B0604020202020204"/>
              </a:rPr>
              <a:t>scho</a:t>
            </a:r>
            <a:r>
              <a:rPr lang="en-US" sz="2000" b="0" strike="noStrike" spc="-1" dirty="0">
                <a:latin typeface="Arial" panose="020B0604020202020204"/>
              </a:rPr>
              <a:t> so </a:t>
            </a:r>
            <a:r>
              <a:rPr lang="en-US" sz="2000" b="0" strike="noStrike" spc="-1" dirty="0" err="1">
                <a:latin typeface="Arial" panose="020B0604020202020204"/>
              </a:rPr>
              <a:t>machen</a:t>
            </a:r>
            <a:r>
              <a:rPr lang="en-US" sz="2000" b="0" strike="noStrike" spc="-1" dirty="0">
                <a:latin typeface="Arial" panose="020B0604020202020204"/>
              </a:rPr>
              <a:t> </a:t>
            </a:r>
            <a:r>
              <a:rPr lang="en-US" sz="2000" b="0" strike="noStrike" spc="-1" dirty="0" err="1">
                <a:latin typeface="Arial" panose="020B0604020202020204"/>
              </a:rPr>
              <a:t>weil</a:t>
            </a:r>
            <a:r>
              <a:rPr lang="en-US" sz="2000" b="0" strike="noStrike" spc="-1" dirty="0">
                <a:latin typeface="Arial" panose="020B0604020202020204"/>
              </a:rPr>
              <a:t> das </a:t>
            </a:r>
            <a:r>
              <a:rPr lang="en-US" sz="2000" b="0" strike="noStrike" spc="-1" dirty="0" err="1">
                <a:latin typeface="Arial" panose="020B0604020202020204"/>
              </a:rPr>
              <a:t>einfach</a:t>
            </a:r>
            <a:r>
              <a:rPr lang="en-US" sz="2000" b="0" strike="noStrike" spc="-1" dirty="0">
                <a:latin typeface="Arial" panose="020B0604020202020204"/>
              </a:rPr>
              <a:t> </a:t>
            </a:r>
            <a:r>
              <a:rPr lang="en-US" sz="2000" b="0" strike="noStrike" spc="-1" dirty="0" err="1">
                <a:latin typeface="Arial" panose="020B0604020202020204"/>
              </a:rPr>
              <a:t>ein</a:t>
            </a:r>
            <a:r>
              <a:rPr lang="en-US" sz="2000" b="0" strike="noStrike" spc="-1" dirty="0">
                <a:latin typeface="Arial" panose="020B0604020202020204"/>
              </a:rPr>
              <a:t> </a:t>
            </a:r>
            <a:r>
              <a:rPr lang="en-US" sz="2000" b="0" strike="noStrike" spc="-1" dirty="0" err="1">
                <a:latin typeface="Arial" panose="020B0604020202020204"/>
              </a:rPr>
              <a:t>namen</a:t>
            </a:r>
            <a:r>
              <a:rPr lang="en-US" sz="2000" b="0" strike="noStrike" spc="-1" dirty="0">
                <a:latin typeface="Arial" panose="020B0604020202020204"/>
              </a:rPr>
              <a:t> </a:t>
            </a:r>
            <a:r>
              <a:rPr lang="en-US" sz="2000" b="0" strike="noStrike" spc="-1" dirty="0" err="1">
                <a:latin typeface="Arial" panose="020B0604020202020204"/>
              </a:rPr>
              <a:t>ist</a:t>
            </a:r>
            <a:r>
              <a:rPr lang="en-US" sz="2000" b="0" strike="noStrike" spc="-1" dirty="0">
                <a:latin typeface="Arial" panose="020B0604020202020204"/>
              </a:rPr>
              <a:t> der </a:t>
            </a:r>
            <a:r>
              <a:rPr lang="en-US" sz="2000" b="0" strike="noStrike" spc="-1" dirty="0" err="1">
                <a:latin typeface="Arial" panose="020B0604020202020204"/>
              </a:rPr>
              <a:t>si</a:t>
            </a:r>
            <a:r>
              <a:rPr lang="en-US" sz="2000" b="0" strike="noStrike" spc="-1" dirty="0">
                <a:latin typeface="Arial" panose="020B0604020202020204"/>
              </a:rPr>
              <a:t> </a:t>
            </a:r>
            <a:r>
              <a:rPr lang="en-US" sz="2000" b="0" strike="noStrike" spc="-1" dirty="0" err="1">
                <a:latin typeface="Arial" panose="020B0604020202020204"/>
              </a:rPr>
              <a:t>eingebürgert</a:t>
            </a:r>
            <a:r>
              <a:rPr lang="en-US" sz="2000" b="0" strike="noStrike" spc="-1" dirty="0">
                <a:latin typeface="Arial" panose="020B0604020202020204"/>
              </a:rPr>
              <a:t> hat.</a:t>
            </a:r>
            <a:endParaRPr lang="en-US" sz="2000" b="0" strike="noStrike" spc="-1" dirty="0">
              <a:latin typeface="Arial" panose="020B0604020202020204"/>
            </a:endParaRP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3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1370013" y="763588"/>
            <a:ext cx="5030787" cy="3771900"/>
          </a:xfrm>
          <a:prstGeom prst="rect">
            <a:avLst/>
          </a:prstGeom>
          <a:ln w="0">
            <a:noFill/>
          </a:ln>
        </p:spPr>
      </p:sp>
      <p:sp>
        <p:nvSpPr>
          <p:cNvPr id="614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7560" cy="4525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5900" indent="0">
              <a:buNone/>
            </a:pPr>
            <a:r>
              <a:rPr lang="en-US" sz="2000" b="0" strike="noStrike" spc="-1">
                <a:latin typeface="Arial" panose="020B0604020202020204"/>
              </a:rPr>
              <a:t>10:35</a:t>
            </a:r>
            <a:endParaRPr lang="en-US" sz="2000" b="0" strike="noStrike" spc="-1">
              <a:latin typeface="Arial" panose="020B0604020202020204"/>
            </a:endParaRP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5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1370013" y="763588"/>
            <a:ext cx="5030787" cy="3771900"/>
          </a:xfrm>
          <a:prstGeom prst="rect">
            <a:avLst/>
          </a:prstGeom>
          <a:ln w="0">
            <a:noFill/>
          </a:ln>
        </p:spPr>
      </p:sp>
      <p:sp>
        <p:nvSpPr>
          <p:cNvPr id="616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7560" cy="4525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5900" indent="0">
              <a:buNone/>
            </a:pPr>
            <a:r>
              <a:rPr lang="en-US" sz="2000" b="0" strike="noStrike" spc="-1" dirty="0">
                <a:latin typeface="Arial" panose="020B0604020202020204"/>
              </a:rPr>
              <a:t>Loc: man </a:t>
            </a:r>
            <a:r>
              <a:rPr lang="en-US" sz="2000" b="0" strike="noStrike" spc="-1" dirty="0" err="1">
                <a:latin typeface="Arial" panose="020B0604020202020204"/>
              </a:rPr>
              <a:t>sieht</a:t>
            </a:r>
            <a:r>
              <a:rPr lang="en-US" sz="2000" b="0" strike="noStrike" spc="-1" dirty="0">
                <a:latin typeface="Arial" panose="020B0604020202020204"/>
              </a:rPr>
              <a:t> es </a:t>
            </a:r>
            <a:r>
              <a:rPr lang="en-US" sz="2000" b="0" strike="noStrike" spc="-1" dirty="0" err="1">
                <a:latin typeface="Arial" panose="020B0604020202020204"/>
              </a:rPr>
              <a:t>kann</a:t>
            </a:r>
            <a:r>
              <a:rPr lang="en-US" sz="2000" b="0" strike="noStrike" spc="-1" dirty="0">
                <a:latin typeface="Arial" panose="020B0604020202020204"/>
              </a:rPr>
              <a:t> </a:t>
            </a:r>
            <a:r>
              <a:rPr lang="en-US" sz="2000" b="0" strike="noStrike" spc="-1" dirty="0" err="1">
                <a:latin typeface="Arial" panose="020B0604020202020204"/>
              </a:rPr>
              <a:t>auch</a:t>
            </a:r>
            <a:r>
              <a:rPr lang="en-US" sz="2000" b="0" strike="noStrike" spc="-1" dirty="0">
                <a:latin typeface="Arial" panose="020B0604020202020204"/>
              </a:rPr>
              <a:t> </a:t>
            </a:r>
            <a:r>
              <a:rPr lang="en-US" sz="2000" b="0" strike="noStrike" spc="-1" dirty="0" err="1">
                <a:latin typeface="Arial" panose="020B0604020202020204"/>
              </a:rPr>
              <a:t>zwei</a:t>
            </a:r>
            <a:r>
              <a:rPr lang="en-US" sz="2000" b="0" strike="noStrike" spc="-1" dirty="0">
                <a:latin typeface="Arial" panose="020B0604020202020204"/>
              </a:rPr>
              <a:t> parameter </a:t>
            </a:r>
            <a:r>
              <a:rPr lang="en-US" sz="2000" b="0" strike="noStrike" spc="-1" dirty="0" err="1">
                <a:latin typeface="Arial" panose="020B0604020202020204"/>
              </a:rPr>
              <a:t>übernehmen</a:t>
            </a:r>
            <a:r>
              <a:rPr lang="en-US" sz="2000" b="0" strike="noStrike" spc="-1" dirty="0">
                <a:latin typeface="Arial" panose="020B0604020202020204"/>
              </a:rPr>
              <a:t>, </a:t>
            </a:r>
            <a:r>
              <a:rPr lang="en-US" sz="2000" b="0" strike="noStrike" spc="-1" dirty="0" err="1">
                <a:latin typeface="Arial" panose="020B0604020202020204"/>
              </a:rPr>
              <a:t>erstes</a:t>
            </a:r>
            <a:r>
              <a:rPr lang="en-US" sz="2000" b="0" strike="noStrike" spc="-1" dirty="0">
                <a:latin typeface="Arial" panose="020B0604020202020204"/>
              </a:rPr>
              <a:t> </a:t>
            </a:r>
            <a:r>
              <a:rPr lang="en-US" sz="2000" b="0" strike="noStrike" spc="-1" dirty="0" err="1">
                <a:latin typeface="Arial" panose="020B0604020202020204"/>
              </a:rPr>
              <a:t>ist</a:t>
            </a:r>
            <a:r>
              <a:rPr lang="en-US" sz="2000" b="0" strike="noStrike" spc="-1" dirty="0">
                <a:latin typeface="Arial" panose="020B0604020202020204"/>
              </a:rPr>
              <a:t> </a:t>
            </a:r>
            <a:r>
              <a:rPr lang="en-US" sz="2000" b="0" strike="noStrike" spc="-1" dirty="0" err="1">
                <a:latin typeface="Arial" panose="020B0604020202020204"/>
              </a:rPr>
              <a:t>immer</a:t>
            </a:r>
            <a:r>
              <a:rPr lang="en-US" sz="2000" b="0" strike="noStrike" spc="-1" dirty="0">
                <a:latin typeface="Arial" panose="020B0604020202020204"/>
              </a:rPr>
              <a:t> </a:t>
            </a:r>
            <a:r>
              <a:rPr lang="en-US" sz="2000" b="0" strike="noStrike" spc="-1" dirty="0" err="1">
                <a:latin typeface="Arial" panose="020B0604020202020204"/>
              </a:rPr>
              <a:t>welche</a:t>
            </a:r>
            <a:r>
              <a:rPr lang="en-US" sz="2000" b="0" strike="noStrike" spc="-1" dirty="0">
                <a:latin typeface="Arial" panose="020B0604020202020204"/>
              </a:rPr>
              <a:t> </a:t>
            </a:r>
            <a:r>
              <a:rPr lang="en-US" sz="2000" b="0" strike="noStrike" spc="-1" dirty="0" err="1">
                <a:latin typeface="Arial" panose="020B0604020202020204"/>
              </a:rPr>
              <a:t>Zeilen</a:t>
            </a:r>
            <a:r>
              <a:rPr lang="en-US" sz="2000" b="0" strike="noStrike" spc="-1" dirty="0">
                <a:latin typeface="Arial" panose="020B0604020202020204"/>
              </a:rPr>
              <a:t> man </a:t>
            </a:r>
            <a:r>
              <a:rPr lang="en-US" sz="2000" b="0" strike="noStrike" spc="-1" dirty="0" err="1">
                <a:latin typeface="Arial" panose="020B0604020202020204"/>
              </a:rPr>
              <a:t>nehmen</a:t>
            </a:r>
            <a:r>
              <a:rPr lang="en-US" sz="2000" b="0" strike="noStrike" spc="-1" dirty="0">
                <a:latin typeface="Arial" panose="020B0604020202020204"/>
              </a:rPr>
              <a:t> </a:t>
            </a:r>
            <a:r>
              <a:rPr lang="en-US" sz="2000" b="0" strike="noStrike" spc="-1" dirty="0" err="1">
                <a:latin typeface="Arial" panose="020B0604020202020204"/>
              </a:rPr>
              <a:t>soll</a:t>
            </a:r>
            <a:r>
              <a:rPr lang="en-US" sz="2000" b="0" strike="noStrike" spc="-1" dirty="0">
                <a:latin typeface="Arial" panose="020B0604020202020204"/>
              </a:rPr>
              <a:t>, </a:t>
            </a:r>
            <a:r>
              <a:rPr lang="en-US" sz="2000" b="0" strike="noStrike" spc="-1" dirty="0" err="1">
                <a:latin typeface="Arial" panose="020B0604020202020204"/>
              </a:rPr>
              <a:t>zweites</a:t>
            </a:r>
            <a:r>
              <a:rPr lang="en-US" sz="2000" b="0" strike="noStrike" spc="-1" dirty="0">
                <a:latin typeface="Arial" panose="020B0604020202020204"/>
              </a:rPr>
              <a:t> </a:t>
            </a:r>
            <a:r>
              <a:rPr lang="en-US" sz="2000" b="0" strike="noStrike" spc="-1" dirty="0" err="1">
                <a:latin typeface="Arial" panose="020B0604020202020204"/>
              </a:rPr>
              <a:t>ist</a:t>
            </a:r>
            <a:r>
              <a:rPr lang="en-US" sz="2000" b="0" strike="noStrike" spc="-1" dirty="0">
                <a:latin typeface="Arial" panose="020B0604020202020204"/>
              </a:rPr>
              <a:t> </a:t>
            </a:r>
            <a:r>
              <a:rPr lang="en-US" sz="2000" b="0" strike="noStrike" spc="-1" dirty="0" err="1">
                <a:latin typeface="Arial" panose="020B0604020202020204"/>
              </a:rPr>
              <a:t>dann</a:t>
            </a:r>
            <a:r>
              <a:rPr lang="en-US" sz="2000" b="0" strike="noStrike" spc="-1" dirty="0">
                <a:latin typeface="Arial" panose="020B0604020202020204"/>
              </a:rPr>
              <a:t> die </a:t>
            </a:r>
            <a:r>
              <a:rPr lang="en-US" sz="2000" b="0" strike="noStrike" spc="-1" dirty="0" err="1">
                <a:latin typeface="Arial" panose="020B0604020202020204"/>
              </a:rPr>
              <a:t>jeweilige</a:t>
            </a:r>
            <a:r>
              <a:rPr lang="en-US" sz="2000" b="0" strike="noStrike" spc="-1" dirty="0">
                <a:latin typeface="Arial" panose="020B0604020202020204"/>
              </a:rPr>
              <a:t> </a:t>
            </a:r>
            <a:r>
              <a:rPr lang="en-US" sz="2000" b="0" strike="noStrike" spc="-1" dirty="0" err="1">
                <a:latin typeface="Arial" panose="020B0604020202020204"/>
              </a:rPr>
              <a:t>Spalte</a:t>
            </a:r>
            <a:endParaRPr lang="en-US" sz="2000" b="0" strike="noStrike" spc="-1" dirty="0">
              <a:latin typeface="Arial" panose="020B0604020202020204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7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1370013" y="763588"/>
            <a:ext cx="5030787" cy="3771900"/>
          </a:xfrm>
          <a:prstGeom prst="rect">
            <a:avLst/>
          </a:prstGeom>
          <a:ln w="0">
            <a:noFill/>
          </a:ln>
        </p:spPr>
      </p:sp>
      <p:sp>
        <p:nvSpPr>
          <p:cNvPr id="618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7560" cy="4525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5900" indent="0">
              <a:buNone/>
            </a:pPr>
            <a:r>
              <a:rPr lang="en-US" sz="2000" b="0" strike="noStrike" spc="-1">
                <a:latin typeface="Arial" panose="020B0604020202020204"/>
              </a:rPr>
              <a:t>Welche logischen Operatoren haben wir in der ganz ersten lv gemacht?</a:t>
            </a:r>
            <a:endParaRPr lang="en-US" sz="2000" b="0" strike="noStrike" spc="-1">
              <a:latin typeface="Arial" panose="020B0604020202020204"/>
            </a:endParaRP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9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1370013" y="763588"/>
            <a:ext cx="5030787" cy="3771900"/>
          </a:xfrm>
          <a:prstGeom prst="rect">
            <a:avLst/>
          </a:prstGeom>
          <a:ln w="0">
            <a:noFill/>
          </a:ln>
        </p:spPr>
      </p:sp>
      <p:sp>
        <p:nvSpPr>
          <p:cNvPr id="620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7560" cy="4525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5900" indent="0">
              <a:buNone/>
            </a:pPr>
            <a:r>
              <a:rPr lang="en-US" sz="2000" b="0" strike="noStrike" spc="-1">
                <a:latin typeface="Arial" panose="020B0604020202020204"/>
              </a:rPr>
              <a:t>10:35</a:t>
            </a:r>
            <a:endParaRPr lang="en-US" sz="2000" b="0" strike="noStrike" spc="-1">
              <a:latin typeface="Arial" panose="020B0604020202020204"/>
            </a:endParaRPr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1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1370013" y="763588"/>
            <a:ext cx="5030787" cy="3771900"/>
          </a:xfrm>
          <a:prstGeom prst="rect">
            <a:avLst/>
          </a:prstGeom>
          <a:ln w="0">
            <a:noFill/>
          </a:ln>
        </p:spPr>
      </p:sp>
      <p:sp>
        <p:nvSpPr>
          <p:cNvPr id="622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7560" cy="4525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5900" indent="0">
              <a:buNone/>
            </a:pPr>
            <a:r>
              <a:rPr lang="en-US" sz="2000" b="0" strike="noStrike" spc="-1">
                <a:latin typeface="Arial" panose="020B0604020202020204"/>
              </a:rPr>
              <a:t>10:35</a:t>
            </a:r>
            <a:endParaRPr lang="en-US" sz="2000" b="0" strike="noStrike" spc="-1">
              <a:latin typeface="Arial" panose="020B0604020202020204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3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1370013" y="763588"/>
            <a:ext cx="5030787" cy="3771900"/>
          </a:xfrm>
          <a:prstGeom prst="rect">
            <a:avLst/>
          </a:prstGeom>
          <a:ln w="0">
            <a:noFill/>
          </a:ln>
        </p:spPr>
      </p:sp>
      <p:sp>
        <p:nvSpPr>
          <p:cNvPr id="624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7560" cy="4525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5900" indent="0">
              <a:buNone/>
            </a:pPr>
            <a:r>
              <a:rPr lang="en-US" sz="2000" b="0" strike="noStrike" spc="-1">
                <a:latin typeface="Arial" panose="020B0604020202020204"/>
              </a:rPr>
              <a:t>Tafel vielleicht</a:t>
            </a:r>
            <a:endParaRPr lang="en-US" sz="2000" b="0" strike="noStrike" spc="-1">
              <a:latin typeface="Arial" panose="020B0604020202020204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5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1370013" y="763588"/>
            <a:ext cx="5030787" cy="3771900"/>
          </a:xfrm>
          <a:prstGeom prst="rect">
            <a:avLst/>
          </a:prstGeom>
          <a:ln w="0">
            <a:noFill/>
          </a:ln>
        </p:spPr>
      </p:sp>
      <p:sp>
        <p:nvSpPr>
          <p:cNvPr id="626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7560" cy="4525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5900" indent="0">
              <a:buNone/>
            </a:pPr>
            <a:r>
              <a:rPr lang="en-US" sz="2000" b="0" strike="noStrike" spc="-1">
                <a:latin typeface="Arial" panose="020B0604020202020204"/>
              </a:rPr>
              <a:t>10:35</a:t>
            </a:r>
            <a:endParaRPr lang="en-US" sz="2000" b="0" strike="noStrike" spc="-1">
              <a:latin typeface="Arial" panose="020B0604020202020204"/>
            </a:endParaRPr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7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1370013" y="763588"/>
            <a:ext cx="5030787" cy="3771900"/>
          </a:xfrm>
          <a:prstGeom prst="rect">
            <a:avLst/>
          </a:prstGeom>
          <a:ln w="0">
            <a:noFill/>
          </a:ln>
        </p:spPr>
      </p:sp>
      <p:sp>
        <p:nvSpPr>
          <p:cNvPr id="628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7560" cy="4525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5900" indent="0">
              <a:buNone/>
            </a:pPr>
            <a:r>
              <a:rPr lang="en-US" sz="2000" b="0" strike="noStrike" spc="-1">
                <a:latin typeface="Arial" panose="020B0604020202020204"/>
              </a:rPr>
              <a:t>10:35</a:t>
            </a:r>
            <a:endParaRPr lang="en-US" sz="2000" b="0" strike="noStrike" spc="-1">
              <a:latin typeface="Arial" panose="020B0604020202020204"/>
            </a:endParaRPr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9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1370013" y="763588"/>
            <a:ext cx="5030787" cy="3771900"/>
          </a:xfrm>
          <a:prstGeom prst="rect">
            <a:avLst/>
          </a:prstGeom>
          <a:ln w="0">
            <a:noFill/>
          </a:ln>
        </p:spPr>
      </p:sp>
      <p:sp>
        <p:nvSpPr>
          <p:cNvPr id="630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7560" cy="4525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5900" indent="0">
              <a:buNone/>
            </a:pPr>
            <a:r>
              <a:rPr lang="en-US" sz="2000" b="0" strike="noStrike" spc="-1">
                <a:latin typeface="Arial" panose="020B0604020202020204"/>
              </a:rPr>
              <a:t>10:35</a:t>
            </a:r>
            <a:endParaRPr lang="en-US" sz="2000" b="0" strike="noStrike" spc="-1">
              <a:latin typeface="Arial" panose="020B0604020202020204"/>
            </a:endParaRPr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1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1370013" y="763588"/>
            <a:ext cx="5030787" cy="3771900"/>
          </a:xfrm>
          <a:prstGeom prst="rect">
            <a:avLst/>
          </a:prstGeom>
          <a:ln w="0">
            <a:noFill/>
          </a:ln>
        </p:spPr>
      </p:sp>
      <p:sp>
        <p:nvSpPr>
          <p:cNvPr id="632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7560" cy="4525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5900" indent="0">
              <a:buNone/>
            </a:pPr>
            <a:r>
              <a:rPr lang="en-US" sz="2000" b="0" strike="noStrike" spc="-1">
                <a:latin typeface="Arial" panose="020B0604020202020204"/>
              </a:rPr>
              <a:t>10:35</a:t>
            </a:r>
            <a:endParaRPr lang="en-US" sz="2000" b="0" strike="noStrike" spc="-1">
              <a:latin typeface="Arial" panose="020B0604020202020204"/>
            </a:endParaRPr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1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1370013" y="763588"/>
            <a:ext cx="5030787" cy="3771900"/>
          </a:xfrm>
          <a:prstGeom prst="rect">
            <a:avLst/>
          </a:prstGeom>
          <a:ln w="0">
            <a:noFill/>
          </a:ln>
        </p:spPr>
      </p:sp>
      <p:sp>
        <p:nvSpPr>
          <p:cNvPr id="632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7560" cy="4525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5900" indent="0">
              <a:buNone/>
            </a:pPr>
            <a:r>
              <a:rPr lang="en-US" sz="2000" b="0" strike="noStrike" spc="-1">
                <a:latin typeface="Arial" panose="020B0604020202020204"/>
              </a:rPr>
              <a:t>10:35</a:t>
            </a:r>
            <a:endParaRPr lang="en-US" sz="2000" b="0" strike="noStrike" spc="-1">
              <a:latin typeface="Arial" panose="020B0604020202020204"/>
            </a:endParaRPr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5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1370013" y="763588"/>
            <a:ext cx="5030787" cy="3771900"/>
          </a:xfrm>
          <a:prstGeom prst="rect">
            <a:avLst/>
          </a:prstGeom>
          <a:ln w="0">
            <a:noFill/>
          </a:ln>
        </p:spPr>
      </p:sp>
      <p:sp>
        <p:nvSpPr>
          <p:cNvPr id="636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7560" cy="4525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5900" indent="0">
              <a:buNone/>
            </a:pPr>
            <a:r>
              <a:rPr lang="en-US" sz="2000" b="0" strike="noStrike" spc="-1">
                <a:latin typeface="Arial" panose="020B0604020202020204"/>
              </a:rPr>
              <a:t>10:35</a:t>
            </a:r>
            <a:endParaRPr lang="en-US" sz="2000" b="0" strike="noStrike" spc="-1">
              <a:latin typeface="Arial" panose="020B0604020202020204"/>
            </a:endParaRPr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7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1370013" y="763588"/>
            <a:ext cx="5030787" cy="3771900"/>
          </a:xfrm>
          <a:prstGeom prst="rect">
            <a:avLst/>
          </a:prstGeom>
          <a:ln w="0">
            <a:noFill/>
          </a:ln>
        </p:spPr>
      </p:sp>
      <p:sp>
        <p:nvSpPr>
          <p:cNvPr id="638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7560" cy="4525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5900" indent="0">
              <a:buNone/>
            </a:pPr>
            <a:r>
              <a:rPr lang="en-US" sz="2000" b="0" strike="noStrike" spc="-1">
                <a:latin typeface="Arial" panose="020B0604020202020204"/>
              </a:rPr>
              <a:t>10:35</a:t>
            </a:r>
            <a:endParaRPr lang="en-US" sz="2000" b="0" strike="noStrike" spc="-1">
              <a:latin typeface="Arial" panose="020B0604020202020204"/>
            </a:endParaRPr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9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1370013" y="763588"/>
            <a:ext cx="5030787" cy="3771900"/>
          </a:xfrm>
          <a:prstGeom prst="rect">
            <a:avLst/>
          </a:prstGeom>
          <a:ln w="0">
            <a:noFill/>
          </a:ln>
        </p:spPr>
      </p:sp>
      <p:sp>
        <p:nvSpPr>
          <p:cNvPr id="640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7560" cy="4525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5900" indent="0">
              <a:buNone/>
            </a:pPr>
            <a:r>
              <a:rPr lang="en-US" sz="2000" b="0" strike="noStrike" spc="-1">
                <a:latin typeface="Arial" panose="020B0604020202020204"/>
              </a:rPr>
              <a:t>10:35</a:t>
            </a:r>
            <a:endParaRPr lang="en-US" sz="2000" b="0" strike="noStrike" spc="-1">
              <a:latin typeface="Arial" panose="020B0604020202020204"/>
            </a:endParaRPr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1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1370013" y="763588"/>
            <a:ext cx="5030787" cy="3771900"/>
          </a:xfrm>
          <a:prstGeom prst="rect">
            <a:avLst/>
          </a:prstGeom>
          <a:ln w="0">
            <a:noFill/>
          </a:ln>
        </p:spPr>
      </p:sp>
      <p:sp>
        <p:nvSpPr>
          <p:cNvPr id="642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7560" cy="4525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5900" indent="0">
              <a:buNone/>
            </a:pPr>
            <a:r>
              <a:rPr lang="en-US" sz="2000" b="0" strike="noStrike" spc="-1">
                <a:latin typeface="Arial" panose="020B0604020202020204"/>
              </a:rPr>
              <a:t>10:35</a:t>
            </a:r>
            <a:endParaRPr lang="en-US" sz="2000" b="0" strike="noStrike" spc="-1">
              <a:latin typeface="Arial" panose="020B0604020202020204"/>
            </a:endParaRPr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1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1370013" y="763588"/>
            <a:ext cx="5030787" cy="3771900"/>
          </a:xfrm>
          <a:prstGeom prst="rect">
            <a:avLst/>
          </a:prstGeom>
          <a:ln w="0">
            <a:noFill/>
          </a:ln>
        </p:spPr>
      </p:sp>
      <p:sp>
        <p:nvSpPr>
          <p:cNvPr id="642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7560" cy="4525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5900" indent="0">
              <a:buNone/>
            </a:pPr>
            <a:r>
              <a:rPr lang="en-US" sz="2000" b="0" strike="noStrike" spc="-1">
                <a:latin typeface="Arial" panose="020B0604020202020204"/>
              </a:rPr>
              <a:t>10:35</a:t>
            </a:r>
            <a:endParaRPr lang="en-US" sz="2000" b="0" strike="noStrike" spc="-1">
              <a:latin typeface="Arial" panose="020B0604020202020204"/>
            </a:endParaRPr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992188" y="768350"/>
            <a:ext cx="5116512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83" name="Google Shape;83;p2:notes"/>
          <p:cNvSpPr txBox="1">
            <a:spLocks noGrp="1"/>
          </p:cNvSpPr>
          <p:nvPr>
            <p:ph type="body" idx="1"/>
          </p:nvPr>
        </p:nvSpPr>
        <p:spPr>
          <a:xfrm>
            <a:off x="709932" y="4861443"/>
            <a:ext cx="5679439" cy="46055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4725" tIns="94725" rIns="94725" bIns="94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100" b="0" i="0" u="none" strike="noStrike" cap="none" dirty="0">
              <a:solidFill>
                <a:schemeClr val="dk1"/>
              </a:solidFill>
              <a:latin typeface="Blackadder ITC" panose="04020505050007020D02" pitchFamily="82" charset="0"/>
              <a:sym typeface="Arial" panose="020B0604020202020204"/>
            </a:endParaRPr>
          </a:p>
        </p:txBody>
      </p:sp>
      <p:sp>
        <p:nvSpPr>
          <p:cNvPr id="84" name="Google Shape;84;p2:notes"/>
          <p:cNvSpPr txBox="1">
            <a:spLocks noGrp="1"/>
          </p:cNvSpPr>
          <p:nvPr>
            <p:ph type="sldNum" idx="12"/>
          </p:nvPr>
        </p:nvSpPr>
        <p:spPr>
          <a:xfrm>
            <a:off x="4021294" y="9721106"/>
            <a:ext cx="3076363" cy="5117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25" tIns="49500" rIns="99025" bIns="495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/>
            </a:pPr>
            <a:fld id="{00000000-1234-1234-1234-123412341234}" type="slidenum">
              <a:rPr kumimoji="0" lang="de-DE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Blackadder ITC" panose="04020505050007020D02" pitchFamily="82" charset="0"/>
                <a:cs typeface="Arial" panose="020B0604020202020204"/>
                <a:sym typeface="Arial" panose="020B0604020202020204"/>
              </a:rPr>
            </a:fld>
            <a:endParaRPr kumimoji="0" sz="1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Blackadder ITC" panose="04020505050007020D02" pitchFamily="82" charset="0"/>
              <a:cs typeface="Arial" panose="020B0604020202020204"/>
              <a:sym typeface="Arial" panose="020B0604020202020204"/>
            </a:endParaRPr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992188" y="768350"/>
            <a:ext cx="5116512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83" name="Google Shape;83;p2:notes"/>
          <p:cNvSpPr txBox="1">
            <a:spLocks noGrp="1"/>
          </p:cNvSpPr>
          <p:nvPr>
            <p:ph type="body" idx="1"/>
          </p:nvPr>
        </p:nvSpPr>
        <p:spPr>
          <a:xfrm>
            <a:off x="709932" y="4861443"/>
            <a:ext cx="5679439" cy="46055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4725" tIns="94725" rIns="94725" bIns="94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100" b="0" i="0" u="none" strike="noStrike" cap="none">
              <a:solidFill>
                <a:schemeClr val="dk1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84" name="Google Shape;84;p2:notes"/>
          <p:cNvSpPr txBox="1">
            <a:spLocks noGrp="1"/>
          </p:cNvSpPr>
          <p:nvPr>
            <p:ph type="sldNum" idx="12"/>
          </p:nvPr>
        </p:nvSpPr>
        <p:spPr>
          <a:xfrm>
            <a:off x="4021294" y="9721106"/>
            <a:ext cx="3076363" cy="5117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25" tIns="49500" rIns="99025" bIns="495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/>
            </a:pPr>
            <a:fld id="{00000000-1234-1234-1234-123412341234}" type="slidenum">
              <a:rPr kumimoji="0" lang="de-DE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</a:fld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992188" y="768350"/>
            <a:ext cx="5116512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83" name="Google Shape;83;p2:notes"/>
          <p:cNvSpPr txBox="1">
            <a:spLocks noGrp="1"/>
          </p:cNvSpPr>
          <p:nvPr>
            <p:ph type="body" idx="1"/>
          </p:nvPr>
        </p:nvSpPr>
        <p:spPr>
          <a:xfrm>
            <a:off x="709932" y="4861443"/>
            <a:ext cx="5679439" cy="46055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4725" tIns="94725" rIns="94725" bIns="94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100" b="0" i="0" u="none" strike="noStrike" cap="none" dirty="0">
              <a:solidFill>
                <a:schemeClr val="dk1"/>
              </a:solidFill>
              <a:latin typeface="Blackadder ITC" panose="04020505050007020D02" pitchFamily="82" charset="0"/>
              <a:sym typeface="Arial" panose="020B0604020202020204"/>
            </a:endParaRPr>
          </a:p>
        </p:txBody>
      </p:sp>
      <p:sp>
        <p:nvSpPr>
          <p:cNvPr id="84" name="Google Shape;84;p2:notes"/>
          <p:cNvSpPr txBox="1">
            <a:spLocks noGrp="1"/>
          </p:cNvSpPr>
          <p:nvPr>
            <p:ph type="sldNum" idx="12"/>
          </p:nvPr>
        </p:nvSpPr>
        <p:spPr>
          <a:xfrm>
            <a:off x="4021294" y="9721106"/>
            <a:ext cx="3076363" cy="5117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25" tIns="49500" rIns="99025" bIns="495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/>
            </a:pPr>
            <a:fld id="{00000000-1234-1234-1234-123412341234}" type="slidenum">
              <a:rPr kumimoji="0" lang="de-DE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Blackadder ITC" panose="04020505050007020D02" pitchFamily="82" charset="0"/>
                <a:cs typeface="Arial" panose="020B0604020202020204"/>
                <a:sym typeface="Arial" panose="020B0604020202020204"/>
              </a:rPr>
            </a:fld>
            <a:endParaRPr kumimoji="0" sz="1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Blackadder ITC" panose="04020505050007020D02" pitchFamily="82" charset="0"/>
              <a:cs typeface="Arial" panose="020B0604020202020204"/>
              <a:sym typeface="Arial" panose="020B0604020202020204"/>
            </a:endParaRPr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matchingName="Title, Content">
  <p:cSld name="OBJECT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g61e8dd047e_0_15"/>
          <p:cNvSpPr txBox="1">
            <a:spLocks noGrp="1"/>
          </p:cNvSpPr>
          <p:nvPr>
            <p:ph type="title"/>
          </p:nvPr>
        </p:nvSpPr>
        <p:spPr>
          <a:xfrm>
            <a:off x="457200" y="273600"/>
            <a:ext cx="8229300" cy="114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2" name="Google Shape;22;g61e8dd047e_0_15"/>
          <p:cNvSpPr txBox="1">
            <a:spLocks noGrp="1"/>
          </p:cNvSpPr>
          <p:nvPr>
            <p:ph type="body" idx="1"/>
          </p:nvPr>
        </p:nvSpPr>
        <p:spPr>
          <a:xfrm>
            <a:off x="2286000" y="338760"/>
            <a:ext cx="6399300" cy="48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marL="914400" lvl="1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marL="1371600" lvl="2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marL="1828800" lvl="3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marL="2286000" lvl="4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marL="2743200" lvl="5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marL="3200400" lvl="6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marL="3657600" lvl="7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marL="4114800" lvl="8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2" name="Textfeld 1"/>
          <p:cNvSpPr txBox="1"/>
          <p:nvPr userDrawn="1"/>
        </p:nvSpPr>
        <p:spPr>
          <a:xfrm>
            <a:off x="8180614" y="6470198"/>
            <a:ext cx="123280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fld id="{CE9CBD56-2686-4AAC-B011-CC68FE510BD3}" type="slidenum">
              <a:rPr lang="de-AT" smtClean="0">
                <a:solidFill>
                  <a:schemeClr val="bg1"/>
                </a:solidFill>
              </a:rPr>
            </a:fld>
            <a:r>
              <a:rPr lang="de-AT" dirty="0">
                <a:solidFill>
                  <a:schemeClr val="bg1"/>
                </a:solidFill>
              </a:rPr>
              <a:t> / 38</a:t>
            </a:r>
            <a:endParaRPr lang="de-AT" dirty="0">
              <a:solidFill>
                <a:schemeClr val="bg1"/>
              </a:solidFill>
            </a:endParaRP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 matchingName="Title, Content">
  <p:cSld name="1_Title, Content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g61e8dd047e_0_15"/>
          <p:cNvSpPr txBox="1">
            <a:spLocks noGrp="1"/>
          </p:cNvSpPr>
          <p:nvPr>
            <p:ph type="title"/>
          </p:nvPr>
        </p:nvSpPr>
        <p:spPr>
          <a:xfrm>
            <a:off x="457200" y="273600"/>
            <a:ext cx="8229300" cy="114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22" name="Google Shape;22;g61e8dd047e_0_15"/>
          <p:cNvSpPr txBox="1">
            <a:spLocks noGrp="1"/>
          </p:cNvSpPr>
          <p:nvPr>
            <p:ph type="body" idx="1"/>
          </p:nvPr>
        </p:nvSpPr>
        <p:spPr>
          <a:xfrm>
            <a:off x="619431" y="2142979"/>
            <a:ext cx="7934633" cy="35253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marL="914400" lvl="1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marL="1371600" lvl="2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marL="1828800" lvl="3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marL="2286000" lvl="4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marL="2743200" lvl="5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marL="3200400" lvl="6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marL="3657600" lvl="7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marL="4114800" lvl="8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2" name="Textfeld 1"/>
          <p:cNvSpPr txBox="1"/>
          <p:nvPr userDrawn="1"/>
        </p:nvSpPr>
        <p:spPr>
          <a:xfrm>
            <a:off x="8180614" y="6470198"/>
            <a:ext cx="123280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fld id="{CE9CBD56-2686-4AAC-B011-CC68FE510BD3}" type="slidenum">
              <a:rPr lang="de-AT" smtClean="0">
                <a:solidFill>
                  <a:schemeClr val="bg1"/>
                </a:solidFill>
              </a:rPr>
            </a:fld>
            <a:r>
              <a:rPr lang="de-AT" dirty="0">
                <a:solidFill>
                  <a:schemeClr val="bg1"/>
                </a:solidFill>
              </a:rPr>
              <a:t> / 38</a:t>
            </a:r>
            <a:endParaRPr lang="de-AT" dirty="0">
              <a:solidFill>
                <a:schemeClr val="bg1"/>
              </a:solidFill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7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8"/>
          </p:nvPr>
        </p:nvSpPr>
        <p:spPr/>
        <p:txBody>
          <a:bodyPr/>
          <a:lstStyle/>
          <a:p>
            <a:fld id="{9D5A73E5-E1DD-458C-A16A-C4A93D2B617D}" type="slidenum">
              <a:rPr/>
            </a:fld>
            <a:endParaRPr/>
          </a:p>
        </p:txBody>
      </p:sp>
      <p:sp>
        <p:nvSpPr>
          <p:cNvPr id="4" name="PlaceHolder 3"/>
          <p:cNvSpPr>
            <a:spLocks noGrp="1"/>
          </p:cNvSpPr>
          <p:nvPr>
            <p:ph type="dt" idx="6"/>
          </p:nvPr>
        </p:nvSpPr>
        <p:spPr/>
        <p:txBody>
          <a:bodyPr/>
          <a:lstStyle/>
          <a:p/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7" Type="http://schemas.openxmlformats.org/officeDocument/2006/relationships/theme" Target="../theme/theme1.xml"/><Relationship Id="rId6" Type="http://schemas.openxmlformats.org/officeDocument/2006/relationships/image" Target="../media/image3.png"/><Relationship Id="rId5" Type="http://schemas.openxmlformats.org/officeDocument/2006/relationships/image" Target="../media/image2.jpeg"/><Relationship Id="rId4" Type="http://schemas.openxmlformats.org/officeDocument/2006/relationships/image" Target="../media/image1.jpeg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4"/>
          <a:srcRect/>
          <a:stretch>
            <a:fillRect/>
          </a:stretch>
        </a:blip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Google Shape;6;g61e8dd047e_0_0"/>
          <p:cNvPicPr preferRelativeResize="0"/>
          <p:nvPr/>
        </p:nvPicPr>
        <p:blipFill rotWithShape="1">
          <a:blip r:embed="rId5"/>
          <a:srcRect/>
          <a:stretch>
            <a:fillRect/>
          </a:stretch>
        </p:blipFill>
        <p:spPr>
          <a:xfrm>
            <a:off x="0" y="360"/>
            <a:ext cx="9143642" cy="6857280"/>
          </a:xfrm>
          <a:prstGeom prst="rect">
            <a:avLst/>
          </a:prstGeom>
          <a:noFill/>
          <a:ln>
            <a:noFill/>
          </a:ln>
        </p:spPr>
      </p:pic>
      <p:pic>
        <p:nvPicPr>
          <p:cNvPr id="7" name="Google Shape;7;g61e8dd047e_0_0"/>
          <p:cNvPicPr preferRelativeResize="0"/>
          <p:nvPr/>
        </p:nvPicPr>
        <p:blipFill rotWithShape="1">
          <a:blip r:embed="rId6"/>
          <a:srcRect/>
          <a:stretch>
            <a:fillRect/>
          </a:stretch>
        </p:blipFill>
        <p:spPr>
          <a:xfrm>
            <a:off x="0" y="360"/>
            <a:ext cx="9143642" cy="6857280"/>
          </a:xfrm>
          <a:prstGeom prst="rect">
            <a:avLst/>
          </a:prstGeom>
          <a:noFill/>
          <a:ln>
            <a:noFill/>
          </a:ln>
        </p:spPr>
      </p:pic>
      <p:sp>
        <p:nvSpPr>
          <p:cNvPr id="11" name="Google Shape;11;g61e8dd047e_0_0"/>
          <p:cNvSpPr/>
          <p:nvPr/>
        </p:nvSpPr>
        <p:spPr>
          <a:xfrm>
            <a:off x="3657600" y="1481760"/>
            <a:ext cx="184200" cy="307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4.png"/></Relationships>
</file>

<file path=ppt/slides/_rels/slide2.xml.rels><?xml version="1.0" encoding="UTF-8" standalone="yes"?>
<Relationships xmlns="http://schemas.openxmlformats.org/package/2006/relationships"><Relationship Id="rId7" Type="http://schemas.openxmlformats.org/officeDocument/2006/relationships/notesSlide" Target="../notesSlides/notesSlide2.xml"/><Relationship Id="rId6" Type="http://schemas.openxmlformats.org/officeDocument/2006/relationships/slideLayout" Target="../slideLayouts/slideLayout1.xml"/><Relationship Id="rId5" Type="http://schemas.openxmlformats.org/officeDocument/2006/relationships/slide" Target="slide39.xml"/><Relationship Id="rId4" Type="http://schemas.openxmlformats.org/officeDocument/2006/relationships/slide" Target="slide37.xml"/><Relationship Id="rId3" Type="http://schemas.openxmlformats.org/officeDocument/2006/relationships/slide" Target="slide17.xml"/><Relationship Id="rId2" Type="http://schemas.openxmlformats.org/officeDocument/2006/relationships/slide" Target="slide12.xml"/><Relationship Id="rId1" Type="http://schemas.openxmlformats.org/officeDocument/2006/relationships/slide" Target="slide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3.xml"/><Relationship Id="rId2" Type="http://schemas.openxmlformats.org/officeDocument/2006/relationships/slideLayout" Target="../slideLayouts/slideLayout3.xml"/><Relationship Id="rId1" Type="http://schemas.openxmlformats.org/officeDocument/2006/relationships/image" Target="../media/image5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4.xml"/><Relationship Id="rId2" Type="http://schemas.openxmlformats.org/officeDocument/2006/relationships/slideLayout" Target="../slideLayouts/slideLayout3.xml"/><Relationship Id="rId1" Type="http://schemas.openxmlformats.org/officeDocument/2006/relationships/hyperlink" Target="https://docs.python.org/3/library/" TargetMode="Externa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16.xml"/><Relationship Id="rId3" Type="http://schemas.openxmlformats.org/officeDocument/2006/relationships/slideLayout" Target="../slideLayouts/slideLayout3.xml"/><Relationship Id="rId2" Type="http://schemas.openxmlformats.org/officeDocument/2006/relationships/image" Target="../media/image7.png"/><Relationship Id="rId1" Type="http://schemas.openxmlformats.org/officeDocument/2006/relationships/image" Target="../media/image6.pn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8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8.png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20.xml"/><Relationship Id="rId3" Type="http://schemas.openxmlformats.org/officeDocument/2006/relationships/slideLayout" Target="../slideLayouts/slideLayout3.xml"/><Relationship Id="rId2" Type="http://schemas.openxmlformats.org/officeDocument/2006/relationships/image" Target="../media/image10.png"/><Relationship Id="rId1" Type="http://schemas.openxmlformats.org/officeDocument/2006/relationships/image" Target="../media/image9.png"/></Relationships>
</file>

<file path=ppt/slides/_rels/slide21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21.xml"/><Relationship Id="rId3" Type="http://schemas.openxmlformats.org/officeDocument/2006/relationships/slideLayout" Target="../slideLayouts/slideLayout3.xml"/><Relationship Id="rId2" Type="http://schemas.openxmlformats.org/officeDocument/2006/relationships/image" Target="../media/image12.png"/><Relationship Id="rId1" Type="http://schemas.openxmlformats.org/officeDocument/2006/relationships/image" Target="../media/image11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2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13.png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4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13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5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13.png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27.xml"/><Relationship Id="rId3" Type="http://schemas.openxmlformats.org/officeDocument/2006/relationships/slideLayout" Target="../slideLayouts/slideLayout2.xml"/><Relationship Id="rId2" Type="http://schemas.openxmlformats.org/officeDocument/2006/relationships/image" Target="../media/image13.png"/><Relationship Id="rId1" Type="http://schemas.openxmlformats.org/officeDocument/2006/relationships/hyperlink" Target="https://pandas.pydata.org/pandas-docs/stable/user_guide/text.html#method-summary" TargetMode="External"/></Relationships>
</file>

<file path=ppt/slides/_rels/slide28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28.xml"/><Relationship Id="rId3" Type="http://schemas.openxmlformats.org/officeDocument/2006/relationships/slideLayout" Target="../slideLayouts/slideLayout2.xml"/><Relationship Id="rId2" Type="http://schemas.openxmlformats.org/officeDocument/2006/relationships/image" Target="../media/image14.png"/><Relationship Id="rId1" Type="http://schemas.openxmlformats.org/officeDocument/2006/relationships/image" Target="../media/image13.png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0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13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1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13.png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33.xml"/><Relationship Id="rId3" Type="http://schemas.openxmlformats.org/officeDocument/2006/relationships/slideLayout" Target="../slideLayouts/slideLayout3.xml"/><Relationship Id="rId2" Type="http://schemas.openxmlformats.org/officeDocument/2006/relationships/image" Target="../media/image16.png"/><Relationship Id="rId1" Type="http://schemas.openxmlformats.org/officeDocument/2006/relationships/image" Target="../media/image15.png"/></Relationships>
</file>

<file path=ppt/slides/_rels/slide34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34.xml"/><Relationship Id="rId4" Type="http://schemas.openxmlformats.org/officeDocument/2006/relationships/slideLayout" Target="../slideLayouts/slideLayout2.xml"/><Relationship Id="rId3" Type="http://schemas.openxmlformats.org/officeDocument/2006/relationships/image" Target="../media/image17.png"/><Relationship Id="rId2" Type="http://schemas.openxmlformats.org/officeDocument/2006/relationships/image" Target="../media/image15.png"/><Relationship Id="rId1" Type="http://schemas.openxmlformats.org/officeDocument/2006/relationships/hyperlink" Target="https://pandas.pydata.org/docs/reference/api/pandas.DataFrame.plot.html" TargetMode="Externa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5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15.png"/></Relationships>
</file>

<file path=ppt/slides/_rels/slide36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36.xml"/><Relationship Id="rId3" Type="http://schemas.openxmlformats.org/officeDocument/2006/relationships/slideLayout" Target="../slideLayouts/slideLayout2.xml"/><Relationship Id="rId2" Type="http://schemas.openxmlformats.org/officeDocument/2006/relationships/image" Target="../media/image18.png"/><Relationship Id="rId1" Type="http://schemas.openxmlformats.org/officeDocument/2006/relationships/image" Target="../media/image15.png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1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40.xml"/><Relationship Id="rId2" Type="http://schemas.openxmlformats.org/officeDocument/2006/relationships/slideLayout" Target="../slideLayouts/slideLayout1.xml"/><Relationship Id="rId1" Type="http://schemas.openxmlformats.org/officeDocument/2006/relationships/hyperlink" Target="https://github.com/dhelic/focsp/blob/main/notebooks/unit8_exercise.ipynb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8" name="Google Shape;78;p1"/>
          <p:cNvPicPr preferRelativeResize="0"/>
          <p:nvPr/>
        </p:nvPicPr>
        <p:blipFill rotWithShape="1">
          <a:blip r:embed="rId1"/>
          <a:srcRect/>
          <a:stretch>
            <a:fillRect/>
          </a:stretch>
        </p:blipFill>
        <p:spPr>
          <a:xfrm>
            <a:off x="22" y="19050"/>
            <a:ext cx="9144000" cy="6858046"/>
          </a:xfrm>
          <a:prstGeom prst="rect">
            <a:avLst/>
          </a:prstGeom>
          <a:solidFill>
            <a:srgbClr val="D3242A"/>
          </a:solidFill>
          <a:ln>
            <a:noFill/>
          </a:ln>
        </p:spPr>
      </p:pic>
      <p:sp>
        <p:nvSpPr>
          <p:cNvPr id="79" name="Google Shape;79;p1"/>
          <p:cNvSpPr txBox="1">
            <a:spLocks noGrp="1"/>
          </p:cNvSpPr>
          <p:nvPr>
            <p:ph type="title"/>
          </p:nvPr>
        </p:nvSpPr>
        <p:spPr>
          <a:xfrm>
            <a:off x="353192" y="4030874"/>
            <a:ext cx="8229300" cy="114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Calibri" panose="020F0502020204030204"/>
              <a:buNone/>
            </a:pPr>
            <a:r>
              <a:rPr lang="en-US" sz="4400" b="1" noProof="0" dirty="0">
                <a:solidFill>
                  <a:schemeClr val="lt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Fundamentals of Computer Science and Programming</a:t>
            </a:r>
            <a:endParaRPr lang="en-US" sz="4400" b="1" noProof="0" dirty="0">
              <a:solidFill>
                <a:schemeClr val="lt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Calibri" panose="020F0502020204030204"/>
              <a:buNone/>
            </a:pPr>
            <a:endParaRPr lang="en-US" sz="4400" b="1" noProof="0" dirty="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80" name="Google Shape;80;p1"/>
          <p:cNvSpPr txBox="1">
            <a:spLocks noGrp="1"/>
          </p:cNvSpPr>
          <p:nvPr>
            <p:ph type="body" idx="1"/>
          </p:nvPr>
        </p:nvSpPr>
        <p:spPr>
          <a:xfrm>
            <a:off x="1841930" y="5268389"/>
            <a:ext cx="5131625" cy="48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indent="0">
              <a:spcBef>
                <a:spcPts val="0"/>
              </a:spcBef>
              <a:buSzPts val="800"/>
            </a:pPr>
            <a:r>
              <a:rPr lang="en-US" sz="3200" b="0" i="0" u="none" strike="noStrike" cap="none" noProof="0" dirty="0">
                <a:solidFill>
                  <a:schemeClr val="lt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Unit 8</a:t>
            </a:r>
            <a:r>
              <a:rPr lang="en-US" sz="3200" noProof="0" dirty="0">
                <a:solidFill>
                  <a:schemeClr val="lt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 </a:t>
            </a:r>
            <a:r>
              <a:rPr lang="en-US" sz="3200" b="0" i="0" u="none" strike="noStrike" cap="none" noProof="0" dirty="0">
                <a:solidFill>
                  <a:schemeClr val="lt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–</a:t>
            </a:r>
            <a:r>
              <a:rPr lang="en-US" sz="3200" noProof="0" dirty="0">
                <a:solidFill>
                  <a:schemeClr val="lt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 </a:t>
            </a:r>
            <a:r>
              <a:rPr lang="en-US" sz="3200" b="0" i="0" u="none" strike="noStrike" cap="none" noProof="0" dirty="0">
                <a:solidFill>
                  <a:schemeClr val="lt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 Programming Part V</a:t>
            </a:r>
            <a:endParaRPr lang="en-US" sz="3200" b="0" i="0" u="none" strike="noStrike" cap="none" noProof="0" dirty="0">
              <a:solidFill>
                <a:schemeClr val="lt1"/>
              </a:solidFill>
              <a:latin typeface="Calibri" panose="020F0502020204030204"/>
              <a:ea typeface="Calibri" panose="020F0502020204030204"/>
              <a:cs typeface="Calibri" panose="020F0502020204030204"/>
            </a:endParaRPr>
          </a:p>
        </p:txBody>
      </p:sp>
      <p:sp>
        <p:nvSpPr>
          <p:cNvPr id="2" name="Rechteck 1"/>
          <p:cNvSpPr/>
          <p:nvPr/>
        </p:nvSpPr>
        <p:spPr>
          <a:xfrm>
            <a:off x="8147261" y="6409467"/>
            <a:ext cx="702051" cy="316357"/>
          </a:xfrm>
          <a:prstGeom prst="rect">
            <a:avLst/>
          </a:prstGeom>
          <a:solidFill>
            <a:srgbClr val="D3242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AT"/>
          </a:p>
        </p:txBody>
      </p:sp>
    </p:spTree>
  </p:cSld>
  <p:clrMapOvr>
    <a:masterClrMapping/>
  </p:clrMapOvr>
  <p:transition spd="slow">
    <p:fade thruBlk="1"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algn="r">
              <a:buClr>
                <a:schemeClr val="dk1"/>
              </a:buClr>
              <a:buSzPts val="2800"/>
            </a:pPr>
            <a:r>
              <a:rPr lang="en-US" sz="2800" b="1" noProof="0" dirty="0">
                <a:solidFill>
                  <a:schemeClr val="dk1"/>
                </a:solidFill>
                <a:latin typeface="Calibri" panose="020F0502020204030204"/>
                <a:cs typeface="Calibri" panose="020F0502020204030204"/>
                <a:sym typeface="Calibri" panose="020F0502020204030204"/>
              </a:rPr>
              <a:t>Outline</a:t>
            </a:r>
            <a:endParaRPr lang="en-US" noProof="0" dirty="0">
              <a:solidFill>
                <a:schemeClr val="dk1"/>
              </a:solidFill>
            </a:endParaRPr>
          </a:p>
        </p:txBody>
      </p:sp>
      <p:sp>
        <p:nvSpPr>
          <p:cNvPr id="87" name="Google Shape;87;p2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>
              <a:spcBef>
                <a:spcPts val="640"/>
              </a:spcBef>
            </a:pPr>
            <a:endParaRPr lang="en-US" sz="1800" noProof="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0" indent="0">
              <a:spcBef>
                <a:spcPts val="640"/>
              </a:spcBef>
            </a:pPr>
            <a:endParaRPr lang="en-US" sz="1800" noProof="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6" name="Textfeld 5"/>
          <p:cNvSpPr txBox="1"/>
          <p:nvPr/>
        </p:nvSpPr>
        <p:spPr>
          <a:xfrm>
            <a:off x="457200" y="1701579"/>
            <a:ext cx="7533861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+mj-lt"/>
              <a:buAutoNum type="arabicPeriod"/>
            </a:pPr>
            <a:r>
              <a:rPr lang="en-US" sz="1800" dirty="0">
                <a:latin typeface="Calibri" panose="020F0502020204030204" pitchFamily="34" charset="0"/>
                <a:cs typeface="Calibri" panose="020F0502020204030204" pitchFamily="34" charset="0"/>
                <a:hlinkClick r:id="rId1" action="ppaction://hlinksldjump"/>
              </a:rPr>
              <a:t>File I/O</a:t>
            </a:r>
            <a:endParaRPr lang="en-US" sz="18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342900" indent="-342900">
              <a:buFont typeface="+mj-lt"/>
              <a:buAutoNum type="arabicPeriod"/>
            </a:pPr>
            <a:r>
              <a:rPr lang="en-US" sz="1800" dirty="0">
                <a:latin typeface="Calibri" panose="020F0502020204030204" pitchFamily="34" charset="0"/>
                <a:cs typeface="Calibri" panose="020F0502020204030204" pitchFamily="34" charset="0"/>
                <a:hlinkClick r:id="rId2" action="ppaction://hlinksldjump"/>
              </a:rPr>
              <a:t>CSV files and module imports</a:t>
            </a:r>
            <a:endParaRPr lang="en-US" sz="18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342900" indent="-342900">
              <a:buFont typeface="+mj-lt"/>
              <a:buAutoNum type="arabicPeriod"/>
            </a:pPr>
            <a:r>
              <a:rPr lang="en-US" sz="1800" dirty="0">
                <a:latin typeface="Calibri" panose="020F0502020204030204" pitchFamily="34" charset="0"/>
                <a:cs typeface="Calibri" panose="020F0502020204030204" pitchFamily="34" charset="0"/>
                <a:hlinkClick r:id="rId3" action="ppaction://hlinksldjump"/>
              </a:rPr>
              <a:t>Pandas</a:t>
            </a:r>
            <a:endParaRPr lang="en-US" sz="18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342900" indent="-342900">
              <a:buFont typeface="+mj-lt"/>
              <a:buAutoNum type="arabicPeriod"/>
            </a:pPr>
            <a:r>
              <a:rPr lang="en-US" sz="1800" dirty="0">
                <a:latin typeface="Calibri" panose="020F0502020204030204" pitchFamily="34" charset="0"/>
                <a:cs typeface="Calibri" panose="020F0502020204030204" pitchFamily="34" charset="0"/>
                <a:hlinkClick r:id="rId4" action="ppaction://hlinksldjump"/>
              </a:rPr>
              <a:t>Examples</a:t>
            </a:r>
            <a:endParaRPr lang="en-US" sz="18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342900" indent="-342900">
              <a:buFont typeface="+mj-lt"/>
              <a:buAutoNum type="arabicPeriod"/>
            </a:pPr>
            <a:r>
              <a:rPr lang="en-US" sz="1800" dirty="0">
                <a:latin typeface="Calibri" panose="020F0502020204030204" pitchFamily="34" charset="0"/>
                <a:cs typeface="Calibri" panose="020F0502020204030204" pitchFamily="34" charset="0"/>
                <a:hlinkClick r:id="rId5" action="ppaction://hlinksldjump"/>
              </a:rPr>
              <a:t>Exercise</a:t>
            </a:r>
            <a:endParaRPr lang="en-US" sz="18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/>
          <p:cNvSpPr>
            <a:spLocks noGrp="1"/>
          </p:cNvSpPr>
          <p:nvPr>
            <p:ph type="title"/>
          </p:nvPr>
        </p:nvSpPr>
        <p:spPr>
          <a:xfrm>
            <a:off x="457200" y="2858400"/>
            <a:ext cx="8229300" cy="1144800"/>
          </a:xfrm>
        </p:spPr>
        <p:txBody>
          <a:bodyPr/>
          <a:lstStyle/>
          <a:p>
            <a:pPr algn="ctr"/>
            <a:r>
              <a:rPr lang="en-US" sz="4400" b="1" dirty="0">
                <a:latin typeface="Calibri" panose="020F0502020204030204" pitchFamily="34" charset="0"/>
                <a:cs typeface="Calibri" panose="020F0502020204030204" pitchFamily="34" charset="0"/>
              </a:rPr>
              <a:t>File I/O</a:t>
            </a:r>
            <a:endParaRPr lang="de-AT" sz="4400" dirty="0"/>
          </a:p>
        </p:txBody>
      </p:sp>
      <p:sp>
        <p:nvSpPr>
          <p:cNvPr id="87" name="Google Shape;87;p2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>
              <a:spcBef>
                <a:spcPts val="640"/>
              </a:spcBef>
            </a:pPr>
            <a:endParaRPr lang="en-US" sz="1800" noProof="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0" indent="0">
              <a:spcBef>
                <a:spcPts val="640"/>
              </a:spcBef>
            </a:pPr>
            <a:endParaRPr lang="en-US" sz="1800" noProof="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86;p2"/>
          <p:cNvSpPr txBox="1"/>
          <p:nvPr/>
        </p:nvSpPr>
        <p:spPr>
          <a:xfrm>
            <a:off x="313944" y="227023"/>
            <a:ext cx="84582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>
            <a:pPr algn="r">
              <a:buClr>
                <a:schemeClr val="dk1"/>
              </a:buClr>
              <a:buSzPts val="2800"/>
            </a:pPr>
            <a:r>
              <a:rPr lang="en-US" sz="2800" b="1" dirty="0">
                <a:solidFill>
                  <a:schemeClr val="dk1"/>
                </a:solidFill>
                <a:latin typeface="Calibri" panose="020F0502020204030204"/>
                <a:cs typeface="Calibri" panose="020F0502020204030204"/>
                <a:sym typeface="Calibri" panose="020F0502020204030204"/>
              </a:rPr>
              <a:t>Reading and writing files: File I/O</a:t>
            </a:r>
            <a:endParaRPr lang="en-US" dirty="0">
              <a:solidFill>
                <a:schemeClr val="dk1"/>
              </a:solidFill>
            </a:endParaRPr>
          </a:p>
        </p:txBody>
      </p:sp>
      <p:sp>
        <p:nvSpPr>
          <p:cNvPr id="475" name="PlaceHolder 2"/>
          <p:cNvSpPr>
            <a:spLocks noGrp="1"/>
          </p:cNvSpPr>
          <p:nvPr>
            <p:ph type="body" idx="1"/>
          </p:nvPr>
        </p:nvSpPr>
        <p:spPr>
          <a:xfrm>
            <a:off x="619431" y="1627973"/>
            <a:ext cx="7934633" cy="2171517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86385" lvl="1" indent="-285750">
              <a:spcBef>
                <a:spcPts val="200"/>
              </a:spcBef>
              <a:spcAft>
                <a:spcPts val="200"/>
              </a:spcAft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Text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files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(.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txt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) and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text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file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in a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table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format</a:t>
            </a:r>
            <a:endParaRPr lang="de-AT" sz="1800" spc="-1" dirty="0">
              <a:solidFill>
                <a:srgbClr val="0F0F0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286385" lvl="1" indent="-285750">
              <a:spcBef>
                <a:spcPts val="200"/>
              </a:spcBef>
              <a:spcAft>
                <a:spcPts val="200"/>
              </a:spcAft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 err="1">
                <a:solidFill>
                  <a:srgbClr val="0F0F0F"/>
                </a:solidFill>
                <a:highlight>
                  <a:srgbClr val="FFFFFF"/>
                </a:highligh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Function</a:t>
            </a:r>
            <a:r>
              <a:rPr lang="de-AT" sz="1800" spc="-1" dirty="0">
                <a:solidFill>
                  <a:srgbClr val="0F0F0F"/>
                </a:solidFill>
                <a:highlight>
                  <a:srgbClr val="FFFFFF"/>
                </a:highligh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FFFFFF"/>
                </a:highligh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to</a:t>
            </a:r>
            <a:r>
              <a:rPr lang="de-AT" sz="1800" spc="-1" dirty="0">
                <a:solidFill>
                  <a:srgbClr val="0F0F0F"/>
                </a:solidFill>
                <a:highlight>
                  <a:srgbClr val="FFFFFF"/>
                </a:highligh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open 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FFFFFF"/>
                </a:highligh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files</a:t>
            </a:r>
            <a:r>
              <a:rPr lang="de-AT" sz="1800" spc="-1" dirty="0">
                <a:solidFill>
                  <a:srgbClr val="0F0F0F"/>
                </a:solidFill>
                <a:highlight>
                  <a:srgbClr val="FFFFFF"/>
                </a:highligh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 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open(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filepath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, 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mode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='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rt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')</a:t>
            </a:r>
            <a:endParaRPr lang="de-AT" sz="1800" spc="-1" dirty="0">
              <a:solidFill>
                <a:srgbClr val="0F0F0F"/>
              </a:solidFill>
              <a:highlight>
                <a:srgbClr val="DAE3F3"/>
              </a:highlight>
              <a:latin typeface="Consolas" panose="020B0609020204030204" pitchFamily="49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743585" lvl="2" indent="-285750">
              <a:spcBef>
                <a:spcPts val="200"/>
              </a:spcBef>
              <a:spcAft>
                <a:spcPts val="200"/>
              </a:spcAft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filepath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</a:t>
            </a:r>
            <a:r>
              <a:rPr lang="de-AT" sz="1800" spc="-1" dirty="0">
                <a:solidFill>
                  <a:srgbClr val="0F0F0F"/>
                </a:solidFill>
                <a:highlight>
                  <a:srgbClr val="FFFFFF"/>
                </a:highligh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Path (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FFFFFF"/>
                </a:highligh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or</a:t>
            </a:r>
            <a:r>
              <a:rPr lang="de-AT" sz="1800" spc="-1" dirty="0">
                <a:solidFill>
                  <a:srgbClr val="0F0F0F"/>
                </a:solidFill>
                <a:highlight>
                  <a:srgbClr val="FFFFFF"/>
                </a:highligh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FFFFFF"/>
                </a:highligh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name</a:t>
            </a:r>
            <a:r>
              <a:rPr lang="de-AT" sz="1800" spc="-1" dirty="0">
                <a:solidFill>
                  <a:srgbClr val="0F0F0F"/>
                </a:solidFill>
                <a:highlight>
                  <a:srgbClr val="FFFFFF"/>
                </a:highligh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) 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FFFFFF"/>
                </a:highligh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of</a:t>
            </a:r>
            <a:r>
              <a:rPr lang="de-AT" sz="1800" spc="-1" dirty="0">
                <a:solidFill>
                  <a:srgbClr val="0F0F0F"/>
                </a:solidFill>
                <a:highlight>
                  <a:srgbClr val="FFFFFF"/>
                </a:highligh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FFFFFF"/>
                </a:highligh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file</a:t>
            </a:r>
            <a:r>
              <a:rPr lang="de-AT" sz="1800" spc="-1" dirty="0">
                <a:solidFill>
                  <a:srgbClr val="0F0F0F"/>
                </a:solidFill>
                <a:highlight>
                  <a:srgbClr val="FFFFFF"/>
                </a:highligh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FFFFFF"/>
                </a:highligh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as</a:t>
            </a:r>
            <a:r>
              <a:rPr lang="de-AT" sz="1800" spc="-1" dirty="0">
                <a:solidFill>
                  <a:srgbClr val="0F0F0F"/>
                </a:solidFill>
                <a:highlight>
                  <a:srgbClr val="FFFFFF"/>
                </a:highligh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a 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FFFFFF"/>
                </a:highligh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string</a:t>
            </a:r>
            <a:endParaRPr lang="de-AT" sz="1800" spc="-1" dirty="0">
              <a:solidFill>
                <a:srgbClr val="0F0F0F"/>
              </a:solidFill>
              <a:highlight>
                <a:srgbClr val="FFFFFF"/>
              </a:highlight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743585" lvl="2" indent="-285750">
              <a:spcBef>
                <a:spcPts val="200"/>
              </a:spcBef>
              <a:spcAft>
                <a:spcPts val="200"/>
              </a:spcAft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mode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 Opening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mode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+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file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type</a:t>
            </a:r>
            <a:endParaRPr lang="de-AT" sz="1800" spc="-1" dirty="0">
              <a:solidFill>
                <a:srgbClr val="0F0F0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1200785" lvl="3" indent="-285750">
              <a:spcBef>
                <a:spcPts val="200"/>
              </a:spcBef>
              <a:spcAft>
                <a:spcPts val="200"/>
              </a:spcAft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Default: Access 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'r'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,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file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type 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't'</a:t>
            </a:r>
            <a:endParaRPr lang="de-AT" sz="1800" spc="-1" dirty="0">
              <a:solidFill>
                <a:srgbClr val="0F0F0F"/>
              </a:solidFill>
              <a:highlight>
                <a:srgbClr val="DAE3F3"/>
              </a:highlight>
              <a:latin typeface="Consolas" panose="020B0609020204030204" pitchFamily="49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1200785" lvl="3" indent="-285750">
              <a:spcBef>
                <a:spcPts val="200"/>
              </a:spcBef>
              <a:spcAft>
                <a:spcPts val="200"/>
              </a:spcAft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Combinations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 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'w', '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wt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', 'ab', 'b', '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rb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', 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...</a:t>
            </a:r>
            <a:endParaRPr lang="de-AT" sz="1800" spc="-1" dirty="0">
              <a:solidFill>
                <a:srgbClr val="0F0F0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graphicFrame>
        <p:nvGraphicFramePr>
          <p:cNvPr id="479" name="Tabelle 478"/>
          <p:cNvGraphicFramePr/>
          <p:nvPr/>
        </p:nvGraphicFramePr>
        <p:xfrm>
          <a:off x="431800" y="4170478"/>
          <a:ext cx="4628753" cy="1630104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880388"/>
                <a:gridCol w="3748365"/>
              </a:tblGrid>
              <a:tr h="280042">
                <a:tc>
                  <a:txBody>
                    <a:bodyPr/>
                    <a:lstStyle/>
                    <a:p>
                      <a:r>
                        <a:rPr lang="en-US" sz="1800" strike="noStrike" spc="-1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Symbol</a:t>
                      </a:r>
                      <a:endParaRPr lang="en-US" sz="1800" b="0" strike="noStrike" spc="-1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63607" marR="63607" marT="32313" marB="32313" anchor="ctr"/>
                </a:tc>
                <a:tc>
                  <a:txBody>
                    <a:bodyPr/>
                    <a:lstStyle/>
                    <a:p>
                      <a:r>
                        <a:rPr lang="en-US" sz="1800" strike="noStrike" spc="-1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Description</a:t>
                      </a:r>
                      <a:endParaRPr lang="en-US" sz="1800" b="1" strike="noStrike" spc="-1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63607" marR="63607" marT="32313" marB="32313" anchor="ctr"/>
                </a:tc>
              </a:tr>
              <a:tr h="280042">
                <a:tc>
                  <a:txBody>
                    <a:bodyPr/>
                    <a:lstStyle/>
                    <a:p>
                      <a:r>
                        <a:rPr lang="en-US" sz="1800" strike="noStrike" spc="-1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'r'</a:t>
                      </a:r>
                      <a:endParaRPr lang="en-US" sz="1800" b="0" strike="noStrike" spc="-1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63607" marR="63607" marT="32313" marB="32313"/>
                </a:tc>
                <a:tc>
                  <a:txBody>
                    <a:bodyPr/>
                    <a:lstStyle/>
                    <a:p>
                      <a:r>
                        <a:rPr lang="en-US" sz="1800" strike="noStrike" spc="-1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Read (Default)</a:t>
                      </a:r>
                      <a:endParaRPr lang="en-US" sz="1800" b="0" strike="noStrike" spc="-1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63607" marR="63607" marT="32313" marB="32313"/>
                </a:tc>
              </a:tr>
              <a:tr h="280042">
                <a:tc>
                  <a:txBody>
                    <a:bodyPr/>
                    <a:lstStyle/>
                    <a:p>
                      <a:r>
                        <a:rPr lang="en-US" sz="1800" strike="noStrike" spc="-1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'w'</a:t>
                      </a:r>
                      <a:endParaRPr lang="en-US" sz="1800" b="0" strike="noStrike" spc="-1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63607" marR="63607" marT="32313" marB="32313"/>
                </a:tc>
                <a:tc>
                  <a:txBody>
                    <a:bodyPr/>
                    <a:lstStyle/>
                    <a:p>
                      <a:r>
                        <a:rPr lang="en-US" sz="1800" strike="noStrike" spc="-1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Write, current file dropped</a:t>
                      </a:r>
                      <a:endParaRPr lang="en-US" sz="1800" b="0" strike="noStrike" spc="-1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63607" marR="63607" marT="32313" marB="32313"/>
                </a:tc>
              </a:tr>
              <a:tr h="280042">
                <a:tc>
                  <a:txBody>
                    <a:bodyPr/>
                    <a:lstStyle/>
                    <a:p>
                      <a:r>
                        <a:rPr lang="en-US" sz="1800" strike="noStrike" spc="-1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'a'</a:t>
                      </a:r>
                      <a:endParaRPr lang="en-US" sz="1800" b="0" strike="noStrike" spc="-1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63607" marR="63607" marT="32313" marB="32313"/>
                </a:tc>
                <a:tc>
                  <a:txBody>
                    <a:bodyPr/>
                    <a:lstStyle/>
                    <a:p>
                      <a:r>
                        <a:rPr lang="en-US" sz="1800" strike="noStrike" spc="-1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Write, append at the end of the current file</a:t>
                      </a:r>
                      <a:endParaRPr lang="en-US" sz="1800" b="0" strike="noStrike" spc="-1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63607" marR="63607" marT="32313" marB="32313"/>
                </a:tc>
              </a:tr>
            </a:tbl>
          </a:graphicData>
        </a:graphic>
      </p:graphicFrame>
      <p:graphicFrame>
        <p:nvGraphicFramePr>
          <p:cNvPr id="480" name="Tabelle 479"/>
          <p:cNvGraphicFramePr/>
          <p:nvPr/>
        </p:nvGraphicFramePr>
        <p:xfrm>
          <a:off x="5632945" y="4170478"/>
          <a:ext cx="2806875" cy="1173351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880388"/>
                <a:gridCol w="1926487"/>
              </a:tblGrid>
              <a:tr h="280042">
                <a:tc>
                  <a:txBody>
                    <a:bodyPr/>
                    <a:lstStyle/>
                    <a:p>
                      <a:r>
                        <a:rPr lang="en-US" sz="1800" strike="noStrike" spc="-1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Symbol</a:t>
                      </a:r>
                      <a:endParaRPr lang="en-US" sz="1800" b="0" strike="noStrike" spc="-1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63607" marR="63607" marT="32313" marB="32313" anchor="ctr"/>
                </a:tc>
                <a:tc>
                  <a:txBody>
                    <a:bodyPr/>
                    <a:lstStyle/>
                    <a:p>
                      <a:r>
                        <a:rPr lang="en-US" sz="1800" strike="noStrike" spc="-1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Description</a:t>
                      </a:r>
                      <a:endParaRPr lang="en-US" sz="1800" b="1" strike="noStrike" spc="-1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63607" marR="63607" marT="32313" marB="32313" anchor="ctr"/>
                </a:tc>
              </a:tr>
              <a:tr h="495459">
                <a:tc>
                  <a:txBody>
                    <a:bodyPr/>
                    <a:lstStyle/>
                    <a:p>
                      <a:r>
                        <a:rPr lang="en-US" sz="1800" strike="noStrike" spc="-1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't'</a:t>
                      </a:r>
                      <a:endParaRPr lang="en-US" sz="1800" b="0" strike="noStrike" spc="-1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63607" marR="63607" marT="32313" marB="32313"/>
                </a:tc>
                <a:tc>
                  <a:txBody>
                    <a:bodyPr/>
                    <a:lstStyle/>
                    <a:p>
                      <a:r>
                        <a:rPr lang="en-US" sz="1800" strike="noStrike" spc="-1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Text file (Default)</a:t>
                      </a:r>
                      <a:endParaRPr lang="en-US" sz="1800" b="0" strike="noStrike" spc="-1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63607" marR="63607" marT="32313" marB="32313"/>
                </a:tc>
              </a:tr>
              <a:tr h="283180">
                <a:tc>
                  <a:txBody>
                    <a:bodyPr/>
                    <a:lstStyle/>
                    <a:p>
                      <a:r>
                        <a:rPr lang="en-US" sz="1800" strike="noStrike" spc="-1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'b'</a:t>
                      </a:r>
                      <a:endParaRPr lang="en-US" sz="1800" b="0" strike="noStrike" spc="-1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63607" marR="63607" marT="32313" marB="32313"/>
                </a:tc>
                <a:tc>
                  <a:txBody>
                    <a:bodyPr/>
                    <a:lstStyle/>
                    <a:p>
                      <a:r>
                        <a:rPr lang="en-US" sz="1800" strike="noStrike" spc="-1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Binary file</a:t>
                      </a:r>
                      <a:endParaRPr lang="en-US" sz="1800" b="0" strike="noStrike" spc="-1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63607" marR="63607" marT="32313" marB="32313"/>
                </a:tc>
              </a:tr>
            </a:tbl>
          </a:graphicData>
        </a:graphic>
      </p:graphicFrame>
      <p:sp>
        <p:nvSpPr>
          <p:cNvPr id="481" name="Textfeld 480"/>
          <p:cNvSpPr txBox="1"/>
          <p:nvPr/>
        </p:nvSpPr>
        <p:spPr>
          <a:xfrm>
            <a:off x="5207449" y="4582869"/>
            <a:ext cx="278600" cy="348568"/>
          </a:xfrm>
          <a:prstGeom prst="rect">
            <a:avLst/>
          </a:prstGeom>
          <a:noFill/>
          <a:ln w="0">
            <a:noFill/>
          </a:ln>
        </p:spPr>
        <p:txBody>
          <a:bodyPr lIns="63607" tIns="31804" rIns="63607" bIns="31804" anchor="t">
            <a:noAutofit/>
          </a:bodyPr>
          <a:lstStyle/>
          <a:p>
            <a:r>
              <a:rPr lang="de-AT" sz="198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Droid Sans Fallback"/>
              </a:rPr>
              <a:t>+</a:t>
            </a:r>
            <a:endParaRPr lang="en-US" sz="1980" spc="-1" dirty="0">
              <a:highlight>
                <a:srgbClr val="DAE3F3"/>
              </a:highlight>
              <a:latin typeface="Consolas" panose="020B0609020204030204" pitchFamily="49" charset="0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3" name="PlaceHolder 2"/>
          <p:cNvSpPr>
            <a:spLocks noGrp="1"/>
          </p:cNvSpPr>
          <p:nvPr>
            <p:ph type="body" idx="1"/>
          </p:nvPr>
        </p:nvSpPr>
        <p:spPr>
          <a:xfrm>
            <a:off x="604520" y="1370330"/>
            <a:ext cx="7934325" cy="351345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marL="286385" lvl="1" indent="-285750">
              <a:spcBef>
                <a:spcPts val="200"/>
              </a:spcBef>
              <a:spcAft>
                <a:spcPts val="200"/>
              </a:spcAft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Two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types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of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file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paths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</a:t>
            </a:r>
            <a:endParaRPr lang="de-AT" sz="1800" spc="-1" dirty="0">
              <a:solidFill>
                <a:srgbClr val="0F0F0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743585" lvl="2" indent="-285750">
              <a:spcBef>
                <a:spcPts val="200"/>
              </a:spcBef>
              <a:spcAft>
                <a:spcPts val="200"/>
              </a:spcAft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Absolute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Paths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Full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path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over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the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whole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file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system</a:t>
            </a:r>
            <a:endParaRPr lang="de-AT" sz="1800" spc="-1" dirty="0">
              <a:solidFill>
                <a:srgbClr val="0F0F0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1200785" lvl="3" indent="-285750">
              <a:spcBef>
                <a:spcPts val="200"/>
              </a:spcBef>
              <a:spcAft>
                <a:spcPts val="200"/>
              </a:spcAft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unix_path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 = '/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home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/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ruptho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/code/test.txt'</a:t>
            </a:r>
            <a:endParaRPr lang="de-AT" sz="1800" spc="-1" dirty="0">
              <a:solidFill>
                <a:srgbClr val="0F0F0F"/>
              </a:solidFill>
              <a:highlight>
                <a:srgbClr val="DAE3F3"/>
              </a:highlight>
              <a:latin typeface="Consolas" panose="020B0609020204030204" pitchFamily="49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1200785" lvl="3" indent="-285750">
              <a:spcBef>
                <a:spcPts val="200"/>
              </a:spcBef>
              <a:spcAft>
                <a:spcPts val="200"/>
              </a:spcAft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windows_path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 = 'C:\\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Documents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\\code\\test.txt'</a:t>
            </a:r>
            <a:endParaRPr lang="de-AT" sz="1800" spc="-1" dirty="0">
              <a:solidFill>
                <a:srgbClr val="0F0F0F"/>
              </a:solidFill>
              <a:highlight>
                <a:srgbClr val="DAE3F3"/>
              </a:highlight>
              <a:latin typeface="Consolas" panose="020B0609020204030204" pitchFamily="49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743585" lvl="2" indent="-285750">
              <a:spcBef>
                <a:spcPts val="200"/>
              </a:spcBef>
              <a:spcAft>
                <a:spcPts val="200"/>
              </a:spcAft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Relative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Paths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 Path relative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to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the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executable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file</a:t>
            </a:r>
            <a:endParaRPr lang="de-AT" sz="1800" spc="-1" dirty="0">
              <a:solidFill>
                <a:srgbClr val="0F0F0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1200785" lvl="3" indent="-285750">
              <a:spcBef>
                <a:spcPts val="200"/>
              </a:spcBef>
              <a:spcAft>
                <a:spcPts val="200"/>
              </a:spcAft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f_path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 = 'text.txt'</a:t>
            </a:r>
            <a:endParaRPr lang="de-AT" sz="1800" spc="-1" dirty="0">
              <a:solidFill>
                <a:srgbClr val="0F0F0F"/>
              </a:solidFill>
              <a:highlight>
                <a:srgbClr val="DAE3F3"/>
              </a:highlight>
              <a:latin typeface="Consolas" panose="020B0609020204030204" pitchFamily="49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1200785" lvl="3" indent="-285750">
              <a:spcBef>
                <a:spcPts val="200"/>
              </a:spcBef>
              <a:spcAft>
                <a:spcPts val="200"/>
              </a:spcAft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Subfolder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files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: 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path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 = '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files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/text.txt'</a:t>
            </a:r>
            <a:endParaRPr lang="de-AT" sz="1800" spc="-1" dirty="0">
              <a:solidFill>
                <a:srgbClr val="0F0F0F"/>
              </a:solidFill>
              <a:highlight>
                <a:srgbClr val="DAE3F3"/>
              </a:highlight>
              <a:latin typeface="Consolas" panose="020B0609020204030204" pitchFamily="49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9" name="Google Shape;86;p2"/>
          <p:cNvSpPr txBox="1"/>
          <p:nvPr/>
        </p:nvSpPr>
        <p:spPr>
          <a:xfrm>
            <a:off x="313944" y="227023"/>
            <a:ext cx="84582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>
            <a:pPr algn="r">
              <a:buClr>
                <a:schemeClr val="dk1"/>
              </a:buClr>
              <a:buSzPts val="2800"/>
            </a:pPr>
            <a:r>
              <a:rPr lang="en-US" sz="2800" b="1" dirty="0">
                <a:solidFill>
                  <a:schemeClr val="dk1"/>
                </a:solidFill>
                <a:latin typeface="Calibri" panose="020F0502020204030204"/>
                <a:cs typeface="Calibri" panose="020F0502020204030204"/>
                <a:sym typeface="Calibri" panose="020F0502020204030204"/>
              </a:rPr>
              <a:t>Paths</a:t>
            </a:r>
            <a:endParaRPr lang="en-US" dirty="0">
              <a:solidFill>
                <a:schemeClr val="dk1"/>
              </a:solidFill>
            </a:endParaRPr>
          </a:p>
        </p:txBody>
      </p:sp>
      <p:sp>
        <p:nvSpPr>
          <p:cNvPr id="2" name="PlaceHolder 2"/>
          <p:cNvSpPr>
            <a:spLocks noGrp="1"/>
          </p:cNvSpPr>
          <p:nvPr/>
        </p:nvSpPr>
        <p:spPr>
          <a:xfrm>
            <a:off x="604520" y="3921125"/>
            <a:ext cx="7934325" cy="195199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>
            <a:pPr marL="743585" lvl="2" indent="-285750">
              <a:spcBef>
                <a:spcPts val="200"/>
              </a:spcBef>
              <a:spcAft>
                <a:spcPts val="200"/>
              </a:spcAft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en-US" altLang="zh-CN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+mn-ea"/>
              </a:rPr>
              <a:t>If you're not sure about the executable file path</a:t>
            </a:r>
            <a:endParaRPr lang="de-AT" sz="1800" spc="-1" dirty="0">
              <a:solidFill>
                <a:srgbClr val="0F0F0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1200785" lvl="3" indent="-285750">
              <a:spcBef>
                <a:spcPts val="200"/>
              </a:spcBef>
              <a:spcAft>
                <a:spcPts val="200"/>
              </a:spcAft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en-US" altLang="zh-CN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import os</a:t>
            </a:r>
            <a:endParaRPr lang="en-US" altLang="zh-CN" sz="1800" spc="-1" dirty="0">
              <a:solidFill>
                <a:srgbClr val="0F0F0F"/>
              </a:solidFill>
              <a:highlight>
                <a:srgbClr val="DAE3F3"/>
              </a:highlight>
              <a:latin typeface="Consolas" panose="020B0609020204030204" pitchFamily="49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1200785" lvl="3" indent="-285750">
              <a:spcBef>
                <a:spcPts val="200"/>
              </a:spcBef>
              <a:spcAft>
                <a:spcPts val="200"/>
              </a:spcAft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en-US" altLang="zh-CN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os.getcwd()</a:t>
            </a:r>
            <a:endParaRPr lang="en-US" altLang="zh-CN" sz="1800" spc="-1" dirty="0">
              <a:solidFill>
                <a:srgbClr val="0F0F0F"/>
              </a:solidFill>
              <a:highlight>
                <a:srgbClr val="DAE3F3"/>
              </a:highlight>
              <a:latin typeface="Consolas" panose="020B0609020204030204" pitchFamily="49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915035" lvl="3" indent="0">
              <a:spcBef>
                <a:spcPts val="200"/>
              </a:spcBef>
              <a:spcAft>
                <a:spcPts val="200"/>
              </a:spcAft>
              <a:buClr>
                <a:srgbClr val="0F0F0F"/>
              </a:buClr>
              <a:buFont typeface="Wingdings" panose="05000000000000000000" pitchFamily="2" charset="2"/>
            </a:pPr>
            <a:endParaRPr lang="en-US" altLang="zh-CN" sz="1800" spc="-1" dirty="0">
              <a:solidFill>
                <a:srgbClr val="0F0F0F"/>
              </a:solidFill>
              <a:highlight>
                <a:srgbClr val="DAE3F3"/>
              </a:highlight>
              <a:latin typeface="Consolas" panose="020B0609020204030204" pitchFamily="49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3" name="PlaceHolder 2"/>
          <p:cNvSpPr>
            <a:spLocks noGrp="1"/>
          </p:cNvSpPr>
          <p:nvPr>
            <p:ph type="body" idx="1"/>
          </p:nvPr>
        </p:nvSpPr>
        <p:spPr>
          <a:xfrm>
            <a:off x="691678" y="2114623"/>
            <a:ext cx="7934633" cy="2628717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marL="286385" lvl="1" indent="-285750">
              <a:spcBef>
                <a:spcPts val="200"/>
              </a:spcBef>
              <a:spcAft>
                <a:spcPts val="200"/>
              </a:spcAft>
              <a:buClr>
                <a:srgbClr val="0F0F0F"/>
              </a:buClr>
              <a:buFont typeface="Wingdings" panose="05000000000000000000" pitchFamily="2" charset="2"/>
              <a:buChar char="v"/>
            </a:pPr>
            <a:endParaRPr lang="de-AT" sz="1800" spc="-1" dirty="0" err="1">
              <a:solidFill>
                <a:srgbClr val="0F0F0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286385" lvl="1" indent="-285750">
              <a:spcBef>
                <a:spcPts val="200"/>
              </a:spcBef>
              <a:spcAft>
                <a:spcPts val="200"/>
              </a:spcAft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en-US" altLang="zh-CN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First, mount Google Drive.</a:t>
            </a:r>
            <a:endParaRPr lang="en-US" altLang="zh-CN" sz="1800" spc="-1" dirty="0" err="1">
              <a:solidFill>
                <a:srgbClr val="0F0F0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1200785" lvl="3" indent="-285750">
              <a:spcBef>
                <a:spcPts val="200"/>
              </a:spcBef>
              <a:spcAft>
                <a:spcPts val="200"/>
              </a:spcAft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en-US" alt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  <a:sym typeface="+mn-ea"/>
              </a:rPr>
              <a:t>from</a:t>
            </a:r>
            <a:r>
              <a:rPr lang="en-US" altLang="zh-CN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 google.colab import drive</a:t>
            </a:r>
            <a:endParaRPr lang="en-US" altLang="zh-CN" sz="1800" spc="-1" dirty="0">
              <a:solidFill>
                <a:srgbClr val="0F0F0F"/>
              </a:solidFill>
              <a:highlight>
                <a:srgbClr val="DAE3F3"/>
              </a:highlight>
              <a:latin typeface="Consolas" panose="020B0609020204030204" pitchFamily="49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1200785" lvl="3" indent="-285750">
              <a:spcBef>
                <a:spcPts val="200"/>
              </a:spcBef>
              <a:spcAft>
                <a:spcPts val="200"/>
              </a:spcAft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en-US" altLang="zh-CN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drive.mount('/content/drive')</a:t>
            </a:r>
            <a:endParaRPr lang="en-US" altLang="zh-CN" sz="1800" spc="-1" dirty="0" err="1">
              <a:solidFill>
                <a:srgbClr val="0F0F0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286385" lvl="1" indent="-285750">
              <a:spcBef>
                <a:spcPts val="200"/>
              </a:spcBef>
              <a:spcAft>
                <a:spcPts val="200"/>
              </a:spcAft>
              <a:buClr>
                <a:srgbClr val="0F0F0F"/>
              </a:buClr>
              <a:buFont typeface="Wingdings" panose="05000000000000000000" pitchFamily="2" charset="2"/>
              <a:buChar char="v"/>
            </a:pPr>
            <a:endParaRPr lang="en-US" altLang="zh-CN" sz="1800" spc="-1" dirty="0" err="1">
              <a:solidFill>
                <a:srgbClr val="0F0F0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286385" lvl="1" indent="-285750">
              <a:spcBef>
                <a:spcPts val="200"/>
              </a:spcBef>
              <a:spcAft>
                <a:spcPts val="200"/>
              </a:spcAft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Two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types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of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file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paths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</a:t>
            </a:r>
            <a:endParaRPr lang="de-AT" sz="1800" spc="-1" dirty="0">
              <a:solidFill>
                <a:srgbClr val="0F0F0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743585" lvl="2" indent="-285750">
              <a:spcBef>
                <a:spcPts val="200"/>
              </a:spcBef>
              <a:spcAft>
                <a:spcPts val="200"/>
              </a:spcAft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Absolute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Paths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Full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path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over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the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whole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file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system</a:t>
            </a:r>
            <a:endParaRPr lang="de-AT" sz="1800" spc="-1" dirty="0">
              <a:solidFill>
                <a:srgbClr val="0F0F0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1200785" lvl="3" indent="-285750">
              <a:spcBef>
                <a:spcPts val="200"/>
              </a:spcBef>
              <a:spcAft>
                <a:spcPts val="200"/>
              </a:spcAft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en-US" altLang="zh-CN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file_path = '/content/drive/MyDrive/'</a:t>
            </a:r>
            <a:endParaRPr lang="de-AT" sz="1800" spc="-1" dirty="0">
              <a:solidFill>
                <a:srgbClr val="0F0F0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743585" lvl="2" indent="-285750">
              <a:spcBef>
                <a:spcPts val="200"/>
              </a:spcBef>
              <a:spcAft>
                <a:spcPts val="200"/>
              </a:spcAft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Relative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Paths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 Path relative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to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the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executable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file</a:t>
            </a:r>
            <a:endParaRPr lang="de-AT" sz="1800" spc="-1" dirty="0">
              <a:solidFill>
                <a:srgbClr val="0F0F0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1200785" lvl="3" indent="-285750">
              <a:spcBef>
                <a:spcPts val="200"/>
              </a:spcBef>
              <a:spcAft>
                <a:spcPts val="200"/>
              </a:spcAft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f_path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 = 'text.txt'</a:t>
            </a:r>
            <a:endParaRPr lang="de-AT" sz="1800" spc="-1" dirty="0">
              <a:solidFill>
                <a:srgbClr val="0F0F0F"/>
              </a:solidFill>
              <a:highlight>
                <a:srgbClr val="DAE3F3"/>
              </a:highlight>
              <a:latin typeface="Consolas" panose="020B0609020204030204" pitchFamily="49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1200785" lvl="3" indent="-285750">
              <a:spcBef>
                <a:spcPts val="200"/>
              </a:spcBef>
              <a:spcAft>
                <a:spcPts val="200"/>
              </a:spcAft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Subfolder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files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: 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path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 = '</a:t>
            </a:r>
            <a:r>
              <a:rPr lang="en-US" altLang="zh-CN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drive/MyDrive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/text.txt'</a:t>
            </a:r>
            <a:endParaRPr lang="de-AT" sz="1800" spc="-1" dirty="0">
              <a:solidFill>
                <a:srgbClr val="0F0F0F"/>
              </a:solidFill>
              <a:highlight>
                <a:srgbClr val="DAE3F3"/>
              </a:highlight>
              <a:latin typeface="Consolas" panose="020B0609020204030204" pitchFamily="49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286385" lvl="1" indent="-285750">
              <a:spcBef>
                <a:spcPts val="200"/>
              </a:spcBef>
              <a:spcAft>
                <a:spcPts val="200"/>
              </a:spcAft>
              <a:buClr>
                <a:srgbClr val="0F0F0F"/>
              </a:buClr>
              <a:buFont typeface="Wingdings" panose="05000000000000000000" pitchFamily="2" charset="2"/>
              <a:buChar char="v"/>
            </a:pPr>
            <a:endParaRPr lang="de-AT" sz="1800" spc="-1" dirty="0">
              <a:solidFill>
                <a:srgbClr val="0F0F0F"/>
              </a:solidFill>
              <a:highlight>
                <a:srgbClr val="DAE3F3"/>
              </a:highlight>
              <a:latin typeface="Consolas" panose="020B0609020204030204" pitchFamily="49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286385" lvl="1" indent="-285750">
              <a:spcBef>
                <a:spcPts val="200"/>
              </a:spcBef>
              <a:spcAft>
                <a:spcPts val="200"/>
              </a:spcAft>
              <a:buClr>
                <a:srgbClr val="0F0F0F"/>
              </a:buClr>
              <a:buFont typeface="Wingdings" panose="05000000000000000000" pitchFamily="2" charset="2"/>
              <a:buChar char="v"/>
            </a:pPr>
            <a:endParaRPr lang="de-AT" sz="1800" spc="-1" dirty="0">
              <a:solidFill>
                <a:srgbClr val="0F0F0F"/>
              </a:solidFill>
              <a:highlight>
                <a:srgbClr val="DAE3F3"/>
              </a:highlight>
              <a:latin typeface="Consolas" panose="020B0609020204030204" pitchFamily="49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1200785" lvl="3" indent="-285750">
              <a:spcBef>
                <a:spcPts val="200"/>
              </a:spcBef>
              <a:spcAft>
                <a:spcPts val="200"/>
              </a:spcAft>
              <a:buClr>
                <a:srgbClr val="0F0F0F"/>
              </a:buClr>
              <a:buFont typeface="Wingdings" panose="05000000000000000000" pitchFamily="2" charset="2"/>
              <a:buChar char="v"/>
            </a:pPr>
            <a:endParaRPr lang="de-AT" sz="1800" spc="-1" dirty="0">
              <a:solidFill>
                <a:srgbClr val="0F0F0F"/>
              </a:solidFill>
              <a:highlight>
                <a:srgbClr val="DAE3F3"/>
              </a:highlight>
              <a:latin typeface="Consolas" panose="020B0609020204030204" pitchFamily="49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9" name="Google Shape;86;p2"/>
          <p:cNvSpPr txBox="1"/>
          <p:nvPr/>
        </p:nvSpPr>
        <p:spPr>
          <a:xfrm>
            <a:off x="313944" y="227023"/>
            <a:ext cx="84582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>
            <a:pPr algn="r">
              <a:buClr>
                <a:schemeClr val="dk1"/>
              </a:buClr>
              <a:buSzPts val="2800"/>
            </a:pPr>
            <a:r>
              <a:rPr lang="en-US" sz="2800" b="1" dirty="0">
                <a:solidFill>
                  <a:schemeClr val="dk1"/>
                </a:solidFill>
                <a:latin typeface="Calibri" panose="020F0502020204030204"/>
                <a:cs typeface="Calibri" panose="020F0502020204030204"/>
                <a:sym typeface="Calibri" panose="020F0502020204030204"/>
              </a:rPr>
              <a:t>Paths </a:t>
            </a:r>
            <a:r>
              <a:rPr lang="en-US" sz="2800" b="1" dirty="0">
                <a:solidFill>
                  <a:schemeClr val="dk1"/>
                </a:solidFill>
                <a:latin typeface="Calibri" panose="020F0502020204030204"/>
                <a:cs typeface="Calibri" panose="020F0502020204030204"/>
                <a:sym typeface="Calibri" panose="020F0502020204030204"/>
              </a:rPr>
              <a:t>in Colab</a:t>
            </a:r>
            <a:endParaRPr lang="en-US" sz="2800" b="1" dirty="0">
              <a:solidFill>
                <a:schemeClr val="dk1"/>
              </a:solidFill>
              <a:latin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2" name="PlaceHolder 2"/>
          <p:cNvSpPr>
            <a:spLocks noGrp="1"/>
          </p:cNvSpPr>
          <p:nvPr/>
        </p:nvSpPr>
        <p:spPr>
          <a:xfrm>
            <a:off x="691515" y="4401185"/>
            <a:ext cx="7934325" cy="195199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>
            <a:pPr marL="743585" lvl="2" indent="-285750">
              <a:spcBef>
                <a:spcPts val="200"/>
              </a:spcBef>
              <a:spcAft>
                <a:spcPts val="200"/>
              </a:spcAft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en-US" altLang="zh-CN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+mn-ea"/>
              </a:rPr>
              <a:t>If you're not sure about the executable file path</a:t>
            </a:r>
            <a:endParaRPr lang="de-AT" sz="1800" spc="-1" dirty="0">
              <a:solidFill>
                <a:srgbClr val="0F0F0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1200785" lvl="3" indent="-285750">
              <a:spcBef>
                <a:spcPts val="200"/>
              </a:spcBef>
              <a:spcAft>
                <a:spcPts val="200"/>
              </a:spcAft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en-US" altLang="zh-CN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import os</a:t>
            </a:r>
            <a:endParaRPr lang="en-US" altLang="zh-CN" sz="1800" spc="-1" dirty="0">
              <a:solidFill>
                <a:srgbClr val="0F0F0F"/>
              </a:solidFill>
              <a:highlight>
                <a:srgbClr val="DAE3F3"/>
              </a:highlight>
              <a:latin typeface="Consolas" panose="020B0609020204030204" pitchFamily="49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1200785" lvl="3" indent="-285750">
              <a:spcBef>
                <a:spcPts val="200"/>
              </a:spcBef>
              <a:spcAft>
                <a:spcPts val="200"/>
              </a:spcAft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en-US" altLang="zh-CN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os.getcwd()</a:t>
            </a:r>
            <a:endParaRPr lang="en-US" altLang="zh-CN" sz="1800" spc="-1" dirty="0">
              <a:solidFill>
                <a:srgbClr val="0F0F0F"/>
              </a:solidFill>
              <a:highlight>
                <a:srgbClr val="DAE3F3"/>
              </a:highlight>
              <a:latin typeface="Consolas" panose="020B0609020204030204" pitchFamily="49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915035" lvl="3" indent="0">
              <a:spcBef>
                <a:spcPts val="200"/>
              </a:spcBef>
              <a:spcAft>
                <a:spcPts val="200"/>
              </a:spcAft>
              <a:buClr>
                <a:srgbClr val="0F0F0F"/>
              </a:buClr>
              <a:buFont typeface="Wingdings" panose="05000000000000000000" pitchFamily="2" charset="2"/>
            </a:pPr>
            <a:endParaRPr lang="en-US" altLang="zh-CN" sz="1800" spc="-1" dirty="0">
              <a:solidFill>
                <a:srgbClr val="0F0F0F"/>
              </a:solidFill>
              <a:highlight>
                <a:srgbClr val="DAE3F3"/>
              </a:highlight>
              <a:latin typeface="Consolas" panose="020B0609020204030204" pitchFamily="49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8" name="PlaceHolder 2"/>
          <p:cNvSpPr>
            <a:spLocks noGrp="1"/>
          </p:cNvSpPr>
          <p:nvPr>
            <p:ph type="body" idx="1"/>
          </p:nvPr>
        </p:nvSpPr>
        <p:spPr>
          <a:xfrm>
            <a:off x="619431" y="2142979"/>
            <a:ext cx="7934633" cy="1856207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86385" lvl="1" indent="-285750">
              <a:spcBef>
                <a:spcPts val="800"/>
              </a:spcBef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with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: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control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structure</a:t>
            </a:r>
            <a:endParaRPr lang="de-AT" sz="1800" spc="-1" dirty="0">
              <a:solidFill>
                <a:srgbClr val="0F0F0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743585" lvl="2" indent="-285750">
              <a:spcBef>
                <a:spcPts val="800"/>
              </a:spcBef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Combined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with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open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controls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</a:t>
            </a:r>
            <a:endParaRPr lang="de-AT" sz="1800" spc="-1" dirty="0">
              <a:solidFill>
                <a:srgbClr val="0F0F0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1200785" lvl="3" indent="-285750">
              <a:spcBef>
                <a:spcPts val="800"/>
              </a:spcBef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File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opening</a:t>
            </a:r>
            <a:endParaRPr lang="de-AT" sz="1800" spc="-1" dirty="0">
              <a:solidFill>
                <a:srgbClr val="0F0F0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1200785" lvl="3" indent="-285750">
              <a:spcBef>
                <a:spcPts val="800"/>
              </a:spcBef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Accessing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the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file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content</a:t>
            </a:r>
            <a:endParaRPr lang="de-AT" sz="1800" spc="-1" dirty="0">
              <a:solidFill>
                <a:srgbClr val="0F0F0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1200785" lvl="3" indent="-285750">
              <a:spcBef>
                <a:spcPts val="800"/>
              </a:spcBef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Automatic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closing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of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the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file</a:t>
            </a:r>
            <a:endParaRPr lang="de-AT" sz="1800" spc="-1" dirty="0">
              <a:solidFill>
                <a:srgbClr val="0F0F0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92" name="Textfeld 491"/>
          <p:cNvSpPr txBox="1"/>
          <p:nvPr/>
        </p:nvSpPr>
        <p:spPr>
          <a:xfrm>
            <a:off x="634547" y="4319752"/>
            <a:ext cx="7973310" cy="1198180"/>
          </a:xfrm>
          <a:prstGeom prst="rect">
            <a:avLst/>
          </a:prstGeom>
          <a:solidFill>
            <a:srgbClr val="DAE3F3"/>
          </a:solidFill>
          <a:ln w="0">
            <a:noFill/>
          </a:ln>
        </p:spPr>
        <p:txBody>
          <a:bodyPr lIns="63607" tIns="31804" rIns="63607" bIns="31804" anchor="t">
            <a:noAutofit/>
          </a:bodyPr>
          <a:lstStyle/>
          <a:p>
            <a:r>
              <a:rPr lang="en-US" sz="1800" b="1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 with</a:t>
            </a:r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 open(</a:t>
            </a:r>
            <a:r>
              <a:rPr lang="de-AT" sz="18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'test.txt'</a:t>
            </a:r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) </a:t>
            </a:r>
            <a:r>
              <a:rPr lang="en-US" sz="1800" b="1" spc="-1" dirty="0">
                <a:solidFill>
                  <a:srgbClr val="0F0F0F"/>
                </a:solidFill>
                <a:latin typeface="Consolas" panose="020B0609020204030204" pitchFamily="49" charset="0"/>
              </a:rPr>
              <a:t>as</a:t>
            </a:r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 </a:t>
            </a:r>
            <a:r>
              <a:rPr lang="en-US" sz="1800" i="1" spc="-1" dirty="0" err="1">
                <a:solidFill>
                  <a:srgbClr val="0F0F0F"/>
                </a:solidFill>
                <a:latin typeface="Consolas" panose="020B0609020204030204" pitchFamily="49" charset="0"/>
              </a:rPr>
              <a:t>file_obj</a:t>
            </a:r>
            <a:r>
              <a:rPr lang="en-US" sz="1800" b="1" spc="-1" dirty="0">
                <a:solidFill>
                  <a:srgbClr val="0F0F0F"/>
                </a:solidFill>
                <a:latin typeface="Consolas" panose="020B0609020204030204" pitchFamily="49" charset="0"/>
              </a:rPr>
              <a:t>:</a:t>
            </a:r>
            <a:endParaRPr lang="en-US" sz="1800" spc="-1" dirty="0">
              <a:latin typeface="Consolas" panose="020B0609020204030204" pitchFamily="49" charset="0"/>
            </a:endParaRPr>
          </a:p>
          <a:p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     # open() = return object representing file in Python</a:t>
            </a:r>
            <a:endParaRPr lang="en-US" sz="1800" spc="-1" dirty="0">
              <a:latin typeface="Consolas" panose="020B0609020204030204" pitchFamily="49" charset="0"/>
            </a:endParaRPr>
          </a:p>
          <a:p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     # </a:t>
            </a:r>
            <a:r>
              <a:rPr lang="en-US" sz="1800" spc="-1" dirty="0" err="1">
                <a:solidFill>
                  <a:srgbClr val="0F0F0F"/>
                </a:solidFill>
                <a:latin typeface="Consolas" panose="020B0609020204030204" pitchFamily="49" charset="0"/>
              </a:rPr>
              <a:t>file_obj</a:t>
            </a:r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 = variable where file object is stored</a:t>
            </a:r>
            <a:endParaRPr lang="en-US" sz="1800" spc="-1" dirty="0">
              <a:latin typeface="Consolas" panose="020B0609020204030204" pitchFamily="49" charset="0"/>
            </a:endParaRPr>
          </a:p>
          <a:p>
            <a:pPr>
              <a:lnSpc>
                <a:spcPct val="100000"/>
              </a:lnSpc>
            </a:pPr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     print(</a:t>
            </a:r>
            <a:r>
              <a:rPr lang="de-AT" sz="18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'Access </a:t>
            </a:r>
            <a:r>
              <a:rPr lang="de-AT" sz="1800" spc="-1" dirty="0" err="1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file</a:t>
            </a:r>
            <a:r>
              <a:rPr lang="de-AT" sz="18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 and </a:t>
            </a:r>
            <a:r>
              <a:rPr lang="de-AT" sz="1800" spc="-1" dirty="0" err="1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content</a:t>
            </a:r>
            <a:r>
              <a:rPr lang="de-AT" sz="18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now</a:t>
            </a:r>
            <a:r>
              <a:rPr lang="de-AT" sz="18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using</a:t>
            </a:r>
            <a:r>
              <a:rPr lang="de-AT" sz="18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 </a:t>
            </a:r>
            <a:r>
              <a:rPr lang="de-AT" sz="1800" i="1" spc="-1" dirty="0" err="1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file_obj</a:t>
            </a:r>
            <a:r>
              <a:rPr lang="de-AT" sz="18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')</a:t>
            </a:r>
            <a:endParaRPr lang="en-US" sz="1800" spc="-1" dirty="0">
              <a:latin typeface="Consolas" panose="020B0609020204030204" pitchFamily="49" charset="0"/>
            </a:endParaRPr>
          </a:p>
        </p:txBody>
      </p:sp>
      <p:sp>
        <p:nvSpPr>
          <p:cNvPr id="11" name="Google Shape;86;p2"/>
          <p:cNvSpPr txBox="1"/>
          <p:nvPr/>
        </p:nvSpPr>
        <p:spPr>
          <a:xfrm>
            <a:off x="313944" y="227023"/>
            <a:ext cx="84582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>
            <a:pPr algn="r">
              <a:buClr>
                <a:schemeClr val="dk1"/>
              </a:buClr>
              <a:buSzPts val="2800"/>
            </a:pPr>
            <a:r>
              <a:rPr lang="en-US" sz="2800" b="1" dirty="0">
                <a:solidFill>
                  <a:schemeClr val="dk1"/>
                </a:solidFill>
                <a:latin typeface="Calibri" panose="020F0502020204030204"/>
                <a:cs typeface="Calibri" panose="020F0502020204030204"/>
                <a:sym typeface="Calibri" panose="020F0502020204030204"/>
              </a:rPr>
              <a:t>Reading and writing files: File I/O</a:t>
            </a:r>
            <a:endParaRPr lang="en-US" dirty="0"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3" name="PlaceHolder 1"/>
          <p:cNvSpPr>
            <a:spLocks noGrp="1"/>
          </p:cNvSpPr>
          <p:nvPr>
            <p:ph type="body" idx="1"/>
          </p:nvPr>
        </p:nvSpPr>
        <p:spPr>
          <a:xfrm>
            <a:off x="619431" y="2142981"/>
            <a:ext cx="7934633" cy="150411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86385" lvl="1" indent="-285750">
              <a:spcBef>
                <a:spcPts val="200"/>
              </a:spcBef>
              <a:spcAft>
                <a:spcPts val="200"/>
              </a:spcAft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Lines in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text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files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are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separated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with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the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newline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character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(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'\n'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)</a:t>
            </a:r>
            <a:endParaRPr lang="de-AT" sz="1800" spc="-1" dirty="0">
              <a:solidFill>
                <a:srgbClr val="0F0F0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286385" lvl="1" indent="-285750">
              <a:spcBef>
                <a:spcPts val="200"/>
              </a:spcBef>
              <a:spcAft>
                <a:spcPts val="200"/>
              </a:spcAft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Example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 Reading a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text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file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(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'test.txt'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)</a:t>
            </a:r>
            <a:endParaRPr lang="de-AT" sz="1800" spc="-1" dirty="0">
              <a:solidFill>
                <a:srgbClr val="0F0F0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743585" lvl="2" indent="-285750">
              <a:spcBef>
                <a:spcPts val="200"/>
              </a:spcBef>
              <a:spcAft>
                <a:spcPts val="200"/>
              </a:spcAft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Default 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mode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is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'r'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and 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't'</a:t>
            </a:r>
            <a:endParaRPr lang="de-AT" sz="1800" spc="-1" dirty="0">
              <a:solidFill>
                <a:srgbClr val="0F0F0F"/>
              </a:solidFill>
              <a:highlight>
                <a:srgbClr val="DAE3F3"/>
              </a:highlight>
              <a:latin typeface="Consolas" panose="020B0609020204030204" pitchFamily="49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743585" lvl="2" indent="-285750">
              <a:spcBef>
                <a:spcPts val="200"/>
              </a:spcBef>
              <a:spcAft>
                <a:spcPts val="200"/>
              </a:spcAft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Reading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the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whole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content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 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read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()</a:t>
            </a:r>
            <a:endParaRPr lang="de-AT" sz="1800" spc="-1" dirty="0">
              <a:solidFill>
                <a:srgbClr val="0F0F0F"/>
              </a:solidFill>
              <a:highlight>
                <a:srgbClr val="DAE3F3"/>
              </a:highlight>
              <a:latin typeface="Consolas" panose="020B0609020204030204" pitchFamily="49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97" name="PlaceHolder 5"/>
          <p:cNvSpPr>
            <a:spLocks noGrp="1"/>
          </p:cNvSpPr>
          <p:nvPr>
            <p:ph type="sldNum" idx="72"/>
          </p:nvPr>
        </p:nvSpPr>
        <p:spPr>
          <a:xfrm>
            <a:off x="0" y="1143000"/>
            <a:ext cx="431800" cy="433388"/>
          </a:xfrm>
          <a:prstGeom prst="rect">
            <a:avLst/>
          </a:prstGeom>
          <a:noFill/>
          <a:ln w="0">
            <a:noFill/>
          </a:ln>
        </p:spPr>
        <p:txBody>
          <a:bodyPr lIns="0" tIns="45797" rIns="0" bIns="45797" anchor="ctr">
            <a:noAutofit/>
          </a:bodyPr>
          <a:lstStyle>
            <a:lvl1pPr indent="0" algn="ctr">
              <a:lnSpc>
                <a:spcPct val="100000"/>
              </a:lnSpc>
              <a:buNone/>
              <a:defRPr lang="en-US" sz="990" b="0" strike="noStrike" spc="-1">
                <a:solidFill>
                  <a:srgbClr val="FFFFFF"/>
                </a:solidFill>
                <a:latin typeface="Arial" panose="020B0604020202020204"/>
              </a:defRPr>
            </a:lvl1pPr>
          </a:lstStyle>
          <a:p>
            <a:fld id="{6BC67CA6-E0B2-4728-84E9-29E1FDDF4E9B}" type="slidenum">
              <a:rPr lang="en-US"/>
            </a:fld>
            <a:endParaRPr lang="en-US">
              <a:latin typeface="Times New Roman" panose="02020603050405020304"/>
            </a:endParaRPr>
          </a:p>
        </p:txBody>
      </p:sp>
      <p:sp>
        <p:nvSpPr>
          <p:cNvPr id="498" name="Textfeld 497"/>
          <p:cNvSpPr txBox="1"/>
          <p:nvPr/>
        </p:nvSpPr>
        <p:spPr>
          <a:xfrm>
            <a:off x="590007" y="3804626"/>
            <a:ext cx="8142760" cy="1741087"/>
          </a:xfrm>
          <a:prstGeom prst="rect">
            <a:avLst/>
          </a:prstGeom>
          <a:solidFill>
            <a:srgbClr val="DAE3F3"/>
          </a:solidFill>
          <a:ln w="0">
            <a:noFill/>
          </a:ln>
        </p:spPr>
        <p:txBody>
          <a:bodyPr lIns="63607" tIns="31804" rIns="63607" bIns="31804" anchor="t">
            <a:noAutofit/>
          </a:bodyPr>
          <a:lstStyle/>
          <a:p>
            <a:r>
              <a:rPr lang="en-US" sz="1800" b="1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with</a:t>
            </a:r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 open(</a:t>
            </a:r>
            <a:r>
              <a:rPr lang="de-AT" sz="18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'test.txt'</a:t>
            </a:r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) </a:t>
            </a:r>
            <a:r>
              <a:rPr lang="en-US" sz="1800" b="1" spc="-1" dirty="0">
                <a:solidFill>
                  <a:srgbClr val="0F0F0F"/>
                </a:solidFill>
                <a:latin typeface="Consolas" panose="020B0609020204030204" pitchFamily="49" charset="0"/>
              </a:rPr>
              <a:t>as</a:t>
            </a:r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 </a:t>
            </a:r>
            <a:r>
              <a:rPr lang="en-US" sz="1800" i="1" spc="-1" dirty="0" err="1">
                <a:solidFill>
                  <a:srgbClr val="0F0F0F"/>
                </a:solidFill>
                <a:latin typeface="Consolas" panose="020B0609020204030204" pitchFamily="49" charset="0"/>
              </a:rPr>
              <a:t>file_obj</a:t>
            </a:r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:</a:t>
            </a:r>
            <a:endParaRPr lang="en-US" sz="1800" spc="-1" dirty="0">
              <a:latin typeface="Consolas" panose="020B0609020204030204" pitchFamily="49" charset="0"/>
            </a:endParaRPr>
          </a:p>
          <a:p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    # open() = return object representing file in Python</a:t>
            </a:r>
            <a:endParaRPr lang="en-US" sz="1800" spc="-1" dirty="0">
              <a:latin typeface="Consolas" panose="020B0609020204030204" pitchFamily="49" charset="0"/>
            </a:endParaRPr>
          </a:p>
          <a:p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    # </a:t>
            </a:r>
            <a:r>
              <a:rPr lang="en-US" sz="1800" spc="-1" dirty="0" err="1">
                <a:solidFill>
                  <a:srgbClr val="0F0F0F"/>
                </a:solidFill>
                <a:latin typeface="Consolas" panose="020B0609020204030204" pitchFamily="49" charset="0"/>
              </a:rPr>
              <a:t>file_obj</a:t>
            </a:r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 = variable where file object is stored</a:t>
            </a:r>
            <a:endParaRPr lang="en-US" sz="1800" spc="-1" dirty="0">
              <a:latin typeface="Consolas" panose="020B0609020204030204" pitchFamily="49" charset="0"/>
            </a:endParaRPr>
          </a:p>
          <a:p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    </a:t>
            </a:r>
            <a:r>
              <a:rPr lang="en-US" sz="1800" spc="-1" dirty="0" err="1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file_content</a:t>
            </a:r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 = </a:t>
            </a:r>
            <a:r>
              <a:rPr lang="en-US" sz="1800" i="1" spc="-1" dirty="0" err="1">
                <a:solidFill>
                  <a:srgbClr val="0F0F0F"/>
                </a:solidFill>
                <a:latin typeface="Consolas" panose="020B0609020204030204" pitchFamily="49" charset="0"/>
              </a:rPr>
              <a:t>file_obj</a:t>
            </a:r>
            <a:r>
              <a:rPr lang="en-US" sz="1800" spc="-1" dirty="0" err="1">
                <a:solidFill>
                  <a:srgbClr val="0F0F0F"/>
                </a:solidFill>
                <a:latin typeface="Consolas" panose="020B0609020204030204" pitchFamily="49" charset="0"/>
              </a:rPr>
              <a:t>.read</a:t>
            </a:r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() # read from file object</a:t>
            </a:r>
            <a:endParaRPr lang="en-US" sz="1800" spc="-1" dirty="0">
              <a:latin typeface="Consolas" panose="020B0609020204030204" pitchFamily="49" charset="0"/>
            </a:endParaRPr>
          </a:p>
          <a:p>
            <a:endParaRPr lang="en-US" sz="1800" spc="-1" dirty="0">
              <a:latin typeface="Consolas" panose="020B0609020204030204" pitchFamily="49" charset="0"/>
            </a:endParaRPr>
          </a:p>
          <a:p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print(</a:t>
            </a:r>
            <a:r>
              <a:rPr lang="en-US" sz="1800" spc="-1" dirty="0" err="1">
                <a:solidFill>
                  <a:srgbClr val="0F0F0F"/>
                </a:solidFill>
                <a:latin typeface="Consolas" panose="020B0609020204030204" pitchFamily="49" charset="0"/>
              </a:rPr>
              <a:t>file_content</a:t>
            </a:r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)</a:t>
            </a:r>
            <a:endParaRPr lang="en-US" sz="1800" spc="-1" dirty="0">
              <a:latin typeface="Consolas" panose="020B0609020204030204" pitchFamily="49" charset="0"/>
            </a:endParaRPr>
          </a:p>
        </p:txBody>
      </p:sp>
      <p:sp>
        <p:nvSpPr>
          <p:cNvPr id="10" name="Google Shape;86;p2"/>
          <p:cNvSpPr txBox="1"/>
          <p:nvPr/>
        </p:nvSpPr>
        <p:spPr>
          <a:xfrm>
            <a:off x="313944" y="179726"/>
            <a:ext cx="84582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>
            <a:pPr algn="r">
              <a:buClr>
                <a:schemeClr val="dk1"/>
              </a:buClr>
              <a:buSzPts val="2800"/>
            </a:pPr>
            <a:r>
              <a:rPr lang="en-US" sz="2800" b="1" dirty="0">
                <a:solidFill>
                  <a:schemeClr val="dk1"/>
                </a:solidFill>
                <a:latin typeface="Calibri" panose="020F0502020204030204"/>
                <a:cs typeface="Calibri" panose="020F0502020204030204"/>
                <a:sym typeface="Calibri" panose="020F0502020204030204"/>
              </a:rPr>
              <a:t>Reading text files</a:t>
            </a:r>
            <a:endParaRPr lang="en-US" dirty="0"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9" name="PlaceHolder 1"/>
          <p:cNvSpPr>
            <a:spLocks noGrp="1"/>
          </p:cNvSpPr>
          <p:nvPr>
            <p:ph type="body" idx="1"/>
          </p:nvPr>
        </p:nvSpPr>
        <p:spPr>
          <a:xfrm>
            <a:off x="619431" y="2142979"/>
            <a:ext cx="7934633" cy="1142777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86385" lvl="1" indent="-285750">
              <a:spcBef>
                <a:spcPts val="200"/>
              </a:spcBef>
              <a:spcAft>
                <a:spcPts val="200"/>
              </a:spcAft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Example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 Reading a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text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file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(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'test.txt'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)</a:t>
            </a:r>
            <a:endParaRPr lang="de-AT" sz="1800" spc="-1" dirty="0">
              <a:solidFill>
                <a:srgbClr val="0F0F0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743585" lvl="2" indent="-285750">
              <a:spcBef>
                <a:spcPts val="200"/>
              </a:spcBef>
              <a:spcAft>
                <a:spcPts val="200"/>
              </a:spcAft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Default 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mode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is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'r'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and 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't'</a:t>
            </a:r>
            <a:endParaRPr lang="de-AT" sz="1800" spc="-1" dirty="0">
              <a:solidFill>
                <a:srgbClr val="0F0F0F"/>
              </a:solidFill>
              <a:highlight>
                <a:srgbClr val="DAE3F3"/>
              </a:highlight>
              <a:latin typeface="Consolas" panose="020B0609020204030204" pitchFamily="49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743585" lvl="2" indent="-285750">
              <a:spcBef>
                <a:spcPts val="200"/>
              </a:spcBef>
              <a:spcAft>
                <a:spcPts val="200"/>
              </a:spcAft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Reading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one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line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at a time: 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for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loop</a:t>
            </a:r>
            <a:endParaRPr lang="de-AT" sz="1800" spc="-1" dirty="0">
              <a:solidFill>
                <a:srgbClr val="0F0F0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04" name="Textfeld 503"/>
          <p:cNvSpPr txBox="1"/>
          <p:nvPr/>
        </p:nvSpPr>
        <p:spPr>
          <a:xfrm>
            <a:off x="634547" y="3572244"/>
            <a:ext cx="8142760" cy="1346597"/>
          </a:xfrm>
          <a:prstGeom prst="rect">
            <a:avLst/>
          </a:prstGeom>
          <a:solidFill>
            <a:srgbClr val="DAE3F3"/>
          </a:solidFill>
          <a:ln w="0">
            <a:noFill/>
          </a:ln>
        </p:spPr>
        <p:txBody>
          <a:bodyPr lIns="63607" tIns="31804" rIns="63607" bIns="31804" anchor="t">
            <a:noAutofit/>
          </a:bodyPr>
          <a:lstStyle/>
          <a:p>
            <a:r>
              <a:rPr lang="en-US" sz="1800" b="1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with</a:t>
            </a:r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 open(</a:t>
            </a:r>
            <a:r>
              <a:rPr lang="de-AT" sz="18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'test.txt'</a:t>
            </a:r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) </a:t>
            </a:r>
            <a:r>
              <a:rPr lang="en-US" sz="1800" b="1" spc="-1" dirty="0">
                <a:solidFill>
                  <a:srgbClr val="0F0F0F"/>
                </a:solidFill>
                <a:latin typeface="Consolas" panose="020B0609020204030204" pitchFamily="49" charset="0"/>
              </a:rPr>
              <a:t>as</a:t>
            </a:r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 </a:t>
            </a:r>
            <a:r>
              <a:rPr lang="en-US" sz="1800" spc="-1" dirty="0" err="1">
                <a:solidFill>
                  <a:srgbClr val="0F0F0F"/>
                </a:solidFill>
                <a:latin typeface="Consolas" panose="020B0609020204030204" pitchFamily="49" charset="0"/>
              </a:rPr>
              <a:t>file_obj</a:t>
            </a:r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:</a:t>
            </a:r>
            <a:endParaRPr lang="en-US" sz="1800" spc="-1" dirty="0">
              <a:latin typeface="Consolas" panose="020B0609020204030204" pitchFamily="49" charset="0"/>
            </a:endParaRPr>
          </a:p>
          <a:p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    </a:t>
            </a:r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# Iterating over object = Iterating over lines</a:t>
            </a:r>
            <a:endParaRPr lang="en-US" sz="1800" spc="-1" dirty="0">
              <a:latin typeface="Consolas" panose="020B0609020204030204" pitchFamily="49" charset="0"/>
            </a:endParaRPr>
          </a:p>
          <a:p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    </a:t>
            </a:r>
            <a:r>
              <a:rPr lang="en-US" sz="1800" b="1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for</a:t>
            </a:r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 line </a:t>
            </a:r>
            <a:r>
              <a:rPr lang="en-US" sz="1800" b="1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in</a:t>
            </a:r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 </a:t>
            </a:r>
            <a:r>
              <a:rPr lang="en-US" sz="1800" spc="-1" dirty="0" err="1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file_obj</a:t>
            </a:r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:</a:t>
            </a:r>
            <a:endParaRPr lang="en-US" sz="1800" spc="-1" dirty="0">
              <a:latin typeface="Consolas" panose="020B0609020204030204" pitchFamily="49" charset="0"/>
            </a:endParaRPr>
          </a:p>
          <a:p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        print(line)</a:t>
            </a:r>
            <a:endParaRPr lang="en-US" sz="1800" spc="-1" dirty="0">
              <a:latin typeface="Consolas" panose="020B0609020204030204" pitchFamily="49" charset="0"/>
            </a:endParaRPr>
          </a:p>
        </p:txBody>
      </p:sp>
      <p:sp>
        <p:nvSpPr>
          <p:cNvPr id="10" name="Google Shape;86;p2"/>
          <p:cNvSpPr txBox="1"/>
          <p:nvPr/>
        </p:nvSpPr>
        <p:spPr>
          <a:xfrm>
            <a:off x="313944" y="179726"/>
            <a:ext cx="84582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>
            <a:pPr algn="r">
              <a:buClr>
                <a:schemeClr val="dk1"/>
              </a:buClr>
              <a:buSzPts val="2800"/>
            </a:pPr>
            <a:r>
              <a:rPr lang="en-US" sz="2800" b="1" dirty="0">
                <a:solidFill>
                  <a:schemeClr val="dk1"/>
                </a:solidFill>
                <a:latin typeface="Calibri" panose="020F0502020204030204"/>
                <a:cs typeface="Calibri" panose="020F0502020204030204"/>
                <a:sym typeface="Calibri" panose="020F0502020204030204"/>
              </a:rPr>
              <a:t>Reading text files line by line</a:t>
            </a:r>
            <a:endParaRPr lang="en-US" dirty="0"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5" name="PlaceHolder 1"/>
          <p:cNvSpPr>
            <a:spLocks noGrp="1"/>
          </p:cNvSpPr>
          <p:nvPr>
            <p:ph/>
          </p:nvPr>
        </p:nvSpPr>
        <p:spPr>
          <a:xfrm>
            <a:off x="622335" y="1848231"/>
            <a:ext cx="8295927" cy="11892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86385" lvl="1" indent="-285750">
              <a:spcBef>
                <a:spcPts val="200"/>
              </a:spcBef>
              <a:spcAft>
                <a:spcPts val="200"/>
              </a:spcAft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Example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 Reading a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text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file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(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'test.txt'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)</a:t>
            </a:r>
            <a:endParaRPr lang="de-AT" sz="1800" spc="-1" dirty="0">
              <a:solidFill>
                <a:srgbClr val="0F0F0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743585" lvl="2" indent="-285750">
              <a:spcBef>
                <a:spcPts val="200"/>
              </a:spcBef>
              <a:spcAft>
                <a:spcPts val="200"/>
              </a:spcAft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Default 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mode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is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'r'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and 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't'</a:t>
            </a:r>
            <a:endParaRPr lang="de-AT" sz="1800" spc="-1" dirty="0">
              <a:solidFill>
                <a:srgbClr val="0F0F0F"/>
              </a:solidFill>
              <a:highlight>
                <a:srgbClr val="DAE3F3"/>
              </a:highlight>
              <a:latin typeface="Consolas" panose="020B0609020204030204" pitchFamily="49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743585" lvl="2" indent="-285750">
              <a:spcBef>
                <a:spcPts val="200"/>
              </a:spcBef>
              <a:spcAft>
                <a:spcPts val="200"/>
              </a:spcAft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Reading all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lines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at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once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 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readlines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()</a:t>
            </a:r>
            <a:endParaRPr lang="de-AT" sz="1800" spc="-1" dirty="0">
              <a:solidFill>
                <a:srgbClr val="0F0F0F"/>
              </a:solidFill>
              <a:highlight>
                <a:srgbClr val="DAE3F3"/>
              </a:highlight>
              <a:latin typeface="Consolas" panose="020B0609020204030204" pitchFamily="49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10" name="Textfeld 509"/>
          <p:cNvSpPr txBox="1"/>
          <p:nvPr/>
        </p:nvSpPr>
        <p:spPr>
          <a:xfrm>
            <a:off x="634547" y="3454443"/>
            <a:ext cx="8142760" cy="1564247"/>
          </a:xfrm>
          <a:prstGeom prst="rect">
            <a:avLst/>
          </a:prstGeom>
          <a:solidFill>
            <a:srgbClr val="DAE3F3"/>
          </a:solidFill>
          <a:ln w="0">
            <a:noFill/>
          </a:ln>
        </p:spPr>
        <p:txBody>
          <a:bodyPr lIns="63607" tIns="31804" rIns="63607" bIns="31804" anchor="t">
            <a:noAutofit/>
          </a:bodyPr>
          <a:lstStyle/>
          <a:p>
            <a:r>
              <a:rPr lang="en-US" sz="1800" b="1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with</a:t>
            </a:r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 open(</a:t>
            </a:r>
            <a:r>
              <a:rPr lang="de-AT" sz="18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'test.txt'</a:t>
            </a:r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) </a:t>
            </a:r>
            <a:r>
              <a:rPr lang="en-US" sz="1800" b="1" spc="-1" dirty="0">
                <a:solidFill>
                  <a:srgbClr val="0F0F0F"/>
                </a:solidFill>
                <a:latin typeface="Consolas" panose="020B0609020204030204" pitchFamily="49" charset="0"/>
              </a:rPr>
              <a:t>as</a:t>
            </a:r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 </a:t>
            </a:r>
            <a:r>
              <a:rPr lang="en-US" sz="1800" spc="-1" dirty="0" err="1">
                <a:solidFill>
                  <a:srgbClr val="0F0F0F"/>
                </a:solidFill>
                <a:latin typeface="Consolas" panose="020B0609020204030204" pitchFamily="49" charset="0"/>
              </a:rPr>
              <a:t>file_obj</a:t>
            </a:r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:</a:t>
            </a:r>
            <a:endParaRPr lang="en-US" sz="1800" spc="-1" dirty="0">
              <a:latin typeface="Consolas" panose="020B0609020204030204" pitchFamily="49" charset="0"/>
            </a:endParaRPr>
          </a:p>
          <a:p>
            <a:r>
              <a:rPr lang="de-AT" sz="18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    # </a:t>
            </a:r>
            <a:r>
              <a:rPr lang="de-AT" sz="1800" spc="-1" dirty="0" err="1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store</a:t>
            </a:r>
            <a:r>
              <a:rPr lang="de-AT" sz="18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lines</a:t>
            </a:r>
            <a:r>
              <a:rPr lang="de-AT" sz="18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from</a:t>
            </a:r>
            <a:r>
              <a:rPr lang="de-AT" sz="18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text</a:t>
            </a:r>
            <a:r>
              <a:rPr lang="de-AT" sz="18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 in </a:t>
            </a:r>
            <a:r>
              <a:rPr lang="de-AT" sz="1800" spc="-1" dirty="0" err="1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list</a:t>
            </a:r>
            <a:r>
              <a:rPr lang="de-AT" sz="18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:</a:t>
            </a:r>
            <a:endParaRPr lang="en-US" sz="1800" spc="-1" dirty="0">
              <a:latin typeface="Consolas" panose="020B0609020204030204" pitchFamily="49" charset="0"/>
            </a:endParaRPr>
          </a:p>
          <a:p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    lines = </a:t>
            </a:r>
            <a:r>
              <a:rPr lang="en-US" sz="1800" spc="-1" dirty="0" err="1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file_obj</a:t>
            </a:r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.</a:t>
            </a:r>
            <a:r>
              <a:rPr lang="de-AT" sz="1800" spc="-1" dirty="0" err="1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readlines</a:t>
            </a:r>
            <a:r>
              <a:rPr lang="de-AT" sz="18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()</a:t>
            </a:r>
            <a:endParaRPr lang="en-US" sz="1800" spc="-1" dirty="0">
              <a:latin typeface="Consolas" panose="020B0609020204030204" pitchFamily="49" charset="0"/>
            </a:endParaRPr>
          </a:p>
          <a:p>
            <a:endParaRPr lang="en-US" sz="1800" spc="-1" dirty="0">
              <a:latin typeface="Consolas" panose="020B0609020204030204" pitchFamily="49" charset="0"/>
            </a:endParaRPr>
          </a:p>
          <a:p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print(f</a:t>
            </a:r>
            <a:r>
              <a:rPr lang="de-AT" sz="18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'The </a:t>
            </a:r>
            <a:r>
              <a:rPr lang="de-AT" sz="1800" spc="-1" dirty="0" err="1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list</a:t>
            </a:r>
            <a:r>
              <a:rPr lang="de-AT" sz="18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of</a:t>
            </a:r>
            <a:r>
              <a:rPr lang="de-AT" sz="18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lines</a:t>
            </a:r>
            <a:r>
              <a:rPr lang="de-AT" sz="18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is</a:t>
            </a:r>
            <a:r>
              <a:rPr lang="de-AT" sz="18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 {</a:t>
            </a:r>
            <a:r>
              <a:rPr lang="de-AT" sz="1800" spc="-1" dirty="0" err="1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lines</a:t>
            </a:r>
            <a:r>
              <a:rPr lang="de-AT" sz="18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}')</a:t>
            </a:r>
            <a:endParaRPr lang="en-US" sz="1800" spc="-1" dirty="0">
              <a:latin typeface="Consolas" panose="020B0609020204030204" pitchFamily="49" charset="0"/>
            </a:endParaRPr>
          </a:p>
        </p:txBody>
      </p:sp>
      <p:sp>
        <p:nvSpPr>
          <p:cNvPr id="8" name="Google Shape;86;p2"/>
          <p:cNvSpPr txBox="1"/>
          <p:nvPr/>
        </p:nvSpPr>
        <p:spPr>
          <a:xfrm>
            <a:off x="313944" y="179727"/>
            <a:ext cx="84582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>
            <a:pPr algn="r">
              <a:buClr>
                <a:schemeClr val="dk1"/>
              </a:buClr>
              <a:buSzPts val="2800"/>
            </a:pPr>
            <a:r>
              <a:rPr lang="en-US" sz="2800" b="1" dirty="0">
                <a:solidFill>
                  <a:schemeClr val="dk1"/>
                </a:solidFill>
                <a:latin typeface="Calibri" panose="020F0502020204030204"/>
                <a:cs typeface="Calibri" panose="020F0502020204030204"/>
                <a:sym typeface="Calibri" panose="020F0502020204030204"/>
              </a:rPr>
              <a:t>Reading all lines at once</a:t>
            </a:r>
            <a:endParaRPr lang="en-US" dirty="0"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" name="PlaceHolder 2"/>
          <p:cNvSpPr>
            <a:spLocks noGrp="1"/>
          </p:cNvSpPr>
          <p:nvPr>
            <p:ph type="body" idx="1"/>
          </p:nvPr>
        </p:nvSpPr>
        <p:spPr>
          <a:xfrm>
            <a:off x="619431" y="2142980"/>
            <a:ext cx="7934633" cy="1483089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86385" lvl="1" indent="-285750">
              <a:spcBef>
                <a:spcPts val="200"/>
              </a:spcBef>
              <a:spcAft>
                <a:spcPts val="200"/>
              </a:spcAft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Example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 Writing a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text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file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(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'test.txt'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)</a:t>
            </a:r>
            <a:endParaRPr lang="de-AT" sz="1800" spc="-1" dirty="0">
              <a:solidFill>
                <a:srgbClr val="0F0F0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743585" lvl="2" indent="-285750">
              <a:spcBef>
                <a:spcPts val="200"/>
              </a:spcBef>
              <a:spcAft>
                <a:spcPts val="200"/>
              </a:spcAft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Setting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the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writing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mode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as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'w'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,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default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file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type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is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't'</a:t>
            </a:r>
            <a:endParaRPr lang="de-AT" sz="1800" spc="-1" dirty="0">
              <a:solidFill>
                <a:srgbClr val="0F0F0F"/>
              </a:solidFill>
              <a:highlight>
                <a:srgbClr val="DAE3F3"/>
              </a:highlight>
              <a:latin typeface="Consolas" panose="020B0609020204030204" pitchFamily="49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743585" lvl="2" indent="-285750">
              <a:spcBef>
                <a:spcPts val="200"/>
              </a:spcBef>
              <a:spcAft>
                <a:spcPts val="200"/>
              </a:spcAft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Append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content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instead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of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overwriting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 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'a'</a:t>
            </a:r>
            <a:endParaRPr lang="de-AT" sz="1800" spc="-1" dirty="0">
              <a:solidFill>
                <a:srgbClr val="0F0F0F"/>
              </a:solidFill>
              <a:highlight>
                <a:srgbClr val="DAE3F3"/>
              </a:highlight>
              <a:latin typeface="Consolas" panose="020B0609020204030204" pitchFamily="49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743585" lvl="2" indent="-285750">
              <a:spcBef>
                <a:spcPts val="200"/>
              </a:spcBef>
              <a:spcAft>
                <a:spcPts val="200"/>
              </a:spcAft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Writing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characters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 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write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()</a:t>
            </a:r>
            <a:endParaRPr lang="de-AT" sz="1800" spc="-1" dirty="0">
              <a:solidFill>
                <a:srgbClr val="0F0F0F"/>
              </a:solidFill>
              <a:highlight>
                <a:srgbClr val="DAE3F3"/>
              </a:highlight>
              <a:latin typeface="Consolas" panose="020B0609020204030204" pitchFamily="49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16" name="Textfeld 515"/>
          <p:cNvSpPr txBox="1"/>
          <p:nvPr/>
        </p:nvSpPr>
        <p:spPr>
          <a:xfrm>
            <a:off x="710876" y="4139876"/>
            <a:ext cx="8142760" cy="1598772"/>
          </a:xfrm>
          <a:prstGeom prst="rect">
            <a:avLst/>
          </a:prstGeom>
          <a:solidFill>
            <a:srgbClr val="DAE3F3"/>
          </a:solidFill>
          <a:ln w="0">
            <a:noFill/>
          </a:ln>
        </p:spPr>
        <p:txBody>
          <a:bodyPr lIns="63607" tIns="31804" rIns="63607" bIns="31804" anchor="t">
            <a:noAutofit/>
          </a:bodyPr>
          <a:lstStyle/>
          <a:p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filename = </a:t>
            </a:r>
            <a:r>
              <a:rPr lang="de-AT" sz="18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'test_write.txt'</a:t>
            </a:r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 </a:t>
            </a:r>
            <a:endParaRPr lang="en-US" sz="1800" spc="-1" dirty="0">
              <a:latin typeface="Consolas" panose="020B0609020204030204" pitchFamily="49" charset="0"/>
            </a:endParaRPr>
          </a:p>
          <a:p>
            <a:r>
              <a:rPr lang="en-US" sz="1800" b="1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with</a:t>
            </a:r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 open(filename</a:t>
            </a:r>
            <a:r>
              <a:rPr lang="de-AT" sz="18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, 'w'</a:t>
            </a:r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) </a:t>
            </a:r>
            <a:r>
              <a:rPr lang="en-US" sz="1800" b="1" spc="-1" dirty="0">
                <a:solidFill>
                  <a:srgbClr val="0F0F0F"/>
                </a:solidFill>
                <a:latin typeface="Consolas" panose="020B0609020204030204" pitchFamily="49" charset="0"/>
              </a:rPr>
              <a:t>as</a:t>
            </a:r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 </a:t>
            </a:r>
            <a:r>
              <a:rPr lang="en-US" sz="1800" spc="-1" dirty="0" err="1">
                <a:solidFill>
                  <a:srgbClr val="0F0F0F"/>
                </a:solidFill>
                <a:latin typeface="Consolas" panose="020B0609020204030204" pitchFamily="49" charset="0"/>
              </a:rPr>
              <a:t>file_obj</a:t>
            </a:r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:</a:t>
            </a:r>
            <a:endParaRPr lang="en-US" sz="1800" spc="-1" dirty="0">
              <a:latin typeface="Consolas" panose="020B0609020204030204" pitchFamily="49" charset="0"/>
            </a:endParaRPr>
          </a:p>
          <a:p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    </a:t>
            </a:r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# Note the newline char (\n)</a:t>
            </a:r>
            <a:endParaRPr lang="en-US" sz="1800" spc="-1" dirty="0">
              <a:latin typeface="Consolas" panose="020B0609020204030204" pitchFamily="49" charset="0"/>
            </a:endParaRPr>
          </a:p>
          <a:p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    </a:t>
            </a:r>
            <a:r>
              <a:rPr lang="en-US" sz="1800" spc="-1" dirty="0" err="1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file_obj.write</a:t>
            </a:r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(</a:t>
            </a:r>
            <a:r>
              <a:rPr lang="de-AT" sz="18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'I </a:t>
            </a:r>
            <a:r>
              <a:rPr lang="de-AT" sz="1800" spc="-1" dirty="0" err="1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love</a:t>
            </a:r>
            <a:r>
              <a:rPr lang="de-AT" sz="18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Programming</a:t>
            </a:r>
            <a:r>
              <a:rPr lang="de-AT" sz="18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.\n'</a:t>
            </a:r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)</a:t>
            </a:r>
            <a:endParaRPr lang="en-US" sz="1800" spc="-1" dirty="0">
              <a:latin typeface="Consolas" panose="020B0609020204030204" pitchFamily="49" charset="0"/>
            </a:endParaRPr>
          </a:p>
          <a:p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    </a:t>
            </a:r>
            <a:r>
              <a:rPr lang="en-US" sz="1800" spc="-1" dirty="0" err="1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file_obj.write</a:t>
            </a:r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(</a:t>
            </a:r>
            <a:r>
              <a:rPr lang="de-AT" sz="18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'I do not like Maths.\n'</a:t>
            </a:r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)</a:t>
            </a:r>
            <a:endParaRPr lang="en-US" sz="1800" spc="-1" dirty="0">
              <a:latin typeface="Consolas" panose="020B0609020204030204" pitchFamily="49" charset="0"/>
            </a:endParaRPr>
          </a:p>
        </p:txBody>
      </p:sp>
      <p:sp>
        <p:nvSpPr>
          <p:cNvPr id="10" name="Google Shape;86;p2"/>
          <p:cNvSpPr txBox="1"/>
          <p:nvPr/>
        </p:nvSpPr>
        <p:spPr>
          <a:xfrm>
            <a:off x="313944" y="179727"/>
            <a:ext cx="84582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>
            <a:pPr algn="r">
              <a:buClr>
                <a:schemeClr val="dk1"/>
              </a:buClr>
              <a:buSzPts val="2800"/>
            </a:pPr>
            <a:r>
              <a:rPr lang="en-US" sz="2800" b="1" dirty="0">
                <a:solidFill>
                  <a:schemeClr val="dk1"/>
                </a:solidFill>
                <a:latin typeface="Calibri" panose="020F0502020204030204"/>
                <a:cs typeface="Calibri" panose="020F0502020204030204"/>
                <a:sym typeface="Calibri" panose="020F0502020204030204"/>
              </a:rPr>
              <a:t>Writing text files</a:t>
            </a:r>
            <a:endParaRPr lang="en-US" dirty="0"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/>
          <p:cNvSpPr>
            <a:spLocks noGrp="1"/>
          </p:cNvSpPr>
          <p:nvPr>
            <p:ph type="title"/>
          </p:nvPr>
        </p:nvSpPr>
        <p:spPr>
          <a:xfrm>
            <a:off x="457200" y="2858400"/>
            <a:ext cx="8229300" cy="1144800"/>
          </a:xfrm>
        </p:spPr>
        <p:txBody>
          <a:bodyPr/>
          <a:lstStyle/>
          <a:p>
            <a:pPr algn="ctr"/>
            <a:r>
              <a:rPr lang="en-US" sz="4400" b="1" dirty="0">
                <a:latin typeface="Calibri" panose="020F0502020204030204" pitchFamily="34" charset="0"/>
                <a:cs typeface="Calibri" panose="020F0502020204030204" pitchFamily="34" charset="0"/>
              </a:rPr>
              <a:t>CSV files and module imports</a:t>
            </a:r>
            <a:endParaRPr lang="de-AT" sz="4400" dirty="0"/>
          </a:p>
        </p:txBody>
      </p:sp>
      <p:sp>
        <p:nvSpPr>
          <p:cNvPr id="87" name="Google Shape;87;p2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>
              <a:spcBef>
                <a:spcPts val="640"/>
              </a:spcBef>
            </a:pPr>
            <a:endParaRPr lang="en-US" sz="1800" noProof="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0" indent="0">
              <a:spcBef>
                <a:spcPts val="640"/>
              </a:spcBef>
            </a:pPr>
            <a:endParaRPr lang="en-US" sz="1800" noProof="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3" name="PlaceHolder 2"/>
          <p:cNvSpPr>
            <a:spLocks noGrp="1"/>
          </p:cNvSpPr>
          <p:nvPr>
            <p:ph/>
          </p:nvPr>
        </p:nvSpPr>
        <p:spPr>
          <a:xfrm>
            <a:off x="622335" y="2000634"/>
            <a:ext cx="8410420" cy="1840898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86385" lvl="1" indent="-285750"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CSV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files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= Files in a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table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format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, i.e., Excel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format</a:t>
            </a:r>
            <a:endParaRPr lang="de-AT" sz="1800" spc="-1" dirty="0">
              <a:solidFill>
                <a:srgbClr val="0F0F0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745490" lvl="1" indent="-285750"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CSV =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Comma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Separated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Value</a:t>
            </a:r>
            <a:endParaRPr lang="de-AT" sz="1800" spc="-1" dirty="0">
              <a:solidFill>
                <a:srgbClr val="0F0F0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745490" lvl="1" indent="-285750"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Cells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separated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with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a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delimiter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(e.g., 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, ; \t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)</a:t>
            </a:r>
            <a:endParaRPr lang="de-AT" sz="1800" spc="-1" dirty="0">
              <a:solidFill>
                <a:srgbClr val="0F0F0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745490" lvl="1" indent="-285750"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Default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separator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depends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on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the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operating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system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and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the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language</a:t>
            </a:r>
            <a:endParaRPr lang="de-AT" sz="1800" spc="-1" dirty="0">
              <a:solidFill>
                <a:srgbClr val="0F0F0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745490" lvl="1" indent="-285750"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Can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be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imported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in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table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processing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software</a:t>
            </a:r>
            <a:endParaRPr lang="de-AT" sz="1800" spc="-1" dirty="0">
              <a:solidFill>
                <a:srgbClr val="0F0F0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286385" lvl="1" indent="-285750">
              <a:spcBef>
                <a:spcPts val="200"/>
              </a:spcBef>
              <a:spcAft>
                <a:spcPts val="200"/>
              </a:spcAft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Reading/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writing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of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csv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files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 external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modules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(e.g., 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csv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,</a:t>
            </a:r>
            <a:r>
              <a:rPr lang="de-AT" sz="1800" spc="-1" dirty="0">
                <a:solidFill>
                  <a:srgbClr val="0F0F0F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pandas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)</a:t>
            </a:r>
            <a:endParaRPr lang="de-AT" sz="1800" spc="-1" dirty="0">
              <a:solidFill>
                <a:srgbClr val="0F0F0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27" name="Textfeld 526"/>
          <p:cNvSpPr txBox="1"/>
          <p:nvPr/>
        </p:nvSpPr>
        <p:spPr>
          <a:xfrm>
            <a:off x="307351" y="4163538"/>
            <a:ext cx="4329880" cy="1548834"/>
          </a:xfrm>
          <a:prstGeom prst="rect">
            <a:avLst/>
          </a:prstGeom>
          <a:solidFill>
            <a:srgbClr val="DAE3F3"/>
          </a:solidFill>
          <a:ln w="0">
            <a:noFill/>
          </a:ln>
        </p:spPr>
        <p:txBody>
          <a:bodyPr lIns="63607" tIns="31804" rIns="63607" bIns="31804" anchor="t">
            <a:noAutofit/>
          </a:bodyPr>
          <a:lstStyle/>
          <a:p>
            <a:r>
              <a:rPr lang="en-US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Droid Sans Fallback"/>
              </a:rPr>
              <a:t>Mat.Nr.,</a:t>
            </a:r>
            <a:r>
              <a:rPr lang="en-US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Droid Sans Fallback"/>
              </a:rPr>
              <a:t>Vorname,Nachname,Punkte</a:t>
            </a:r>
            <a:endParaRPr lang="en-US" sz="1800" spc="-1" dirty="0">
              <a:highlight>
                <a:srgbClr val="DAE3F3"/>
              </a:highlight>
              <a:latin typeface="Consolas" panose="020B0609020204030204" pitchFamily="49" charset="0"/>
            </a:endParaRPr>
          </a:p>
          <a:p>
            <a:r>
              <a:rPr lang="en-US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Droid Sans Fallback"/>
              </a:rPr>
              <a:t>1234,Martina,Muster,10</a:t>
            </a:r>
            <a:endParaRPr lang="en-US" sz="1800" spc="-1" dirty="0">
              <a:highlight>
                <a:srgbClr val="DAE3F3"/>
              </a:highlight>
              <a:latin typeface="Consolas" panose="020B0609020204030204" pitchFamily="49" charset="0"/>
            </a:endParaRPr>
          </a:p>
          <a:p>
            <a:r>
              <a:rPr lang="en-US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Droid Sans Fallback"/>
              </a:rPr>
              <a:t>1313,Max,Muster,12</a:t>
            </a:r>
            <a:endParaRPr lang="en-US" sz="1800" spc="-1" dirty="0">
              <a:highlight>
                <a:srgbClr val="DAE3F3"/>
              </a:highlight>
              <a:latin typeface="Consolas" panose="020B0609020204030204" pitchFamily="49" charset="0"/>
            </a:endParaRPr>
          </a:p>
          <a:p>
            <a:r>
              <a:rPr lang="en-US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Droid Sans Fallback"/>
              </a:rPr>
              <a:t>4242,Test,Student,16</a:t>
            </a:r>
            <a:endParaRPr lang="en-US" sz="1800" spc="-1" dirty="0">
              <a:highlight>
                <a:srgbClr val="DAE3F3"/>
              </a:highlight>
              <a:latin typeface="Consolas" panose="020B0609020204030204" pitchFamily="49" charset="0"/>
            </a:endParaRPr>
          </a:p>
          <a:p>
            <a:r>
              <a:rPr lang="en-US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Droid Sans Fallback"/>
              </a:rPr>
              <a:t>2424,Test,Studentin,14</a:t>
            </a:r>
            <a:endParaRPr lang="en-US" sz="1800" spc="-1" dirty="0">
              <a:highlight>
                <a:srgbClr val="DAE3F3"/>
              </a:highlight>
              <a:latin typeface="Consolas" panose="020B0609020204030204" pitchFamily="49" charset="0"/>
            </a:endParaRPr>
          </a:p>
        </p:txBody>
      </p:sp>
      <p:pic>
        <p:nvPicPr>
          <p:cNvPr id="528" name="Grafik 527"/>
          <p:cNvPicPr/>
          <p:nvPr/>
        </p:nvPicPr>
        <p:blipFill>
          <a:blip r:embed="rId1"/>
          <a:stretch>
            <a:fillRect/>
          </a:stretch>
        </p:blipFill>
        <p:spPr>
          <a:xfrm>
            <a:off x="5373296" y="4158958"/>
            <a:ext cx="3593816" cy="1339062"/>
          </a:xfrm>
          <a:prstGeom prst="rect">
            <a:avLst/>
          </a:prstGeom>
          <a:ln w="0">
            <a:noFill/>
          </a:ln>
        </p:spPr>
      </p:pic>
      <p:sp>
        <p:nvSpPr>
          <p:cNvPr id="529" name="Pfeil: nach links und rechts 528"/>
          <p:cNvSpPr/>
          <p:nvPr/>
        </p:nvSpPr>
        <p:spPr>
          <a:xfrm>
            <a:off x="4676159" y="4631433"/>
            <a:ext cx="646251" cy="517001"/>
          </a:xfrm>
          <a:prstGeom prst="leftRightArrow">
            <a:avLst>
              <a:gd name="adj1" fmla="val 39203"/>
              <a:gd name="adj2" fmla="val 43487"/>
            </a:avLst>
          </a:prstGeom>
          <a:solidFill>
            <a:srgbClr val="C9211E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10" name="Google Shape;86;p2"/>
          <p:cNvSpPr txBox="1"/>
          <p:nvPr/>
        </p:nvSpPr>
        <p:spPr>
          <a:xfrm>
            <a:off x="313944" y="179727"/>
            <a:ext cx="84582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>
            <a:pPr algn="r">
              <a:buClr>
                <a:schemeClr val="dk1"/>
              </a:buClr>
              <a:buSzPts val="2800"/>
            </a:pPr>
            <a:r>
              <a:rPr lang="en-US" sz="2800" b="1" dirty="0">
                <a:solidFill>
                  <a:schemeClr val="dk1"/>
                </a:solidFill>
                <a:latin typeface="Calibri" panose="020F0502020204030204"/>
                <a:cs typeface="Calibri" panose="020F0502020204030204"/>
                <a:sym typeface="Calibri" panose="020F0502020204030204"/>
              </a:rPr>
              <a:t>CSV files</a:t>
            </a:r>
            <a:endParaRPr lang="en-US" dirty="0">
              <a:solidFill>
                <a:schemeClr val="dk1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1" name="PlaceHolder 2"/>
          <p:cNvSpPr>
            <a:spLocks noGrp="1"/>
          </p:cNvSpPr>
          <p:nvPr>
            <p:ph/>
          </p:nvPr>
        </p:nvSpPr>
        <p:spPr>
          <a:xfrm>
            <a:off x="622335" y="2000633"/>
            <a:ext cx="7930311" cy="2608153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marL="285750" lvl="1" indent="-285750"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>
                <a:solidFill>
                  <a:schemeClr val="tx1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i</a:t>
            </a:r>
            <a:r>
              <a:rPr lang="en-US" sz="1800" spc="-1" dirty="0">
                <a:solidFill>
                  <a:schemeClr val="tx1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mport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k</a:t>
            </a:r>
            <a:r>
              <a:rPr lang="en-US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eyword</a:t>
            </a:r>
            <a:endParaRPr lang="de-AT" sz="1800" spc="-1" dirty="0">
              <a:solidFill>
                <a:srgbClr val="0F0F0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752475" lvl="4" indent="-285750"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Importing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functionality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from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other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python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scripts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and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modules</a:t>
            </a:r>
            <a:endParaRPr lang="de-AT" sz="1800" spc="-1" dirty="0">
              <a:solidFill>
                <a:srgbClr val="0F0F0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285750" lvl="1" indent="-285750">
              <a:spcBef>
                <a:spcPts val="200"/>
              </a:spcBef>
              <a:spcAft>
                <a:spcPts val="200"/>
              </a:spcAft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Python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modules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 external code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libraries</a:t>
            </a:r>
            <a:endParaRPr lang="de-AT" sz="1800" spc="-1" dirty="0">
              <a:solidFill>
                <a:srgbClr val="0F0F0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752475" lvl="5" indent="-285750">
              <a:spcBef>
                <a:spcPts val="200"/>
              </a:spcBef>
              <a:spcAft>
                <a:spcPts val="200"/>
              </a:spcAft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Functionality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can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be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used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in own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programs</a:t>
            </a:r>
            <a:endParaRPr lang="de-AT" sz="1800" spc="-1" dirty="0">
              <a:solidFill>
                <a:srgbClr val="0F0F0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752475" lvl="5" indent="-285750">
              <a:spcBef>
                <a:spcPts val="200"/>
              </a:spcBef>
              <a:spcAft>
                <a:spcPts val="200"/>
              </a:spcAft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Module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from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u="sng" spc="-1" dirty="0">
                <a:solidFill>
                  <a:srgbClr val="1C99E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hlinkClick r:id="rId1"/>
              </a:rPr>
              <a:t>Python Standard Library</a:t>
            </a:r>
            <a:r>
              <a:rPr lang="de-AT" sz="1800" spc="-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are</a:t>
            </a:r>
            <a:r>
              <a:rPr lang="de-AT" sz="1800" spc="-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available</a:t>
            </a:r>
            <a:r>
              <a:rPr lang="de-AT" sz="1800" spc="-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per </a:t>
            </a:r>
            <a:r>
              <a:rPr lang="de-AT" sz="1800" spc="-1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default</a:t>
            </a:r>
            <a:endParaRPr lang="de-AT" sz="1800" spc="-1" dirty="0">
              <a:solidFill>
                <a:srgbClr val="0F0F0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752475" lvl="5" indent="-285750">
              <a:spcBef>
                <a:spcPts val="200"/>
              </a:spcBef>
              <a:spcAft>
                <a:spcPts val="200"/>
              </a:spcAft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External </a:t>
            </a:r>
            <a:r>
              <a:rPr lang="de-AT" sz="1800" spc="-1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modules</a:t>
            </a:r>
            <a:r>
              <a:rPr lang="de-AT" sz="1800" spc="-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(e.g., </a:t>
            </a:r>
            <a:r>
              <a:rPr lang="en-US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pandas</a:t>
            </a:r>
            <a:r>
              <a:rPr lang="de-AT" sz="1800" spc="-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): </a:t>
            </a:r>
            <a:r>
              <a:rPr lang="de-AT" sz="1800" spc="-1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installation</a:t>
            </a:r>
            <a:r>
              <a:rPr lang="de-AT" sz="1800" spc="-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via </a:t>
            </a:r>
            <a:r>
              <a:rPr lang="de-AT" sz="1800" spc="-1" dirty="0" err="1"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pip</a:t>
            </a:r>
            <a:r>
              <a:rPr lang="de-AT" sz="1800" spc="-1" dirty="0">
                <a:highlight>
                  <a:srgbClr val="D3D3D3"/>
                </a:highligh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endParaRPr lang="de-AT" sz="1800" spc="-1" dirty="0">
              <a:solidFill>
                <a:srgbClr val="0F0F0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" name="Google Shape;86;p2"/>
          <p:cNvSpPr txBox="1"/>
          <p:nvPr/>
        </p:nvSpPr>
        <p:spPr>
          <a:xfrm>
            <a:off x="313944" y="132431"/>
            <a:ext cx="84582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>
            <a:pPr algn="r">
              <a:buClr>
                <a:schemeClr val="dk1"/>
              </a:buClr>
              <a:buSzPts val="2800"/>
            </a:pPr>
            <a:r>
              <a:rPr lang="en-US" sz="2800" b="1" dirty="0">
                <a:solidFill>
                  <a:schemeClr val="dk1"/>
                </a:solidFill>
                <a:latin typeface="Calibri" panose="020F0502020204030204"/>
                <a:cs typeface="Calibri" panose="020F0502020204030204"/>
                <a:sym typeface="Calibri" panose="020F0502020204030204"/>
              </a:rPr>
              <a:t>Importing modules</a:t>
            </a:r>
            <a:endParaRPr lang="en-US" dirty="0"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6" name="PlaceHolder 2"/>
          <p:cNvSpPr>
            <a:spLocks noGrp="1"/>
          </p:cNvSpPr>
          <p:nvPr>
            <p:ph type="body" idx="1"/>
          </p:nvPr>
        </p:nvSpPr>
        <p:spPr>
          <a:xfrm>
            <a:off x="619431" y="2142980"/>
            <a:ext cx="7934633" cy="22452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86385" lvl="1" indent="-285750"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import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syntax</a:t>
            </a:r>
            <a:endParaRPr lang="de-AT" sz="1800" spc="-1" dirty="0">
              <a:solidFill>
                <a:srgbClr val="0F0F0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743585" lvl="4" indent="-285750"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import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 &lt;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ModuleName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&gt;</a:t>
            </a:r>
            <a:endParaRPr lang="de-AT" sz="1800" spc="-1" dirty="0">
              <a:solidFill>
                <a:srgbClr val="0F0F0F"/>
              </a:solidFill>
              <a:highlight>
                <a:srgbClr val="DAE3F3"/>
              </a:highlight>
              <a:latin typeface="Consolas" panose="020B0609020204030204" pitchFamily="49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1200785" lvl="6" indent="-285750"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Or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 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import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>
                <a:solidFill>
                  <a:srgbClr val="32CD32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&lt;</a:t>
            </a:r>
            <a:r>
              <a:rPr lang="de-AT" sz="1800" spc="-1" dirty="0" err="1">
                <a:solidFill>
                  <a:srgbClr val="32CD32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ModuleName</a:t>
            </a:r>
            <a:r>
              <a:rPr lang="de-AT" sz="1800" spc="-1" dirty="0">
                <a:solidFill>
                  <a:srgbClr val="32CD32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&gt;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as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>
                <a:solidFill>
                  <a:srgbClr val="1E90F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&lt;alias&gt;</a:t>
            </a:r>
            <a:endParaRPr lang="de-AT" sz="1800" spc="-1" dirty="0">
              <a:solidFill>
                <a:srgbClr val="0F0F0F"/>
              </a:solidFill>
              <a:highlight>
                <a:srgbClr val="DAE3F3"/>
              </a:highlight>
              <a:latin typeface="Consolas" panose="020B0609020204030204" pitchFamily="49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286385" lvl="5" indent="-285750"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Examples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</a:t>
            </a:r>
            <a:endParaRPr lang="de-AT" sz="1800" spc="-1" dirty="0">
              <a:solidFill>
                <a:srgbClr val="0F0F0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743585" lvl="6" indent="-285750"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import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random</a:t>
            </a:r>
            <a:endParaRPr lang="de-AT" sz="1800" spc="-1" dirty="0">
              <a:solidFill>
                <a:srgbClr val="0F0F0F"/>
              </a:solidFill>
              <a:highlight>
                <a:srgbClr val="DAE3F3"/>
              </a:highlight>
              <a:latin typeface="Consolas" panose="020B0609020204030204" pitchFamily="49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743585" lvl="6" indent="-285750"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import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pandas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as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pd</a:t>
            </a:r>
            <a:endParaRPr lang="de-AT" sz="1800" spc="-1" dirty="0">
              <a:solidFill>
                <a:srgbClr val="0F0F0F"/>
              </a:solidFill>
              <a:highlight>
                <a:srgbClr val="DAE3F3"/>
              </a:highlight>
              <a:latin typeface="Consolas" panose="020B0609020204030204" pitchFamily="49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286385" lvl="1" indent="-285750">
              <a:spcBef>
                <a:spcPts val="800"/>
              </a:spcBef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Calling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functions</a:t>
            </a:r>
            <a:r>
              <a:rPr lang="en-US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 </a:t>
            </a:r>
            <a:r>
              <a:rPr lang="de-AT" sz="1800" spc="-1" dirty="0">
                <a:solidFill>
                  <a:srgbClr val="1E90F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&lt;alias&gt;</a:t>
            </a:r>
            <a:r>
              <a:rPr lang="en-US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.</a:t>
            </a:r>
            <a:r>
              <a:rPr lang="en-US" sz="1800" i="1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&lt;</a:t>
            </a:r>
            <a:r>
              <a:rPr lang="de-AT" sz="1800" i="1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f</a:t>
            </a:r>
            <a:r>
              <a:rPr lang="en-US" sz="1800" i="1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un</a:t>
            </a:r>
            <a:r>
              <a:rPr lang="de-AT" sz="1800" i="1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c</a:t>
            </a:r>
            <a:r>
              <a:rPr lang="en-US" sz="1800" i="1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tion</a:t>
            </a:r>
            <a:r>
              <a:rPr lang="de-AT" sz="1800" i="1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_n</a:t>
            </a:r>
            <a:r>
              <a:rPr lang="en-US" sz="1800" i="1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ame&gt;()</a:t>
            </a:r>
            <a:endParaRPr lang="de-AT" sz="1800" spc="-1" dirty="0">
              <a:solidFill>
                <a:srgbClr val="0F0F0F"/>
              </a:solidFill>
              <a:highlight>
                <a:srgbClr val="DAE3F3"/>
              </a:highlight>
              <a:latin typeface="Consolas" panose="020B0609020204030204" pitchFamily="49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40" name="Textfeld 539"/>
          <p:cNvSpPr txBox="1"/>
          <p:nvPr/>
        </p:nvSpPr>
        <p:spPr>
          <a:xfrm>
            <a:off x="622335" y="4482789"/>
            <a:ext cx="8149809" cy="1586935"/>
          </a:xfrm>
          <a:prstGeom prst="rect">
            <a:avLst/>
          </a:prstGeom>
          <a:solidFill>
            <a:srgbClr val="DAE3F3"/>
          </a:solidFill>
          <a:ln w="0">
            <a:noFill/>
          </a:ln>
        </p:spPr>
        <p:txBody>
          <a:bodyPr lIns="63607" tIns="31804" rIns="63607" bIns="31804" anchor="t">
            <a:noAutofit/>
          </a:bodyPr>
          <a:lstStyle/>
          <a:p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# random-module: https://docs.python.org/3/library/random.html</a:t>
            </a:r>
            <a:endParaRPr lang="en-US" sz="1800" spc="-1" dirty="0">
              <a:latin typeface="Consolas" panose="020B0609020204030204" pitchFamily="49" charset="0"/>
            </a:endParaRPr>
          </a:p>
          <a:p>
            <a:r>
              <a:rPr lang="en-US" sz="1800" b="1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import</a:t>
            </a:r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 </a:t>
            </a:r>
            <a:r>
              <a:rPr lang="en-US" sz="1800" spc="-1" dirty="0">
                <a:solidFill>
                  <a:srgbClr val="32CD32"/>
                </a:solidFill>
                <a:latin typeface="Consolas" panose="020B0609020204030204" pitchFamily="49" charset="0"/>
                <a:ea typeface="Droid Sans Fallback"/>
              </a:rPr>
              <a:t>random</a:t>
            </a:r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 </a:t>
            </a:r>
            <a:r>
              <a:rPr lang="en-US" sz="1800" b="1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as</a:t>
            </a:r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 </a:t>
            </a:r>
            <a:r>
              <a:rPr lang="en-US" sz="1800" spc="-1" dirty="0" err="1">
                <a:solidFill>
                  <a:srgbClr val="1E90FF"/>
                </a:solidFill>
                <a:latin typeface="Consolas" panose="020B0609020204030204" pitchFamily="49" charset="0"/>
                <a:ea typeface="Droid Sans Fallback"/>
              </a:rPr>
              <a:t>rd</a:t>
            </a:r>
            <a:endParaRPr lang="en-US" sz="1800" spc="-1" dirty="0">
              <a:latin typeface="Consolas" panose="020B0609020204030204" pitchFamily="49" charset="0"/>
            </a:endParaRPr>
          </a:p>
          <a:p>
            <a:pPr>
              <a:lnSpc>
                <a:spcPct val="100000"/>
              </a:lnSpc>
            </a:pPr>
            <a:endParaRPr lang="en-US" sz="1800" spc="-1" dirty="0">
              <a:solidFill>
                <a:srgbClr val="0F0F0F"/>
              </a:solidFill>
              <a:latin typeface="Consolas" panose="020B0609020204030204" pitchFamily="49" charset="0"/>
              <a:ea typeface="Droid Sans Fallback"/>
            </a:endParaRPr>
          </a:p>
          <a:p>
            <a:pPr>
              <a:lnSpc>
                <a:spcPct val="100000"/>
              </a:lnSpc>
            </a:pPr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# for example, get random number between 1 and (inclusive) 13</a:t>
            </a:r>
            <a:endParaRPr lang="en-US" sz="1800" spc="-1" dirty="0">
              <a:latin typeface="Consolas" panose="020B0609020204030204" pitchFamily="49" charset="0"/>
            </a:endParaRPr>
          </a:p>
          <a:p>
            <a:r>
              <a:rPr lang="en-US" sz="1800" spc="-1" dirty="0" err="1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random_number</a:t>
            </a:r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 = </a:t>
            </a:r>
            <a:r>
              <a:rPr lang="en-US" sz="1800" spc="-1" dirty="0" err="1">
                <a:solidFill>
                  <a:srgbClr val="1E90FF"/>
                </a:solidFill>
                <a:latin typeface="Consolas" panose="020B0609020204030204" pitchFamily="49" charset="0"/>
                <a:ea typeface="Droid Sans Fallback"/>
              </a:rPr>
              <a:t>rd</a:t>
            </a:r>
            <a:r>
              <a:rPr lang="en-US" sz="1800" spc="-1" dirty="0" err="1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.</a:t>
            </a:r>
            <a:r>
              <a:rPr lang="en-US" sz="1800" i="1" spc="-1" dirty="0" err="1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randint</a:t>
            </a:r>
            <a:r>
              <a:rPr lang="en-US" sz="1800" i="1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(1, 13)</a:t>
            </a:r>
            <a:endParaRPr lang="en-US" sz="1800" spc="-1" dirty="0">
              <a:latin typeface="Consolas" panose="020B0609020204030204" pitchFamily="49" charset="0"/>
            </a:endParaRPr>
          </a:p>
        </p:txBody>
      </p:sp>
      <p:sp>
        <p:nvSpPr>
          <p:cNvPr id="8" name="Google Shape;86;p2"/>
          <p:cNvSpPr txBox="1"/>
          <p:nvPr/>
        </p:nvSpPr>
        <p:spPr>
          <a:xfrm>
            <a:off x="313944" y="175631"/>
            <a:ext cx="84582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>
            <a:pPr algn="r">
              <a:buClr>
                <a:schemeClr val="dk1"/>
              </a:buClr>
              <a:buSzPts val="2800"/>
            </a:pPr>
            <a:r>
              <a:rPr lang="en-US" sz="2800" b="1" dirty="0">
                <a:solidFill>
                  <a:schemeClr val="dk1"/>
                </a:solidFill>
                <a:latin typeface="Calibri" panose="020F0502020204030204"/>
                <a:cs typeface="Calibri" panose="020F0502020204030204"/>
                <a:sym typeface="Calibri" panose="020F0502020204030204"/>
              </a:rPr>
              <a:t>Importing modules</a:t>
            </a:r>
            <a:endParaRPr lang="en-US" dirty="0"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1" name="Textfeld 540"/>
          <p:cNvSpPr txBox="1"/>
          <p:nvPr/>
        </p:nvSpPr>
        <p:spPr>
          <a:xfrm>
            <a:off x="646251" y="4518952"/>
            <a:ext cx="8207385" cy="1382824"/>
          </a:xfrm>
          <a:prstGeom prst="rect">
            <a:avLst/>
          </a:prstGeom>
          <a:solidFill>
            <a:srgbClr val="DAE3F3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545" name="PlaceHolder 4"/>
          <p:cNvSpPr>
            <a:spLocks noGrp="1"/>
          </p:cNvSpPr>
          <p:nvPr>
            <p:ph type="sldNum" idx="96"/>
          </p:nvPr>
        </p:nvSpPr>
        <p:spPr>
          <a:xfrm>
            <a:off x="-6360" y="1142697"/>
            <a:ext cx="431512" cy="433802"/>
          </a:xfrm>
          <a:prstGeom prst="rect">
            <a:avLst/>
          </a:prstGeom>
          <a:noFill/>
          <a:ln w="0">
            <a:noFill/>
          </a:ln>
        </p:spPr>
        <p:txBody>
          <a:bodyPr lIns="0" tIns="45797" rIns="0" bIns="45797" anchor="ctr">
            <a:noAutofit/>
          </a:bodyPr>
          <a:lstStyle>
            <a:lvl1pPr indent="0" algn="ctr">
              <a:lnSpc>
                <a:spcPct val="100000"/>
              </a:lnSpc>
              <a:buNone/>
              <a:defRPr lang="en-US" sz="990" b="0" strike="noStrike" spc="-1">
                <a:solidFill>
                  <a:srgbClr val="FFFFFF"/>
                </a:solidFill>
                <a:latin typeface="Arial" panose="020B0604020202020204"/>
              </a:defRPr>
            </a:lvl1pPr>
          </a:lstStyle>
          <a:p>
            <a:fld id="{004FD43B-3FC3-423B-B710-A5EA0E474ADD}" type="slidenum">
              <a:rPr lang="en-US"/>
            </a:fld>
            <a:endParaRPr lang="en-US">
              <a:latin typeface="Times New Roman" panose="02020603050405020304"/>
            </a:endParaRPr>
          </a:p>
        </p:txBody>
      </p:sp>
      <p:sp>
        <p:nvSpPr>
          <p:cNvPr id="546" name="Textfeld 545"/>
          <p:cNvSpPr txBox="1"/>
          <p:nvPr/>
        </p:nvSpPr>
        <p:spPr>
          <a:xfrm>
            <a:off x="646251" y="2951182"/>
            <a:ext cx="8207385" cy="1382824"/>
          </a:xfrm>
          <a:prstGeom prst="rect">
            <a:avLst/>
          </a:prstGeom>
          <a:solidFill>
            <a:srgbClr val="DAE3F3"/>
          </a:solidFill>
          <a:ln w="0">
            <a:noFill/>
          </a:ln>
        </p:spPr>
        <p:txBody>
          <a:bodyPr lIns="63607" tIns="31804" rIns="63607" bIns="31804" anchor="t">
            <a:noAutofit/>
          </a:bodyPr>
          <a:lstStyle/>
          <a:p>
            <a:pPr>
              <a:lnSpc>
                <a:spcPct val="100000"/>
              </a:lnSpc>
            </a:pPr>
            <a:r>
              <a:rPr lang="en-US" sz="127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# imports are usually at the beginning of files</a:t>
            </a:r>
            <a:endParaRPr lang="en-US" sz="1270" spc="-1" dirty="0">
              <a:latin typeface="Consolas" panose="020B0609020204030204" pitchFamily="49" charset="0"/>
            </a:endParaRPr>
          </a:p>
          <a:p>
            <a:pPr>
              <a:lnSpc>
                <a:spcPct val="100000"/>
              </a:lnSpc>
            </a:pPr>
            <a:r>
              <a:rPr lang="en-US" sz="127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# But for the sake of this example, let's imagine this is a </a:t>
            </a:r>
            <a:r>
              <a:rPr lang="en-US" sz="1270" spc="-1" dirty="0" err="1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Jupyter</a:t>
            </a:r>
            <a:r>
              <a:rPr lang="en-US" sz="127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-Cell!</a:t>
            </a:r>
            <a:endParaRPr lang="en-US" sz="1270" spc="-1" dirty="0">
              <a:latin typeface="Consolas" panose="020B0609020204030204" pitchFamily="49" charset="0"/>
            </a:endParaRPr>
          </a:p>
          <a:p>
            <a:pPr>
              <a:lnSpc>
                <a:spcPct val="100000"/>
              </a:lnSpc>
            </a:pPr>
            <a:r>
              <a:rPr lang="en-US" sz="1270" b="1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import</a:t>
            </a:r>
            <a:r>
              <a:rPr lang="en-US" sz="127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 pandas </a:t>
            </a:r>
            <a:r>
              <a:rPr lang="en-US" sz="1270" b="1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as</a:t>
            </a:r>
            <a:r>
              <a:rPr lang="en-US" sz="127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 pd        </a:t>
            </a:r>
            <a:endParaRPr lang="en-US" sz="1270" spc="-1" dirty="0">
              <a:latin typeface="Consolas" panose="020B0609020204030204" pitchFamily="49" charset="0"/>
            </a:endParaRPr>
          </a:p>
          <a:p>
            <a:pPr>
              <a:lnSpc>
                <a:spcPct val="100000"/>
              </a:lnSpc>
            </a:pPr>
            <a:endParaRPr lang="en-US" sz="1270" spc="-1" dirty="0">
              <a:latin typeface="Consolas" panose="020B0609020204030204" pitchFamily="49" charset="0"/>
            </a:endParaRPr>
          </a:p>
          <a:p>
            <a:pPr>
              <a:lnSpc>
                <a:spcPct val="100000"/>
              </a:lnSpc>
            </a:pPr>
            <a:r>
              <a:rPr lang="en-US" sz="1270" spc="-1" dirty="0" err="1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dataframe</a:t>
            </a:r>
            <a:r>
              <a:rPr lang="en-US" sz="127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 = </a:t>
            </a:r>
            <a:r>
              <a:rPr lang="en-US" sz="1270" spc="-1" dirty="0" err="1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pd.read_csv</a:t>
            </a:r>
            <a:r>
              <a:rPr lang="en-US" sz="127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('students.csv', </a:t>
            </a:r>
            <a:r>
              <a:rPr lang="en-US" sz="1270" spc="-1" dirty="0" err="1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sep</a:t>
            </a:r>
            <a:r>
              <a:rPr lang="en-US" sz="127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=',')</a:t>
            </a:r>
            <a:endParaRPr lang="en-US" sz="1270" spc="-1" dirty="0">
              <a:latin typeface="Consolas" panose="020B0609020204030204" pitchFamily="49" charset="0"/>
            </a:endParaRPr>
          </a:p>
          <a:p>
            <a:r>
              <a:rPr lang="en-US" sz="1270" spc="-1" dirty="0" err="1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dataframe</a:t>
            </a:r>
            <a:endParaRPr lang="en-US" sz="1270" spc="-1" dirty="0">
              <a:latin typeface="Consolas" panose="020B0609020204030204" pitchFamily="49" charset="0"/>
            </a:endParaRPr>
          </a:p>
        </p:txBody>
      </p:sp>
      <p:sp>
        <p:nvSpPr>
          <p:cNvPr id="547" name="Textfeld 546"/>
          <p:cNvSpPr txBox="1"/>
          <p:nvPr/>
        </p:nvSpPr>
        <p:spPr>
          <a:xfrm>
            <a:off x="1129667" y="1811591"/>
            <a:ext cx="3489754" cy="1071149"/>
          </a:xfrm>
          <a:prstGeom prst="rect">
            <a:avLst/>
          </a:prstGeom>
          <a:solidFill>
            <a:srgbClr val="DAE3F3"/>
          </a:solidFill>
          <a:ln w="0">
            <a:noFill/>
          </a:ln>
        </p:spPr>
        <p:txBody>
          <a:bodyPr lIns="63607" tIns="31804" rIns="63607" bIns="31804" anchor="t">
            <a:noAutofit/>
          </a:bodyPr>
          <a:lstStyle/>
          <a:p>
            <a:r>
              <a:rPr lang="en-US" sz="127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Mat.Nr.,</a:t>
            </a:r>
            <a:r>
              <a:rPr lang="en-US" sz="1270" spc="-1" dirty="0" err="1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Vorname,Nachname,Punkte</a:t>
            </a:r>
            <a:endParaRPr lang="en-US" sz="1270" spc="-1" dirty="0">
              <a:latin typeface="Consolas" panose="020B0609020204030204" pitchFamily="49" charset="0"/>
            </a:endParaRPr>
          </a:p>
          <a:p>
            <a:r>
              <a:rPr lang="en-US" sz="127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1234,Martina,Muster,10</a:t>
            </a:r>
            <a:endParaRPr lang="en-US" sz="1270" spc="-1" dirty="0">
              <a:latin typeface="Consolas" panose="020B0609020204030204" pitchFamily="49" charset="0"/>
            </a:endParaRPr>
          </a:p>
          <a:p>
            <a:r>
              <a:rPr lang="en-US" sz="127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1313,Max,Muster,12</a:t>
            </a:r>
            <a:endParaRPr lang="en-US" sz="1270" spc="-1" dirty="0">
              <a:latin typeface="Consolas" panose="020B0609020204030204" pitchFamily="49" charset="0"/>
            </a:endParaRPr>
          </a:p>
          <a:p>
            <a:r>
              <a:rPr lang="en-US" sz="127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4242,Test,Student,16</a:t>
            </a:r>
            <a:endParaRPr lang="en-US" sz="1270" spc="-1" dirty="0">
              <a:latin typeface="Consolas" panose="020B0609020204030204" pitchFamily="49" charset="0"/>
            </a:endParaRPr>
          </a:p>
          <a:p>
            <a:r>
              <a:rPr lang="en-US" sz="127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2424,Test,Studentin,14</a:t>
            </a:r>
            <a:endParaRPr lang="en-US" sz="1270" spc="-1" dirty="0">
              <a:latin typeface="Consolas" panose="020B0609020204030204" pitchFamily="49" charset="0"/>
            </a:endParaRPr>
          </a:p>
        </p:txBody>
      </p:sp>
      <p:sp>
        <p:nvSpPr>
          <p:cNvPr id="548" name="Textfeld 547"/>
          <p:cNvSpPr txBox="1"/>
          <p:nvPr/>
        </p:nvSpPr>
        <p:spPr>
          <a:xfrm rot="16200000">
            <a:off x="-184207" y="2048466"/>
            <a:ext cx="1551002" cy="563561"/>
          </a:xfrm>
          <a:prstGeom prst="rect">
            <a:avLst/>
          </a:prstGeom>
          <a:noFill/>
          <a:ln w="0">
            <a:noFill/>
          </a:ln>
        </p:spPr>
        <p:txBody>
          <a:bodyPr lIns="63607" tIns="31804" rIns="63607" bIns="31804" anchor="t">
            <a:noAutofit/>
          </a:bodyPr>
          <a:lstStyle/>
          <a:p>
            <a:pPr algn="ctr"/>
            <a:r>
              <a:rPr lang="en-US" sz="1555" b="1" spc="-1"/>
              <a:t>students.csv</a:t>
            </a:r>
            <a:endParaRPr lang="en-US" sz="1555" spc="-1"/>
          </a:p>
        </p:txBody>
      </p:sp>
      <p:sp>
        <p:nvSpPr>
          <p:cNvPr id="549" name="Textfeld 548"/>
          <p:cNvSpPr txBox="1"/>
          <p:nvPr/>
        </p:nvSpPr>
        <p:spPr>
          <a:xfrm rot="16200000">
            <a:off x="-88541" y="3377096"/>
            <a:ext cx="1156382" cy="313712"/>
          </a:xfrm>
          <a:prstGeom prst="rect">
            <a:avLst/>
          </a:prstGeom>
          <a:noFill/>
          <a:ln w="0">
            <a:noFill/>
          </a:ln>
        </p:spPr>
        <p:txBody>
          <a:bodyPr lIns="63607" tIns="31804" rIns="63607" bIns="31804" anchor="t">
            <a:noAutofit/>
          </a:bodyPr>
          <a:lstStyle/>
          <a:p>
            <a:pPr algn="ctr"/>
            <a:r>
              <a:rPr lang="en-US" sz="1555" b="1" spc="-1"/>
              <a:t>Code</a:t>
            </a:r>
            <a:endParaRPr lang="en-US" sz="1555" spc="-1"/>
          </a:p>
        </p:txBody>
      </p:sp>
      <p:sp>
        <p:nvSpPr>
          <p:cNvPr id="550" name="Textfeld 549"/>
          <p:cNvSpPr txBox="1"/>
          <p:nvPr/>
        </p:nvSpPr>
        <p:spPr>
          <a:xfrm rot="16200000">
            <a:off x="-230513" y="5064541"/>
            <a:ext cx="1310821" cy="313712"/>
          </a:xfrm>
          <a:prstGeom prst="rect">
            <a:avLst/>
          </a:prstGeom>
          <a:noFill/>
          <a:ln w="0">
            <a:noFill/>
          </a:ln>
        </p:spPr>
        <p:txBody>
          <a:bodyPr lIns="63607" tIns="31804" rIns="63607" bIns="31804" anchor="t">
            <a:noAutofit/>
          </a:bodyPr>
          <a:lstStyle/>
          <a:p>
            <a:pPr algn="ctr"/>
            <a:r>
              <a:rPr lang="en-US" sz="1555" b="1" spc="-1" dirty="0"/>
              <a:t>Output</a:t>
            </a:r>
            <a:endParaRPr lang="en-US" sz="1555" spc="-1" dirty="0"/>
          </a:p>
        </p:txBody>
      </p:sp>
      <p:pic>
        <p:nvPicPr>
          <p:cNvPr id="551" name="Grafik 550"/>
          <p:cNvPicPr/>
          <p:nvPr/>
        </p:nvPicPr>
        <p:blipFill>
          <a:blip r:embed="rId1"/>
          <a:stretch>
            <a:fillRect/>
          </a:stretch>
        </p:blipFill>
        <p:spPr>
          <a:xfrm>
            <a:off x="681617" y="4550756"/>
            <a:ext cx="3092081" cy="1321761"/>
          </a:xfrm>
          <a:prstGeom prst="rect">
            <a:avLst/>
          </a:prstGeom>
          <a:ln w="0">
            <a:noFill/>
          </a:ln>
        </p:spPr>
      </p:pic>
      <p:pic>
        <p:nvPicPr>
          <p:cNvPr id="552" name="Grafik 551"/>
          <p:cNvPicPr/>
          <p:nvPr/>
        </p:nvPicPr>
        <p:blipFill>
          <a:blip r:embed="rId2"/>
          <a:stretch>
            <a:fillRect/>
          </a:stretch>
        </p:blipFill>
        <p:spPr>
          <a:xfrm>
            <a:off x="5438175" y="1760706"/>
            <a:ext cx="3037379" cy="1068095"/>
          </a:xfrm>
          <a:prstGeom prst="rect">
            <a:avLst/>
          </a:prstGeom>
          <a:ln w="0">
            <a:noFill/>
          </a:ln>
        </p:spPr>
      </p:pic>
      <p:sp>
        <p:nvSpPr>
          <p:cNvPr id="553" name="Textfeld 552"/>
          <p:cNvSpPr txBox="1"/>
          <p:nvPr/>
        </p:nvSpPr>
        <p:spPr>
          <a:xfrm rot="16200000">
            <a:off x="352385" y="2175681"/>
            <a:ext cx="1227877" cy="244761"/>
          </a:xfrm>
          <a:prstGeom prst="rect">
            <a:avLst/>
          </a:prstGeom>
          <a:noFill/>
          <a:ln w="0">
            <a:noFill/>
          </a:ln>
        </p:spPr>
        <p:txBody>
          <a:bodyPr lIns="63607" tIns="31804" rIns="63607" bIns="31804" anchor="t">
            <a:noAutofit/>
          </a:bodyPr>
          <a:lstStyle/>
          <a:p>
            <a:pPr algn="ctr"/>
            <a:r>
              <a:rPr lang="en-US" sz="1270" spc="-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In a text editor</a:t>
            </a:r>
            <a:endParaRPr lang="en-US" sz="1270" spc="-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54" name="Textfeld 553"/>
          <p:cNvSpPr txBox="1"/>
          <p:nvPr/>
        </p:nvSpPr>
        <p:spPr>
          <a:xfrm rot="16200000">
            <a:off x="4662674" y="2175681"/>
            <a:ext cx="1227877" cy="244761"/>
          </a:xfrm>
          <a:prstGeom prst="rect">
            <a:avLst/>
          </a:prstGeom>
          <a:noFill/>
          <a:ln w="0">
            <a:noFill/>
          </a:ln>
        </p:spPr>
        <p:txBody>
          <a:bodyPr lIns="63607" tIns="31804" rIns="63607" bIns="31804" anchor="t">
            <a:noAutofit/>
          </a:bodyPr>
          <a:lstStyle/>
          <a:p>
            <a:pPr algn="ctr"/>
            <a:r>
              <a:rPr lang="en-US" sz="1270" spc="-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In Excel</a:t>
            </a:r>
            <a:endParaRPr lang="en-US" sz="1270" spc="-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6" name="Google Shape;86;p2"/>
          <p:cNvSpPr txBox="1"/>
          <p:nvPr/>
        </p:nvSpPr>
        <p:spPr>
          <a:xfrm>
            <a:off x="313944" y="182831"/>
            <a:ext cx="84582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>
            <a:pPr algn="r">
              <a:buClr>
                <a:schemeClr val="dk1"/>
              </a:buClr>
              <a:buSzPts val="2800"/>
            </a:pPr>
            <a:r>
              <a:rPr lang="en-US" sz="2800" b="1" dirty="0">
                <a:solidFill>
                  <a:schemeClr val="dk1"/>
                </a:solidFill>
                <a:latin typeface="Calibri" panose="020F0502020204030204"/>
                <a:cs typeface="Calibri" panose="020F0502020204030204"/>
                <a:sym typeface="Calibri" panose="020F0502020204030204"/>
              </a:rPr>
              <a:t>Example: </a:t>
            </a:r>
            <a:r>
              <a:rPr lang="en-US" sz="2800" b="1" dirty="0" err="1">
                <a:solidFill>
                  <a:schemeClr val="dk1"/>
                </a:solidFill>
                <a:latin typeface="Calibri" panose="020F0502020204030204"/>
                <a:cs typeface="Calibri" panose="020F0502020204030204"/>
                <a:sym typeface="Calibri" panose="020F0502020204030204"/>
              </a:rPr>
              <a:t>pd.read_csv</a:t>
            </a:r>
            <a:endParaRPr lang="en-US" dirty="0">
              <a:solidFill>
                <a:schemeClr val="dk1"/>
              </a:solidFill>
            </a:endParaRPr>
          </a:p>
        </p:txBody>
      </p:sp>
      <p:sp>
        <p:nvSpPr>
          <p:cNvPr id="2" name="Rechteck 1"/>
          <p:cNvSpPr/>
          <p:nvPr/>
        </p:nvSpPr>
        <p:spPr>
          <a:xfrm>
            <a:off x="528004" y="5986287"/>
            <a:ext cx="1931619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286385" lvl="1" indent="-285750">
              <a:spcBef>
                <a:spcPts val="200"/>
              </a:spcBef>
              <a:spcAft>
                <a:spcPts val="200"/>
              </a:spcAft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See unit8.ipynb</a:t>
            </a:r>
            <a:endParaRPr lang="de-AT" sz="1800" spc="-1" dirty="0">
              <a:solidFill>
                <a:srgbClr val="0F0F0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/>
          <p:cNvSpPr>
            <a:spLocks noGrp="1"/>
          </p:cNvSpPr>
          <p:nvPr>
            <p:ph type="title"/>
          </p:nvPr>
        </p:nvSpPr>
        <p:spPr>
          <a:xfrm>
            <a:off x="457200" y="2858400"/>
            <a:ext cx="8229300" cy="1144800"/>
          </a:xfrm>
        </p:spPr>
        <p:txBody>
          <a:bodyPr/>
          <a:lstStyle/>
          <a:p>
            <a:pPr algn="ctr"/>
            <a:r>
              <a:rPr lang="en-US" sz="4400" b="1" dirty="0">
                <a:latin typeface="Calibri" panose="020F0502020204030204" pitchFamily="34" charset="0"/>
                <a:cs typeface="Calibri" panose="020F0502020204030204" pitchFamily="34" charset="0"/>
              </a:rPr>
              <a:t>Pandas</a:t>
            </a:r>
            <a:endParaRPr lang="de-AT" sz="4400" dirty="0"/>
          </a:p>
        </p:txBody>
      </p:sp>
      <p:sp>
        <p:nvSpPr>
          <p:cNvPr id="87" name="Google Shape;87;p2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>
              <a:spcBef>
                <a:spcPts val="640"/>
              </a:spcBef>
            </a:pPr>
            <a:endParaRPr lang="en-US" sz="1800" noProof="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0" indent="0">
              <a:spcBef>
                <a:spcPts val="640"/>
              </a:spcBef>
            </a:pPr>
            <a:endParaRPr lang="en-US" sz="1800" noProof="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4" name="PlaceHolder 1"/>
          <p:cNvSpPr>
            <a:spLocks noGrp="1"/>
          </p:cNvSpPr>
          <p:nvPr>
            <p:ph type="body" idx="1"/>
          </p:nvPr>
        </p:nvSpPr>
        <p:spPr>
          <a:xfrm>
            <a:off x="645707" y="1354703"/>
            <a:ext cx="7934633" cy="3064897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marL="286385" lvl="1" indent="-285750">
              <a:spcBef>
                <a:spcPts val="200"/>
              </a:spcBef>
              <a:spcAft>
                <a:spcPts val="200"/>
              </a:spcAft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Python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module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for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processing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of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tabular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data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(e.g.,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xls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/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csv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tables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)</a:t>
            </a:r>
            <a:endParaRPr lang="de-AT" sz="1800" spc="-1" dirty="0">
              <a:solidFill>
                <a:srgbClr val="0F0F0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743585" lvl="3" indent="-285750">
              <a:spcBef>
                <a:spcPts val="200"/>
              </a:spcBef>
              <a:spcAft>
                <a:spcPts val="200"/>
              </a:spcAft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import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pandas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as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pd</a:t>
            </a:r>
            <a:endParaRPr lang="de-AT" sz="1800" spc="-1" dirty="0">
              <a:solidFill>
                <a:srgbClr val="0F0F0F"/>
              </a:solidFill>
              <a:highlight>
                <a:srgbClr val="DAE3F3"/>
              </a:highlight>
              <a:latin typeface="Consolas" panose="020B0609020204030204" pitchFamily="49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286385" lvl="1" indent="-285750">
              <a:spcBef>
                <a:spcPts val="800"/>
              </a:spcBef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Main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data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structure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in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pandas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 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DataFrame</a:t>
            </a:r>
            <a:endParaRPr lang="de-AT" sz="1800" spc="-1" dirty="0">
              <a:solidFill>
                <a:srgbClr val="0F0F0F"/>
              </a:solidFill>
              <a:highlight>
                <a:srgbClr val="DAE3F3"/>
              </a:highlight>
              <a:latin typeface="Consolas" panose="020B0609020204030204" pitchFamily="49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743585" lvl="2" indent="-285750">
              <a:spcBef>
                <a:spcPts val="800"/>
              </a:spcBef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Multidimensional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array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/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list</a:t>
            </a:r>
            <a:endParaRPr lang="de-AT" sz="1800" spc="-1" dirty="0">
              <a:solidFill>
                <a:srgbClr val="0F0F0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743585" lvl="2" indent="-285750">
              <a:spcBef>
                <a:spcPts val="800"/>
              </a:spcBef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Fixed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names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/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descriptors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for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rows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and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columns</a:t>
            </a:r>
            <a:endParaRPr lang="de-AT" sz="1800" spc="-1" dirty="0">
              <a:solidFill>
                <a:srgbClr val="0F0F0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743585" lvl="2" indent="-285750">
              <a:spcBef>
                <a:spcPts val="800"/>
              </a:spcBef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Access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to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rows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/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columns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is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similar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to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dictionaries</a:t>
            </a:r>
            <a:endParaRPr lang="de-AT" sz="1800" spc="-1" dirty="0">
              <a:solidFill>
                <a:srgbClr val="0F0F0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743585" lvl="2" indent="-285750">
              <a:spcBef>
                <a:spcPts val="800"/>
              </a:spcBef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Individual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rows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/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columns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similar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to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lists</a:t>
            </a:r>
            <a:endParaRPr lang="de-AT" sz="1800" spc="-1" dirty="0">
              <a:solidFill>
                <a:srgbClr val="0F0F0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369" name="Grafik 368"/>
          <p:cNvPicPr/>
          <p:nvPr/>
        </p:nvPicPr>
        <p:blipFill>
          <a:blip r:embed="rId1"/>
          <a:stretch>
            <a:fillRect/>
          </a:stretch>
        </p:blipFill>
        <p:spPr>
          <a:xfrm>
            <a:off x="6276481" y="2723459"/>
            <a:ext cx="2303859" cy="1836217"/>
          </a:xfrm>
          <a:prstGeom prst="rect">
            <a:avLst/>
          </a:prstGeom>
          <a:ln w="0">
            <a:noFill/>
          </a:ln>
        </p:spPr>
      </p:pic>
      <p:sp>
        <p:nvSpPr>
          <p:cNvPr id="10" name="Google Shape;86;p2"/>
          <p:cNvSpPr txBox="1"/>
          <p:nvPr/>
        </p:nvSpPr>
        <p:spPr>
          <a:xfrm>
            <a:off x="313944" y="190031"/>
            <a:ext cx="84582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>
            <a:pPr algn="r">
              <a:buClr>
                <a:schemeClr val="dk1"/>
              </a:buClr>
              <a:buSzPts val="2800"/>
            </a:pPr>
            <a:r>
              <a:rPr lang="en-US" sz="2800" b="1" dirty="0">
                <a:solidFill>
                  <a:schemeClr val="dk1"/>
                </a:solidFill>
                <a:latin typeface="Calibri" panose="020F0502020204030204"/>
                <a:cs typeface="Calibri" panose="020F0502020204030204"/>
                <a:sym typeface="Calibri" panose="020F0502020204030204"/>
              </a:rPr>
              <a:t>Pandas</a:t>
            </a:r>
            <a:endParaRPr lang="en-US" dirty="0"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2" name="PlaceHolder 1"/>
          <p:cNvSpPr>
            <a:spLocks noGrp="1"/>
          </p:cNvSpPr>
          <p:nvPr>
            <p:ph type="body" idx="1"/>
          </p:nvPr>
        </p:nvSpPr>
        <p:spPr>
          <a:xfrm>
            <a:off x="619431" y="1733075"/>
            <a:ext cx="7934633" cy="3748069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marL="286385" lvl="1" indent="-285750">
              <a:spcBef>
                <a:spcPts val="800"/>
              </a:spcBef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pandas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and 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DataFrame</a:t>
            </a:r>
            <a:endParaRPr lang="de-AT" sz="1800" spc="-1" dirty="0">
              <a:solidFill>
                <a:srgbClr val="0F0F0F"/>
              </a:solidFill>
              <a:highlight>
                <a:srgbClr val="DAE3F3"/>
              </a:highlight>
              <a:latin typeface="Consolas" panose="020B0609020204030204" pitchFamily="49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743585" lvl="2" indent="-285750">
              <a:spcBef>
                <a:spcPts val="800"/>
              </a:spcBef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Efficient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data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manipulation</a:t>
            </a:r>
            <a:endParaRPr lang="de-AT" sz="1800" spc="-1" dirty="0">
              <a:solidFill>
                <a:srgbClr val="0F0F0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743585" lvl="2" indent="-285750">
              <a:spcBef>
                <a:spcPts val="800"/>
              </a:spcBef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Convenient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and powerful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functionality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</a:t>
            </a:r>
            <a:endParaRPr lang="de-AT" sz="1800" spc="-1" dirty="0">
              <a:solidFill>
                <a:srgbClr val="0F0F0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1200785" lvl="3" indent="-285750">
              <a:spcBef>
                <a:spcPts val="800"/>
              </a:spcBef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Loading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and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storing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endParaRPr lang="de-AT" sz="1800" spc="-1" dirty="0">
              <a:solidFill>
                <a:srgbClr val="0F0F0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1200785" lvl="3" indent="-285750">
              <a:spcBef>
                <a:spcPts val="800"/>
              </a:spcBef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Accessing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and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filtering</a:t>
            </a:r>
            <a:endParaRPr lang="de-AT" sz="1800" spc="-1" dirty="0">
              <a:solidFill>
                <a:srgbClr val="0F0F0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1200785" lvl="3" indent="-285750">
              <a:spcBef>
                <a:spcPts val="800"/>
              </a:spcBef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Missing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and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data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with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errors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easy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to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replace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/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delete</a:t>
            </a:r>
            <a:endParaRPr lang="de-AT" sz="1800" spc="-1" dirty="0">
              <a:solidFill>
                <a:srgbClr val="0F0F0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1200785" lvl="3" indent="-285750">
              <a:spcBef>
                <a:spcPts val="800"/>
              </a:spcBef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Easy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computations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with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data</a:t>
            </a:r>
            <a:endParaRPr lang="de-AT" sz="1800" spc="-1" dirty="0">
              <a:solidFill>
                <a:srgbClr val="0F0F0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1200785" lvl="3" indent="-285750">
              <a:spcBef>
                <a:spcPts val="800"/>
              </a:spcBef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Adding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data</a:t>
            </a:r>
            <a:endParaRPr lang="de-AT" sz="1800" spc="-1" dirty="0">
              <a:solidFill>
                <a:srgbClr val="0F0F0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1200785" lvl="3" indent="-285750">
              <a:spcBef>
                <a:spcPts val="800"/>
              </a:spcBef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Data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visualization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(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ploting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)</a:t>
            </a:r>
            <a:endParaRPr lang="de-AT" sz="1800" spc="-1" dirty="0">
              <a:solidFill>
                <a:srgbClr val="0F0F0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1200785" lvl="3" indent="-285750">
              <a:spcBef>
                <a:spcPts val="800"/>
              </a:spcBef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…	</a:t>
            </a:r>
            <a:endParaRPr lang="de-AT" sz="1800" spc="-1" dirty="0">
              <a:solidFill>
                <a:srgbClr val="0F0F0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0" name="Google Shape;86;p2"/>
          <p:cNvSpPr txBox="1"/>
          <p:nvPr/>
        </p:nvSpPr>
        <p:spPr>
          <a:xfrm>
            <a:off x="313944" y="149934"/>
            <a:ext cx="84582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>
            <a:pPr algn="r">
              <a:buClr>
                <a:schemeClr val="dk1"/>
              </a:buClr>
              <a:buSzPts val="2800"/>
            </a:pPr>
            <a:r>
              <a:rPr lang="en-US" sz="2800" b="1" dirty="0">
                <a:solidFill>
                  <a:schemeClr val="dk1"/>
                </a:solidFill>
                <a:latin typeface="Calibri" panose="020F0502020204030204"/>
                <a:cs typeface="Calibri" panose="020F0502020204030204"/>
                <a:sym typeface="Calibri" panose="020F0502020204030204"/>
              </a:rPr>
              <a:t>Pandas</a:t>
            </a:r>
            <a:endParaRPr lang="en-US" dirty="0"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9" name="PlaceHolder 2"/>
          <p:cNvSpPr>
            <a:spLocks noGrp="1"/>
          </p:cNvSpPr>
          <p:nvPr>
            <p:ph/>
          </p:nvPr>
        </p:nvSpPr>
        <p:spPr>
          <a:xfrm>
            <a:off x="526340" y="1382496"/>
            <a:ext cx="8245804" cy="459263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86385" lvl="1" indent="-285750">
              <a:spcBef>
                <a:spcPts val="200"/>
              </a:spcBef>
              <a:spcAft>
                <a:spcPts val="200"/>
              </a:spcAft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Creating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DataFrame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from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a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dictionary</a:t>
            </a:r>
            <a:endParaRPr lang="de-AT" sz="1800" spc="-1" dirty="0">
              <a:solidFill>
                <a:srgbClr val="0F0F0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0" lvl="1">
              <a:spcBef>
                <a:spcPts val="200"/>
              </a:spcBef>
              <a:spcAft>
                <a:spcPts val="200"/>
              </a:spcAft>
              <a:buClr>
                <a:srgbClr val="0F0F0F"/>
              </a:buClr>
            </a:pPr>
            <a:endParaRPr lang="de-AT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0" lvl="1">
              <a:spcBef>
                <a:spcPts val="200"/>
              </a:spcBef>
              <a:spcAft>
                <a:spcPts val="200"/>
              </a:spcAft>
              <a:buClr>
                <a:srgbClr val="0F0F0F"/>
              </a:buClr>
            </a:pPr>
            <a:br>
              <a:rPr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br>
              <a:rPr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endParaRPr lang="de-AT" sz="1800" spc="-1" dirty="0">
              <a:solidFill>
                <a:srgbClr val="0F0F0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572135" lvl="1" indent="-285750">
              <a:spcBef>
                <a:spcPts val="200"/>
              </a:spcBef>
              <a:spcAft>
                <a:spcPts val="200"/>
              </a:spcAft>
              <a:buFont typeface="Wingdings" panose="05000000000000000000" pitchFamily="2" charset="2"/>
              <a:buChar char="v"/>
            </a:pPr>
            <a:endParaRPr lang="de-AT" sz="1800" spc="-1" dirty="0">
              <a:solidFill>
                <a:srgbClr val="0F0F0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572135" lvl="1" indent="-285750">
              <a:spcBef>
                <a:spcPts val="200"/>
              </a:spcBef>
              <a:spcAft>
                <a:spcPts val="200"/>
              </a:spcAft>
              <a:buFont typeface="Wingdings" panose="05000000000000000000" pitchFamily="2" charset="2"/>
              <a:buChar char="v"/>
            </a:pPr>
            <a:endParaRPr lang="de-AT" sz="1800" spc="-1" dirty="0">
              <a:solidFill>
                <a:srgbClr val="0F0F0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286385" lvl="1" indent="-285750">
              <a:spcBef>
                <a:spcPts val="200"/>
              </a:spcBef>
              <a:spcAft>
                <a:spcPts val="200"/>
              </a:spcAft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Creating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DataDrame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from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a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list</a:t>
            </a:r>
            <a:endParaRPr lang="de-AT" sz="1800" spc="-1" dirty="0">
              <a:solidFill>
                <a:srgbClr val="0F0F0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286385" lvl="1" indent="-285750">
              <a:spcBef>
                <a:spcPts val="200"/>
              </a:spcBef>
              <a:spcAft>
                <a:spcPts val="200"/>
              </a:spcAft>
              <a:buClr>
                <a:srgbClr val="0F0F0F"/>
              </a:buClr>
              <a:buFont typeface="Wingdings" panose="05000000000000000000" pitchFamily="2" charset="2"/>
              <a:buChar char="v"/>
            </a:pPr>
            <a:endParaRPr lang="de-AT" sz="1800" spc="-1" dirty="0">
              <a:solidFill>
                <a:srgbClr val="0F0F0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286385" lvl="1" indent="-285750">
              <a:spcBef>
                <a:spcPts val="200"/>
              </a:spcBef>
              <a:spcAft>
                <a:spcPts val="200"/>
              </a:spcAft>
              <a:buClr>
                <a:srgbClr val="0F0F0F"/>
              </a:buClr>
              <a:buFont typeface="Wingdings" panose="05000000000000000000" pitchFamily="2" charset="2"/>
              <a:buChar char="v"/>
            </a:pPr>
            <a:endParaRPr lang="de-AT" sz="1800" spc="-1" dirty="0">
              <a:solidFill>
                <a:srgbClr val="0F0F0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572135" lvl="1" indent="-285750">
              <a:spcBef>
                <a:spcPts val="200"/>
              </a:spcBef>
              <a:spcAft>
                <a:spcPts val="200"/>
              </a:spcAft>
              <a:buFont typeface="Wingdings" panose="05000000000000000000" pitchFamily="2" charset="2"/>
              <a:buChar char="v"/>
            </a:pPr>
            <a:endParaRPr lang="de-AT" sz="1800" spc="-1" dirty="0">
              <a:solidFill>
                <a:srgbClr val="0F0F0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572135" lvl="1" indent="-285750">
              <a:spcBef>
                <a:spcPts val="200"/>
              </a:spcBef>
              <a:spcAft>
                <a:spcPts val="200"/>
              </a:spcAft>
              <a:buFont typeface="Wingdings" panose="05000000000000000000" pitchFamily="2" charset="2"/>
              <a:buChar char="v"/>
            </a:pPr>
            <a:endParaRPr lang="de-AT" sz="1800" spc="-1" dirty="0">
              <a:solidFill>
                <a:srgbClr val="0F0F0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572135" lvl="1" indent="-285750">
              <a:spcBef>
                <a:spcPts val="200"/>
              </a:spcBef>
              <a:spcAft>
                <a:spcPts val="200"/>
              </a:spcAft>
              <a:buFont typeface="Wingdings" panose="05000000000000000000" pitchFamily="2" charset="2"/>
              <a:buChar char="v"/>
            </a:pPr>
            <a:endParaRPr lang="de-AT" sz="1800" spc="-1" dirty="0">
              <a:solidFill>
                <a:srgbClr val="0F0F0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286385" lvl="1" indent="-285750">
              <a:spcBef>
                <a:spcPts val="200"/>
              </a:spcBef>
              <a:spcAft>
                <a:spcPts val="200"/>
              </a:spcAft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In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practice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loading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data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from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a (e.g., CSV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file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)</a:t>
            </a:r>
            <a:endParaRPr lang="de-AT" sz="1800" spc="-1" dirty="0">
              <a:solidFill>
                <a:srgbClr val="0F0F0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83" name="Textfeld 382"/>
          <p:cNvSpPr txBox="1"/>
          <p:nvPr/>
        </p:nvSpPr>
        <p:spPr>
          <a:xfrm>
            <a:off x="371856" y="1803744"/>
            <a:ext cx="5771441" cy="1641539"/>
          </a:xfrm>
          <a:prstGeom prst="rect">
            <a:avLst/>
          </a:prstGeom>
          <a:solidFill>
            <a:srgbClr val="DAE3F3"/>
          </a:solidFill>
          <a:ln w="0">
            <a:noFill/>
          </a:ln>
        </p:spPr>
        <p:txBody>
          <a:bodyPr lIns="63607" tIns="31804" rIns="63607" bIns="31804" anchor="t">
            <a:noAutofit/>
          </a:bodyPr>
          <a:lstStyle/>
          <a:p>
            <a:pPr>
              <a:lnSpc>
                <a:spcPct val="100000"/>
              </a:lnSpc>
            </a:pPr>
            <a:r>
              <a:rPr lang="de-AT" sz="1200" spc="-1" dirty="0" err="1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import</a:t>
            </a:r>
            <a:r>
              <a:rPr lang="de-AT" sz="12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 </a:t>
            </a:r>
            <a:r>
              <a:rPr lang="de-AT" sz="1200" spc="-1" dirty="0" err="1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pandas</a:t>
            </a:r>
            <a:r>
              <a:rPr lang="de-AT" sz="12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 </a:t>
            </a:r>
            <a:r>
              <a:rPr lang="de-AT" sz="1200" spc="-1" dirty="0" err="1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as</a:t>
            </a:r>
            <a:r>
              <a:rPr lang="de-AT" sz="12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 </a:t>
            </a:r>
            <a:r>
              <a:rPr lang="de-AT" sz="1200" spc="-1" dirty="0" err="1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pd</a:t>
            </a:r>
            <a:endParaRPr lang="en-US" sz="1200" spc="-1" dirty="0">
              <a:latin typeface="Consolas" panose="020B0609020204030204" pitchFamily="49" charset="0"/>
            </a:endParaRPr>
          </a:p>
          <a:p>
            <a:pPr>
              <a:lnSpc>
                <a:spcPct val="100000"/>
              </a:lnSpc>
            </a:pPr>
            <a:r>
              <a:rPr lang="de-AT" sz="1200" spc="-1" dirty="0" err="1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data</a:t>
            </a:r>
            <a:r>
              <a:rPr lang="de-AT" sz="12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 = {'</a:t>
            </a:r>
            <a:r>
              <a:rPr lang="de-AT" sz="1200" spc="-1" dirty="0" err="1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population</a:t>
            </a:r>
            <a:r>
              <a:rPr lang="de-AT" sz="12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': {'California': 38332521,</a:t>
            </a:r>
            <a:endParaRPr lang="en-US" sz="1200" spc="-1" dirty="0">
              <a:latin typeface="Consolas" panose="020B0609020204030204" pitchFamily="49" charset="0"/>
            </a:endParaRPr>
          </a:p>
          <a:p>
            <a:pPr>
              <a:lnSpc>
                <a:spcPct val="100000"/>
              </a:lnSpc>
            </a:pPr>
            <a:r>
              <a:rPr lang="de-AT" sz="12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		  'New York': 19651127, </a:t>
            </a:r>
            <a:endParaRPr lang="en-US" sz="1200" spc="-1" dirty="0">
              <a:latin typeface="Consolas" panose="020B0609020204030204" pitchFamily="49" charset="0"/>
            </a:endParaRPr>
          </a:p>
          <a:p>
            <a:pPr>
              <a:lnSpc>
                <a:spcPct val="100000"/>
              </a:lnSpc>
            </a:pPr>
            <a:r>
              <a:rPr lang="de-AT" sz="12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	             'Florida': 19552860},</a:t>
            </a:r>
            <a:endParaRPr lang="en-US" sz="1200" spc="-1" dirty="0">
              <a:latin typeface="Consolas" panose="020B0609020204030204" pitchFamily="49" charset="0"/>
            </a:endParaRPr>
          </a:p>
          <a:p>
            <a:pPr>
              <a:lnSpc>
                <a:spcPct val="100000"/>
              </a:lnSpc>
            </a:pPr>
            <a:r>
              <a:rPr lang="de-AT" sz="12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        '</a:t>
            </a:r>
            <a:r>
              <a:rPr lang="de-AT" sz="1200" spc="-1" dirty="0" err="1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area</a:t>
            </a:r>
            <a:r>
              <a:rPr lang="de-AT" sz="12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': {'California': 423967, </a:t>
            </a:r>
            <a:endParaRPr lang="en-US" sz="1200" spc="-1" dirty="0">
              <a:latin typeface="Consolas" panose="020B0609020204030204" pitchFamily="49" charset="0"/>
            </a:endParaRPr>
          </a:p>
          <a:p>
            <a:pPr>
              <a:lnSpc>
                <a:spcPct val="100000"/>
              </a:lnSpc>
            </a:pPr>
            <a:r>
              <a:rPr lang="de-AT" sz="12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                 'New York': 141297, </a:t>
            </a:r>
            <a:endParaRPr lang="en-US" sz="1200" spc="-1" dirty="0">
              <a:latin typeface="Consolas" panose="020B0609020204030204" pitchFamily="49" charset="0"/>
            </a:endParaRPr>
          </a:p>
          <a:p>
            <a:pPr>
              <a:lnSpc>
                <a:spcPct val="100000"/>
              </a:lnSpc>
            </a:pPr>
            <a:r>
              <a:rPr lang="de-AT" sz="12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                 'Florida': 170312}}</a:t>
            </a:r>
            <a:endParaRPr lang="en-US" sz="1200" spc="-1" dirty="0">
              <a:latin typeface="Consolas" panose="020B0609020204030204" pitchFamily="49" charset="0"/>
            </a:endParaRPr>
          </a:p>
          <a:p>
            <a:pPr>
              <a:lnSpc>
                <a:spcPct val="100000"/>
              </a:lnSpc>
            </a:pPr>
            <a:r>
              <a:rPr lang="de-AT" sz="1200" spc="-1" dirty="0" err="1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df</a:t>
            </a:r>
            <a:r>
              <a:rPr lang="de-AT" sz="12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 = </a:t>
            </a:r>
            <a:r>
              <a:rPr lang="de-AT" sz="1200" spc="-1" dirty="0" err="1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pd.DataFrame</a:t>
            </a:r>
            <a:r>
              <a:rPr lang="de-AT" sz="12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(</a:t>
            </a:r>
            <a:r>
              <a:rPr lang="de-AT" sz="1200" spc="-1" dirty="0" err="1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data</a:t>
            </a:r>
            <a:r>
              <a:rPr lang="de-AT" sz="12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)</a:t>
            </a:r>
            <a:endParaRPr lang="en-US" sz="1200" spc="-1" dirty="0">
              <a:latin typeface="Consolas" panose="020B0609020204030204" pitchFamily="49" charset="0"/>
            </a:endParaRPr>
          </a:p>
        </p:txBody>
      </p:sp>
      <p:sp>
        <p:nvSpPr>
          <p:cNvPr id="384" name="Textfeld 383"/>
          <p:cNvSpPr txBox="1"/>
          <p:nvPr/>
        </p:nvSpPr>
        <p:spPr>
          <a:xfrm>
            <a:off x="371856" y="4142673"/>
            <a:ext cx="5771441" cy="1107243"/>
          </a:xfrm>
          <a:prstGeom prst="rect">
            <a:avLst/>
          </a:prstGeom>
          <a:solidFill>
            <a:srgbClr val="DAE3F3"/>
          </a:solidFill>
          <a:ln w="0">
            <a:noFill/>
          </a:ln>
        </p:spPr>
        <p:txBody>
          <a:bodyPr lIns="63607" tIns="31804" rIns="63607" bIns="31804" anchor="t">
            <a:noAutofit/>
          </a:bodyPr>
          <a:lstStyle/>
          <a:p>
            <a:pPr>
              <a:lnSpc>
                <a:spcPct val="100000"/>
              </a:lnSpc>
            </a:pPr>
            <a:r>
              <a:rPr lang="de-AT" sz="1200" spc="-1" dirty="0" err="1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import</a:t>
            </a:r>
            <a:r>
              <a:rPr lang="de-AT" sz="12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 </a:t>
            </a:r>
            <a:r>
              <a:rPr lang="de-AT" sz="1200" spc="-1" dirty="0" err="1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pandas</a:t>
            </a:r>
            <a:r>
              <a:rPr lang="de-AT" sz="12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 </a:t>
            </a:r>
            <a:r>
              <a:rPr lang="de-AT" sz="1200" spc="-1" dirty="0" err="1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as</a:t>
            </a:r>
            <a:r>
              <a:rPr lang="de-AT" sz="12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 </a:t>
            </a:r>
            <a:r>
              <a:rPr lang="de-AT" sz="1200" spc="-1" dirty="0" err="1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pd</a:t>
            </a:r>
            <a:endParaRPr lang="en-US" sz="1200" spc="-1" dirty="0">
              <a:latin typeface="Consolas" panose="020B0609020204030204" pitchFamily="49" charset="0"/>
            </a:endParaRPr>
          </a:p>
          <a:p>
            <a:pPr>
              <a:lnSpc>
                <a:spcPct val="100000"/>
              </a:lnSpc>
            </a:pPr>
            <a:r>
              <a:rPr lang="de-AT" sz="1200" spc="-1" dirty="0" err="1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data</a:t>
            </a:r>
            <a:r>
              <a:rPr lang="de-AT" sz="12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 = [['California', 423967, 38332521], </a:t>
            </a:r>
            <a:endParaRPr lang="en-US" sz="1200" spc="-1" dirty="0">
              <a:latin typeface="Consolas" panose="020B0609020204030204" pitchFamily="49" charset="0"/>
            </a:endParaRPr>
          </a:p>
          <a:p>
            <a:pPr>
              <a:lnSpc>
                <a:spcPct val="100000"/>
              </a:lnSpc>
            </a:pPr>
            <a:r>
              <a:rPr lang="de-AT" sz="12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        ['New York', 141297, 19651127],</a:t>
            </a:r>
            <a:endParaRPr lang="en-US" sz="1200" spc="-1" dirty="0">
              <a:latin typeface="Consolas" panose="020B0609020204030204" pitchFamily="49" charset="0"/>
            </a:endParaRPr>
          </a:p>
          <a:p>
            <a:pPr>
              <a:lnSpc>
                <a:spcPct val="100000"/>
              </a:lnSpc>
            </a:pPr>
            <a:r>
              <a:rPr lang="de-AT" sz="12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        ['Florida', 170312, 19552860]]</a:t>
            </a:r>
            <a:endParaRPr lang="en-US" sz="1200" spc="-1" dirty="0">
              <a:latin typeface="Consolas" panose="020B0609020204030204" pitchFamily="49" charset="0"/>
            </a:endParaRPr>
          </a:p>
          <a:p>
            <a:pPr>
              <a:lnSpc>
                <a:spcPct val="100000"/>
              </a:lnSpc>
            </a:pPr>
            <a:r>
              <a:rPr lang="de-AT" sz="1200" spc="-1" dirty="0" err="1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df</a:t>
            </a:r>
            <a:r>
              <a:rPr lang="de-AT" sz="12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 = </a:t>
            </a:r>
            <a:r>
              <a:rPr lang="de-AT" sz="1200" spc="-1" dirty="0" err="1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pd.DataFrame</a:t>
            </a:r>
            <a:r>
              <a:rPr lang="de-AT" sz="12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(</a:t>
            </a:r>
            <a:r>
              <a:rPr lang="de-AT" sz="1200" spc="-1" dirty="0" err="1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data</a:t>
            </a:r>
            <a:r>
              <a:rPr lang="de-AT" sz="12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, </a:t>
            </a:r>
            <a:r>
              <a:rPr lang="de-AT" sz="1200" spc="-1" dirty="0" err="1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columns</a:t>
            </a:r>
            <a:r>
              <a:rPr lang="de-AT" sz="12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=['</a:t>
            </a:r>
            <a:r>
              <a:rPr lang="de-AT" sz="1200" spc="-1" dirty="0" err="1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state</a:t>
            </a:r>
            <a:r>
              <a:rPr lang="de-AT" sz="12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','</a:t>
            </a:r>
            <a:r>
              <a:rPr lang="de-AT" sz="1200" spc="-1" dirty="0" err="1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area</a:t>
            </a:r>
            <a:r>
              <a:rPr lang="de-AT" sz="12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','</a:t>
            </a:r>
            <a:r>
              <a:rPr lang="de-AT" sz="1200" spc="-1" dirty="0" err="1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population</a:t>
            </a:r>
            <a:r>
              <a:rPr lang="de-AT" sz="12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'])</a:t>
            </a:r>
            <a:endParaRPr lang="en-US" sz="1200" spc="-1" dirty="0">
              <a:latin typeface="Consolas" panose="020B0609020204030204" pitchFamily="49" charset="0"/>
            </a:endParaRPr>
          </a:p>
        </p:txBody>
      </p:sp>
      <p:pic>
        <p:nvPicPr>
          <p:cNvPr id="385" name="Grafik 384"/>
          <p:cNvPicPr/>
          <p:nvPr/>
        </p:nvPicPr>
        <p:blipFill>
          <a:blip r:embed="rId1"/>
          <a:stretch>
            <a:fillRect/>
          </a:stretch>
        </p:blipFill>
        <p:spPr>
          <a:xfrm>
            <a:off x="6947850" y="1803744"/>
            <a:ext cx="2135172" cy="1121779"/>
          </a:xfrm>
          <a:prstGeom prst="rect">
            <a:avLst/>
          </a:prstGeom>
          <a:ln w="0">
            <a:solidFill>
              <a:srgbClr val="3465A4"/>
            </a:solidFill>
          </a:ln>
        </p:spPr>
      </p:pic>
      <p:pic>
        <p:nvPicPr>
          <p:cNvPr id="386" name="Grafik 385"/>
          <p:cNvPicPr/>
          <p:nvPr/>
        </p:nvPicPr>
        <p:blipFill>
          <a:blip r:embed="rId2"/>
          <a:stretch>
            <a:fillRect/>
          </a:stretch>
        </p:blipFill>
        <p:spPr>
          <a:xfrm>
            <a:off x="6785015" y="4142673"/>
            <a:ext cx="2298007" cy="1052829"/>
          </a:xfrm>
          <a:prstGeom prst="rect">
            <a:avLst/>
          </a:prstGeom>
          <a:ln w="0">
            <a:solidFill>
              <a:srgbClr val="3465A4"/>
            </a:solidFill>
          </a:ln>
        </p:spPr>
      </p:pic>
      <p:sp>
        <p:nvSpPr>
          <p:cNvPr id="387" name="Pfeil: nach rechts 386"/>
          <p:cNvSpPr/>
          <p:nvPr/>
        </p:nvSpPr>
        <p:spPr>
          <a:xfrm>
            <a:off x="6268124" y="2135162"/>
            <a:ext cx="418282" cy="418282"/>
          </a:xfrm>
          <a:prstGeom prst="rightArrow">
            <a:avLst>
              <a:gd name="adj1" fmla="val 50000"/>
              <a:gd name="adj2" fmla="val 25000"/>
            </a:avLst>
          </a:prstGeom>
          <a:solidFill>
            <a:srgbClr val="1E90FF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388" name="Pfeil: nach rechts 387"/>
          <p:cNvSpPr/>
          <p:nvPr/>
        </p:nvSpPr>
        <p:spPr>
          <a:xfrm>
            <a:off x="6268124" y="4430353"/>
            <a:ext cx="418282" cy="418282"/>
          </a:xfrm>
          <a:prstGeom prst="rightArrow">
            <a:avLst>
              <a:gd name="adj1" fmla="val 50000"/>
              <a:gd name="adj2" fmla="val 25000"/>
            </a:avLst>
          </a:prstGeom>
          <a:solidFill>
            <a:srgbClr val="1E90FF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de-AT" dirty="0"/>
          </a:p>
        </p:txBody>
      </p:sp>
      <p:sp>
        <p:nvSpPr>
          <p:cNvPr id="13" name="Google Shape;86;p2"/>
          <p:cNvSpPr txBox="1"/>
          <p:nvPr/>
        </p:nvSpPr>
        <p:spPr>
          <a:xfrm>
            <a:off x="421944" y="171534"/>
            <a:ext cx="84582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>
            <a:pPr algn="r">
              <a:buClr>
                <a:schemeClr val="dk1"/>
              </a:buClr>
              <a:buSzPts val="2800"/>
            </a:pPr>
            <a:r>
              <a:rPr lang="en-US" sz="2800" b="1" dirty="0">
                <a:solidFill>
                  <a:schemeClr val="dk1"/>
                </a:solidFill>
                <a:latin typeface="Calibri" panose="020F0502020204030204"/>
                <a:cs typeface="Calibri" panose="020F0502020204030204"/>
                <a:sym typeface="Calibri" panose="020F0502020204030204"/>
              </a:rPr>
              <a:t>Creating </a:t>
            </a:r>
            <a:r>
              <a:rPr lang="en-US" sz="2800" b="1" dirty="0" err="1">
                <a:solidFill>
                  <a:schemeClr val="dk1"/>
                </a:solidFill>
                <a:latin typeface="Calibri" panose="020F0502020204030204"/>
                <a:cs typeface="Calibri" panose="020F0502020204030204"/>
                <a:sym typeface="Calibri" panose="020F0502020204030204"/>
              </a:rPr>
              <a:t>DataFrames</a:t>
            </a:r>
            <a:r>
              <a:rPr lang="en-US" sz="2800" b="1" dirty="0">
                <a:solidFill>
                  <a:schemeClr val="dk1"/>
                </a:solidFill>
                <a:latin typeface="Calibri" panose="020F0502020204030204"/>
                <a:cs typeface="Calibri" panose="020F0502020204030204"/>
                <a:sym typeface="Calibri" panose="020F0502020204030204"/>
              </a:rPr>
              <a:t> manually</a:t>
            </a:r>
            <a:endParaRPr lang="en-US" dirty="0">
              <a:solidFill>
                <a:schemeClr val="dk1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9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3" name="Textfeld 392"/>
          <p:cNvSpPr txBox="1"/>
          <p:nvPr/>
        </p:nvSpPr>
        <p:spPr>
          <a:xfrm>
            <a:off x="926124" y="1811592"/>
            <a:ext cx="3085720" cy="1529375"/>
          </a:xfrm>
          <a:prstGeom prst="rect">
            <a:avLst/>
          </a:prstGeom>
          <a:solidFill>
            <a:srgbClr val="DAE3F3"/>
          </a:solidFill>
          <a:ln w="0">
            <a:noFill/>
          </a:ln>
        </p:spPr>
        <p:txBody>
          <a:bodyPr lIns="63607" tIns="31804" rIns="63607" bIns="31804" anchor="t">
            <a:noAutofit/>
          </a:bodyPr>
          <a:lstStyle/>
          <a:p>
            <a:r>
              <a:rPr lang="en-US" sz="1200" spc="-1" dirty="0" err="1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state,population,area</a:t>
            </a:r>
            <a:endParaRPr lang="en-US" sz="1200" spc="-1" dirty="0">
              <a:latin typeface="Consolas" panose="020B0609020204030204" pitchFamily="49" charset="0"/>
            </a:endParaRPr>
          </a:p>
          <a:p>
            <a:r>
              <a:rPr lang="en-US" sz="12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California,38332521.0,423967.0</a:t>
            </a:r>
            <a:endParaRPr lang="en-US" sz="1200" spc="-1" dirty="0">
              <a:latin typeface="Consolas" panose="020B0609020204030204" pitchFamily="49" charset="0"/>
            </a:endParaRPr>
          </a:p>
          <a:p>
            <a:r>
              <a:rPr lang="en-US" sz="12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Texas,26448193.0,695662.0</a:t>
            </a:r>
            <a:endParaRPr lang="en-US" sz="1200" spc="-1" dirty="0">
              <a:latin typeface="Consolas" panose="020B0609020204030204" pitchFamily="49" charset="0"/>
            </a:endParaRPr>
          </a:p>
          <a:p>
            <a:r>
              <a:rPr lang="en-US" sz="12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New York,19651127.0,141297.0</a:t>
            </a:r>
            <a:endParaRPr lang="en-US" sz="1200" spc="-1" dirty="0">
              <a:latin typeface="Consolas" panose="020B0609020204030204" pitchFamily="49" charset="0"/>
            </a:endParaRPr>
          </a:p>
          <a:p>
            <a:r>
              <a:rPr lang="en-US" sz="12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Florida,19552860.0,170312.0</a:t>
            </a:r>
            <a:endParaRPr lang="en-US" sz="1200" spc="-1" dirty="0">
              <a:latin typeface="Consolas" panose="020B0609020204030204" pitchFamily="49" charset="0"/>
            </a:endParaRPr>
          </a:p>
          <a:p>
            <a:r>
              <a:rPr lang="en-US" sz="12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New Jersey,9288994.0,</a:t>
            </a:r>
            <a:endParaRPr lang="en-US" sz="1200" spc="-1" dirty="0">
              <a:latin typeface="Consolas" panose="020B0609020204030204" pitchFamily="49" charset="0"/>
            </a:endParaRPr>
          </a:p>
          <a:p>
            <a:r>
              <a:rPr lang="en-US" sz="12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Hawaii,0.0,0.0</a:t>
            </a:r>
            <a:endParaRPr lang="en-US" sz="1200" spc="-1" dirty="0">
              <a:latin typeface="Consolas" panose="020B0609020204030204" pitchFamily="49" charset="0"/>
            </a:endParaRPr>
          </a:p>
          <a:p>
            <a:r>
              <a:rPr lang="en-US" sz="12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Illinois,12882135.0,149995.0</a:t>
            </a:r>
            <a:endParaRPr lang="en-US" sz="1200" spc="-1" dirty="0">
              <a:latin typeface="Consolas" panose="020B0609020204030204" pitchFamily="49" charset="0"/>
            </a:endParaRPr>
          </a:p>
        </p:txBody>
      </p:sp>
      <p:sp>
        <p:nvSpPr>
          <p:cNvPr id="394" name="Textfeld 393"/>
          <p:cNvSpPr txBox="1"/>
          <p:nvPr/>
        </p:nvSpPr>
        <p:spPr>
          <a:xfrm rot="16200000">
            <a:off x="-1245686" y="3303058"/>
            <a:ext cx="3616206" cy="563561"/>
          </a:xfrm>
          <a:prstGeom prst="rect">
            <a:avLst/>
          </a:prstGeom>
          <a:noFill/>
          <a:ln w="0">
            <a:noFill/>
          </a:ln>
        </p:spPr>
        <p:txBody>
          <a:bodyPr lIns="63607" tIns="31804" rIns="63607" bIns="31804" anchor="t">
            <a:noAutofit/>
          </a:bodyPr>
          <a:lstStyle/>
          <a:p>
            <a:pPr algn="ctr"/>
            <a:r>
              <a:rPr lang="en-US" sz="1555" b="1" spc="-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states.csv</a:t>
            </a:r>
            <a:endParaRPr lang="en-US" sz="1555" spc="-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95" name="Textfeld 394"/>
          <p:cNvSpPr txBox="1"/>
          <p:nvPr/>
        </p:nvSpPr>
        <p:spPr>
          <a:xfrm rot="16200000">
            <a:off x="-109659" y="2383549"/>
            <a:ext cx="1643614" cy="244761"/>
          </a:xfrm>
          <a:prstGeom prst="rect">
            <a:avLst/>
          </a:prstGeom>
          <a:noFill/>
          <a:ln w="0">
            <a:noFill/>
          </a:ln>
        </p:spPr>
        <p:txBody>
          <a:bodyPr lIns="63607" tIns="31804" rIns="63607" bIns="31804" anchor="t">
            <a:noAutofit/>
          </a:bodyPr>
          <a:lstStyle/>
          <a:p>
            <a:pPr algn="ctr"/>
            <a:r>
              <a:rPr lang="en-US" sz="1270" spc="-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In a text editor</a:t>
            </a:r>
            <a:endParaRPr lang="en-US" sz="1270" spc="-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96" name="Textfeld 395"/>
          <p:cNvSpPr txBox="1"/>
          <p:nvPr/>
        </p:nvSpPr>
        <p:spPr>
          <a:xfrm rot="16200000">
            <a:off x="2947057" y="3361576"/>
            <a:ext cx="3793797" cy="425660"/>
          </a:xfrm>
          <a:prstGeom prst="rect">
            <a:avLst/>
          </a:prstGeom>
          <a:noFill/>
          <a:ln w="0">
            <a:noFill/>
          </a:ln>
        </p:spPr>
        <p:txBody>
          <a:bodyPr lIns="63607" tIns="31804" rIns="63607" bIns="31804" anchor="t">
            <a:noAutofit/>
          </a:bodyPr>
          <a:lstStyle/>
          <a:p>
            <a:pPr algn="ctr"/>
            <a:r>
              <a:rPr lang="en-US" sz="1555" b="1" spc="-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Code (</a:t>
            </a:r>
            <a:r>
              <a:rPr lang="en-US" sz="1555" b="1" spc="-1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Jupyter</a:t>
            </a:r>
            <a:r>
              <a:rPr lang="en-US" sz="1555" b="1" spc="-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-Notebook)</a:t>
            </a:r>
            <a:endParaRPr lang="en-US" sz="1555" spc="-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97" name="Textfeld 396"/>
          <p:cNvSpPr txBox="1"/>
          <p:nvPr/>
        </p:nvSpPr>
        <p:spPr>
          <a:xfrm rot="16200000">
            <a:off x="4685827" y="2011319"/>
            <a:ext cx="1410048" cy="522853"/>
          </a:xfrm>
          <a:prstGeom prst="rect">
            <a:avLst/>
          </a:prstGeom>
          <a:noFill/>
          <a:ln w="0">
            <a:noFill/>
          </a:ln>
        </p:spPr>
        <p:txBody>
          <a:bodyPr lIns="63607" tIns="31804" rIns="63607" bIns="31804" anchor="t">
            <a:noAutofit/>
          </a:bodyPr>
          <a:lstStyle/>
          <a:p>
            <a:pPr algn="ctr"/>
            <a:r>
              <a:rPr lang="en-US" sz="1555" spc="-1" dirty="0" err="1"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DataFrame</a:t>
            </a:r>
            <a:r>
              <a:rPr lang="en-US" sz="1555" spc="-1" dirty="0"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br>
              <a:rPr sz="1555" dirty="0"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</a:br>
            <a:r>
              <a:rPr lang="de-AT" sz="1555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load</a:t>
            </a:r>
            <a:endParaRPr lang="en-US" sz="1555" spc="-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98" name="Textfeld 397"/>
          <p:cNvSpPr txBox="1"/>
          <p:nvPr/>
        </p:nvSpPr>
        <p:spPr>
          <a:xfrm rot="16200000">
            <a:off x="4119977" y="3827691"/>
            <a:ext cx="2542513" cy="522853"/>
          </a:xfrm>
          <a:prstGeom prst="rect">
            <a:avLst/>
          </a:prstGeom>
          <a:noFill/>
          <a:ln w="0">
            <a:noFill/>
          </a:ln>
        </p:spPr>
        <p:txBody>
          <a:bodyPr lIns="63607" tIns="31804" rIns="63607" bIns="31804" anchor="t">
            <a:noAutofit/>
          </a:bodyPr>
          <a:lstStyle/>
          <a:p>
            <a:pPr algn="ctr"/>
            <a:r>
              <a:rPr lang="en-US" sz="1555" spc="-1" dirty="0" err="1"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DataFrame</a:t>
            </a:r>
            <a:r>
              <a:rPr lang="en-US" sz="1555" spc="-1" dirty="0"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br>
              <a:rPr sz="1555" dirty="0"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</a:br>
            <a:r>
              <a:rPr lang="de-AT" sz="1555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display</a:t>
            </a:r>
            <a:endParaRPr lang="en-US" sz="1555" spc="-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99" name="Textfeld 398"/>
          <p:cNvSpPr txBox="1"/>
          <p:nvPr/>
        </p:nvSpPr>
        <p:spPr>
          <a:xfrm rot="16200000">
            <a:off x="-90576" y="4206791"/>
            <a:ext cx="1643614" cy="244761"/>
          </a:xfrm>
          <a:prstGeom prst="rect">
            <a:avLst/>
          </a:prstGeom>
          <a:noFill/>
          <a:ln w="0">
            <a:noFill/>
          </a:ln>
        </p:spPr>
        <p:txBody>
          <a:bodyPr lIns="63607" tIns="31804" rIns="63607" bIns="31804" anchor="t">
            <a:noAutofit/>
          </a:bodyPr>
          <a:lstStyle/>
          <a:p>
            <a:pPr algn="ctr"/>
            <a:r>
              <a:rPr lang="en-US" sz="1270" spc="-1"/>
              <a:t>In Excel</a:t>
            </a:r>
            <a:endParaRPr lang="en-US" sz="1270" spc="-1"/>
          </a:p>
        </p:txBody>
      </p:sp>
      <p:pic>
        <p:nvPicPr>
          <p:cNvPr id="400" name="Grafik 399"/>
          <p:cNvPicPr/>
          <p:nvPr/>
        </p:nvPicPr>
        <p:blipFill>
          <a:blip r:embed="rId1"/>
          <a:stretch>
            <a:fillRect/>
          </a:stretch>
        </p:blipFill>
        <p:spPr>
          <a:xfrm>
            <a:off x="904243" y="3507364"/>
            <a:ext cx="3100477" cy="1859116"/>
          </a:xfrm>
          <a:prstGeom prst="rect">
            <a:avLst/>
          </a:prstGeom>
          <a:ln w="0">
            <a:noFill/>
          </a:ln>
        </p:spPr>
      </p:pic>
      <p:sp>
        <p:nvSpPr>
          <p:cNvPr id="401" name="Freihandform: Form 400"/>
          <p:cNvSpPr/>
          <p:nvPr/>
        </p:nvSpPr>
        <p:spPr>
          <a:xfrm>
            <a:off x="4339040" y="1726358"/>
            <a:ext cx="0" cy="3718741"/>
          </a:xfrm>
          <a:custGeom>
            <a:avLst/>
            <a:gdLst/>
            <a:ahLst/>
            <a:cxnLst/>
            <a:rect l="0" t="0" r="r" b="b"/>
            <a:pathLst>
              <a:path h="14616" fill="none">
                <a:moveTo>
                  <a:pt x="0" y="0"/>
                </a:moveTo>
                <a:lnTo>
                  <a:pt x="0" y="14616"/>
                </a:lnTo>
              </a:path>
            </a:pathLst>
          </a:custGeom>
          <a:ln w="36720">
            <a:solidFill>
              <a:srgbClr val="000000"/>
            </a:solidFill>
            <a:round/>
          </a:ln>
        </p:spPr>
        <p:txBody>
          <a:bodyPr/>
          <a:lstStyle/>
          <a:p>
            <a:endParaRPr lang="en-US"/>
          </a:p>
        </p:txBody>
      </p:sp>
      <p:pic>
        <p:nvPicPr>
          <p:cNvPr id="402" name="Grafik 401"/>
          <p:cNvPicPr/>
          <p:nvPr/>
        </p:nvPicPr>
        <p:blipFill>
          <a:blip r:embed="rId2"/>
          <a:stretch>
            <a:fillRect/>
          </a:stretch>
        </p:blipFill>
        <p:spPr>
          <a:xfrm>
            <a:off x="5602537" y="1923287"/>
            <a:ext cx="3508837" cy="3532244"/>
          </a:xfrm>
          <a:prstGeom prst="rect">
            <a:avLst/>
          </a:prstGeom>
          <a:ln w="0">
            <a:noFill/>
          </a:ln>
        </p:spPr>
      </p:pic>
      <p:sp>
        <p:nvSpPr>
          <p:cNvPr id="16" name="Google Shape;86;p2"/>
          <p:cNvSpPr txBox="1"/>
          <p:nvPr/>
        </p:nvSpPr>
        <p:spPr>
          <a:xfrm>
            <a:off x="486744" y="131437"/>
            <a:ext cx="84582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>
            <a:pPr algn="r">
              <a:buClr>
                <a:schemeClr val="dk1"/>
              </a:buClr>
              <a:buSzPts val="2800"/>
            </a:pPr>
            <a:r>
              <a:rPr lang="en-US" sz="2800" b="1" dirty="0">
                <a:solidFill>
                  <a:schemeClr val="dk1"/>
                </a:solidFill>
                <a:latin typeface="Calibri" panose="020F0502020204030204"/>
                <a:cs typeface="Calibri" panose="020F0502020204030204"/>
                <a:sym typeface="Calibri" panose="020F0502020204030204"/>
              </a:rPr>
              <a:t>Loading </a:t>
            </a:r>
            <a:r>
              <a:rPr lang="en-US" sz="2800" b="1" dirty="0" err="1">
                <a:solidFill>
                  <a:schemeClr val="dk1"/>
                </a:solidFill>
                <a:latin typeface="Calibri" panose="020F0502020204030204"/>
                <a:cs typeface="Calibri" panose="020F0502020204030204"/>
                <a:sym typeface="Calibri" panose="020F0502020204030204"/>
              </a:rPr>
              <a:t>DataFrames</a:t>
            </a:r>
            <a:r>
              <a:rPr lang="en-US" sz="2800" b="1" dirty="0">
                <a:solidFill>
                  <a:schemeClr val="dk1"/>
                </a:solidFill>
                <a:latin typeface="Calibri" panose="020F0502020204030204"/>
                <a:cs typeface="Calibri" panose="020F0502020204030204"/>
                <a:sym typeface="Calibri" panose="020F0502020204030204"/>
              </a:rPr>
              <a:t> from a CSV file</a:t>
            </a:r>
            <a:endParaRPr lang="en-US" dirty="0">
              <a:solidFill>
                <a:schemeClr val="dk1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4" name="PlaceHolder 2"/>
          <p:cNvSpPr>
            <a:spLocks noGrp="1"/>
          </p:cNvSpPr>
          <p:nvPr>
            <p:ph type="body" idx="1"/>
          </p:nvPr>
        </p:nvSpPr>
        <p:spPr>
          <a:xfrm>
            <a:off x="610634" y="2126986"/>
            <a:ext cx="7934633" cy="3525317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marL="286385" lvl="1" indent="-285750">
              <a:spcBef>
                <a:spcPts val="800"/>
              </a:spcBef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Access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to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rows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via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index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with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loc</a:t>
            </a:r>
            <a:endParaRPr lang="de-AT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286385" lvl="1" indent="-285750">
              <a:spcBef>
                <a:spcPts val="800"/>
              </a:spcBef>
              <a:buClr>
                <a:srgbClr val="0F0F0F"/>
              </a:buClr>
              <a:buFont typeface="Wingdings" panose="05000000000000000000" pitchFamily="2" charset="2"/>
              <a:buChar char="v"/>
            </a:pPr>
            <a:endParaRPr lang="de-AT" sz="1800" b="1" spc="-1" dirty="0">
              <a:solidFill>
                <a:srgbClr val="0F0F0F"/>
              </a:solidFill>
              <a:highlight>
                <a:srgbClr val="DAE3F3"/>
              </a:highlight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743585" lvl="2" indent="-285750">
              <a:spcBef>
                <a:spcPts val="800"/>
              </a:spcBef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b="1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df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.loc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[3]</a:t>
            </a:r>
            <a:endParaRPr lang="de-AT" sz="1800" spc="-1" dirty="0">
              <a:solidFill>
                <a:srgbClr val="0F0F0F"/>
              </a:solidFill>
              <a:highlight>
                <a:srgbClr val="DAE3F3"/>
              </a:highlight>
              <a:latin typeface="Consolas" panose="020B0609020204030204" pitchFamily="49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687070" lvl="2" indent="0">
              <a:spcBef>
                <a:spcPts val="600"/>
              </a:spcBef>
            </a:pPr>
            <a:endParaRPr lang="de-AT" sz="1800" spc="-1" dirty="0">
              <a:solidFill>
                <a:srgbClr val="0F0F0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286385" lvl="1" indent="-285750">
              <a:spcBef>
                <a:spcPts val="800"/>
              </a:spcBef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Access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to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columns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(e.g.,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area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)</a:t>
            </a:r>
            <a:endParaRPr lang="de-AT" sz="1800" spc="-1" dirty="0">
              <a:solidFill>
                <a:srgbClr val="0F0F0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743585" lvl="2" indent="-285750">
              <a:spcBef>
                <a:spcPts val="800"/>
              </a:spcBef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b="1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df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['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area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']</a:t>
            </a:r>
            <a:endParaRPr lang="de-AT" sz="1800" spc="-1" dirty="0">
              <a:solidFill>
                <a:srgbClr val="0F0F0F"/>
              </a:solidFill>
              <a:highlight>
                <a:srgbClr val="DAE3F3"/>
              </a:highlight>
              <a:latin typeface="Consolas" panose="020B0609020204030204" pitchFamily="49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743585" lvl="2" indent="-285750">
              <a:spcBef>
                <a:spcPts val="800"/>
              </a:spcBef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b="1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df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.area</a:t>
            </a:r>
            <a:endParaRPr lang="de-AT" sz="1800" spc="-1" dirty="0">
              <a:solidFill>
                <a:srgbClr val="0F0F0F"/>
              </a:solidFill>
              <a:highlight>
                <a:srgbClr val="DAE3F3"/>
              </a:highlight>
              <a:latin typeface="Consolas" panose="020B0609020204030204" pitchFamily="49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743585" lvl="2" indent="-285750">
              <a:spcBef>
                <a:spcPts val="800"/>
              </a:spcBef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b="1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df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.loc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[:, '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area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']</a:t>
            </a:r>
            <a:endParaRPr lang="de-AT" sz="1800" spc="-1" dirty="0">
              <a:solidFill>
                <a:srgbClr val="0F0F0F"/>
              </a:solidFill>
              <a:highlight>
                <a:srgbClr val="DAE3F3"/>
              </a:highlight>
              <a:latin typeface="Consolas" panose="020B0609020204030204" pitchFamily="49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409" name="Grafik 408"/>
          <p:cNvPicPr/>
          <p:nvPr/>
        </p:nvPicPr>
        <p:blipFill>
          <a:blip r:embed="rId1"/>
          <a:stretch>
            <a:fillRect/>
          </a:stretch>
        </p:blipFill>
        <p:spPr>
          <a:xfrm>
            <a:off x="5394922" y="2239797"/>
            <a:ext cx="3690245" cy="3252880"/>
          </a:xfrm>
          <a:prstGeom prst="rect">
            <a:avLst/>
          </a:prstGeom>
          <a:ln w="0">
            <a:noFill/>
          </a:ln>
        </p:spPr>
      </p:pic>
      <p:sp>
        <p:nvSpPr>
          <p:cNvPr id="410" name="Textfeld 409"/>
          <p:cNvSpPr txBox="1"/>
          <p:nvPr/>
        </p:nvSpPr>
        <p:spPr>
          <a:xfrm>
            <a:off x="4776952" y="1903187"/>
            <a:ext cx="4167351" cy="286742"/>
          </a:xfrm>
          <a:prstGeom prst="rect">
            <a:avLst/>
          </a:prstGeom>
          <a:solidFill>
            <a:srgbClr val="DAE3F3"/>
          </a:solidFill>
          <a:ln w="0">
            <a:noFill/>
          </a:ln>
        </p:spPr>
        <p:txBody>
          <a:bodyPr lIns="63607" tIns="31804" rIns="63607" bIns="31804" anchor="t">
            <a:noAutofit/>
          </a:bodyPr>
          <a:lstStyle/>
          <a:p>
            <a:pPr algn="ctr"/>
            <a:r>
              <a:rPr lang="en-US" sz="1800" b="1" spc="-1" dirty="0">
                <a:latin typeface="Consolas" panose="020B0609020204030204" pitchFamily="49" charset="0"/>
                <a:ea typeface="Droid Sans Fallback"/>
              </a:rPr>
              <a:t>df</a:t>
            </a:r>
            <a:r>
              <a:rPr lang="en-US" sz="1800" spc="-1" dirty="0">
                <a:latin typeface="Consolas" panose="020B0609020204030204" pitchFamily="49" charset="0"/>
                <a:ea typeface="Droid Sans Fallback"/>
              </a:rPr>
              <a:t> = </a:t>
            </a:r>
            <a:r>
              <a:rPr lang="en-US" sz="1800" spc="-1" dirty="0" err="1">
                <a:latin typeface="Consolas" panose="020B0609020204030204" pitchFamily="49" charset="0"/>
                <a:ea typeface="Droid Sans Fallback"/>
              </a:rPr>
              <a:t>pd.read_csv</a:t>
            </a:r>
            <a:r>
              <a:rPr lang="en-US" sz="1800" spc="-1" dirty="0">
                <a:latin typeface="Consolas" panose="020B0609020204030204" pitchFamily="49" charset="0"/>
                <a:ea typeface="Droid Sans Fallback"/>
              </a:rPr>
              <a:t>('states.csv</a:t>
            </a:r>
            <a:r>
              <a:rPr lang="en-US" sz="1800" spc="-1" dirty="0">
                <a:latin typeface="Consolas" panose="020B0609020204030204" pitchFamily="49" charset="0"/>
              </a:rPr>
              <a:t>')</a:t>
            </a:r>
            <a:endParaRPr lang="en-US" sz="1800" spc="-1" dirty="0">
              <a:latin typeface="Consolas" panose="020B0609020204030204" pitchFamily="49" charset="0"/>
            </a:endParaRPr>
          </a:p>
        </p:txBody>
      </p:sp>
      <p:sp>
        <p:nvSpPr>
          <p:cNvPr id="411" name="Rechteck 410"/>
          <p:cNvSpPr/>
          <p:nvPr/>
        </p:nvSpPr>
        <p:spPr>
          <a:xfrm>
            <a:off x="1222279" y="3242630"/>
            <a:ext cx="1738516" cy="372739"/>
          </a:xfrm>
          <a:prstGeom prst="rect">
            <a:avLst/>
          </a:prstGeom>
          <a:noFill/>
          <a:ln w="36720">
            <a:solidFill>
              <a:srgbClr val="1E90F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412" name="Rechteck 411"/>
          <p:cNvSpPr/>
          <p:nvPr/>
        </p:nvSpPr>
        <p:spPr>
          <a:xfrm>
            <a:off x="5418075" y="3935315"/>
            <a:ext cx="3672944" cy="372739"/>
          </a:xfrm>
          <a:prstGeom prst="rect">
            <a:avLst/>
          </a:prstGeom>
          <a:noFill/>
          <a:ln w="36720">
            <a:solidFill>
              <a:srgbClr val="1E90F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413" name="Rechteck 412"/>
          <p:cNvSpPr/>
          <p:nvPr/>
        </p:nvSpPr>
        <p:spPr>
          <a:xfrm>
            <a:off x="1246704" y="4308054"/>
            <a:ext cx="2405641" cy="1176482"/>
          </a:xfrm>
          <a:prstGeom prst="rect">
            <a:avLst/>
          </a:prstGeom>
          <a:noFill/>
          <a:ln w="36720">
            <a:solidFill>
              <a:srgbClr val="32CD32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414" name="Rechteck 413"/>
          <p:cNvSpPr/>
          <p:nvPr/>
        </p:nvSpPr>
        <p:spPr>
          <a:xfrm>
            <a:off x="8084496" y="2294754"/>
            <a:ext cx="921543" cy="3189782"/>
          </a:xfrm>
          <a:prstGeom prst="rect">
            <a:avLst/>
          </a:prstGeom>
          <a:noFill/>
          <a:ln w="36720">
            <a:solidFill>
              <a:srgbClr val="32CD32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14" name="Google Shape;86;p2"/>
          <p:cNvSpPr txBox="1"/>
          <p:nvPr/>
        </p:nvSpPr>
        <p:spPr>
          <a:xfrm>
            <a:off x="472344" y="153037"/>
            <a:ext cx="84582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>
            <a:pPr algn="r">
              <a:buClr>
                <a:schemeClr val="dk1"/>
              </a:buClr>
              <a:buSzPts val="2800"/>
            </a:pPr>
            <a:r>
              <a:rPr lang="en-US" sz="2800" b="1" dirty="0">
                <a:solidFill>
                  <a:schemeClr val="dk1"/>
                </a:solidFill>
                <a:latin typeface="Calibri" panose="020F0502020204030204"/>
                <a:cs typeface="Calibri" panose="020F0502020204030204"/>
                <a:sym typeface="Calibri" panose="020F0502020204030204"/>
              </a:rPr>
              <a:t>Accessing rows and columns in </a:t>
            </a:r>
            <a:r>
              <a:rPr lang="en-US" sz="2800" b="1" dirty="0" err="1">
                <a:solidFill>
                  <a:schemeClr val="dk1"/>
                </a:solidFill>
                <a:latin typeface="Calibri" panose="020F0502020204030204"/>
                <a:cs typeface="Calibri" panose="020F0502020204030204"/>
                <a:sym typeface="Calibri" panose="020F0502020204030204"/>
              </a:rPr>
              <a:t>DataFrames</a:t>
            </a:r>
            <a:endParaRPr lang="en-US" dirty="0">
              <a:solidFill>
                <a:schemeClr val="dk1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6" name="PlaceHolder 2"/>
          <p:cNvSpPr>
            <a:spLocks noGrp="1"/>
          </p:cNvSpPr>
          <p:nvPr>
            <p:ph type="body" idx="1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86385" lvl="1" indent="-285750">
              <a:spcBef>
                <a:spcPts val="800"/>
              </a:spcBef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Filtering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with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operators</a:t>
            </a:r>
            <a:endParaRPr lang="de-AT" sz="1800" spc="-1" dirty="0">
              <a:solidFill>
                <a:srgbClr val="0F0F0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743585" lvl="2" indent="-285750">
              <a:spcBef>
                <a:spcPts val="800"/>
              </a:spcBef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Comparison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operators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as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previously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 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&gt;,</a:t>
            </a:r>
            <a:r>
              <a:rPr lang="de-AT" sz="1800" spc="-1" dirty="0">
                <a:solidFill>
                  <a:srgbClr val="0F0F0F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&lt;,</a:t>
            </a:r>
            <a:r>
              <a:rPr lang="de-AT" sz="1800" spc="-1" dirty="0">
                <a:solidFill>
                  <a:srgbClr val="0F0F0F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&gt;=,</a:t>
            </a:r>
            <a:r>
              <a:rPr lang="de-AT" sz="1800" spc="-1" dirty="0">
                <a:solidFill>
                  <a:srgbClr val="0F0F0F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&lt;=,</a:t>
            </a:r>
            <a:r>
              <a:rPr lang="de-AT" sz="1800" spc="-1" dirty="0">
                <a:solidFill>
                  <a:srgbClr val="0F0F0F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==,</a:t>
            </a:r>
            <a:r>
              <a:rPr lang="de-AT" sz="1800" spc="-1" dirty="0">
                <a:solidFill>
                  <a:srgbClr val="0F0F0F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!=</a:t>
            </a:r>
            <a:endParaRPr lang="de-AT" sz="1800" spc="-1" dirty="0">
              <a:solidFill>
                <a:srgbClr val="0F0F0F"/>
              </a:solidFill>
              <a:highlight>
                <a:srgbClr val="DAE3F3"/>
              </a:highlight>
              <a:latin typeface="Consolas" panose="020B0609020204030204" pitchFamily="49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743585" lvl="2" indent="-285750">
              <a:spcBef>
                <a:spcPts val="800"/>
              </a:spcBef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Logical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operators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similar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to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set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operators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</a:t>
            </a:r>
            <a:endParaRPr lang="de-AT" sz="1800" spc="-1" dirty="0">
              <a:solidFill>
                <a:srgbClr val="0F0F0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972820" lvl="2" indent="-285750">
              <a:spcBef>
                <a:spcPts val="600"/>
              </a:spcBef>
              <a:buFont typeface="Wingdings" panose="05000000000000000000" pitchFamily="2" charset="2"/>
              <a:buChar char="v"/>
            </a:pPr>
            <a:endParaRPr lang="de-AT" sz="1800" spc="-1" dirty="0">
              <a:solidFill>
                <a:srgbClr val="0F0F0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972820" lvl="2" indent="-285750">
              <a:spcBef>
                <a:spcPts val="600"/>
              </a:spcBef>
              <a:buFont typeface="Wingdings" panose="05000000000000000000" pitchFamily="2" charset="2"/>
              <a:buChar char="v"/>
            </a:pPr>
            <a:endParaRPr lang="de-AT" sz="1800" spc="-1" dirty="0">
              <a:solidFill>
                <a:srgbClr val="0F0F0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972820" lvl="2" indent="-285750">
              <a:spcBef>
                <a:spcPts val="600"/>
              </a:spcBef>
              <a:buFont typeface="Wingdings" panose="05000000000000000000" pitchFamily="2" charset="2"/>
              <a:buChar char="v"/>
            </a:pPr>
            <a:endParaRPr lang="de-AT" sz="1800" spc="-1" dirty="0">
              <a:solidFill>
                <a:srgbClr val="0F0F0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972820" lvl="2" indent="-285750">
              <a:spcBef>
                <a:spcPts val="600"/>
              </a:spcBef>
              <a:buFont typeface="Wingdings" panose="05000000000000000000" pitchFamily="2" charset="2"/>
              <a:buChar char="v"/>
            </a:pPr>
            <a:endParaRPr lang="de-AT" sz="1800" spc="-1" dirty="0">
              <a:solidFill>
                <a:srgbClr val="0F0F0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286385" lvl="1" indent="-285750">
              <a:spcBef>
                <a:spcPts val="800"/>
              </a:spcBef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Applying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an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operator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to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a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DataFrame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column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results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in a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boolean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mask</a:t>
            </a:r>
            <a:endParaRPr lang="de-AT" sz="1800" spc="-1" dirty="0">
              <a:solidFill>
                <a:srgbClr val="0F0F0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743585" lvl="2" indent="-285750">
              <a:spcBef>
                <a:spcPts val="800"/>
              </a:spcBef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Accessing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a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DataFrame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column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with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a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boolean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mask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results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in a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selection</a:t>
            </a:r>
            <a:endParaRPr lang="de-AT" sz="1800" spc="-1" dirty="0">
              <a:solidFill>
                <a:srgbClr val="0F0F0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graphicFrame>
        <p:nvGraphicFramePr>
          <p:cNvPr id="421" name="Tabelle 420"/>
          <p:cNvGraphicFramePr/>
          <p:nvPr/>
        </p:nvGraphicFramePr>
        <p:xfrm>
          <a:off x="2735514" y="3390167"/>
          <a:ext cx="3672971" cy="1355784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1879243"/>
                <a:gridCol w="1793728"/>
              </a:tblGrid>
              <a:tr h="270289">
                <a:tc>
                  <a:txBody>
                    <a:bodyPr/>
                    <a:lstStyle/>
                    <a:p>
                      <a:pPr algn="ctr"/>
                      <a:r>
                        <a:rPr lang="en-US" sz="1800" strike="noStrike" spc="-1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Logical operator</a:t>
                      </a:r>
                      <a:endParaRPr lang="en-US" sz="1800" b="0" strike="noStrike" spc="-1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63607" marR="63607" marT="32313" marB="32313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strike="noStrike" spc="-1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pandas</a:t>
                      </a:r>
                      <a:endParaRPr lang="en-US" sz="1800" b="1" strike="noStrike" spc="-1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63607" marR="63607" marT="32313" marB="32313"/>
                </a:tc>
              </a:tr>
              <a:tr h="323125">
                <a:tc>
                  <a:txBody>
                    <a:bodyPr/>
                    <a:lstStyle/>
                    <a:p>
                      <a:pPr algn="ctr"/>
                      <a:r>
                        <a:rPr lang="en-US" sz="1800" strike="noStrike" spc="-1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and</a:t>
                      </a:r>
                      <a:endParaRPr lang="en-US" sz="1800" b="0" strike="noStrike" spc="-1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63607" marR="63607" marT="32313" marB="32313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strike="noStrike" spc="-1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&amp;</a:t>
                      </a:r>
                      <a:endParaRPr lang="en-US" sz="1800" b="0" strike="noStrike" spc="-1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63607" marR="63607" marT="32313" marB="32313"/>
                </a:tc>
              </a:tr>
              <a:tr h="323125">
                <a:tc>
                  <a:txBody>
                    <a:bodyPr/>
                    <a:lstStyle/>
                    <a:p>
                      <a:pPr algn="ctr"/>
                      <a:r>
                        <a:rPr lang="en-US" sz="1800" strike="noStrike" spc="-1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or</a:t>
                      </a:r>
                      <a:endParaRPr lang="en-US" sz="1800" b="0" strike="noStrike" spc="-1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63607" marR="63607" marT="32313" marB="32313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strike="noStrike" spc="-1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|</a:t>
                      </a:r>
                      <a:endParaRPr lang="en-US" sz="1800" b="0" strike="noStrike" spc="-1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63607" marR="63607" marT="32313" marB="32313"/>
                </a:tc>
              </a:tr>
              <a:tr h="323125">
                <a:tc>
                  <a:txBody>
                    <a:bodyPr/>
                    <a:lstStyle/>
                    <a:p>
                      <a:pPr algn="ctr"/>
                      <a:r>
                        <a:rPr lang="en-US" sz="1800" strike="noStrike" spc="-1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not</a:t>
                      </a:r>
                      <a:endParaRPr lang="en-US" sz="1800" b="0" strike="noStrike" spc="-1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63607" marR="63607" marT="32313" marB="32313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strike="noStrike" spc="-1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~</a:t>
                      </a:r>
                      <a:endParaRPr lang="en-US" sz="1800" b="0" strike="noStrike" spc="-1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63607" marR="63607" marT="32313" marB="32313"/>
                </a:tc>
              </a:tr>
            </a:tbl>
          </a:graphicData>
        </a:graphic>
      </p:graphicFrame>
      <p:sp>
        <p:nvSpPr>
          <p:cNvPr id="9" name="Google Shape;86;p2"/>
          <p:cNvSpPr txBox="1"/>
          <p:nvPr/>
        </p:nvSpPr>
        <p:spPr>
          <a:xfrm>
            <a:off x="479544" y="161810"/>
            <a:ext cx="84582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>
            <a:pPr algn="r">
              <a:buClr>
                <a:schemeClr val="dk1"/>
              </a:buClr>
              <a:buSzPts val="2800"/>
            </a:pPr>
            <a:r>
              <a:rPr lang="en-US" sz="2800" b="1" dirty="0">
                <a:solidFill>
                  <a:schemeClr val="dk1"/>
                </a:solidFill>
                <a:latin typeface="Calibri" panose="020F0502020204030204"/>
                <a:cs typeface="Calibri" panose="020F0502020204030204"/>
                <a:sym typeface="Calibri" panose="020F0502020204030204"/>
              </a:rPr>
              <a:t>Filtering columns in </a:t>
            </a:r>
            <a:r>
              <a:rPr lang="en-US" sz="2800" b="1" dirty="0" err="1">
                <a:solidFill>
                  <a:schemeClr val="dk1"/>
                </a:solidFill>
                <a:latin typeface="Calibri" panose="020F0502020204030204"/>
                <a:cs typeface="Calibri" panose="020F0502020204030204"/>
                <a:sym typeface="Calibri" panose="020F0502020204030204"/>
              </a:rPr>
              <a:t>DataFrames</a:t>
            </a:r>
            <a:endParaRPr lang="en-US" dirty="0"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3" name="PlaceHolder 2"/>
          <p:cNvSpPr>
            <a:spLocks noGrp="1"/>
          </p:cNvSpPr>
          <p:nvPr>
            <p:ph type="body" idx="1"/>
          </p:nvPr>
        </p:nvSpPr>
        <p:spPr>
          <a:xfrm>
            <a:off x="756065" y="867104"/>
            <a:ext cx="7934633" cy="4156841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marL="286385" lvl="1" indent="-285750">
              <a:spcBef>
                <a:spcPts val="800"/>
              </a:spcBef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Which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rows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contain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states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with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more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than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25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million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people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?</a:t>
            </a:r>
            <a:endParaRPr lang="de-AT" sz="1800" spc="-1" dirty="0">
              <a:solidFill>
                <a:srgbClr val="0F0F0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743585" lvl="2" indent="-285750">
              <a:spcBef>
                <a:spcPts val="800"/>
              </a:spcBef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df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[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df.population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 &gt; 25000000]</a:t>
            </a:r>
            <a:endParaRPr lang="de-AT" sz="1800" spc="-1" dirty="0">
              <a:solidFill>
                <a:srgbClr val="0F0F0F"/>
              </a:solidFill>
              <a:highlight>
                <a:srgbClr val="DAE3F3"/>
              </a:highlight>
              <a:latin typeface="Consolas" panose="020B0609020204030204" pitchFamily="49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743585" lvl="2" indent="-285750">
              <a:spcBef>
                <a:spcPts val="800"/>
              </a:spcBef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df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[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df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['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population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'] &gt; 25000000]</a:t>
            </a:r>
            <a:endParaRPr lang="de-AT" sz="1800" spc="-1" dirty="0">
              <a:solidFill>
                <a:srgbClr val="0F0F0F"/>
              </a:solidFill>
              <a:highlight>
                <a:srgbClr val="DAE3F3"/>
              </a:highlight>
              <a:latin typeface="Consolas" panose="020B0609020204030204" pitchFamily="49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743585" lvl="2" indent="-285750">
              <a:spcBef>
                <a:spcPts val="800"/>
              </a:spcBef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df.loc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[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df.population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 &gt; 25000000]</a:t>
            </a:r>
            <a:endParaRPr lang="de-AT" sz="1800" spc="-1" dirty="0">
              <a:solidFill>
                <a:srgbClr val="0F0F0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286385" lvl="1" indent="-285750">
              <a:spcBef>
                <a:spcPts val="1200"/>
              </a:spcBef>
              <a:spcAft>
                <a:spcPts val="400"/>
              </a:spcAft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Why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does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this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syntax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work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? Boolean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masking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!</a:t>
            </a:r>
            <a:endParaRPr lang="de-AT" sz="1800" spc="-1" dirty="0">
              <a:solidFill>
                <a:srgbClr val="0F0F0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743585" lvl="2" indent="-285750">
              <a:spcBef>
                <a:spcPts val="1200"/>
              </a:spcBef>
              <a:spcAft>
                <a:spcPts val="400"/>
              </a:spcAft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(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df.population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 &gt; 25000000)</a:t>
            </a:r>
            <a:r>
              <a:rPr lang="de-AT" sz="1800" dirty="0"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=&gt;</a:t>
            </a:r>
            <a:endParaRPr lang="de-AT" sz="1800" spc="-1" dirty="0">
              <a:solidFill>
                <a:srgbClr val="0F0F0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286385" lvl="1"/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[True, True, 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False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, 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False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, 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False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, 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False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]</a:t>
            </a:r>
            <a:endParaRPr lang="de-AT" sz="1800" spc="-1" dirty="0">
              <a:solidFill>
                <a:srgbClr val="0F0F0F"/>
              </a:solidFill>
              <a:highlight>
                <a:srgbClr val="DAE3F3"/>
              </a:highlight>
              <a:latin typeface="Consolas" panose="020B0609020204030204" pitchFamily="49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428" name="Grafik 427"/>
          <p:cNvPicPr/>
          <p:nvPr/>
        </p:nvPicPr>
        <p:blipFill>
          <a:blip r:embed="rId1"/>
          <a:stretch>
            <a:fillRect/>
          </a:stretch>
        </p:blipFill>
        <p:spPr>
          <a:xfrm>
            <a:off x="5880119" y="2438506"/>
            <a:ext cx="3205048" cy="2825185"/>
          </a:xfrm>
          <a:prstGeom prst="rect">
            <a:avLst/>
          </a:prstGeom>
          <a:ln w="0">
            <a:noFill/>
          </a:ln>
        </p:spPr>
      </p:pic>
      <p:sp>
        <p:nvSpPr>
          <p:cNvPr id="429" name="Textfeld 428"/>
          <p:cNvSpPr txBox="1"/>
          <p:nvPr/>
        </p:nvSpPr>
        <p:spPr>
          <a:xfrm>
            <a:off x="5830506" y="2066276"/>
            <a:ext cx="3287483" cy="247051"/>
          </a:xfrm>
          <a:prstGeom prst="rect">
            <a:avLst/>
          </a:prstGeom>
          <a:solidFill>
            <a:srgbClr val="DAE3F3"/>
          </a:solidFill>
          <a:ln w="0">
            <a:noFill/>
          </a:ln>
        </p:spPr>
        <p:txBody>
          <a:bodyPr lIns="63607" tIns="31804" rIns="63607" bIns="31804" anchor="t">
            <a:noAutofit/>
          </a:bodyPr>
          <a:lstStyle/>
          <a:p>
            <a:pPr algn="ctr"/>
            <a:r>
              <a:rPr lang="en-US" sz="1270" spc="-1" dirty="0">
                <a:highlight>
                  <a:srgbClr val="DAE3F3"/>
                </a:highlight>
                <a:latin typeface="Consolas" panose="020B0609020204030204" pitchFamily="49" charset="0"/>
                <a:ea typeface="Droid Sans Fallback"/>
              </a:rPr>
              <a:t>df = </a:t>
            </a:r>
            <a:r>
              <a:rPr lang="en-US" sz="1270" spc="-1" dirty="0" err="1">
                <a:highlight>
                  <a:srgbClr val="DAE3F3"/>
                </a:highlight>
                <a:latin typeface="Consolas" panose="020B0609020204030204" pitchFamily="49" charset="0"/>
                <a:ea typeface="Droid Sans Fallback"/>
              </a:rPr>
              <a:t>pd.read_csv</a:t>
            </a:r>
            <a:r>
              <a:rPr lang="en-US" sz="1270" spc="-1" dirty="0">
                <a:highlight>
                  <a:srgbClr val="DAE3F3"/>
                </a:highlight>
                <a:latin typeface="Consolas" panose="020B0609020204030204" pitchFamily="49" charset="0"/>
                <a:ea typeface="Droid Sans Fallback"/>
              </a:rPr>
              <a:t>('states.csv</a:t>
            </a:r>
            <a:r>
              <a:rPr lang="en-US" sz="1270" spc="-1" dirty="0">
                <a:highlight>
                  <a:srgbClr val="DAE3F3"/>
                </a:highlight>
                <a:latin typeface="Consolas" panose="020B0609020204030204" pitchFamily="49" charset="0"/>
              </a:rPr>
              <a:t>')</a:t>
            </a:r>
            <a:endParaRPr lang="en-US" sz="1270" spc="-1" dirty="0">
              <a:highlight>
                <a:srgbClr val="DAE3F3"/>
              </a:highlight>
              <a:latin typeface="Consolas" panose="020B0609020204030204" pitchFamily="49" charset="0"/>
            </a:endParaRPr>
          </a:p>
        </p:txBody>
      </p:sp>
      <p:sp>
        <p:nvSpPr>
          <p:cNvPr id="430" name="Rechteck 429"/>
          <p:cNvSpPr/>
          <p:nvPr/>
        </p:nvSpPr>
        <p:spPr>
          <a:xfrm>
            <a:off x="1479126" y="2013222"/>
            <a:ext cx="4112377" cy="1087330"/>
          </a:xfrm>
          <a:prstGeom prst="rect">
            <a:avLst/>
          </a:prstGeom>
          <a:noFill/>
          <a:ln w="36720">
            <a:solidFill>
              <a:srgbClr val="1E90F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431" name="Rechteck 430"/>
          <p:cNvSpPr/>
          <p:nvPr/>
        </p:nvSpPr>
        <p:spPr>
          <a:xfrm>
            <a:off x="5849333" y="2830837"/>
            <a:ext cx="3254916" cy="692811"/>
          </a:xfrm>
          <a:prstGeom prst="rect">
            <a:avLst/>
          </a:prstGeom>
          <a:noFill/>
          <a:ln w="36720">
            <a:solidFill>
              <a:srgbClr val="1E90F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12" name="Google Shape;86;p2"/>
          <p:cNvSpPr txBox="1"/>
          <p:nvPr/>
        </p:nvSpPr>
        <p:spPr>
          <a:xfrm>
            <a:off x="493944" y="157714"/>
            <a:ext cx="84582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>
            <a:pPr algn="r">
              <a:buClr>
                <a:schemeClr val="dk1"/>
              </a:buClr>
              <a:buSzPts val="2800"/>
            </a:pPr>
            <a:r>
              <a:rPr lang="en-US" sz="2800" b="1" dirty="0">
                <a:solidFill>
                  <a:schemeClr val="dk1"/>
                </a:solidFill>
                <a:latin typeface="Calibri" panose="020F0502020204030204"/>
                <a:cs typeface="Calibri" panose="020F0502020204030204"/>
                <a:sym typeface="Calibri" panose="020F0502020204030204"/>
              </a:rPr>
              <a:t>Filtering columns in </a:t>
            </a:r>
            <a:r>
              <a:rPr lang="en-US" sz="2800" b="1" dirty="0" err="1">
                <a:solidFill>
                  <a:schemeClr val="dk1"/>
                </a:solidFill>
                <a:latin typeface="Calibri" panose="020F0502020204030204"/>
                <a:cs typeface="Calibri" panose="020F0502020204030204"/>
                <a:sym typeface="Calibri" panose="020F0502020204030204"/>
              </a:rPr>
              <a:t>DataFrames</a:t>
            </a:r>
            <a:endParaRPr lang="en-US" dirty="0">
              <a:solidFill>
                <a:schemeClr val="dk1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7" name="PlaceHolder 2"/>
          <p:cNvSpPr>
            <a:spLocks noGrp="1"/>
          </p:cNvSpPr>
          <p:nvPr>
            <p:ph type="body" idx="1"/>
          </p:nvPr>
        </p:nvSpPr>
        <p:spPr>
          <a:xfrm>
            <a:off x="556368" y="1879695"/>
            <a:ext cx="7934633" cy="3525317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86385" lvl="1" indent="-285750">
              <a:spcBef>
                <a:spcPts val="600"/>
              </a:spcBef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Which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rows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contain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states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with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less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than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br>
              <a:rPr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15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millions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people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and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less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than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br>
              <a:rPr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200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thousend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km²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area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?</a:t>
            </a:r>
            <a:endParaRPr lang="de-AT" sz="1800" spc="-1" dirty="0">
              <a:solidFill>
                <a:srgbClr val="0F0F0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743585" lvl="3" indent="-285750">
              <a:spcBef>
                <a:spcPts val="600"/>
              </a:spcBef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6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df</a:t>
            </a:r>
            <a:r>
              <a:rPr lang="de-AT" sz="16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[(</a:t>
            </a:r>
            <a:r>
              <a:rPr lang="de-AT" sz="16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df.population</a:t>
            </a:r>
            <a:r>
              <a:rPr lang="de-AT" sz="16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 &lt; 15000000) &amp;</a:t>
            </a:r>
            <a:br>
              <a:rPr sz="1600" dirty="0"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</a:br>
            <a:r>
              <a:rPr lang="de-AT" sz="16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   (</a:t>
            </a:r>
            <a:r>
              <a:rPr lang="de-AT" sz="16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df.area</a:t>
            </a:r>
            <a:r>
              <a:rPr lang="de-AT" sz="16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 &lt; 200000)]</a:t>
            </a:r>
            <a:endParaRPr lang="de-AT" sz="1600" spc="-1" dirty="0">
              <a:solidFill>
                <a:srgbClr val="0F0F0F"/>
              </a:solidFill>
              <a:highlight>
                <a:srgbClr val="DAE3F3"/>
              </a:highlight>
              <a:latin typeface="Consolas" panose="020B0609020204030204" pitchFamily="49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743585" lvl="3" indent="-285750">
              <a:spcBef>
                <a:spcPts val="600"/>
              </a:spcBef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6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df.loc</a:t>
            </a:r>
            <a:r>
              <a:rPr lang="de-AT" sz="16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[(</a:t>
            </a:r>
            <a:r>
              <a:rPr lang="de-AT" sz="16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df.population</a:t>
            </a:r>
            <a:r>
              <a:rPr lang="de-AT" sz="16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 &lt; 15000000) &amp;</a:t>
            </a:r>
            <a:br>
              <a:rPr sz="1600" dirty="0"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</a:br>
            <a:r>
              <a:rPr lang="de-AT" sz="16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   	  (</a:t>
            </a:r>
            <a:r>
              <a:rPr lang="de-AT" sz="16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df.area</a:t>
            </a:r>
            <a:r>
              <a:rPr lang="de-AT" sz="16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 &lt; 200000)]</a:t>
            </a:r>
            <a:endParaRPr lang="de-AT" sz="1600" spc="-1" dirty="0">
              <a:solidFill>
                <a:srgbClr val="0F0F0F"/>
              </a:solidFill>
              <a:highlight>
                <a:srgbClr val="DAE3F3"/>
              </a:highlight>
              <a:latin typeface="Consolas" panose="020B0609020204030204" pitchFamily="49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286385" lvl="1" indent="-285750">
              <a:spcBef>
                <a:spcPts val="800"/>
              </a:spcBef>
              <a:spcAft>
                <a:spcPts val="200"/>
              </a:spcAft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What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are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the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names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of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these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states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?  </a:t>
            </a:r>
            <a:endParaRPr lang="de-AT" sz="1800" spc="-1" dirty="0">
              <a:solidFill>
                <a:srgbClr val="0F0F0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743585" lvl="2" indent="-285750">
              <a:spcBef>
                <a:spcPts val="800"/>
              </a:spcBef>
              <a:spcAft>
                <a:spcPts val="200"/>
              </a:spcAft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6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df</a:t>
            </a:r>
            <a:r>
              <a:rPr lang="de-AT" sz="16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[(</a:t>
            </a:r>
            <a:r>
              <a:rPr lang="de-AT" sz="16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df.population</a:t>
            </a:r>
            <a:r>
              <a:rPr lang="de-AT" sz="16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 &lt; 15000000) &amp;</a:t>
            </a:r>
            <a:br>
              <a:rPr sz="1600" dirty="0"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</a:br>
            <a:r>
              <a:rPr lang="de-AT" sz="16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   (</a:t>
            </a:r>
            <a:r>
              <a:rPr lang="de-AT" sz="16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df.area</a:t>
            </a:r>
            <a:r>
              <a:rPr lang="de-AT" sz="16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 &lt; 200000)]</a:t>
            </a:r>
            <a:r>
              <a:rPr lang="de-AT" sz="1600" spc="-1" dirty="0">
                <a:solidFill>
                  <a:srgbClr val="32CD32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['</a:t>
            </a:r>
            <a:r>
              <a:rPr lang="de-AT" sz="1600" spc="-1" dirty="0" err="1">
                <a:solidFill>
                  <a:srgbClr val="32CD32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state</a:t>
            </a:r>
            <a:r>
              <a:rPr lang="de-AT" sz="1600" spc="-1" dirty="0">
                <a:solidFill>
                  <a:srgbClr val="32CD32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']</a:t>
            </a:r>
            <a:endParaRPr lang="de-AT" sz="1600" spc="-1" dirty="0">
              <a:solidFill>
                <a:srgbClr val="0F0F0F"/>
              </a:solidFill>
              <a:highlight>
                <a:srgbClr val="DAE3F3"/>
              </a:highlight>
              <a:latin typeface="Consolas" panose="020B0609020204030204" pitchFamily="49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743585" lvl="2" indent="-285750">
              <a:spcBef>
                <a:spcPts val="800"/>
              </a:spcBef>
              <a:spcAft>
                <a:spcPts val="200"/>
              </a:spcAft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6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df.loc</a:t>
            </a:r>
            <a:r>
              <a:rPr lang="de-AT" sz="16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[(</a:t>
            </a:r>
            <a:r>
              <a:rPr lang="de-AT" sz="16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df.population</a:t>
            </a:r>
            <a:r>
              <a:rPr lang="de-AT" sz="16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 &lt; 15000000) &amp;</a:t>
            </a:r>
            <a:br>
              <a:rPr sz="1600" dirty="0"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</a:br>
            <a:r>
              <a:rPr lang="de-AT" sz="16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   	  (</a:t>
            </a:r>
            <a:r>
              <a:rPr lang="de-AT" sz="16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df.area</a:t>
            </a:r>
            <a:r>
              <a:rPr lang="de-AT" sz="16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 &lt; 200000), </a:t>
            </a:r>
            <a:r>
              <a:rPr lang="de-AT" sz="1600" spc="-1" dirty="0">
                <a:solidFill>
                  <a:srgbClr val="32CD32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'</a:t>
            </a:r>
            <a:r>
              <a:rPr lang="de-AT" sz="1600" spc="-1" dirty="0" err="1">
                <a:solidFill>
                  <a:srgbClr val="32CD32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state</a:t>
            </a:r>
            <a:r>
              <a:rPr lang="de-AT" sz="1600" spc="-1" dirty="0">
                <a:solidFill>
                  <a:srgbClr val="32CD32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'</a:t>
            </a:r>
            <a:r>
              <a:rPr lang="de-AT" sz="16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]</a:t>
            </a:r>
            <a:endParaRPr lang="de-AT" sz="1600" spc="-1" dirty="0">
              <a:solidFill>
                <a:srgbClr val="0F0F0F"/>
              </a:solidFill>
              <a:highlight>
                <a:srgbClr val="DAE3F3"/>
              </a:highlight>
              <a:latin typeface="Consolas" panose="020B0609020204030204" pitchFamily="49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442" name="Grafik 441"/>
          <p:cNvPicPr/>
          <p:nvPr/>
        </p:nvPicPr>
        <p:blipFill>
          <a:blip r:embed="rId1"/>
          <a:stretch>
            <a:fillRect/>
          </a:stretch>
        </p:blipFill>
        <p:spPr>
          <a:xfrm>
            <a:off x="5921337" y="2419170"/>
            <a:ext cx="3170445" cy="2794653"/>
          </a:xfrm>
          <a:prstGeom prst="rect">
            <a:avLst/>
          </a:prstGeom>
          <a:ln w="0">
            <a:noFill/>
          </a:ln>
        </p:spPr>
      </p:pic>
      <p:sp>
        <p:nvSpPr>
          <p:cNvPr id="443" name="Textfeld 442"/>
          <p:cNvSpPr txBox="1"/>
          <p:nvPr/>
        </p:nvSpPr>
        <p:spPr>
          <a:xfrm>
            <a:off x="5927698" y="2066276"/>
            <a:ext cx="3215734" cy="267405"/>
          </a:xfrm>
          <a:prstGeom prst="rect">
            <a:avLst/>
          </a:prstGeom>
          <a:solidFill>
            <a:srgbClr val="DAE3F3"/>
          </a:solidFill>
          <a:ln w="0">
            <a:noFill/>
          </a:ln>
        </p:spPr>
        <p:txBody>
          <a:bodyPr lIns="63607" tIns="31804" rIns="63607" bIns="31804" anchor="t">
            <a:noAutofit/>
          </a:bodyPr>
          <a:lstStyle/>
          <a:p>
            <a:pPr algn="ctr"/>
            <a:r>
              <a:rPr lang="en-US" sz="1270" spc="-1" dirty="0">
                <a:latin typeface="Consolas" panose="020B0609020204030204" pitchFamily="49" charset="0"/>
                <a:ea typeface="Droid Sans Fallback"/>
              </a:rPr>
              <a:t>df = </a:t>
            </a:r>
            <a:r>
              <a:rPr lang="en-US" sz="1270" spc="-1" dirty="0" err="1">
                <a:latin typeface="Consolas" panose="020B0609020204030204" pitchFamily="49" charset="0"/>
                <a:ea typeface="Droid Sans Fallback"/>
              </a:rPr>
              <a:t>pd.read_csv</a:t>
            </a:r>
            <a:r>
              <a:rPr lang="en-US" sz="1270" spc="-1" dirty="0">
                <a:latin typeface="Consolas" panose="020B0609020204030204" pitchFamily="49" charset="0"/>
                <a:ea typeface="Droid Sans Fallback"/>
              </a:rPr>
              <a:t>('states.csv</a:t>
            </a:r>
            <a:r>
              <a:rPr lang="en-US" sz="1270" spc="-1" dirty="0">
                <a:latin typeface="Consolas" panose="020B0609020204030204" pitchFamily="49" charset="0"/>
              </a:rPr>
              <a:t>')</a:t>
            </a:r>
            <a:endParaRPr lang="en-US" sz="1270" spc="-1" dirty="0">
              <a:latin typeface="Consolas" panose="020B0609020204030204" pitchFamily="49" charset="0"/>
            </a:endParaRPr>
          </a:p>
        </p:txBody>
      </p:sp>
      <p:sp>
        <p:nvSpPr>
          <p:cNvPr id="444" name="Rechteck 443"/>
          <p:cNvSpPr/>
          <p:nvPr/>
        </p:nvSpPr>
        <p:spPr>
          <a:xfrm>
            <a:off x="1250731" y="2785241"/>
            <a:ext cx="4670606" cy="1150328"/>
          </a:xfrm>
          <a:prstGeom prst="rect">
            <a:avLst/>
          </a:prstGeom>
          <a:noFill/>
          <a:ln w="36720">
            <a:solidFill>
              <a:srgbClr val="1E90F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445" name="Rechteck 444"/>
          <p:cNvSpPr/>
          <p:nvPr/>
        </p:nvSpPr>
        <p:spPr>
          <a:xfrm>
            <a:off x="5947543" y="3484466"/>
            <a:ext cx="3104294" cy="745224"/>
          </a:xfrm>
          <a:prstGeom prst="rect">
            <a:avLst/>
          </a:prstGeom>
          <a:noFill/>
          <a:ln w="36720">
            <a:solidFill>
              <a:srgbClr val="1E90F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446" name="Rechteck 445"/>
          <p:cNvSpPr/>
          <p:nvPr/>
        </p:nvSpPr>
        <p:spPr>
          <a:xfrm>
            <a:off x="1191128" y="4390234"/>
            <a:ext cx="4756416" cy="1137300"/>
          </a:xfrm>
          <a:prstGeom prst="rect">
            <a:avLst/>
          </a:prstGeom>
          <a:noFill/>
          <a:ln w="36720">
            <a:solidFill>
              <a:srgbClr val="32CD32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447" name="Rechteck 446"/>
          <p:cNvSpPr/>
          <p:nvPr/>
        </p:nvSpPr>
        <p:spPr>
          <a:xfrm>
            <a:off x="6267615" y="3530263"/>
            <a:ext cx="967341" cy="653629"/>
          </a:xfrm>
          <a:prstGeom prst="rect">
            <a:avLst/>
          </a:prstGeom>
          <a:noFill/>
          <a:ln w="36720">
            <a:solidFill>
              <a:srgbClr val="32CD32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19" name="Google Shape;86;p2"/>
          <p:cNvSpPr txBox="1"/>
          <p:nvPr/>
        </p:nvSpPr>
        <p:spPr>
          <a:xfrm>
            <a:off x="479544" y="157714"/>
            <a:ext cx="84582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>
            <a:pPr algn="r">
              <a:buClr>
                <a:schemeClr val="dk1"/>
              </a:buClr>
              <a:buSzPts val="2800"/>
            </a:pPr>
            <a:r>
              <a:rPr lang="en-US" sz="2800" b="1" dirty="0">
                <a:solidFill>
                  <a:schemeClr val="dk1"/>
                </a:solidFill>
                <a:latin typeface="Calibri" panose="020F0502020204030204"/>
                <a:cs typeface="Calibri" panose="020F0502020204030204"/>
                <a:sym typeface="Calibri" panose="020F0502020204030204"/>
              </a:rPr>
              <a:t>Filtering columns in </a:t>
            </a:r>
            <a:r>
              <a:rPr lang="en-US" sz="2800" b="1" dirty="0" err="1">
                <a:solidFill>
                  <a:schemeClr val="dk1"/>
                </a:solidFill>
                <a:latin typeface="Calibri" panose="020F0502020204030204"/>
                <a:cs typeface="Calibri" panose="020F0502020204030204"/>
                <a:sym typeface="Calibri" panose="020F0502020204030204"/>
              </a:rPr>
              <a:t>DataFrames</a:t>
            </a:r>
            <a:endParaRPr lang="en-US" dirty="0">
              <a:solidFill>
                <a:schemeClr val="dk1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9" name="PlaceHolder 2"/>
          <p:cNvSpPr>
            <a:spLocks noGrp="1"/>
          </p:cNvSpPr>
          <p:nvPr>
            <p:ph type="body" idx="1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marL="286385" lvl="1" indent="-285750">
              <a:spcBef>
                <a:spcPts val="400"/>
              </a:spcBef>
              <a:spcAft>
                <a:spcPts val="400"/>
              </a:spcAft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Applying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operations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over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a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complete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column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or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a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DataFrame</a:t>
            </a:r>
            <a:endParaRPr lang="de-AT" sz="1800" spc="-1" dirty="0">
              <a:solidFill>
                <a:srgbClr val="0F0F0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286385" lvl="1" indent="-285750">
              <a:spcBef>
                <a:spcPts val="400"/>
              </a:spcBef>
              <a:spcAft>
                <a:spcPts val="400"/>
              </a:spcAft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Pandas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methods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are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similar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to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list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functions</a:t>
            </a:r>
            <a:endParaRPr lang="de-AT" sz="1800" spc="-1" dirty="0">
              <a:solidFill>
                <a:srgbClr val="0F0F0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743585" lvl="2" indent="-285750">
              <a:spcBef>
                <a:spcPts val="400"/>
              </a:spcBef>
              <a:spcAft>
                <a:spcPts val="400"/>
              </a:spcAft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Lists:</a:t>
            </a:r>
            <a:endParaRPr lang="de-AT" sz="1800" spc="-1" dirty="0">
              <a:solidFill>
                <a:srgbClr val="0F0F0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1200785" lvl="3" indent="-285750">
              <a:spcBef>
                <a:spcPts val="400"/>
              </a:spcBef>
              <a:spcAft>
                <a:spcPts val="400"/>
              </a:spcAft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b="1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Functions</a:t>
            </a:r>
            <a:r>
              <a:rPr lang="de-AT" sz="1800" b="1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sum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()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, 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max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()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, 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min()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, 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len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()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, … </a:t>
            </a:r>
            <a:endParaRPr lang="de-AT" sz="1800" spc="-1" dirty="0">
              <a:solidFill>
                <a:srgbClr val="0F0F0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1200785" lvl="3" indent="-285750">
              <a:spcBef>
                <a:spcPts val="400"/>
              </a:spcBef>
              <a:spcAft>
                <a:spcPts val="400"/>
              </a:spcAft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Example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with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list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called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elements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 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len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(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elements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)</a:t>
            </a:r>
            <a:endParaRPr lang="de-AT" sz="1800" spc="-1" dirty="0">
              <a:solidFill>
                <a:srgbClr val="0F0F0F"/>
              </a:solidFill>
              <a:highlight>
                <a:srgbClr val="DAE3F3"/>
              </a:highlight>
              <a:latin typeface="Consolas" panose="020B0609020204030204" pitchFamily="49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743585" lvl="2" indent="-285750">
              <a:spcBef>
                <a:spcPts val="400"/>
              </a:spcBef>
              <a:spcAft>
                <a:spcPts val="400"/>
              </a:spcAft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pandas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</a:t>
            </a:r>
            <a:endParaRPr lang="de-AT" sz="1800" spc="-1" dirty="0">
              <a:solidFill>
                <a:srgbClr val="0F0F0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1200785" lvl="3" indent="-285750">
              <a:spcBef>
                <a:spcPts val="400"/>
              </a:spcBef>
              <a:spcAft>
                <a:spcPts val="400"/>
              </a:spcAft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b="1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Methods: 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sum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()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, 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max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()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, 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min()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, 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count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()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, 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median()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, 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mean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()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, 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value_counts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()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, ... </a:t>
            </a:r>
            <a:endParaRPr lang="de-AT" sz="1800" spc="-1" dirty="0">
              <a:solidFill>
                <a:srgbClr val="0F0F0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1200785" lvl="3" indent="-285750">
              <a:spcBef>
                <a:spcPts val="400"/>
              </a:spcBef>
              <a:spcAft>
                <a:spcPts val="400"/>
              </a:spcAft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Example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for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a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DataFrame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column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 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df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['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area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'].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sum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()</a:t>
            </a:r>
            <a:endParaRPr lang="de-AT" sz="1800" spc="-1" dirty="0">
              <a:solidFill>
                <a:srgbClr val="0F0F0F"/>
              </a:solidFill>
              <a:highlight>
                <a:srgbClr val="DAE3F3"/>
              </a:highlight>
              <a:latin typeface="Consolas" panose="020B0609020204030204" pitchFamily="49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8" name="Google Shape;86;p2"/>
          <p:cNvSpPr txBox="1"/>
          <p:nvPr/>
        </p:nvSpPr>
        <p:spPr>
          <a:xfrm>
            <a:off x="479544" y="157714"/>
            <a:ext cx="84582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>
            <a:pPr algn="r">
              <a:buClr>
                <a:schemeClr val="dk1"/>
              </a:buClr>
              <a:buSzPts val="2800"/>
            </a:pPr>
            <a:r>
              <a:rPr lang="en-US" sz="2800" b="1" dirty="0">
                <a:solidFill>
                  <a:schemeClr val="dk1"/>
                </a:solidFill>
                <a:latin typeface="Calibri" panose="020F0502020204030204"/>
                <a:cs typeface="Calibri" panose="020F0502020204030204"/>
                <a:sym typeface="Calibri" panose="020F0502020204030204"/>
              </a:rPr>
              <a:t>Aggregating columns and </a:t>
            </a:r>
            <a:r>
              <a:rPr lang="en-US" sz="2800" b="1" dirty="0" err="1">
                <a:solidFill>
                  <a:schemeClr val="dk1"/>
                </a:solidFill>
                <a:latin typeface="Calibri" panose="020F0502020204030204"/>
                <a:cs typeface="Calibri" panose="020F0502020204030204"/>
                <a:sym typeface="Calibri" panose="020F0502020204030204"/>
              </a:rPr>
              <a:t>DataFrames</a:t>
            </a:r>
            <a:endParaRPr lang="en-US" dirty="0"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5" name="PlaceHolder 2"/>
          <p:cNvSpPr>
            <a:spLocks noGrp="1"/>
          </p:cNvSpPr>
          <p:nvPr>
            <p:ph type="body" idx="1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86385" lvl="1" indent="-285750">
              <a:spcBef>
                <a:spcPts val="200"/>
              </a:spcBef>
              <a:spcAft>
                <a:spcPts val="200"/>
              </a:spcAft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String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operations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in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pandas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callable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for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each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CDCDC"/>
                </a:highligh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str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atttribute</a:t>
            </a:r>
            <a:endParaRPr lang="de-AT" sz="1800" spc="-1" dirty="0">
              <a:solidFill>
                <a:srgbClr val="0F0F0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743585" lvl="2" indent="-285750">
              <a:spcBef>
                <a:spcPts val="200"/>
              </a:spcBef>
              <a:spcAft>
                <a:spcPts val="200"/>
              </a:spcAft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Similar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to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known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string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functions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 </a:t>
            </a:r>
            <a:endParaRPr lang="de-AT" sz="1800" spc="-1" dirty="0">
              <a:solidFill>
                <a:srgbClr val="0F0F0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1200785" lvl="3" indent="-285750">
              <a:spcBef>
                <a:spcPts val="200"/>
              </a:spcBef>
              <a:spcAft>
                <a:spcPts val="200"/>
              </a:spcAft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str.lower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()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, 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str.upper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()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, 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str.contains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()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,  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str.startswith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()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, 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str.endswith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()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, 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str.split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()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, ... </a:t>
            </a:r>
            <a:endParaRPr lang="de-AT" sz="1800" spc="-1" dirty="0">
              <a:solidFill>
                <a:srgbClr val="0F0F0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1200785" lvl="3" indent="-285750">
              <a:spcBef>
                <a:spcPts val="200"/>
              </a:spcBef>
              <a:spcAft>
                <a:spcPts val="200"/>
              </a:spcAft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All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functions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see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u="sng" spc="-1" dirty="0" err="1">
                <a:solidFill>
                  <a:srgbClr val="00BFF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hlinkClick r:id="rId1"/>
              </a:rPr>
              <a:t>pandas</a:t>
            </a:r>
            <a:r>
              <a:rPr lang="de-AT" sz="1800" u="sng" spc="-1" dirty="0">
                <a:solidFill>
                  <a:srgbClr val="00BFF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hlinkClick r:id="rId1"/>
              </a:rPr>
              <a:t> </a:t>
            </a:r>
            <a:r>
              <a:rPr lang="de-AT" sz="1800" u="sng" spc="-1" dirty="0" err="1">
                <a:solidFill>
                  <a:srgbClr val="00BFF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hlinkClick r:id="rId1"/>
              </a:rPr>
              <a:t>documentation</a:t>
            </a:r>
            <a:br>
              <a:rPr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r>
              <a:rPr lang="de-AT" sz="1800" u="sng" spc="-1" dirty="0">
                <a:solidFill>
                  <a:srgbClr val="00BFF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endParaRPr lang="de-AT" sz="1800" spc="-1" dirty="0">
              <a:solidFill>
                <a:srgbClr val="0F0F0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286385" lvl="1" indent="-285750">
              <a:spcBef>
                <a:spcPts val="1000"/>
              </a:spcBef>
              <a:spcAft>
                <a:spcPts val="200"/>
              </a:spcAft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Example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 Select all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states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with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New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in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name</a:t>
            </a:r>
            <a:endParaRPr lang="de-AT" sz="1800" spc="-1" dirty="0">
              <a:solidFill>
                <a:srgbClr val="0F0F0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998220" lvl="2" indent="-285750">
              <a:spcBef>
                <a:spcPts val="200"/>
              </a:spcBef>
              <a:spcAft>
                <a:spcPts val="200"/>
              </a:spcAft>
              <a:buSzPct val="45000"/>
              <a:buFont typeface="Wingdings" panose="05000000000000000000" pitchFamily="2" charset="2"/>
              <a:buChar char="v"/>
            </a:pP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df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[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df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['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state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'].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str.contains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('New')]</a:t>
            </a:r>
            <a:endParaRPr lang="de-AT" sz="1800" spc="-1" dirty="0">
              <a:solidFill>
                <a:srgbClr val="0F0F0F"/>
              </a:solidFill>
              <a:highlight>
                <a:srgbClr val="DAE3F3"/>
              </a:highlight>
              <a:latin typeface="Consolas" panose="020B0609020204030204" pitchFamily="49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998220" lvl="2" indent="-285750">
              <a:spcBef>
                <a:spcPts val="200"/>
              </a:spcBef>
              <a:spcAft>
                <a:spcPts val="200"/>
              </a:spcAft>
              <a:buSzPct val="45000"/>
              <a:buFont typeface="Wingdings" panose="05000000000000000000" pitchFamily="2" charset="2"/>
              <a:buChar char="v"/>
            </a:pP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df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[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df.state.str.contains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('New')]   </a:t>
            </a:r>
            <a:endParaRPr lang="de-AT" sz="1800" spc="-1" dirty="0">
              <a:solidFill>
                <a:srgbClr val="0F0F0F"/>
              </a:solidFill>
              <a:highlight>
                <a:srgbClr val="DAE3F3"/>
              </a:highlight>
              <a:latin typeface="Consolas" panose="020B0609020204030204" pitchFamily="49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459" name="Grafik 458"/>
          <p:cNvPicPr/>
          <p:nvPr/>
        </p:nvPicPr>
        <p:blipFill>
          <a:blip r:embed="rId2"/>
          <a:stretch>
            <a:fillRect/>
          </a:stretch>
        </p:blipFill>
        <p:spPr>
          <a:xfrm>
            <a:off x="7233939" y="3854915"/>
            <a:ext cx="1894227" cy="1669566"/>
          </a:xfrm>
          <a:prstGeom prst="rect">
            <a:avLst/>
          </a:prstGeom>
          <a:ln w="0">
            <a:noFill/>
          </a:ln>
        </p:spPr>
      </p:pic>
      <p:sp>
        <p:nvSpPr>
          <p:cNvPr id="460" name="Textfeld 459"/>
          <p:cNvSpPr txBox="1"/>
          <p:nvPr/>
        </p:nvSpPr>
        <p:spPr>
          <a:xfrm>
            <a:off x="7214856" y="3571226"/>
            <a:ext cx="1921197" cy="206088"/>
          </a:xfrm>
          <a:prstGeom prst="rect">
            <a:avLst/>
          </a:prstGeom>
          <a:solidFill>
            <a:srgbClr val="DAE3F3"/>
          </a:solidFill>
          <a:ln w="0">
            <a:noFill/>
          </a:ln>
        </p:spPr>
        <p:txBody>
          <a:bodyPr lIns="63607" tIns="31804" rIns="63607" bIns="31804" anchor="t">
            <a:noAutofit/>
          </a:bodyPr>
          <a:lstStyle/>
          <a:p>
            <a:pPr algn="ctr"/>
            <a:r>
              <a:rPr lang="en-US" sz="990" spc="-1" dirty="0" err="1">
                <a:latin typeface="Consolas" panose="020B0609020204030204" pitchFamily="49" charset="0"/>
                <a:ea typeface="Droid Sans Fallback"/>
              </a:rPr>
              <a:t>DataFrame</a:t>
            </a:r>
            <a:r>
              <a:rPr lang="en-US" sz="990" spc="-1" dirty="0">
                <a:latin typeface="Consolas" panose="020B0609020204030204" pitchFamily="49" charset="0"/>
                <a:ea typeface="Droid Sans Fallback"/>
              </a:rPr>
              <a:t> df</a:t>
            </a:r>
            <a:endParaRPr lang="en-US" sz="990" spc="-1" dirty="0">
              <a:latin typeface="Consolas" panose="020B0609020204030204" pitchFamily="49" charset="0"/>
            </a:endParaRPr>
          </a:p>
        </p:txBody>
      </p:sp>
      <p:sp>
        <p:nvSpPr>
          <p:cNvPr id="461" name="Rechteck 460"/>
          <p:cNvSpPr/>
          <p:nvPr/>
        </p:nvSpPr>
        <p:spPr>
          <a:xfrm>
            <a:off x="7249713" y="4491243"/>
            <a:ext cx="1854536" cy="223389"/>
          </a:xfrm>
          <a:prstGeom prst="rect">
            <a:avLst/>
          </a:prstGeom>
          <a:noFill/>
          <a:ln w="36720">
            <a:solidFill>
              <a:srgbClr val="1E90F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462" name="Rechteck 461"/>
          <p:cNvSpPr/>
          <p:nvPr/>
        </p:nvSpPr>
        <p:spPr>
          <a:xfrm>
            <a:off x="7249713" y="4909779"/>
            <a:ext cx="1854536" cy="223389"/>
          </a:xfrm>
          <a:prstGeom prst="rect">
            <a:avLst/>
          </a:prstGeom>
          <a:noFill/>
          <a:ln w="36720">
            <a:solidFill>
              <a:srgbClr val="1E90F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463" name="Rechteck 462"/>
          <p:cNvSpPr/>
          <p:nvPr/>
        </p:nvSpPr>
        <p:spPr>
          <a:xfrm>
            <a:off x="1264681" y="4395409"/>
            <a:ext cx="5494913" cy="669404"/>
          </a:xfrm>
          <a:prstGeom prst="rect">
            <a:avLst/>
          </a:prstGeom>
          <a:noFill/>
          <a:ln w="36720">
            <a:solidFill>
              <a:srgbClr val="1E90F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12" name="Google Shape;86;p2"/>
          <p:cNvSpPr txBox="1"/>
          <p:nvPr/>
        </p:nvSpPr>
        <p:spPr>
          <a:xfrm>
            <a:off x="486744" y="157714"/>
            <a:ext cx="84582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>
            <a:pPr algn="r">
              <a:buClr>
                <a:schemeClr val="dk1"/>
              </a:buClr>
              <a:buSzPts val="2800"/>
            </a:pPr>
            <a:r>
              <a:rPr lang="en-US" sz="2800" b="1" dirty="0">
                <a:solidFill>
                  <a:schemeClr val="dk1"/>
                </a:solidFill>
                <a:latin typeface="Calibri" panose="020F0502020204030204"/>
                <a:cs typeface="Calibri" panose="020F0502020204030204"/>
                <a:sym typeface="Calibri" panose="020F0502020204030204"/>
              </a:rPr>
              <a:t>String operations and filtering via strings</a:t>
            </a:r>
            <a:endParaRPr lang="en-US" dirty="0">
              <a:solidFill>
                <a:schemeClr val="dk1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5" name="PlaceHolder 2"/>
          <p:cNvSpPr>
            <a:spLocks noGrp="1"/>
          </p:cNvSpPr>
          <p:nvPr>
            <p:ph type="body" idx="1"/>
          </p:nvPr>
        </p:nvSpPr>
        <p:spPr>
          <a:xfrm>
            <a:off x="619431" y="2142979"/>
            <a:ext cx="6436569" cy="3525317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86385" lvl="1" indent="-285750">
              <a:spcBef>
                <a:spcPts val="400"/>
              </a:spcBef>
              <a:spcAft>
                <a:spcPts val="200"/>
              </a:spcAft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Arithmetic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operations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can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be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applied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on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columns</a:t>
            </a:r>
            <a:endParaRPr lang="de-AT" sz="1800" spc="-1" dirty="0">
              <a:solidFill>
                <a:srgbClr val="0F0F0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743585" lvl="2" indent="-285750">
              <a:spcBef>
                <a:spcPts val="400"/>
              </a:spcBef>
              <a:spcAft>
                <a:spcPts val="200"/>
              </a:spcAft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Similar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to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standard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python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 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*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, 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/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, 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+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, 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-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, ...   </a:t>
            </a:r>
            <a:endParaRPr lang="de-AT" sz="1800" spc="-1" dirty="0">
              <a:solidFill>
                <a:srgbClr val="0F0F0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743585" lvl="2" indent="-285750">
              <a:spcBef>
                <a:spcPts val="400"/>
              </a:spcBef>
              <a:spcAft>
                <a:spcPts val="200"/>
              </a:spcAft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Result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is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another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column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(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Series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object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)</a:t>
            </a:r>
            <a:endParaRPr lang="de-AT" sz="1800" spc="-1" dirty="0">
              <a:solidFill>
                <a:srgbClr val="0F0F0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286385" lvl="1" indent="-285750">
              <a:spcBef>
                <a:spcPts val="200"/>
              </a:spcBef>
              <a:spcAft>
                <a:spcPts val="200"/>
              </a:spcAft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Example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Compute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area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in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squared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miles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(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ratio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0,386 km</a:t>
            </a:r>
            <a:r>
              <a:rPr lang="de-AT" sz="1800" spc="-1" baseline="30000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2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).</a:t>
            </a:r>
            <a:endParaRPr lang="de-AT" sz="1800" spc="-1" dirty="0">
              <a:solidFill>
                <a:srgbClr val="0F0F0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743585" lvl="2" indent="-285750">
              <a:spcBef>
                <a:spcPts val="200"/>
              </a:spcBef>
              <a:spcAft>
                <a:spcPts val="200"/>
              </a:spcAft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df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['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area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'] * 0.386</a:t>
            </a:r>
            <a:endParaRPr lang="de-AT" sz="1800" spc="-1" dirty="0">
              <a:solidFill>
                <a:srgbClr val="0F0F0F"/>
              </a:solidFill>
              <a:highlight>
                <a:srgbClr val="DAE3F3"/>
              </a:highlight>
              <a:latin typeface="Consolas" panose="020B0609020204030204" pitchFamily="49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743585" lvl="2" indent="-285750">
              <a:spcBef>
                <a:spcPts val="200"/>
              </a:spcBef>
              <a:spcAft>
                <a:spcPts val="200"/>
              </a:spcAft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df.area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 * 0.386   </a:t>
            </a:r>
            <a:endParaRPr lang="de-AT" sz="1800" spc="-1" dirty="0">
              <a:solidFill>
                <a:srgbClr val="0F0F0F"/>
              </a:solidFill>
              <a:highlight>
                <a:srgbClr val="DAE3F3"/>
              </a:highlight>
              <a:latin typeface="Consolas" panose="020B0609020204030204" pitchFamily="49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286385" lvl="1" indent="-285750">
              <a:spcBef>
                <a:spcPts val="200"/>
              </a:spcBef>
              <a:spcAft>
                <a:spcPts val="200"/>
              </a:spcAft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Can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be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directly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combined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with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aggregation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(e.g.,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sum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) </a:t>
            </a:r>
            <a:endParaRPr lang="de-AT" sz="1800" spc="-1" dirty="0">
              <a:solidFill>
                <a:srgbClr val="0F0F0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743585" lvl="2" indent="-285750">
              <a:spcBef>
                <a:spcPts val="200"/>
              </a:spcBef>
              <a:spcAft>
                <a:spcPts val="200"/>
              </a:spcAft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(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df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['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area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'] * 0.386).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sum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()</a:t>
            </a:r>
            <a:endParaRPr lang="de-AT" sz="1800" spc="-1" dirty="0">
              <a:solidFill>
                <a:srgbClr val="0F0F0F"/>
              </a:solidFill>
              <a:highlight>
                <a:srgbClr val="DAE3F3"/>
              </a:highlight>
              <a:latin typeface="Consolas" panose="020B0609020204030204" pitchFamily="49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743585" lvl="2" indent="-285750">
              <a:spcBef>
                <a:spcPts val="200"/>
              </a:spcBef>
              <a:spcAft>
                <a:spcPts val="200"/>
              </a:spcAft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Result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 610355.938</a:t>
            </a:r>
            <a:endParaRPr lang="de-AT" sz="1800" spc="-1" dirty="0">
              <a:solidFill>
                <a:srgbClr val="0F0F0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469" name="Grafik 468"/>
          <p:cNvPicPr/>
          <p:nvPr/>
        </p:nvPicPr>
        <p:blipFill>
          <a:blip r:embed="rId1"/>
          <a:stretch>
            <a:fillRect/>
          </a:stretch>
        </p:blipFill>
        <p:spPr>
          <a:xfrm>
            <a:off x="7214856" y="1767321"/>
            <a:ext cx="1894227" cy="1669566"/>
          </a:xfrm>
          <a:prstGeom prst="rect">
            <a:avLst/>
          </a:prstGeom>
          <a:ln w="0">
            <a:noFill/>
          </a:ln>
        </p:spPr>
      </p:pic>
      <p:sp>
        <p:nvSpPr>
          <p:cNvPr id="470" name="Textfeld 469"/>
          <p:cNvSpPr txBox="1"/>
          <p:nvPr/>
        </p:nvSpPr>
        <p:spPr>
          <a:xfrm>
            <a:off x="7195774" y="1483632"/>
            <a:ext cx="1921197" cy="206088"/>
          </a:xfrm>
          <a:prstGeom prst="rect">
            <a:avLst/>
          </a:prstGeom>
          <a:solidFill>
            <a:srgbClr val="DAE3F3"/>
          </a:solidFill>
          <a:ln w="0">
            <a:noFill/>
          </a:ln>
        </p:spPr>
        <p:txBody>
          <a:bodyPr lIns="63607" tIns="31804" rIns="63607" bIns="31804" anchor="t">
            <a:noAutofit/>
          </a:bodyPr>
          <a:lstStyle/>
          <a:p>
            <a:pPr algn="ctr"/>
            <a:r>
              <a:rPr lang="en-US" sz="1000" spc="-1" dirty="0" err="1">
                <a:latin typeface="Consolas" panose="020B0609020204030204" pitchFamily="49" charset="0"/>
                <a:ea typeface="Droid Sans Fallback"/>
              </a:rPr>
              <a:t>DataFrame</a:t>
            </a:r>
            <a:r>
              <a:rPr lang="en-US" sz="1000" spc="-1" dirty="0">
                <a:latin typeface="Consolas" panose="020B0609020204030204" pitchFamily="49" charset="0"/>
                <a:ea typeface="Droid Sans Fallback"/>
              </a:rPr>
              <a:t> df</a:t>
            </a:r>
            <a:endParaRPr lang="en-US" sz="1000" spc="-1" dirty="0">
              <a:latin typeface="Consolas" panose="020B0609020204030204" pitchFamily="49" charset="0"/>
            </a:endParaRPr>
          </a:p>
        </p:txBody>
      </p:sp>
      <p:pic>
        <p:nvPicPr>
          <p:cNvPr id="471" name="Grafik 470"/>
          <p:cNvPicPr/>
          <p:nvPr/>
        </p:nvPicPr>
        <p:blipFill>
          <a:blip r:embed="rId2"/>
          <a:stretch>
            <a:fillRect/>
          </a:stretch>
        </p:blipFill>
        <p:spPr>
          <a:xfrm>
            <a:off x="7208750" y="4074488"/>
            <a:ext cx="1877689" cy="1212356"/>
          </a:xfrm>
          <a:prstGeom prst="rect">
            <a:avLst/>
          </a:prstGeom>
          <a:ln w="36720">
            <a:solidFill>
              <a:srgbClr val="1E90FF"/>
            </a:solidFill>
            <a:round/>
          </a:ln>
        </p:spPr>
      </p:pic>
      <p:sp>
        <p:nvSpPr>
          <p:cNvPr id="472" name="Textfeld 471"/>
          <p:cNvSpPr txBox="1"/>
          <p:nvPr/>
        </p:nvSpPr>
        <p:spPr>
          <a:xfrm>
            <a:off x="7208750" y="5312287"/>
            <a:ext cx="1875145" cy="205070"/>
          </a:xfrm>
          <a:prstGeom prst="rect">
            <a:avLst/>
          </a:prstGeom>
          <a:solidFill>
            <a:srgbClr val="DAE3F3"/>
          </a:solidFill>
          <a:ln w="0">
            <a:noFill/>
          </a:ln>
        </p:spPr>
        <p:txBody>
          <a:bodyPr lIns="63607" tIns="31804" rIns="63607" bIns="31804" anchor="t">
            <a:noAutofit/>
          </a:bodyPr>
          <a:lstStyle/>
          <a:p>
            <a:pPr algn="ctr"/>
            <a:r>
              <a:rPr lang="en-US" sz="1050" spc="-1" dirty="0">
                <a:latin typeface="Consolas" panose="020B0609020204030204" pitchFamily="49" charset="0"/>
                <a:ea typeface="Droid Sans Fallback"/>
              </a:rPr>
              <a:t>Output in Notebook</a:t>
            </a:r>
            <a:endParaRPr lang="en-US" sz="1050" spc="-1" dirty="0">
              <a:latin typeface="Consolas" panose="020B0609020204030204" pitchFamily="49" charset="0"/>
            </a:endParaRPr>
          </a:p>
        </p:txBody>
      </p:sp>
      <p:sp>
        <p:nvSpPr>
          <p:cNvPr id="473" name="Rechteck 472"/>
          <p:cNvSpPr/>
          <p:nvPr/>
        </p:nvSpPr>
        <p:spPr>
          <a:xfrm>
            <a:off x="1356258" y="3514118"/>
            <a:ext cx="2654717" cy="640282"/>
          </a:xfrm>
          <a:prstGeom prst="rect">
            <a:avLst/>
          </a:prstGeom>
          <a:noFill/>
          <a:ln w="36720">
            <a:solidFill>
              <a:srgbClr val="1E90F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12" name="Google Shape;86;p2"/>
          <p:cNvSpPr txBox="1"/>
          <p:nvPr/>
        </p:nvSpPr>
        <p:spPr>
          <a:xfrm>
            <a:off x="486744" y="157714"/>
            <a:ext cx="84582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>
            <a:pPr algn="r">
              <a:buClr>
                <a:schemeClr val="dk1"/>
              </a:buClr>
              <a:buSzPts val="2800"/>
            </a:pPr>
            <a:r>
              <a:rPr lang="en-US" sz="2800" b="1" dirty="0">
                <a:solidFill>
                  <a:schemeClr val="dk1"/>
                </a:solidFill>
                <a:latin typeface="Calibri" panose="020F0502020204030204"/>
                <a:cs typeface="Calibri" panose="020F0502020204030204"/>
                <a:sym typeface="Calibri" panose="020F0502020204030204"/>
              </a:rPr>
              <a:t>Arithmetic operations over columns</a:t>
            </a:r>
            <a:endParaRPr lang="en-US" dirty="0">
              <a:solidFill>
                <a:schemeClr val="dk1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5" name="PlaceHolder 2"/>
          <p:cNvSpPr>
            <a:spLocks noGrp="1"/>
          </p:cNvSpPr>
          <p:nvPr>
            <p:ph type="body" idx="1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marL="286385" lvl="1" indent="-285750">
              <a:spcBef>
                <a:spcPts val="800"/>
              </a:spcBef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Missing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data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in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datasets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cells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with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NaN</a:t>
            </a:r>
            <a:endParaRPr lang="de-AT" sz="1800" spc="-1" dirty="0">
              <a:solidFill>
                <a:srgbClr val="0F0F0F"/>
              </a:solidFill>
              <a:highlight>
                <a:srgbClr val="DAE3F3"/>
              </a:highlight>
              <a:latin typeface="Consolas" panose="020B0609020204030204" pitchFamily="49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743585" lvl="2" indent="-285750">
              <a:spcBef>
                <a:spcPts val="800"/>
              </a:spcBef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NaN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=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pandas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representation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of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python’s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None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endParaRPr lang="de-AT" sz="1800" spc="-1" dirty="0">
              <a:solidFill>
                <a:srgbClr val="0F0F0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286385" lvl="1" indent="-285750">
              <a:spcBef>
                <a:spcPts val="800"/>
              </a:spcBef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Automatic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replacement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of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NaNs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with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a 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value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</a:t>
            </a:r>
            <a:endParaRPr lang="de-AT" sz="1800" spc="-1" dirty="0">
              <a:solidFill>
                <a:srgbClr val="0F0F0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743585" lvl="2" indent="-285750">
              <a:spcBef>
                <a:spcPts val="800"/>
              </a:spcBef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In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complete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DataFrame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(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df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) </a:t>
            </a:r>
            <a:endParaRPr lang="de-AT" sz="1800" spc="-1" dirty="0">
              <a:solidFill>
                <a:srgbClr val="0F0F0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1200785" lvl="3" indent="-285750">
              <a:spcBef>
                <a:spcPts val="800"/>
              </a:spcBef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df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 = 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df.fillna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(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value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)</a:t>
            </a:r>
            <a:endParaRPr lang="de-AT" sz="1800" spc="-1" dirty="0">
              <a:solidFill>
                <a:srgbClr val="0F0F0F"/>
              </a:solidFill>
              <a:highlight>
                <a:srgbClr val="DAE3F3"/>
              </a:highlight>
              <a:latin typeface="Consolas" panose="020B0609020204030204" pitchFamily="49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743585" lvl="2" indent="-285750">
              <a:spcBef>
                <a:spcPts val="800"/>
              </a:spcBef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Only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in a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specific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column</a:t>
            </a:r>
            <a:endParaRPr lang="de-AT" sz="1800" spc="-1" dirty="0">
              <a:solidFill>
                <a:srgbClr val="0F0F0F"/>
              </a:solidFill>
              <a:highlight>
                <a:srgbClr val="DAE3F3"/>
              </a:highlight>
              <a:latin typeface="Consolas" panose="020B0609020204030204" pitchFamily="49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1200785" lvl="3" indent="-285750">
              <a:spcBef>
                <a:spcPts val="800"/>
              </a:spcBef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df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['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column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'] = 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df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['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column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'].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fillna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(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value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)</a:t>
            </a:r>
            <a:endParaRPr lang="de-AT" sz="1800" spc="-1" dirty="0">
              <a:solidFill>
                <a:srgbClr val="0F0F0F"/>
              </a:solidFill>
              <a:highlight>
                <a:srgbClr val="DAE3F3"/>
              </a:highlight>
              <a:latin typeface="Consolas" panose="020B0609020204030204" pitchFamily="49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1200785" lvl="3" indent="-285750">
              <a:spcBef>
                <a:spcPts val="800"/>
              </a:spcBef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df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 = 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df.fillna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({'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column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': 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value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})        </a:t>
            </a:r>
            <a:endParaRPr lang="de-AT" sz="1800" spc="-1" dirty="0">
              <a:solidFill>
                <a:srgbClr val="0F0F0F"/>
              </a:solidFill>
              <a:highlight>
                <a:srgbClr val="DAE3F3"/>
              </a:highlight>
              <a:latin typeface="Consolas" panose="020B0609020204030204" pitchFamily="49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8" name="Google Shape;86;p2"/>
          <p:cNvSpPr txBox="1"/>
          <p:nvPr/>
        </p:nvSpPr>
        <p:spPr>
          <a:xfrm>
            <a:off x="486744" y="157714"/>
            <a:ext cx="84582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>
            <a:pPr algn="r">
              <a:buClr>
                <a:schemeClr val="dk1"/>
              </a:buClr>
              <a:buSzPts val="2800"/>
            </a:pPr>
            <a:r>
              <a:rPr lang="en-US" sz="2800" b="1" dirty="0">
                <a:solidFill>
                  <a:schemeClr val="dk1"/>
                </a:solidFill>
                <a:latin typeface="Calibri" panose="020F0502020204030204"/>
                <a:cs typeface="Calibri" panose="020F0502020204030204"/>
                <a:sym typeface="Calibri" panose="020F0502020204030204"/>
              </a:rPr>
              <a:t>Missing data and data with errors</a:t>
            </a:r>
            <a:endParaRPr lang="en-US" dirty="0"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1" name="PlaceHolder 2"/>
          <p:cNvSpPr>
            <a:spLocks noGrp="1"/>
          </p:cNvSpPr>
          <p:nvPr>
            <p:ph type="body" idx="1"/>
          </p:nvPr>
        </p:nvSpPr>
        <p:spPr>
          <a:xfrm>
            <a:off x="604683" y="1598119"/>
            <a:ext cx="7934633" cy="1702451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86385" lvl="1" indent="-285750">
              <a:spcBef>
                <a:spcPts val="800"/>
              </a:spcBef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Replace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all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missing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values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in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the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column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area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with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a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default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value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of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25000 km².</a:t>
            </a:r>
            <a:endParaRPr lang="de-AT" sz="1800" spc="-1" dirty="0">
              <a:solidFill>
                <a:srgbClr val="0F0F0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743585" lvl="2" indent="-285750">
              <a:spcBef>
                <a:spcPts val="800"/>
              </a:spcBef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df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['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area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'] = 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df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['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area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'].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fillna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(25000)        </a:t>
            </a:r>
            <a:endParaRPr lang="de-AT" sz="1800" spc="-1" dirty="0">
              <a:solidFill>
                <a:srgbClr val="0F0F0F"/>
              </a:solidFill>
              <a:highlight>
                <a:srgbClr val="DAE3F3"/>
              </a:highlight>
              <a:latin typeface="Consolas" panose="020B0609020204030204" pitchFamily="49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743585" lvl="2" indent="-285750">
              <a:spcBef>
                <a:spcPts val="800"/>
              </a:spcBef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df.loc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[:, '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area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'] = 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df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['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area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'].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fillna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(25000) </a:t>
            </a:r>
            <a:endParaRPr lang="de-AT" sz="1800" spc="-1" dirty="0">
              <a:solidFill>
                <a:srgbClr val="0F0F0F"/>
              </a:solidFill>
              <a:highlight>
                <a:srgbClr val="DAE3F3"/>
              </a:highlight>
              <a:latin typeface="Consolas" panose="020B0609020204030204" pitchFamily="49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743585" lvl="2" indent="-285750">
              <a:spcBef>
                <a:spcPts val="800"/>
              </a:spcBef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df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 = 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df.fillna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({'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area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': 25000})              </a:t>
            </a:r>
            <a:endParaRPr lang="de-AT" sz="1800" spc="-1" dirty="0">
              <a:solidFill>
                <a:srgbClr val="0F0F0F"/>
              </a:solidFill>
              <a:highlight>
                <a:srgbClr val="DAE3F3"/>
              </a:highlight>
              <a:latin typeface="Consolas" panose="020B0609020204030204" pitchFamily="49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915670" lvl="2">
              <a:spcBef>
                <a:spcPts val="600"/>
              </a:spcBef>
            </a:pPr>
            <a:endParaRPr lang="de-AT" sz="1695" spc="-1" dirty="0">
              <a:solidFill>
                <a:srgbClr val="0F0F0F"/>
              </a:solidFill>
            </a:endParaRPr>
          </a:p>
        </p:txBody>
      </p:sp>
      <p:pic>
        <p:nvPicPr>
          <p:cNvPr id="486" name="Grafik 485"/>
          <p:cNvPicPr/>
          <p:nvPr/>
        </p:nvPicPr>
        <p:blipFill>
          <a:blip r:embed="rId1"/>
          <a:stretch>
            <a:fillRect/>
          </a:stretch>
        </p:blipFill>
        <p:spPr>
          <a:xfrm>
            <a:off x="6206590" y="3497957"/>
            <a:ext cx="2699496" cy="2379679"/>
          </a:xfrm>
          <a:prstGeom prst="rect">
            <a:avLst/>
          </a:prstGeom>
          <a:ln w="0">
            <a:noFill/>
          </a:ln>
        </p:spPr>
      </p:pic>
      <p:sp>
        <p:nvSpPr>
          <p:cNvPr id="487" name="Textfeld 486"/>
          <p:cNvSpPr txBox="1"/>
          <p:nvPr/>
        </p:nvSpPr>
        <p:spPr>
          <a:xfrm>
            <a:off x="6226181" y="3298230"/>
            <a:ext cx="2679905" cy="247051"/>
          </a:xfrm>
          <a:prstGeom prst="rect">
            <a:avLst/>
          </a:prstGeom>
          <a:solidFill>
            <a:srgbClr val="DAE3F3"/>
          </a:solidFill>
          <a:ln w="0">
            <a:noFill/>
          </a:ln>
        </p:spPr>
        <p:txBody>
          <a:bodyPr lIns="63607" tIns="31804" rIns="63607" bIns="31804" anchor="t">
            <a:noAutofit/>
          </a:bodyPr>
          <a:lstStyle/>
          <a:p>
            <a:pPr algn="ctr"/>
            <a:r>
              <a:rPr lang="en-US" sz="1000" b="1" spc="-1" dirty="0">
                <a:latin typeface="Consolas" panose="020B0609020204030204" pitchFamily="49" charset="0"/>
                <a:ea typeface="Droid Sans Fallback"/>
              </a:rPr>
              <a:t>df</a:t>
            </a:r>
            <a:r>
              <a:rPr lang="en-US" sz="1000" spc="-1" dirty="0">
                <a:latin typeface="Consolas" panose="020B0609020204030204" pitchFamily="49" charset="0"/>
                <a:ea typeface="Droid Sans Fallback"/>
              </a:rPr>
              <a:t> = </a:t>
            </a:r>
            <a:r>
              <a:rPr lang="en-US" sz="1000" spc="-1" dirty="0" err="1">
                <a:latin typeface="Consolas" panose="020B0609020204030204" pitchFamily="49" charset="0"/>
                <a:ea typeface="Droid Sans Fallback"/>
              </a:rPr>
              <a:t>pd.read_csv</a:t>
            </a:r>
            <a:r>
              <a:rPr lang="en-US" sz="1000" spc="-1" dirty="0">
                <a:latin typeface="Consolas" panose="020B0609020204030204" pitchFamily="49" charset="0"/>
                <a:ea typeface="Droid Sans Fallback"/>
              </a:rPr>
              <a:t>('states.csv</a:t>
            </a:r>
            <a:r>
              <a:rPr lang="en-US" sz="1000" spc="-1" dirty="0">
                <a:latin typeface="Consolas" panose="020B0609020204030204" pitchFamily="49" charset="0"/>
              </a:rPr>
              <a:t>')</a:t>
            </a:r>
            <a:endParaRPr lang="en-US" sz="1000" spc="-1" dirty="0">
              <a:latin typeface="Consolas" panose="020B0609020204030204" pitchFamily="49" charset="0"/>
            </a:endParaRPr>
          </a:p>
        </p:txBody>
      </p:sp>
      <p:sp>
        <p:nvSpPr>
          <p:cNvPr id="488" name="Rechteck 487"/>
          <p:cNvSpPr/>
          <p:nvPr/>
        </p:nvSpPr>
        <p:spPr>
          <a:xfrm>
            <a:off x="1241871" y="2035951"/>
            <a:ext cx="5734929" cy="1119016"/>
          </a:xfrm>
          <a:prstGeom prst="rect">
            <a:avLst/>
          </a:prstGeom>
          <a:noFill/>
          <a:ln w="36720">
            <a:solidFill>
              <a:srgbClr val="1E90F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489" name="Rechteck 488"/>
          <p:cNvSpPr/>
          <p:nvPr/>
        </p:nvSpPr>
        <p:spPr>
          <a:xfrm>
            <a:off x="8186677" y="3565635"/>
            <a:ext cx="705278" cy="2291646"/>
          </a:xfrm>
          <a:prstGeom prst="rect">
            <a:avLst/>
          </a:prstGeom>
          <a:noFill/>
          <a:ln w="36720">
            <a:solidFill>
              <a:srgbClr val="1E90F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12" name="Google Shape;86;p2"/>
          <p:cNvSpPr txBox="1"/>
          <p:nvPr/>
        </p:nvSpPr>
        <p:spPr>
          <a:xfrm>
            <a:off x="486744" y="157714"/>
            <a:ext cx="84582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>
            <a:pPr algn="r">
              <a:buClr>
                <a:schemeClr val="dk1"/>
              </a:buClr>
              <a:buSzPts val="2800"/>
            </a:pPr>
            <a:r>
              <a:rPr lang="en-US" sz="2800" b="1" dirty="0">
                <a:solidFill>
                  <a:schemeClr val="dk1"/>
                </a:solidFill>
                <a:latin typeface="Calibri" panose="020F0502020204030204"/>
                <a:cs typeface="Calibri" panose="020F0502020204030204"/>
                <a:sym typeface="Calibri" panose="020F0502020204030204"/>
              </a:rPr>
              <a:t>Missing data and data with errors</a:t>
            </a:r>
            <a:endParaRPr lang="en-US" dirty="0">
              <a:solidFill>
                <a:schemeClr val="dk1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1" name="PlaceHolder 2"/>
          <p:cNvSpPr>
            <a:spLocks noGrp="1"/>
          </p:cNvSpPr>
          <p:nvPr>
            <p:ph type="body" idx="1"/>
          </p:nvPr>
        </p:nvSpPr>
        <p:spPr>
          <a:xfrm>
            <a:off x="604683" y="1598119"/>
            <a:ext cx="7934633" cy="2808281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86385" lvl="1" indent="-285750">
              <a:spcBef>
                <a:spcPts val="800"/>
              </a:spcBef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Replace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all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missing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values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in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the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column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area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with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a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default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value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of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25000 km².</a:t>
            </a:r>
            <a:endParaRPr lang="de-AT" sz="1800" spc="-1" dirty="0">
              <a:solidFill>
                <a:srgbClr val="0F0F0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743585" lvl="2" indent="-285750">
              <a:spcBef>
                <a:spcPts val="800"/>
              </a:spcBef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df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['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area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'] = 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df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['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area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'].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fillna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(25000)        </a:t>
            </a:r>
            <a:endParaRPr lang="de-AT" sz="1800" spc="-1" dirty="0">
              <a:solidFill>
                <a:srgbClr val="0F0F0F"/>
              </a:solidFill>
              <a:highlight>
                <a:srgbClr val="DAE3F3"/>
              </a:highlight>
              <a:latin typeface="Consolas" panose="020B0609020204030204" pitchFamily="49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743585" lvl="2" indent="-285750">
              <a:spcBef>
                <a:spcPts val="800"/>
              </a:spcBef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df.loc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[:, '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area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'] = 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df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['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area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'].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fillna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(25000) </a:t>
            </a:r>
            <a:endParaRPr lang="de-AT" sz="1800" spc="-1" dirty="0">
              <a:solidFill>
                <a:srgbClr val="0F0F0F"/>
              </a:solidFill>
              <a:highlight>
                <a:srgbClr val="DAE3F3"/>
              </a:highlight>
              <a:latin typeface="Consolas" panose="020B0609020204030204" pitchFamily="49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743585" lvl="2" indent="-285750">
              <a:spcBef>
                <a:spcPts val="800"/>
              </a:spcBef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df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 = 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df.fillna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({'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area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': 25000})    </a:t>
            </a:r>
            <a:endParaRPr lang="de-AT" sz="1800" spc="-1" dirty="0">
              <a:solidFill>
                <a:srgbClr val="0F0F0F"/>
              </a:solidFill>
              <a:highlight>
                <a:srgbClr val="DAE3F3"/>
              </a:highlight>
              <a:latin typeface="Consolas" panose="020B0609020204030204" pitchFamily="49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286385" lvl="1" indent="-285750">
              <a:spcBef>
                <a:spcPts val="800"/>
              </a:spcBef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Remove all </a:t>
            </a: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cells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with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errors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(= 0) in </a:t>
            </a: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population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or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area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endParaRPr lang="de-DE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743585" lvl="2" indent="-285750">
              <a:spcBef>
                <a:spcPts val="800"/>
              </a:spcBef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= </a:t>
            </a: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select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all </a:t>
            </a: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cells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with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area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and </a:t>
            </a: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population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&gt; 0</a:t>
            </a:r>
            <a:endParaRPr lang="de-DE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743585" lvl="2" indent="-285750">
              <a:spcBef>
                <a:spcPts val="800"/>
              </a:spcBef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DE" sz="1800" dirty="0" err="1"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df</a:t>
            </a:r>
            <a:r>
              <a:rPr lang="de-DE" sz="1800" dirty="0"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 = </a:t>
            </a:r>
            <a:r>
              <a:rPr lang="de-DE" sz="1800" dirty="0" err="1"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df</a:t>
            </a:r>
            <a:r>
              <a:rPr lang="de-DE" sz="1800" dirty="0"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[(</a:t>
            </a:r>
            <a:r>
              <a:rPr lang="de-DE" sz="1800" dirty="0" err="1"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df.area</a:t>
            </a:r>
            <a:r>
              <a:rPr lang="de-DE" sz="1800" dirty="0"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 &gt; 0) &amp;</a:t>
            </a:r>
            <a:br>
              <a:rPr lang="de-DE" sz="1800" dirty="0"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</a:br>
            <a:r>
              <a:rPr lang="de-DE" sz="1800" dirty="0"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 (</a:t>
            </a:r>
            <a:r>
              <a:rPr lang="de-DE" sz="1800" dirty="0" err="1"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df.population</a:t>
            </a:r>
            <a:r>
              <a:rPr lang="de-DE" sz="1800" dirty="0"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 &gt; 0)]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     </a:t>
            </a:r>
            <a:endParaRPr lang="de-AT" sz="1800" spc="-1" dirty="0">
              <a:solidFill>
                <a:srgbClr val="0F0F0F"/>
              </a:solidFill>
              <a:highlight>
                <a:srgbClr val="DAE3F3"/>
              </a:highlight>
              <a:latin typeface="Consolas" panose="020B0609020204030204" pitchFamily="49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915670" lvl="2">
              <a:spcBef>
                <a:spcPts val="600"/>
              </a:spcBef>
            </a:pPr>
            <a:endParaRPr lang="de-AT" sz="1695" spc="-1" dirty="0">
              <a:solidFill>
                <a:srgbClr val="0F0F0F"/>
              </a:solidFill>
            </a:endParaRPr>
          </a:p>
        </p:txBody>
      </p:sp>
      <p:pic>
        <p:nvPicPr>
          <p:cNvPr id="486" name="Grafik 485"/>
          <p:cNvPicPr/>
          <p:nvPr/>
        </p:nvPicPr>
        <p:blipFill>
          <a:blip r:embed="rId1"/>
          <a:stretch>
            <a:fillRect/>
          </a:stretch>
        </p:blipFill>
        <p:spPr>
          <a:xfrm>
            <a:off x="6245448" y="3480143"/>
            <a:ext cx="2699496" cy="2379679"/>
          </a:xfrm>
          <a:prstGeom prst="rect">
            <a:avLst/>
          </a:prstGeom>
          <a:ln w="0">
            <a:noFill/>
          </a:ln>
        </p:spPr>
      </p:pic>
      <p:sp>
        <p:nvSpPr>
          <p:cNvPr id="487" name="Textfeld 486"/>
          <p:cNvSpPr txBox="1"/>
          <p:nvPr/>
        </p:nvSpPr>
        <p:spPr>
          <a:xfrm>
            <a:off x="6226181" y="3298230"/>
            <a:ext cx="2679905" cy="247051"/>
          </a:xfrm>
          <a:prstGeom prst="rect">
            <a:avLst/>
          </a:prstGeom>
          <a:solidFill>
            <a:srgbClr val="DAE3F3"/>
          </a:solidFill>
          <a:ln w="0">
            <a:noFill/>
          </a:ln>
        </p:spPr>
        <p:txBody>
          <a:bodyPr lIns="63607" tIns="31804" rIns="63607" bIns="31804" anchor="t">
            <a:noAutofit/>
          </a:bodyPr>
          <a:lstStyle/>
          <a:p>
            <a:pPr algn="ctr"/>
            <a:r>
              <a:rPr lang="en-US" sz="1000" b="1" spc="-1" dirty="0">
                <a:latin typeface="Consolas" panose="020B0609020204030204" pitchFamily="49" charset="0"/>
                <a:ea typeface="Droid Sans Fallback"/>
              </a:rPr>
              <a:t>df</a:t>
            </a:r>
            <a:r>
              <a:rPr lang="en-US" sz="1000" spc="-1" dirty="0">
                <a:latin typeface="Consolas" panose="020B0609020204030204" pitchFamily="49" charset="0"/>
                <a:ea typeface="Droid Sans Fallback"/>
              </a:rPr>
              <a:t> = </a:t>
            </a:r>
            <a:r>
              <a:rPr lang="en-US" sz="1000" spc="-1" dirty="0" err="1">
                <a:latin typeface="Consolas" panose="020B0609020204030204" pitchFamily="49" charset="0"/>
                <a:ea typeface="Droid Sans Fallback"/>
              </a:rPr>
              <a:t>pd.read_csv</a:t>
            </a:r>
            <a:r>
              <a:rPr lang="en-US" sz="1000" spc="-1" dirty="0">
                <a:latin typeface="Consolas" panose="020B0609020204030204" pitchFamily="49" charset="0"/>
                <a:ea typeface="Droid Sans Fallback"/>
              </a:rPr>
              <a:t>('states.csv</a:t>
            </a:r>
            <a:r>
              <a:rPr lang="en-US" sz="1000" spc="-1" dirty="0">
                <a:latin typeface="Consolas" panose="020B0609020204030204" pitchFamily="49" charset="0"/>
              </a:rPr>
              <a:t>')</a:t>
            </a:r>
            <a:endParaRPr lang="en-US" sz="1000" spc="-1" dirty="0">
              <a:latin typeface="Consolas" panose="020B0609020204030204" pitchFamily="49" charset="0"/>
            </a:endParaRPr>
          </a:p>
        </p:txBody>
      </p:sp>
      <p:sp>
        <p:nvSpPr>
          <p:cNvPr id="488" name="Rechteck 487"/>
          <p:cNvSpPr/>
          <p:nvPr/>
        </p:nvSpPr>
        <p:spPr>
          <a:xfrm>
            <a:off x="1241871" y="2035951"/>
            <a:ext cx="5734929" cy="1119016"/>
          </a:xfrm>
          <a:prstGeom prst="rect">
            <a:avLst/>
          </a:prstGeom>
          <a:noFill/>
          <a:ln w="36720">
            <a:solidFill>
              <a:srgbClr val="1E90F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12" name="Google Shape;86;p2"/>
          <p:cNvSpPr txBox="1"/>
          <p:nvPr/>
        </p:nvSpPr>
        <p:spPr>
          <a:xfrm>
            <a:off x="486744" y="157714"/>
            <a:ext cx="84582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>
            <a:pPr algn="r">
              <a:buClr>
                <a:schemeClr val="dk1"/>
              </a:buClr>
              <a:buSzPts val="2800"/>
            </a:pPr>
            <a:r>
              <a:rPr lang="en-US" sz="2800" b="1" dirty="0">
                <a:solidFill>
                  <a:schemeClr val="dk1"/>
                </a:solidFill>
                <a:latin typeface="Calibri" panose="020F0502020204030204"/>
                <a:cs typeface="Calibri" panose="020F0502020204030204"/>
                <a:sym typeface="Calibri" panose="020F0502020204030204"/>
              </a:rPr>
              <a:t>Missing data and data with errors</a:t>
            </a:r>
            <a:endParaRPr lang="en-US" dirty="0">
              <a:solidFill>
                <a:schemeClr val="dk1"/>
              </a:solidFill>
            </a:endParaRPr>
          </a:p>
        </p:txBody>
      </p:sp>
      <p:sp>
        <p:nvSpPr>
          <p:cNvPr id="10" name="Rechteck 9"/>
          <p:cNvSpPr/>
          <p:nvPr/>
        </p:nvSpPr>
        <p:spPr>
          <a:xfrm>
            <a:off x="1317600" y="3926687"/>
            <a:ext cx="4888990" cy="374400"/>
          </a:xfrm>
          <a:prstGeom prst="rect">
            <a:avLst/>
          </a:prstGeom>
          <a:noFill/>
          <a:ln w="36720">
            <a:solidFill>
              <a:srgbClr val="32CD32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11" name="Freihandform: Form 10"/>
          <p:cNvSpPr/>
          <p:nvPr/>
        </p:nvSpPr>
        <p:spPr>
          <a:xfrm flipV="1">
            <a:off x="6079134" y="5417712"/>
            <a:ext cx="2973998" cy="45719"/>
          </a:xfrm>
          <a:custGeom>
            <a:avLst/>
            <a:gdLst/>
            <a:ahLst/>
            <a:cxnLst/>
            <a:rect l="0" t="0" r="r" b="b"/>
            <a:pathLst>
              <a:path w="10298" fill="none">
                <a:moveTo>
                  <a:pt x="0" y="0"/>
                </a:moveTo>
                <a:lnTo>
                  <a:pt x="10298" y="0"/>
                </a:lnTo>
              </a:path>
            </a:pathLst>
          </a:custGeom>
          <a:ln w="36720">
            <a:solidFill>
              <a:srgbClr val="32CD32"/>
            </a:solidFill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13" name="Rechteck 12"/>
          <p:cNvSpPr/>
          <p:nvPr/>
        </p:nvSpPr>
        <p:spPr>
          <a:xfrm>
            <a:off x="8223452" y="5004943"/>
            <a:ext cx="682634" cy="254938"/>
          </a:xfrm>
          <a:prstGeom prst="rect">
            <a:avLst/>
          </a:prstGeom>
          <a:solidFill>
            <a:srgbClr val="ADD8E6"/>
          </a:solidFill>
          <a:ln w="36720">
            <a:solidFill>
              <a:srgbClr val="1E90F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76583" tIns="44780" rIns="76583" bIns="44780" anchor="ctr">
            <a:noAutofit/>
          </a:bodyPr>
          <a:lstStyle/>
          <a:p>
            <a:pPr algn="ctr"/>
            <a:r>
              <a:rPr lang="en-US" sz="1130" spc="-1">
                <a:latin typeface="Arial" panose="020B0604020202020204"/>
              </a:rPr>
              <a:t>25000.0</a:t>
            </a:r>
            <a:endParaRPr lang="en-US" sz="1130" spc="-1">
              <a:latin typeface="Arial" panose="020B0604020202020204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1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4" name="PlaceHolder 2"/>
          <p:cNvSpPr>
            <a:spLocks noGrp="1"/>
          </p:cNvSpPr>
          <p:nvPr>
            <p:ph type="body" idx="1"/>
          </p:nvPr>
        </p:nvSpPr>
        <p:spPr>
          <a:xfrm>
            <a:off x="604683" y="1718179"/>
            <a:ext cx="7934633" cy="4185821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342900" lvl="1" indent="-342900">
              <a:spcBef>
                <a:spcPts val="800"/>
              </a:spcBef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35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New </a:t>
            </a:r>
            <a:r>
              <a:rPr lang="de-AT" sz="1835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column</a:t>
            </a:r>
            <a:r>
              <a:rPr lang="de-AT" sz="1835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= </a:t>
            </a:r>
            <a:r>
              <a:rPr lang="de-AT" sz="1835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similar</a:t>
            </a:r>
            <a:r>
              <a:rPr lang="de-AT" sz="1835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35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to</a:t>
            </a:r>
            <a:r>
              <a:rPr lang="de-AT" sz="1835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35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adding</a:t>
            </a:r>
            <a:r>
              <a:rPr lang="de-AT" sz="1835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a </a:t>
            </a:r>
            <a:r>
              <a:rPr lang="de-AT" sz="1835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key-value</a:t>
            </a:r>
            <a:r>
              <a:rPr lang="de-AT" sz="1835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pair </a:t>
            </a:r>
            <a:r>
              <a:rPr lang="de-AT" sz="1835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to</a:t>
            </a:r>
            <a:r>
              <a:rPr lang="de-AT" sz="1835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a </a:t>
            </a:r>
            <a:r>
              <a:rPr lang="de-AT" sz="1835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dictionary</a:t>
            </a:r>
            <a:endParaRPr lang="de-AT" sz="1835" spc="-1" dirty="0">
              <a:solidFill>
                <a:srgbClr val="0F0F0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800100" lvl="2" indent="-342900">
              <a:spcBef>
                <a:spcPts val="800"/>
              </a:spcBef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35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Same </a:t>
            </a:r>
            <a:r>
              <a:rPr lang="de-AT" sz="1835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value</a:t>
            </a:r>
            <a:r>
              <a:rPr lang="de-AT" sz="1835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35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for</a:t>
            </a:r>
            <a:r>
              <a:rPr lang="de-AT" sz="1835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all </a:t>
            </a:r>
            <a:r>
              <a:rPr lang="de-AT" sz="1835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rows</a:t>
            </a:r>
            <a:r>
              <a:rPr lang="de-AT" sz="1835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endParaRPr lang="de-AT" sz="1835" spc="-1" dirty="0">
              <a:solidFill>
                <a:srgbClr val="0F0F0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1257300" lvl="3" indent="-342900">
              <a:spcBef>
                <a:spcPts val="800"/>
              </a:spcBef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6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df</a:t>
            </a:r>
            <a:r>
              <a:rPr lang="de-AT" sz="16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['</a:t>
            </a:r>
            <a:r>
              <a:rPr lang="de-AT" sz="16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new_column</a:t>
            </a:r>
            <a:r>
              <a:rPr lang="de-AT" sz="16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'] = </a:t>
            </a:r>
            <a:r>
              <a:rPr lang="de-AT" sz="16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value</a:t>
            </a:r>
            <a:r>
              <a:rPr lang="de-AT" sz="16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         </a:t>
            </a:r>
            <a:endParaRPr lang="de-AT" sz="1600" spc="-1" dirty="0">
              <a:solidFill>
                <a:srgbClr val="0F0F0F"/>
              </a:solidFill>
              <a:highlight>
                <a:srgbClr val="DAE3F3"/>
              </a:highlight>
              <a:latin typeface="Consolas" panose="020B0609020204030204" pitchFamily="49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1257300" lvl="3" indent="-342900">
              <a:spcBef>
                <a:spcPts val="800"/>
              </a:spcBef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6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df.loc</a:t>
            </a:r>
            <a:r>
              <a:rPr lang="de-AT" sz="16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[:, '</a:t>
            </a:r>
            <a:r>
              <a:rPr lang="de-AT" sz="16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new_column</a:t>
            </a:r>
            <a:r>
              <a:rPr lang="de-AT" sz="16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'] = </a:t>
            </a:r>
            <a:r>
              <a:rPr lang="de-AT" sz="16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value</a:t>
            </a:r>
            <a:endParaRPr lang="de-AT" sz="1600" spc="-1" dirty="0">
              <a:solidFill>
                <a:srgbClr val="0F0F0F"/>
              </a:solidFill>
              <a:highlight>
                <a:srgbClr val="DAE3F3"/>
              </a:highlight>
              <a:latin typeface="Consolas" panose="020B0609020204030204" pitchFamily="49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800100" lvl="2" indent="-342900">
              <a:spcBef>
                <a:spcPts val="800"/>
              </a:spcBef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35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From</a:t>
            </a:r>
            <a:r>
              <a:rPr lang="de-AT" sz="1835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35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operations</a:t>
            </a:r>
            <a:r>
              <a:rPr lang="de-AT" sz="1835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on an </a:t>
            </a:r>
            <a:r>
              <a:rPr lang="de-AT" sz="1835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existing</a:t>
            </a:r>
            <a:r>
              <a:rPr lang="de-AT" sz="1835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35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column</a:t>
            </a:r>
            <a:endParaRPr lang="de-AT" sz="1835" spc="-1" dirty="0">
              <a:solidFill>
                <a:srgbClr val="0F0F0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1257300" lvl="3" indent="-342900">
              <a:spcBef>
                <a:spcPts val="800"/>
              </a:spcBef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6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df</a:t>
            </a:r>
            <a:r>
              <a:rPr lang="de-AT" sz="16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['</a:t>
            </a:r>
            <a:r>
              <a:rPr lang="de-AT" sz="16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pop_in_mil</a:t>
            </a:r>
            <a:r>
              <a:rPr lang="de-AT" sz="16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'] = </a:t>
            </a:r>
            <a:r>
              <a:rPr lang="de-AT" sz="16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df</a:t>
            </a:r>
            <a:r>
              <a:rPr lang="de-AT" sz="16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['</a:t>
            </a:r>
            <a:r>
              <a:rPr lang="de-AT" sz="16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population</a:t>
            </a:r>
            <a:r>
              <a:rPr lang="de-AT" sz="16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'] / 1000000</a:t>
            </a:r>
            <a:endParaRPr lang="de-AT" sz="1600" spc="-1" dirty="0">
              <a:solidFill>
                <a:srgbClr val="0F0F0F"/>
              </a:solidFill>
              <a:highlight>
                <a:srgbClr val="DAE3F3"/>
              </a:highlight>
              <a:latin typeface="Consolas" panose="020B0609020204030204" pitchFamily="49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1257300" lvl="3" indent="-342900">
              <a:spcBef>
                <a:spcPts val="800"/>
              </a:spcBef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6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df.loc</a:t>
            </a:r>
            <a:r>
              <a:rPr lang="de-AT" sz="16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[:, '</a:t>
            </a:r>
            <a:r>
              <a:rPr lang="de-AT" sz="16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pop_in_mil</a:t>
            </a:r>
            <a:r>
              <a:rPr lang="de-AT" sz="16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'] = </a:t>
            </a:r>
            <a:r>
              <a:rPr lang="de-AT" sz="16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df</a:t>
            </a:r>
            <a:r>
              <a:rPr lang="de-AT" sz="16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['</a:t>
            </a:r>
            <a:r>
              <a:rPr lang="de-AT" sz="16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population</a:t>
            </a:r>
            <a:r>
              <a:rPr lang="de-AT" sz="16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'] / 1000000</a:t>
            </a:r>
            <a:endParaRPr lang="de-AT" sz="1600" spc="-1" dirty="0">
              <a:solidFill>
                <a:srgbClr val="0F0F0F"/>
              </a:solidFill>
              <a:highlight>
                <a:srgbClr val="DAE3F3"/>
              </a:highlight>
              <a:latin typeface="Consolas" panose="020B0609020204030204" pitchFamily="49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800100" lvl="2" indent="-342900">
              <a:spcBef>
                <a:spcPts val="800"/>
              </a:spcBef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35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From</a:t>
            </a:r>
            <a:r>
              <a:rPr lang="de-AT" sz="1835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35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operations</a:t>
            </a:r>
            <a:r>
              <a:rPr lang="de-AT" sz="1835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35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with</a:t>
            </a:r>
            <a:r>
              <a:rPr lang="de-AT" sz="1835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35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several</a:t>
            </a:r>
            <a:r>
              <a:rPr lang="de-AT" sz="1835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35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existing</a:t>
            </a:r>
            <a:r>
              <a:rPr lang="de-AT" sz="1835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35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columns</a:t>
            </a:r>
            <a:endParaRPr lang="de-AT" sz="1835" spc="-1" dirty="0">
              <a:solidFill>
                <a:srgbClr val="0F0F0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1257300" lvl="3" indent="-342900">
              <a:spcBef>
                <a:spcPts val="800"/>
              </a:spcBef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6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df</a:t>
            </a:r>
            <a:r>
              <a:rPr lang="de-AT" sz="16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['</a:t>
            </a:r>
            <a:r>
              <a:rPr lang="de-AT" sz="16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pop_density</a:t>
            </a:r>
            <a:r>
              <a:rPr lang="de-AT" sz="16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'] = </a:t>
            </a:r>
            <a:r>
              <a:rPr lang="de-AT" sz="16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df</a:t>
            </a:r>
            <a:r>
              <a:rPr lang="de-AT" sz="16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['</a:t>
            </a:r>
            <a:r>
              <a:rPr lang="de-AT" sz="16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population</a:t>
            </a:r>
            <a:r>
              <a:rPr lang="de-AT" sz="16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'] / </a:t>
            </a:r>
            <a:r>
              <a:rPr lang="de-AT" sz="16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df</a:t>
            </a:r>
            <a:r>
              <a:rPr lang="de-AT" sz="16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['</a:t>
            </a:r>
            <a:r>
              <a:rPr lang="de-AT" sz="16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area</a:t>
            </a:r>
            <a:r>
              <a:rPr lang="de-AT" sz="16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']</a:t>
            </a:r>
            <a:endParaRPr lang="de-AT" sz="1600" spc="-1" dirty="0">
              <a:solidFill>
                <a:srgbClr val="0F0F0F"/>
              </a:solidFill>
              <a:highlight>
                <a:srgbClr val="DAE3F3"/>
              </a:highlight>
              <a:latin typeface="Consolas" panose="020B0609020204030204" pitchFamily="49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1257300" lvl="3" indent="-342900">
              <a:spcBef>
                <a:spcPts val="800"/>
              </a:spcBef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6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df.loc</a:t>
            </a:r>
            <a:r>
              <a:rPr lang="de-AT" sz="16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[:, '</a:t>
            </a:r>
            <a:r>
              <a:rPr lang="de-AT" sz="16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pop_density</a:t>
            </a:r>
            <a:r>
              <a:rPr lang="de-AT" sz="16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'] = </a:t>
            </a:r>
            <a:r>
              <a:rPr lang="de-AT" sz="16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df</a:t>
            </a:r>
            <a:r>
              <a:rPr lang="de-AT" sz="16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['</a:t>
            </a:r>
            <a:r>
              <a:rPr lang="de-AT" sz="16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population</a:t>
            </a:r>
            <a:r>
              <a:rPr lang="de-AT" sz="16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'] / </a:t>
            </a:r>
            <a:r>
              <a:rPr lang="de-AT" sz="16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df</a:t>
            </a:r>
            <a:r>
              <a:rPr lang="de-AT" sz="16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['</a:t>
            </a:r>
            <a:r>
              <a:rPr lang="de-AT" sz="16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area</a:t>
            </a:r>
            <a:r>
              <a:rPr lang="de-AT" sz="16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']</a:t>
            </a:r>
            <a:endParaRPr lang="de-AT" sz="1600" spc="-1" dirty="0">
              <a:solidFill>
                <a:srgbClr val="0F0F0F"/>
              </a:solidFill>
              <a:highlight>
                <a:srgbClr val="DAE3F3"/>
              </a:highlight>
              <a:latin typeface="Consolas" panose="020B0609020204030204" pitchFamily="49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8" name="Google Shape;86;p2"/>
          <p:cNvSpPr txBox="1"/>
          <p:nvPr/>
        </p:nvSpPr>
        <p:spPr>
          <a:xfrm>
            <a:off x="486744" y="157714"/>
            <a:ext cx="84582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>
            <a:pPr algn="r">
              <a:buClr>
                <a:schemeClr val="dk1"/>
              </a:buClr>
              <a:buSzPts val="2800"/>
            </a:pPr>
            <a:r>
              <a:rPr lang="en-US" sz="2800" b="1" dirty="0">
                <a:solidFill>
                  <a:schemeClr val="dk1"/>
                </a:solidFill>
                <a:latin typeface="Calibri" panose="020F0502020204030204"/>
                <a:cs typeface="Calibri" panose="020F0502020204030204"/>
                <a:sym typeface="Calibri" panose="020F0502020204030204"/>
              </a:rPr>
              <a:t>Adding new columns</a:t>
            </a:r>
            <a:endParaRPr lang="en-US" dirty="0"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09" name="Grafik 508"/>
          <p:cNvPicPr/>
          <p:nvPr/>
        </p:nvPicPr>
        <p:blipFill>
          <a:blip r:embed="rId1"/>
          <a:stretch>
            <a:fillRect/>
          </a:stretch>
        </p:blipFill>
        <p:spPr>
          <a:xfrm>
            <a:off x="1820952" y="3286452"/>
            <a:ext cx="5492368" cy="2645303"/>
          </a:xfrm>
          <a:prstGeom prst="rect">
            <a:avLst/>
          </a:prstGeom>
          <a:ln w="0">
            <a:noFill/>
          </a:ln>
        </p:spPr>
      </p:pic>
      <p:sp>
        <p:nvSpPr>
          <p:cNvPr id="513" name="PlaceHolder 4"/>
          <p:cNvSpPr>
            <a:spLocks noGrp="1"/>
          </p:cNvSpPr>
          <p:nvPr>
            <p:ph type="sldNum" idx="78"/>
          </p:nvPr>
        </p:nvSpPr>
        <p:spPr>
          <a:xfrm>
            <a:off x="-6360" y="1142697"/>
            <a:ext cx="431512" cy="433802"/>
          </a:xfrm>
          <a:prstGeom prst="rect">
            <a:avLst/>
          </a:prstGeom>
          <a:noFill/>
          <a:ln w="0">
            <a:noFill/>
          </a:ln>
        </p:spPr>
        <p:txBody>
          <a:bodyPr lIns="0" tIns="45797" rIns="0" bIns="45797" anchor="ctr">
            <a:noAutofit/>
          </a:bodyPr>
          <a:lstStyle>
            <a:lvl1pPr indent="0" algn="ctr">
              <a:lnSpc>
                <a:spcPct val="100000"/>
              </a:lnSpc>
              <a:buNone/>
              <a:defRPr lang="en-US" sz="990" b="0" strike="noStrike" spc="-1">
                <a:solidFill>
                  <a:srgbClr val="FFFFFF"/>
                </a:solidFill>
                <a:latin typeface="Arial" panose="020B0604020202020204"/>
              </a:defRPr>
            </a:lvl1pPr>
          </a:lstStyle>
          <a:p>
            <a:fld id="{DA01D634-A1FF-4BAE-99DE-4F4DEF0849A1}" type="slidenum">
              <a:rPr lang="en-US"/>
            </a:fld>
            <a:endParaRPr lang="en-US">
              <a:latin typeface="Times New Roman" panose="02020603050405020304"/>
            </a:endParaRPr>
          </a:p>
        </p:txBody>
      </p:sp>
      <p:sp>
        <p:nvSpPr>
          <p:cNvPr id="515" name="Textfeld 514"/>
          <p:cNvSpPr txBox="1"/>
          <p:nvPr/>
        </p:nvSpPr>
        <p:spPr>
          <a:xfrm>
            <a:off x="307096" y="1835763"/>
            <a:ext cx="8698180" cy="1253037"/>
          </a:xfrm>
          <a:prstGeom prst="rect">
            <a:avLst/>
          </a:prstGeom>
          <a:solidFill>
            <a:srgbClr val="DAE3F3"/>
          </a:solidFill>
          <a:ln w="0">
            <a:noFill/>
          </a:ln>
        </p:spPr>
        <p:txBody>
          <a:bodyPr lIns="63607" tIns="31804" rIns="63607" bIns="31804" anchor="t">
            <a:noAutofit/>
          </a:bodyPr>
          <a:lstStyle/>
          <a:p>
            <a:pPr>
              <a:lnSpc>
                <a:spcPct val="100000"/>
              </a:lnSpc>
            </a:pPr>
            <a:r>
              <a:rPr lang="de-AT" sz="1800" spc="-1" dirty="0" err="1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df.loc</a:t>
            </a:r>
            <a:r>
              <a:rPr lang="de-AT" sz="18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[:, '</a:t>
            </a:r>
            <a:r>
              <a:rPr lang="de-AT" sz="1800" spc="-1" dirty="0" err="1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pop_in_mil</a:t>
            </a:r>
            <a:r>
              <a:rPr lang="de-AT" sz="18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'] = </a:t>
            </a:r>
            <a:r>
              <a:rPr lang="de-AT" sz="1800" spc="-1" dirty="0" err="1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df</a:t>
            </a:r>
            <a:r>
              <a:rPr lang="de-AT" sz="18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['</a:t>
            </a:r>
            <a:r>
              <a:rPr lang="de-AT" sz="1800" spc="-1" dirty="0" err="1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population</a:t>
            </a:r>
            <a:r>
              <a:rPr lang="de-AT" sz="18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'] / 1000000</a:t>
            </a:r>
            <a:endParaRPr lang="en-US" sz="1800" spc="-1" dirty="0">
              <a:latin typeface="Consolas" panose="020B0609020204030204" pitchFamily="49" charset="0"/>
            </a:endParaRPr>
          </a:p>
          <a:p>
            <a:pPr>
              <a:lnSpc>
                <a:spcPct val="100000"/>
              </a:lnSpc>
            </a:pPr>
            <a:r>
              <a:rPr lang="de-AT" sz="18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# Can also </a:t>
            </a:r>
            <a:r>
              <a:rPr lang="de-AT" sz="1800" spc="-1" dirty="0" err="1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use</a:t>
            </a:r>
            <a:r>
              <a:rPr lang="de-AT" sz="18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 Python </a:t>
            </a:r>
            <a:r>
              <a:rPr lang="de-AT" sz="1800" spc="-1" dirty="0" err="1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math</a:t>
            </a:r>
            <a:r>
              <a:rPr lang="de-AT" sz="18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operations</a:t>
            </a:r>
            <a:r>
              <a:rPr lang="de-AT" sz="18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 like </a:t>
            </a:r>
            <a:r>
              <a:rPr lang="de-AT" sz="1800" b="1" spc="-1" dirty="0" err="1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round</a:t>
            </a:r>
            <a:r>
              <a:rPr lang="de-AT" sz="1800" b="1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()</a:t>
            </a:r>
            <a:r>
              <a:rPr lang="de-AT" sz="18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,</a:t>
            </a:r>
            <a:r>
              <a:rPr lang="de-AT" sz="1800" b="1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 </a:t>
            </a:r>
            <a:r>
              <a:rPr lang="de-AT" sz="1800" b="1" spc="-1" dirty="0" err="1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abs</a:t>
            </a:r>
            <a:r>
              <a:rPr lang="de-AT" sz="1800" b="1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()</a:t>
            </a:r>
            <a:r>
              <a:rPr lang="de-AT" sz="18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,... </a:t>
            </a:r>
            <a:endParaRPr lang="en-US" sz="1800" spc="-1" dirty="0">
              <a:latin typeface="Consolas" panose="020B0609020204030204" pitchFamily="49" charset="0"/>
            </a:endParaRPr>
          </a:p>
          <a:p>
            <a:pPr>
              <a:lnSpc>
                <a:spcPct val="100000"/>
              </a:lnSpc>
            </a:pPr>
            <a:r>
              <a:rPr lang="de-AT" sz="1800" spc="-1" dirty="0" err="1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df.loc</a:t>
            </a:r>
            <a:r>
              <a:rPr lang="de-AT" sz="18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[:, '</a:t>
            </a:r>
            <a:r>
              <a:rPr lang="de-AT" sz="1800" spc="-1" dirty="0" err="1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pop_in_mil</a:t>
            </a:r>
            <a:r>
              <a:rPr lang="de-AT" sz="18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'] = </a:t>
            </a:r>
            <a:r>
              <a:rPr lang="de-AT" sz="1800" b="1" spc="-1" dirty="0" err="1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round</a:t>
            </a:r>
            <a:r>
              <a:rPr lang="de-AT" sz="18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(</a:t>
            </a:r>
            <a:r>
              <a:rPr lang="de-AT" sz="1800" spc="-1" dirty="0" err="1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df</a:t>
            </a:r>
            <a:r>
              <a:rPr lang="de-AT" sz="18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['</a:t>
            </a:r>
            <a:r>
              <a:rPr lang="de-AT" sz="1800" spc="-1" dirty="0" err="1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pop_in_mil</a:t>
            </a:r>
            <a:r>
              <a:rPr lang="de-AT" sz="18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'])</a:t>
            </a:r>
            <a:endParaRPr lang="en-US" sz="1800" spc="-1" dirty="0">
              <a:latin typeface="Consolas" panose="020B0609020204030204" pitchFamily="49" charset="0"/>
            </a:endParaRPr>
          </a:p>
          <a:p>
            <a:pPr>
              <a:lnSpc>
                <a:spcPct val="100000"/>
              </a:lnSpc>
            </a:pPr>
            <a:r>
              <a:rPr lang="de-AT" sz="1800" spc="-1" dirty="0" err="1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df.loc</a:t>
            </a:r>
            <a:r>
              <a:rPr lang="de-AT" sz="18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[:, '</a:t>
            </a:r>
            <a:r>
              <a:rPr lang="de-AT" sz="1800" spc="-1" dirty="0" err="1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pop_density</a:t>
            </a:r>
            <a:r>
              <a:rPr lang="de-AT" sz="18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'] = </a:t>
            </a:r>
            <a:r>
              <a:rPr lang="de-AT" sz="1800" b="1" spc="-1" dirty="0" err="1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round</a:t>
            </a:r>
            <a:r>
              <a:rPr lang="de-AT" sz="18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(</a:t>
            </a:r>
            <a:r>
              <a:rPr lang="de-AT" sz="1800" spc="-1" dirty="0" err="1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df</a:t>
            </a:r>
            <a:r>
              <a:rPr lang="de-AT" sz="18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['</a:t>
            </a:r>
            <a:r>
              <a:rPr lang="de-AT" sz="1800" spc="-1" dirty="0" err="1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population</a:t>
            </a:r>
            <a:r>
              <a:rPr lang="de-AT" sz="18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'] / </a:t>
            </a:r>
            <a:r>
              <a:rPr lang="de-AT" sz="1800" spc="-1" dirty="0" err="1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df</a:t>
            </a:r>
            <a:r>
              <a:rPr lang="de-AT" sz="18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['</a:t>
            </a:r>
            <a:r>
              <a:rPr lang="de-AT" sz="1800" spc="-1" dirty="0" err="1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area</a:t>
            </a:r>
            <a:r>
              <a:rPr lang="de-AT" sz="18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'], 2)</a:t>
            </a:r>
            <a:endParaRPr lang="en-US" sz="1800" spc="-1" dirty="0">
              <a:latin typeface="Consolas" panose="020B0609020204030204" pitchFamily="49" charset="0"/>
            </a:endParaRPr>
          </a:p>
        </p:txBody>
      </p:sp>
      <p:pic>
        <p:nvPicPr>
          <p:cNvPr id="516" name="Grafik 515"/>
          <p:cNvPicPr/>
          <p:nvPr/>
        </p:nvPicPr>
        <p:blipFill>
          <a:blip r:embed="rId2"/>
          <a:stretch>
            <a:fillRect/>
          </a:stretch>
        </p:blipFill>
        <p:spPr>
          <a:xfrm>
            <a:off x="1744471" y="3285002"/>
            <a:ext cx="3315216" cy="2624185"/>
          </a:xfrm>
          <a:prstGeom prst="rect">
            <a:avLst/>
          </a:prstGeom>
          <a:ln w="0">
            <a:noFill/>
          </a:ln>
        </p:spPr>
      </p:pic>
      <p:sp>
        <p:nvSpPr>
          <p:cNvPr id="10" name="Google Shape;86;p2"/>
          <p:cNvSpPr txBox="1"/>
          <p:nvPr/>
        </p:nvSpPr>
        <p:spPr>
          <a:xfrm>
            <a:off x="486744" y="157714"/>
            <a:ext cx="84582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>
            <a:pPr algn="r">
              <a:buClr>
                <a:schemeClr val="dk1"/>
              </a:buClr>
              <a:buSzPts val="2800"/>
            </a:pPr>
            <a:r>
              <a:rPr lang="en-US" sz="2800" b="1" dirty="0">
                <a:solidFill>
                  <a:schemeClr val="dk1"/>
                </a:solidFill>
                <a:latin typeface="Calibri" panose="020F0502020204030204"/>
                <a:cs typeface="Calibri" panose="020F0502020204030204"/>
                <a:sym typeface="Calibri" panose="020F0502020204030204"/>
              </a:rPr>
              <a:t>Adding new columns</a:t>
            </a:r>
            <a:endParaRPr lang="en-US" dirty="0">
              <a:solidFill>
                <a:schemeClr val="dk1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8" name="PlaceHolder 2"/>
          <p:cNvSpPr>
            <a:spLocks noGrp="1"/>
          </p:cNvSpPr>
          <p:nvPr>
            <p:ph type="body" idx="1"/>
          </p:nvPr>
        </p:nvSpPr>
        <p:spPr>
          <a:xfrm>
            <a:off x="748527" y="2337379"/>
            <a:ext cx="7934633" cy="3525317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marL="286385" lvl="1" indent="-285750">
              <a:spcBef>
                <a:spcPts val="200"/>
              </a:spcBef>
              <a:spcAft>
                <a:spcPts val="200"/>
              </a:spcAft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Simple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plotting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interface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with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df.plot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()</a:t>
            </a:r>
            <a:endParaRPr lang="de-AT" sz="1800" spc="-1" dirty="0">
              <a:solidFill>
                <a:srgbClr val="0F0F0F"/>
              </a:solidFill>
              <a:highlight>
                <a:srgbClr val="DAE3F3"/>
              </a:highlight>
              <a:latin typeface="Consolas" panose="020B0609020204030204" pitchFamily="49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743585" lvl="4" indent="-285750">
              <a:spcBef>
                <a:spcPts val="200"/>
              </a:spcBef>
              <a:spcAft>
                <a:spcPts val="200"/>
              </a:spcAft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Check </a:t>
            </a:r>
            <a:r>
              <a:rPr lang="de-AT" sz="1800" u="sng" spc="-1" dirty="0">
                <a:solidFill>
                  <a:srgbClr val="00BFF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hlinkClick r:id="rId1"/>
              </a:rPr>
              <a:t>Pandas </a:t>
            </a:r>
            <a:r>
              <a:rPr lang="de-AT" sz="1800" u="sng" spc="-1" dirty="0" err="1">
                <a:solidFill>
                  <a:srgbClr val="00BFF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hlinkClick r:id="rId1"/>
              </a:rPr>
              <a:t>reference</a:t>
            </a:r>
            <a:r>
              <a:rPr lang="de-AT" sz="1800" spc="-1" dirty="0">
                <a:solidFill>
                  <a:srgbClr val="00BFF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endParaRPr lang="de-AT" sz="1800" spc="-1" dirty="0">
              <a:solidFill>
                <a:srgbClr val="0F0F0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743585" lvl="4" indent="-285750">
              <a:spcBef>
                <a:spcPts val="200"/>
              </a:spcBef>
              <a:spcAft>
                <a:spcPts val="200"/>
              </a:spcAft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Example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 Population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density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bar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chart</a:t>
            </a:r>
            <a:endParaRPr lang="de-AT" sz="1800" spc="-1" dirty="0">
              <a:solidFill>
                <a:srgbClr val="0F0F0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915670" lvl="2">
              <a:spcBef>
                <a:spcPts val="400"/>
              </a:spcBef>
              <a:spcAft>
                <a:spcPts val="200"/>
              </a:spcAft>
            </a:pPr>
            <a:endParaRPr lang="de-AT" sz="1800" spc="-1" dirty="0">
              <a:solidFill>
                <a:srgbClr val="0F0F0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522" name="Grafik 521"/>
          <p:cNvPicPr/>
          <p:nvPr/>
        </p:nvPicPr>
        <p:blipFill>
          <a:blip r:embed="rId2"/>
          <a:stretch>
            <a:fillRect/>
          </a:stretch>
        </p:blipFill>
        <p:spPr>
          <a:xfrm>
            <a:off x="5300020" y="1273072"/>
            <a:ext cx="3843411" cy="1851229"/>
          </a:xfrm>
          <a:prstGeom prst="rect">
            <a:avLst/>
          </a:prstGeom>
          <a:ln w="0">
            <a:noFill/>
          </a:ln>
        </p:spPr>
      </p:pic>
      <p:sp>
        <p:nvSpPr>
          <p:cNvPr id="523" name="Textfeld 522"/>
          <p:cNvSpPr txBox="1"/>
          <p:nvPr/>
        </p:nvSpPr>
        <p:spPr>
          <a:xfrm>
            <a:off x="5300020" y="3086900"/>
            <a:ext cx="3797614" cy="247051"/>
          </a:xfrm>
          <a:prstGeom prst="rect">
            <a:avLst/>
          </a:prstGeom>
          <a:noFill/>
          <a:ln w="0">
            <a:noFill/>
          </a:ln>
        </p:spPr>
        <p:txBody>
          <a:bodyPr lIns="63607" tIns="31804" rIns="63607" bIns="31804" anchor="t">
            <a:noAutofit/>
          </a:bodyPr>
          <a:lstStyle/>
          <a:p>
            <a:pPr algn="ctr"/>
            <a:r>
              <a:rPr lang="en-US" sz="1000" spc="-1" dirty="0" err="1">
                <a:highlight>
                  <a:srgbClr val="DAE3F3"/>
                </a:highlight>
                <a:latin typeface="Consolas" panose="020B0609020204030204" pitchFamily="49" charset="0"/>
              </a:rPr>
              <a:t>DataFrame</a:t>
            </a:r>
            <a:r>
              <a:rPr lang="en-US" sz="1000" spc="-1" dirty="0">
                <a:highlight>
                  <a:srgbClr val="DAE3F3"/>
                </a:highlight>
                <a:latin typeface="Consolas" panose="020B0609020204030204" pitchFamily="49" charset="0"/>
              </a:rPr>
              <a:t> df</a:t>
            </a:r>
            <a:endParaRPr lang="en-US" sz="1000" spc="-1" dirty="0">
              <a:highlight>
                <a:srgbClr val="DAE3F3"/>
              </a:highlight>
              <a:latin typeface="Consolas" panose="020B0609020204030204" pitchFamily="49" charset="0"/>
            </a:endParaRPr>
          </a:p>
        </p:txBody>
      </p:sp>
      <p:sp>
        <p:nvSpPr>
          <p:cNvPr id="524" name="Textfeld 523"/>
          <p:cNvSpPr txBox="1"/>
          <p:nvPr/>
        </p:nvSpPr>
        <p:spPr>
          <a:xfrm>
            <a:off x="855138" y="4518020"/>
            <a:ext cx="5242010" cy="903580"/>
          </a:xfrm>
          <a:prstGeom prst="rect">
            <a:avLst/>
          </a:prstGeom>
          <a:solidFill>
            <a:srgbClr val="DAE3F3"/>
          </a:solidFill>
          <a:ln w="0">
            <a:noFill/>
          </a:ln>
        </p:spPr>
        <p:txBody>
          <a:bodyPr lIns="63607" tIns="31804" rIns="63607" bIns="31804" anchor="t">
            <a:noAutofit/>
          </a:bodyPr>
          <a:lstStyle/>
          <a:p>
            <a:r>
              <a:rPr lang="de-AT" sz="1600" spc="-1" dirty="0" err="1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df.plot</a:t>
            </a:r>
            <a:r>
              <a:rPr lang="de-AT" sz="16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(x='</a:t>
            </a:r>
            <a:r>
              <a:rPr lang="de-AT" sz="1600" spc="-1" dirty="0" err="1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state</a:t>
            </a:r>
            <a:r>
              <a:rPr lang="de-AT" sz="16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', y='</a:t>
            </a:r>
            <a:r>
              <a:rPr lang="de-AT" sz="1600" spc="-1" dirty="0" err="1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pop_density</a:t>
            </a:r>
            <a:r>
              <a:rPr lang="de-AT" sz="16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', </a:t>
            </a:r>
            <a:endParaRPr lang="en-US" sz="1600" spc="-1" dirty="0">
              <a:latin typeface="Consolas" panose="020B0609020204030204" pitchFamily="49" charset="0"/>
            </a:endParaRPr>
          </a:p>
          <a:p>
            <a:r>
              <a:rPr lang="de-AT" sz="16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        title='Population Density per km^2',      	</a:t>
            </a:r>
            <a:r>
              <a:rPr lang="de-AT" sz="1600" spc="-1" dirty="0" err="1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kind</a:t>
            </a:r>
            <a:r>
              <a:rPr lang="de-AT" sz="16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='bar')</a:t>
            </a:r>
            <a:endParaRPr lang="en-US" sz="1600" spc="-1" dirty="0">
              <a:latin typeface="Consolas" panose="020B0609020204030204" pitchFamily="49" charset="0"/>
            </a:endParaRPr>
          </a:p>
        </p:txBody>
      </p:sp>
      <p:pic>
        <p:nvPicPr>
          <p:cNvPr id="525" name="Grafik 524"/>
          <p:cNvPicPr/>
          <p:nvPr/>
        </p:nvPicPr>
        <p:blipFill>
          <a:blip r:embed="rId3"/>
          <a:stretch>
            <a:fillRect/>
          </a:stretch>
        </p:blipFill>
        <p:spPr>
          <a:xfrm>
            <a:off x="6097148" y="3392215"/>
            <a:ext cx="2973517" cy="2537425"/>
          </a:xfrm>
          <a:prstGeom prst="rect">
            <a:avLst/>
          </a:prstGeom>
          <a:ln w="0">
            <a:noFill/>
          </a:ln>
        </p:spPr>
      </p:pic>
      <p:sp>
        <p:nvSpPr>
          <p:cNvPr id="11" name="Google Shape;86;p2"/>
          <p:cNvSpPr txBox="1"/>
          <p:nvPr/>
        </p:nvSpPr>
        <p:spPr>
          <a:xfrm>
            <a:off x="486744" y="157714"/>
            <a:ext cx="84582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>
            <a:pPr algn="r">
              <a:buClr>
                <a:schemeClr val="dk1"/>
              </a:buClr>
              <a:buSzPts val="2800"/>
            </a:pPr>
            <a:r>
              <a:rPr lang="en-US" sz="2800" b="1" dirty="0">
                <a:solidFill>
                  <a:schemeClr val="dk1"/>
                </a:solidFill>
                <a:latin typeface="Calibri" panose="020F0502020204030204"/>
                <a:cs typeface="Calibri" panose="020F0502020204030204"/>
                <a:sym typeface="Calibri" panose="020F0502020204030204"/>
              </a:rPr>
              <a:t>Plotting data</a:t>
            </a:r>
            <a:endParaRPr lang="en-US" dirty="0">
              <a:solidFill>
                <a:schemeClr val="dk1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7" name="PlaceHolder 2"/>
          <p:cNvSpPr>
            <a:spLocks noGrp="1"/>
          </p:cNvSpPr>
          <p:nvPr>
            <p:ph type="body" idx="1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86385" lvl="1" indent="-285750"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Storing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via a 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DataFrame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method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to_csv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(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path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)</a:t>
            </a:r>
            <a:endParaRPr lang="de-AT" sz="1800" spc="-1" dirty="0">
              <a:solidFill>
                <a:srgbClr val="0F0F0F"/>
              </a:solidFill>
              <a:highlight>
                <a:srgbClr val="DAE3F3"/>
              </a:highlight>
              <a:latin typeface="Consolas" panose="020B0609020204030204" pitchFamily="49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743585" lvl="2" indent="-285750"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path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= File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path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or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file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name</a:t>
            </a:r>
            <a:endParaRPr lang="de-AT" sz="1800" spc="-1" dirty="0">
              <a:solidFill>
                <a:srgbClr val="0F0F0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743585" lvl="2" indent="-285750"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Optional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parameter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index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(Boolean)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whether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to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store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the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index</a:t>
            </a:r>
            <a:endParaRPr lang="de-AT" sz="1800" spc="-1" dirty="0">
              <a:solidFill>
                <a:srgbClr val="0F0F0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286385" lvl="1" indent="-285750">
              <a:spcBef>
                <a:spcPts val="400"/>
              </a:spcBef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df.to_csv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('states_processed.csv', 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index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=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False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):</a:t>
            </a:r>
            <a:endParaRPr lang="de-AT" sz="1800" spc="-1" dirty="0">
              <a:solidFill>
                <a:srgbClr val="0F0F0F"/>
              </a:solidFill>
              <a:highlight>
                <a:srgbClr val="DAE3F3"/>
              </a:highlight>
              <a:latin typeface="Consolas" panose="020B0609020204030204" pitchFamily="49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531" name="Grafik 530"/>
          <p:cNvPicPr/>
          <p:nvPr/>
        </p:nvPicPr>
        <p:blipFill>
          <a:blip r:embed="rId1"/>
          <a:stretch>
            <a:fillRect/>
          </a:stretch>
        </p:blipFill>
        <p:spPr>
          <a:xfrm>
            <a:off x="610631" y="3569954"/>
            <a:ext cx="3594834" cy="1731392"/>
          </a:xfrm>
          <a:prstGeom prst="rect">
            <a:avLst/>
          </a:prstGeom>
          <a:ln w="0">
            <a:noFill/>
          </a:ln>
        </p:spPr>
      </p:pic>
      <p:sp>
        <p:nvSpPr>
          <p:cNvPr id="532" name="Textfeld 531"/>
          <p:cNvSpPr txBox="1"/>
          <p:nvPr/>
        </p:nvSpPr>
        <p:spPr>
          <a:xfrm>
            <a:off x="620045" y="5255549"/>
            <a:ext cx="3543439" cy="247051"/>
          </a:xfrm>
          <a:prstGeom prst="rect">
            <a:avLst/>
          </a:prstGeom>
          <a:noFill/>
          <a:ln w="0">
            <a:noFill/>
          </a:ln>
        </p:spPr>
        <p:txBody>
          <a:bodyPr lIns="63607" tIns="31804" rIns="63607" bIns="31804" anchor="t">
            <a:noAutofit/>
          </a:bodyPr>
          <a:lstStyle/>
          <a:p>
            <a:pPr algn="ctr"/>
            <a:r>
              <a:rPr lang="en-US" sz="1100" spc="-1" dirty="0" err="1">
                <a:highlight>
                  <a:srgbClr val="DAE3F3"/>
                </a:highlight>
                <a:latin typeface="Consolas" panose="020B0609020204030204" pitchFamily="49" charset="0"/>
              </a:rPr>
              <a:t>DataFrame</a:t>
            </a:r>
            <a:r>
              <a:rPr lang="en-US" sz="1100" spc="-1" dirty="0">
                <a:highlight>
                  <a:srgbClr val="DAE3F3"/>
                </a:highlight>
                <a:latin typeface="Consolas" panose="020B0609020204030204" pitchFamily="49" charset="0"/>
              </a:rPr>
              <a:t> </a:t>
            </a:r>
            <a:r>
              <a:rPr lang="en-US" sz="1100" b="1" spc="-1" dirty="0">
                <a:highlight>
                  <a:srgbClr val="DAE3F3"/>
                </a:highlight>
                <a:latin typeface="Consolas" panose="020B0609020204030204" pitchFamily="49" charset="0"/>
              </a:rPr>
              <a:t>df</a:t>
            </a:r>
            <a:endParaRPr lang="en-US" sz="1100" spc="-1" dirty="0">
              <a:highlight>
                <a:srgbClr val="DAE3F3"/>
              </a:highlight>
              <a:latin typeface="Consolas" panose="020B0609020204030204" pitchFamily="49" charset="0"/>
            </a:endParaRPr>
          </a:p>
        </p:txBody>
      </p:sp>
      <p:sp>
        <p:nvSpPr>
          <p:cNvPr id="533" name="Textfeld 532"/>
          <p:cNvSpPr txBox="1"/>
          <p:nvPr/>
        </p:nvSpPr>
        <p:spPr>
          <a:xfrm>
            <a:off x="4754523" y="3852001"/>
            <a:ext cx="3939077" cy="1291346"/>
          </a:xfrm>
          <a:prstGeom prst="rect">
            <a:avLst/>
          </a:prstGeom>
          <a:solidFill>
            <a:srgbClr val="DAE3F3"/>
          </a:solidFill>
          <a:ln w="0">
            <a:noFill/>
          </a:ln>
        </p:spPr>
        <p:txBody>
          <a:bodyPr lIns="63607" tIns="31804" rIns="63607" bIns="31804" anchor="t">
            <a:noAutofit/>
          </a:bodyPr>
          <a:lstStyle/>
          <a:p>
            <a:r>
              <a:rPr lang="en-US" sz="1100" spc="-1" dirty="0" err="1">
                <a:latin typeface="Consolas" panose="020B0609020204030204" pitchFamily="49" charset="0"/>
              </a:rPr>
              <a:t>state,population,area,pop_in_mil,pop_density</a:t>
            </a:r>
            <a:endParaRPr lang="en-US" sz="1100" spc="-1" dirty="0">
              <a:latin typeface="Consolas" panose="020B0609020204030204" pitchFamily="49" charset="0"/>
            </a:endParaRPr>
          </a:p>
          <a:p>
            <a:r>
              <a:rPr lang="en-US" sz="1100" spc="-1" dirty="0">
                <a:latin typeface="Consolas" panose="020B0609020204030204" pitchFamily="49" charset="0"/>
              </a:rPr>
              <a:t>California,38332521.0,423967.0,38.0,90.41</a:t>
            </a:r>
            <a:endParaRPr lang="en-US" sz="1100" spc="-1" dirty="0">
              <a:latin typeface="Consolas" panose="020B0609020204030204" pitchFamily="49" charset="0"/>
            </a:endParaRPr>
          </a:p>
          <a:p>
            <a:r>
              <a:rPr lang="en-US" sz="1100" spc="-1" dirty="0">
                <a:latin typeface="Consolas" panose="020B0609020204030204" pitchFamily="49" charset="0"/>
              </a:rPr>
              <a:t>Texas,26448193.0,695662.0,26.0,38.02</a:t>
            </a:r>
            <a:endParaRPr lang="en-US" sz="1100" spc="-1" dirty="0">
              <a:latin typeface="Consolas" panose="020B0609020204030204" pitchFamily="49" charset="0"/>
            </a:endParaRPr>
          </a:p>
          <a:p>
            <a:r>
              <a:rPr lang="en-US" sz="1100" spc="-1" dirty="0">
                <a:latin typeface="Consolas" panose="020B0609020204030204" pitchFamily="49" charset="0"/>
              </a:rPr>
              <a:t>New York,19651127.0,141297.0,20.0,139.08</a:t>
            </a:r>
            <a:endParaRPr lang="en-US" sz="1100" spc="-1" dirty="0">
              <a:latin typeface="Consolas" panose="020B0609020204030204" pitchFamily="49" charset="0"/>
            </a:endParaRPr>
          </a:p>
          <a:p>
            <a:r>
              <a:rPr lang="en-US" sz="1100" spc="-1" dirty="0">
                <a:latin typeface="Consolas" panose="020B0609020204030204" pitchFamily="49" charset="0"/>
              </a:rPr>
              <a:t>Florida,19552860.0,170312.0,20.0,114.81</a:t>
            </a:r>
            <a:endParaRPr lang="en-US" sz="1100" spc="-1" dirty="0">
              <a:latin typeface="Consolas" panose="020B0609020204030204" pitchFamily="49" charset="0"/>
            </a:endParaRPr>
          </a:p>
          <a:p>
            <a:r>
              <a:rPr lang="en-US" sz="1100" spc="-1" dirty="0">
                <a:latin typeface="Consolas" panose="020B0609020204030204" pitchFamily="49" charset="0"/>
              </a:rPr>
              <a:t>New Jersey,9288994.0,25000.0,9.0,371.56</a:t>
            </a:r>
            <a:endParaRPr lang="en-US" sz="1100" spc="-1" dirty="0">
              <a:latin typeface="Consolas" panose="020B0609020204030204" pitchFamily="49" charset="0"/>
            </a:endParaRPr>
          </a:p>
          <a:p>
            <a:r>
              <a:rPr lang="en-US" sz="1100" spc="-1" dirty="0">
                <a:latin typeface="Consolas" panose="020B0609020204030204" pitchFamily="49" charset="0"/>
              </a:rPr>
              <a:t>Illinois,12882135.0,149995.0,13.0,85.88</a:t>
            </a:r>
            <a:endParaRPr lang="en-US" sz="1100" spc="-1" dirty="0">
              <a:latin typeface="Consolas" panose="020B0609020204030204" pitchFamily="49" charset="0"/>
            </a:endParaRPr>
          </a:p>
        </p:txBody>
      </p:sp>
      <p:sp>
        <p:nvSpPr>
          <p:cNvPr id="534" name="Textfeld 533"/>
          <p:cNvSpPr txBox="1"/>
          <p:nvPr/>
        </p:nvSpPr>
        <p:spPr>
          <a:xfrm>
            <a:off x="4747399" y="5140292"/>
            <a:ext cx="3933734" cy="247051"/>
          </a:xfrm>
          <a:prstGeom prst="rect">
            <a:avLst/>
          </a:prstGeom>
          <a:noFill/>
          <a:ln w="0">
            <a:noFill/>
          </a:ln>
        </p:spPr>
        <p:txBody>
          <a:bodyPr lIns="63607" tIns="31804" rIns="63607" bIns="31804" anchor="t">
            <a:noAutofit/>
          </a:bodyPr>
          <a:lstStyle/>
          <a:p>
            <a:pPr algn="ctr"/>
            <a:r>
              <a:rPr lang="en-US" sz="1100" spc="-1" dirty="0">
                <a:highlight>
                  <a:srgbClr val="DAE3F3"/>
                </a:highlight>
                <a:latin typeface="Consolas" panose="020B0609020204030204" pitchFamily="49" charset="0"/>
              </a:rPr>
              <a:t>states_new.csv (in a text editor)</a:t>
            </a:r>
            <a:endParaRPr lang="en-US" sz="1100" spc="-1" dirty="0">
              <a:highlight>
                <a:srgbClr val="DAE3F3"/>
              </a:highlight>
              <a:latin typeface="Consolas" panose="020B0609020204030204" pitchFamily="49" charset="0"/>
            </a:endParaRPr>
          </a:p>
        </p:txBody>
      </p:sp>
      <p:sp>
        <p:nvSpPr>
          <p:cNvPr id="535" name="Pfeil: nach rechts 534"/>
          <p:cNvSpPr/>
          <p:nvPr/>
        </p:nvSpPr>
        <p:spPr>
          <a:xfrm>
            <a:off x="4202666" y="4311107"/>
            <a:ext cx="503261" cy="424643"/>
          </a:xfrm>
          <a:prstGeom prst="rightArrow">
            <a:avLst>
              <a:gd name="adj1" fmla="val 46521"/>
              <a:gd name="adj2" fmla="val 58545"/>
            </a:avLst>
          </a:prstGeom>
          <a:solidFill>
            <a:srgbClr val="1E90FF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13" name="Google Shape;86;p2"/>
          <p:cNvSpPr txBox="1"/>
          <p:nvPr/>
        </p:nvSpPr>
        <p:spPr>
          <a:xfrm>
            <a:off x="486744" y="157714"/>
            <a:ext cx="84582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>
            <a:pPr algn="r">
              <a:buClr>
                <a:schemeClr val="dk1"/>
              </a:buClr>
              <a:buSzPts val="2800"/>
            </a:pPr>
            <a:r>
              <a:rPr lang="en-US" sz="2800" b="1" dirty="0">
                <a:solidFill>
                  <a:schemeClr val="dk1"/>
                </a:solidFill>
                <a:latin typeface="Calibri" panose="020F0502020204030204"/>
                <a:cs typeface="Calibri" panose="020F0502020204030204"/>
                <a:sym typeface="Calibri" panose="020F0502020204030204"/>
              </a:rPr>
              <a:t>Storing </a:t>
            </a:r>
            <a:r>
              <a:rPr lang="en-US" sz="2800" b="1" dirty="0" err="1">
                <a:solidFill>
                  <a:schemeClr val="dk1"/>
                </a:solidFill>
                <a:latin typeface="Calibri" panose="020F0502020204030204"/>
                <a:cs typeface="Calibri" panose="020F0502020204030204"/>
                <a:sym typeface="Calibri" panose="020F0502020204030204"/>
              </a:rPr>
              <a:t>DataFrames</a:t>
            </a:r>
            <a:r>
              <a:rPr lang="en-US" sz="2800" b="1" dirty="0">
                <a:solidFill>
                  <a:schemeClr val="dk1"/>
                </a:solidFill>
                <a:latin typeface="Calibri" panose="020F0502020204030204"/>
                <a:cs typeface="Calibri" panose="020F0502020204030204"/>
                <a:sym typeface="Calibri" panose="020F0502020204030204"/>
              </a:rPr>
              <a:t> as CVS files</a:t>
            </a:r>
            <a:endParaRPr lang="en-US" dirty="0">
              <a:solidFill>
                <a:schemeClr val="dk1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7" name="PlaceHolder 2"/>
          <p:cNvSpPr>
            <a:spLocks noGrp="1"/>
          </p:cNvSpPr>
          <p:nvPr>
            <p:ph type="body" idx="1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86385" lvl="1" indent="-285750"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Storing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via a 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DataFrame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method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to_csv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(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path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)</a:t>
            </a:r>
            <a:endParaRPr lang="de-AT" sz="1800" spc="-1" dirty="0">
              <a:solidFill>
                <a:srgbClr val="0F0F0F"/>
              </a:solidFill>
              <a:highlight>
                <a:srgbClr val="DAE3F3"/>
              </a:highlight>
              <a:latin typeface="Consolas" panose="020B0609020204030204" pitchFamily="49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743585" lvl="2" indent="-285750"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path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= File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path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or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file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name</a:t>
            </a:r>
            <a:endParaRPr lang="de-AT" sz="1800" spc="-1" dirty="0">
              <a:solidFill>
                <a:srgbClr val="0F0F0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743585" lvl="2" indent="-285750"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Optional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parameter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index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(Boolean)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whether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to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store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the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index</a:t>
            </a:r>
            <a:endParaRPr lang="de-AT" sz="1800" spc="-1" dirty="0">
              <a:solidFill>
                <a:srgbClr val="0F0F0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286385" lvl="1" indent="-285750">
              <a:spcBef>
                <a:spcPts val="400"/>
              </a:spcBef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df.to_csv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('states_processed.csv', 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index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=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False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):</a:t>
            </a:r>
            <a:endParaRPr lang="de-AT" sz="1800" spc="-1" dirty="0">
              <a:solidFill>
                <a:srgbClr val="0F0F0F"/>
              </a:solidFill>
              <a:highlight>
                <a:srgbClr val="DAE3F3"/>
              </a:highlight>
              <a:latin typeface="Consolas" panose="020B0609020204030204" pitchFamily="49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531" name="Grafik 530"/>
          <p:cNvPicPr/>
          <p:nvPr/>
        </p:nvPicPr>
        <p:blipFill>
          <a:blip r:embed="rId1"/>
          <a:stretch>
            <a:fillRect/>
          </a:stretch>
        </p:blipFill>
        <p:spPr>
          <a:xfrm>
            <a:off x="610631" y="3569954"/>
            <a:ext cx="3594834" cy="1731392"/>
          </a:xfrm>
          <a:prstGeom prst="rect">
            <a:avLst/>
          </a:prstGeom>
          <a:ln w="0">
            <a:noFill/>
          </a:ln>
        </p:spPr>
      </p:pic>
      <p:sp>
        <p:nvSpPr>
          <p:cNvPr id="532" name="Textfeld 531"/>
          <p:cNvSpPr txBox="1"/>
          <p:nvPr/>
        </p:nvSpPr>
        <p:spPr>
          <a:xfrm>
            <a:off x="620045" y="5255549"/>
            <a:ext cx="3543439" cy="247051"/>
          </a:xfrm>
          <a:prstGeom prst="rect">
            <a:avLst/>
          </a:prstGeom>
          <a:noFill/>
          <a:ln w="0">
            <a:noFill/>
          </a:ln>
        </p:spPr>
        <p:txBody>
          <a:bodyPr lIns="63607" tIns="31804" rIns="63607" bIns="31804" anchor="t">
            <a:noAutofit/>
          </a:bodyPr>
          <a:lstStyle/>
          <a:p>
            <a:pPr algn="ctr"/>
            <a:r>
              <a:rPr lang="en-US" sz="1100" spc="-1" dirty="0" err="1">
                <a:highlight>
                  <a:srgbClr val="DAE3F3"/>
                </a:highlight>
                <a:latin typeface="Consolas" panose="020B0609020204030204" pitchFamily="49" charset="0"/>
              </a:rPr>
              <a:t>DataFrame</a:t>
            </a:r>
            <a:r>
              <a:rPr lang="en-US" sz="1100" spc="-1" dirty="0">
                <a:highlight>
                  <a:srgbClr val="DAE3F3"/>
                </a:highlight>
                <a:latin typeface="Consolas" panose="020B0609020204030204" pitchFamily="49" charset="0"/>
              </a:rPr>
              <a:t> </a:t>
            </a:r>
            <a:r>
              <a:rPr lang="en-US" sz="1100" b="1" spc="-1" dirty="0">
                <a:highlight>
                  <a:srgbClr val="DAE3F3"/>
                </a:highlight>
                <a:latin typeface="Consolas" panose="020B0609020204030204" pitchFamily="49" charset="0"/>
              </a:rPr>
              <a:t>df</a:t>
            </a:r>
            <a:endParaRPr lang="en-US" sz="1100" spc="-1" dirty="0">
              <a:highlight>
                <a:srgbClr val="DAE3F3"/>
              </a:highlight>
              <a:latin typeface="Consolas" panose="020B0609020204030204" pitchFamily="49" charset="0"/>
            </a:endParaRPr>
          </a:p>
        </p:txBody>
      </p:sp>
      <p:sp>
        <p:nvSpPr>
          <p:cNvPr id="535" name="Pfeil: nach rechts 534"/>
          <p:cNvSpPr/>
          <p:nvPr/>
        </p:nvSpPr>
        <p:spPr>
          <a:xfrm>
            <a:off x="4202666" y="4311107"/>
            <a:ext cx="503261" cy="424643"/>
          </a:xfrm>
          <a:prstGeom prst="rightArrow">
            <a:avLst>
              <a:gd name="adj1" fmla="val 46521"/>
              <a:gd name="adj2" fmla="val 58545"/>
            </a:avLst>
          </a:prstGeom>
          <a:solidFill>
            <a:srgbClr val="1E90FF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13" name="Google Shape;86;p2"/>
          <p:cNvSpPr txBox="1"/>
          <p:nvPr/>
        </p:nvSpPr>
        <p:spPr>
          <a:xfrm>
            <a:off x="486744" y="157714"/>
            <a:ext cx="84582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>
            <a:pPr algn="r">
              <a:buClr>
                <a:schemeClr val="dk1"/>
              </a:buClr>
              <a:buSzPts val="2800"/>
            </a:pPr>
            <a:r>
              <a:rPr lang="en-US" sz="2800" b="1" dirty="0">
                <a:solidFill>
                  <a:schemeClr val="dk1"/>
                </a:solidFill>
                <a:latin typeface="Calibri" panose="020F0502020204030204"/>
                <a:cs typeface="Calibri" panose="020F0502020204030204"/>
                <a:sym typeface="Calibri" panose="020F0502020204030204"/>
              </a:rPr>
              <a:t>Storing </a:t>
            </a:r>
            <a:r>
              <a:rPr lang="en-US" sz="2800" b="1" dirty="0" err="1">
                <a:solidFill>
                  <a:schemeClr val="dk1"/>
                </a:solidFill>
                <a:latin typeface="Calibri" panose="020F0502020204030204"/>
                <a:cs typeface="Calibri" panose="020F0502020204030204"/>
                <a:sym typeface="Calibri" panose="020F0502020204030204"/>
              </a:rPr>
              <a:t>DataFrames</a:t>
            </a:r>
            <a:r>
              <a:rPr lang="en-US" sz="2800" b="1" dirty="0">
                <a:solidFill>
                  <a:schemeClr val="dk1"/>
                </a:solidFill>
                <a:latin typeface="Calibri" panose="020F0502020204030204"/>
                <a:cs typeface="Calibri" panose="020F0502020204030204"/>
                <a:sym typeface="Calibri" panose="020F0502020204030204"/>
              </a:rPr>
              <a:t> as CVS files</a:t>
            </a:r>
            <a:endParaRPr lang="en-US" dirty="0">
              <a:solidFill>
                <a:schemeClr val="dk1"/>
              </a:solidFill>
            </a:endParaRPr>
          </a:p>
        </p:txBody>
      </p:sp>
      <p:sp>
        <p:nvSpPr>
          <p:cNvPr id="9" name="Textfeld 8"/>
          <p:cNvSpPr txBox="1"/>
          <p:nvPr/>
        </p:nvSpPr>
        <p:spPr>
          <a:xfrm>
            <a:off x="4777390" y="5132023"/>
            <a:ext cx="4167554" cy="247051"/>
          </a:xfrm>
          <a:prstGeom prst="rect">
            <a:avLst/>
          </a:prstGeom>
          <a:noFill/>
          <a:ln w="0">
            <a:noFill/>
          </a:ln>
        </p:spPr>
        <p:txBody>
          <a:bodyPr lIns="63607" tIns="31804" rIns="63607" bIns="31804" anchor="t">
            <a:noAutofit/>
          </a:bodyPr>
          <a:lstStyle/>
          <a:p>
            <a:pPr algn="ctr"/>
            <a:r>
              <a:rPr lang="en-US" sz="1100" spc="-1" dirty="0">
                <a:highlight>
                  <a:srgbClr val="DAE3F3"/>
                </a:highlight>
                <a:latin typeface="Consolas" panose="020B0609020204030204" pitchFamily="49" charset="0"/>
              </a:rPr>
              <a:t>states_new.csv (in Excel)</a:t>
            </a:r>
            <a:endParaRPr lang="en-US" sz="1100" spc="-1" dirty="0">
              <a:highlight>
                <a:srgbClr val="DAE3F3"/>
              </a:highlight>
              <a:latin typeface="Consolas" panose="020B0609020204030204" pitchFamily="49" charset="0"/>
            </a:endParaRPr>
          </a:p>
        </p:txBody>
      </p:sp>
      <p:pic>
        <p:nvPicPr>
          <p:cNvPr id="10" name="Grafik 9"/>
          <p:cNvPicPr/>
          <p:nvPr/>
        </p:nvPicPr>
        <p:blipFill>
          <a:blip r:embed="rId2"/>
          <a:stretch>
            <a:fillRect/>
          </a:stretch>
        </p:blipFill>
        <p:spPr>
          <a:xfrm>
            <a:off x="4762378" y="3632416"/>
            <a:ext cx="4255841" cy="1529375"/>
          </a:xfrm>
          <a:prstGeom prst="rect">
            <a:avLst/>
          </a:prstGeom>
          <a:ln w="0">
            <a:noFill/>
          </a:ln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/>
          <p:cNvSpPr>
            <a:spLocks noGrp="1"/>
          </p:cNvSpPr>
          <p:nvPr>
            <p:ph type="title"/>
          </p:nvPr>
        </p:nvSpPr>
        <p:spPr>
          <a:xfrm>
            <a:off x="457200" y="2858400"/>
            <a:ext cx="8229300" cy="1144800"/>
          </a:xfrm>
        </p:spPr>
        <p:txBody>
          <a:bodyPr/>
          <a:lstStyle/>
          <a:p>
            <a:pPr algn="ctr"/>
            <a:r>
              <a:rPr lang="en-US" sz="4400" b="1" dirty="0">
                <a:latin typeface="Calibri" panose="020F0502020204030204" pitchFamily="34" charset="0"/>
                <a:cs typeface="Calibri" panose="020F0502020204030204" pitchFamily="34" charset="0"/>
              </a:rPr>
              <a:t>Examples</a:t>
            </a:r>
            <a:endParaRPr lang="de-AT" sz="4400" dirty="0"/>
          </a:p>
        </p:txBody>
      </p:sp>
      <p:sp>
        <p:nvSpPr>
          <p:cNvPr id="87" name="Google Shape;87;p2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>
              <a:spcBef>
                <a:spcPts val="640"/>
              </a:spcBef>
            </a:pPr>
            <a:endParaRPr lang="en-US" sz="1800" noProof="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0" indent="0">
              <a:spcBef>
                <a:spcPts val="640"/>
              </a:spcBef>
            </a:pPr>
            <a:endParaRPr lang="en-US" sz="1800" noProof="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"/>
          <p:cNvSpPr txBox="1">
            <a:spLocks noGrp="1"/>
          </p:cNvSpPr>
          <p:nvPr>
            <p:ph type="title"/>
          </p:nvPr>
        </p:nvSpPr>
        <p:spPr>
          <a:xfrm>
            <a:off x="313944" y="274320"/>
            <a:ext cx="84582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algn="r">
              <a:buClr>
                <a:schemeClr val="dk1"/>
              </a:buClr>
              <a:buSzPts val="2800"/>
            </a:pPr>
            <a:r>
              <a:rPr lang="en-US" sz="2800" b="1" dirty="0">
                <a:solidFill>
                  <a:schemeClr val="dk1"/>
                </a:solidFill>
                <a:latin typeface="Calibri" panose="020F0502020204030204"/>
                <a:cs typeface="Calibri" panose="020F0502020204030204"/>
                <a:sym typeface="Calibri" panose="020F0502020204030204"/>
              </a:rPr>
              <a:t>Example with pandas and CSV files</a:t>
            </a:r>
            <a:endParaRPr lang="en-US" noProof="0" dirty="0">
              <a:solidFill>
                <a:schemeClr val="dk1"/>
              </a:solidFill>
            </a:endParaRPr>
          </a:p>
        </p:txBody>
      </p:sp>
      <p:sp>
        <p:nvSpPr>
          <p:cNvPr id="5" name="Rechteck 4"/>
          <p:cNvSpPr/>
          <p:nvPr/>
        </p:nvSpPr>
        <p:spPr>
          <a:xfrm>
            <a:off x="825617" y="1501669"/>
            <a:ext cx="7492765" cy="751931"/>
          </a:xfrm>
          <a:prstGeom prst="rect">
            <a:avLst/>
          </a:prstGeom>
          <a:solidFill>
            <a:srgbClr val="DAE3F3"/>
          </a:solidFill>
          <a:ln w="3672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t">
            <a:noAutofit/>
          </a:bodyPr>
          <a:lstStyle/>
          <a:p>
            <a:pPr algn="just"/>
            <a:r>
              <a:rPr lang="en-US" sz="1800" b="1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Example 1. </a:t>
            </a:r>
            <a:r>
              <a:rPr lang="en-US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Load, preprocess, and explore the data set containing information</a:t>
            </a:r>
            <a:endParaRPr lang="en-US" sz="1800" spc="-1" dirty="0">
              <a:solidFill>
                <a:srgbClr val="0F0F0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algn="just"/>
            <a:r>
              <a:rPr lang="en-US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on all USA states.</a:t>
            </a:r>
            <a:r>
              <a:rPr lang="en-US" sz="1800" b="1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endParaRPr lang="en-US" sz="1800" spc="-1" dirty="0">
              <a:solidFill>
                <a:srgbClr val="0F0F0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6" name="Google Shape;87;p2"/>
          <p:cNvSpPr txBox="1">
            <a:spLocks noGrp="1"/>
          </p:cNvSpPr>
          <p:nvPr>
            <p:ph type="body" idx="1"/>
          </p:nvPr>
        </p:nvSpPr>
        <p:spPr>
          <a:xfrm>
            <a:off x="661794" y="2337949"/>
            <a:ext cx="8036099" cy="5856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en-US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unit8_exercise.ipynb</a:t>
            </a:r>
            <a:endParaRPr lang="en-US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/>
          <p:cNvSpPr>
            <a:spLocks noGrp="1"/>
          </p:cNvSpPr>
          <p:nvPr>
            <p:ph type="title"/>
          </p:nvPr>
        </p:nvSpPr>
        <p:spPr>
          <a:xfrm>
            <a:off x="457200" y="2858400"/>
            <a:ext cx="8229300" cy="1144800"/>
          </a:xfrm>
        </p:spPr>
        <p:txBody>
          <a:bodyPr/>
          <a:lstStyle/>
          <a:p>
            <a:pPr algn="ctr"/>
            <a:r>
              <a:rPr lang="en-US" sz="4400" b="1" dirty="0">
                <a:latin typeface="Calibri" panose="020F0502020204030204" pitchFamily="34" charset="0"/>
                <a:cs typeface="Calibri" panose="020F0502020204030204" pitchFamily="34" charset="0"/>
              </a:rPr>
              <a:t>Exercise</a:t>
            </a:r>
            <a:endParaRPr lang="de-AT" sz="4400" dirty="0"/>
          </a:p>
        </p:txBody>
      </p:sp>
      <p:sp>
        <p:nvSpPr>
          <p:cNvPr id="87" name="Google Shape;87;p2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>
              <a:spcBef>
                <a:spcPts val="640"/>
              </a:spcBef>
            </a:pPr>
            <a:endParaRPr lang="en-US" sz="1800" noProof="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0" indent="0">
              <a:spcBef>
                <a:spcPts val="640"/>
              </a:spcBef>
            </a:pPr>
            <a:endParaRPr lang="en-US" sz="1800" noProof="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/>
            <a:r>
              <a:rPr lang="en-GB" sz="2800" b="1" dirty="0">
                <a:latin typeface="Calibri" panose="020F0502020204030204" pitchFamily="34" charset="0"/>
                <a:cs typeface="Calibri" panose="020F0502020204030204" pitchFamily="34" charset="0"/>
              </a:rPr>
              <a:t>Student task</a:t>
            </a:r>
            <a:endParaRPr lang="en-GB" sz="2800" b="1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" name="Textfeld 2"/>
          <p:cNvSpPr txBox="1"/>
          <p:nvPr/>
        </p:nvSpPr>
        <p:spPr>
          <a:xfrm>
            <a:off x="461938" y="1605600"/>
            <a:ext cx="8229600" cy="923330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</p:spPr>
        <p:txBody>
          <a:bodyPr wrap="square" rtlCol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 panose="020B0604020202020204"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 panose="020B0604020202020204"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 panose="020B0604020202020204"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 panose="020B0604020202020204"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 panose="020B0604020202020204"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 panose="020B0604020202020204"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 panose="020B0604020202020204"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 panose="020B0604020202020204"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 panose="020B0604020202020204"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>
            <a:pPr lvl="0">
              <a:defRPr/>
            </a:pPr>
            <a:r>
              <a:rPr lang="de-DE" sz="1800" b="1" dirty="0">
                <a:latin typeface="Calibri" panose="020F0502020204030204" pitchFamily="34" charset="0"/>
                <a:cs typeface="Calibri" panose="020F0502020204030204" pitchFamily="34" charset="0"/>
              </a:rPr>
              <a:t>Task 1:</a:t>
            </a:r>
            <a:r>
              <a:rPr lang="de-DE" sz="1800" b="1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en-US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Work on states dataset and perform some additional computations.</a:t>
            </a:r>
            <a:endParaRPr lang="en-US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lvl="0">
              <a:defRPr/>
            </a:pPr>
            <a:endParaRPr lang="en-US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hlinkClick r:id="rId1"/>
            </a:endParaRPr>
          </a:p>
          <a:p>
            <a:pPr>
              <a:defRPr/>
            </a:pPr>
            <a:r>
              <a:rPr lang="en-US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unit8_exercise.ipynb</a:t>
            </a:r>
            <a:endParaRPr lang="en-US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Calibri">
      <a:majorFont>
        <a:latin typeface="Calibri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11400</Words>
  <Application>WPS 演示</Application>
  <PresentationFormat>On-screen Show (4:3)</PresentationFormat>
  <Paragraphs>536</Paragraphs>
  <Slides>40</Slides>
  <Notes>39</Notes>
  <HiddenSlides>0</HiddenSlides>
  <MMClips>0</MMClips>
  <ScaleCrop>false</ScaleCrop>
  <HeadingPairs>
    <vt:vector size="6" baseType="variant">
      <vt:variant>
        <vt:lpstr>已用的字体</vt:lpstr>
      </vt:variant>
      <vt:variant>
        <vt:i4>16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40</vt:i4>
      </vt:variant>
    </vt:vector>
  </HeadingPairs>
  <TitlesOfParts>
    <vt:vector size="57" baseType="lpstr">
      <vt:lpstr>Arial</vt:lpstr>
      <vt:lpstr>宋体</vt:lpstr>
      <vt:lpstr>Wingdings</vt:lpstr>
      <vt:lpstr>Arial</vt:lpstr>
      <vt:lpstr>Calibri</vt:lpstr>
      <vt:lpstr>Calibri</vt:lpstr>
      <vt:lpstr>Blackadder ITC</vt:lpstr>
      <vt:lpstr>Consolas</vt:lpstr>
      <vt:lpstr>Droid Sans Fallback</vt:lpstr>
      <vt:lpstr>Segoe Print</vt:lpstr>
      <vt:lpstr>Times New Roman</vt:lpstr>
      <vt:lpstr>微软雅黑</vt:lpstr>
      <vt:lpstr>Arial Unicode MS</vt:lpstr>
      <vt:lpstr>Symbol</vt:lpstr>
      <vt:lpstr>Cambria Math</vt:lpstr>
      <vt:lpstr>Saturday Sans Regular</vt:lpstr>
      <vt:lpstr>Office Theme</vt:lpstr>
      <vt:lpstr>Fundamentals of Computer Science and Programming</vt:lpstr>
      <vt:lpstr>Outline</vt:lpstr>
      <vt:lpstr>File I/O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CSV files and module imports</vt:lpstr>
      <vt:lpstr>PowerPoint 演示文稿</vt:lpstr>
      <vt:lpstr>PowerPoint 演示文稿</vt:lpstr>
      <vt:lpstr>PowerPoint 演示文稿</vt:lpstr>
      <vt:lpstr>PowerPoint 演示文稿</vt:lpstr>
      <vt:lpstr>Pandas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Examples</vt:lpstr>
      <vt:lpstr>Example with pandas and CSV files</vt:lpstr>
      <vt:lpstr>Exercise</vt:lpstr>
      <vt:lpstr>Student task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FP Basics of Computer Programming</dc:title>
  <dc:creator>Lyndon Nixon</dc:creator>
  <cp:lastModifiedBy>WPS_1220891040</cp:lastModifiedBy>
  <cp:revision>1097</cp:revision>
  <dcterms:created xsi:type="dcterms:W3CDTF">2025-11-19T21:38:26Z</dcterms:created>
  <dcterms:modified xsi:type="dcterms:W3CDTF">2025-11-19T22:07:57Z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3A8537BADE61422A897FF4E91493026C_12</vt:lpwstr>
  </property>
  <property fmtid="{D5CDD505-2E9C-101B-9397-08002B2CF9AE}" pid="3" name="KSOProductBuildVer">
    <vt:lpwstr>2052-12.1.0.23125</vt:lpwstr>
  </property>
</Properties>
</file>