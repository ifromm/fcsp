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trictFirstAndLastChars="0" embedTrueTypeFonts="1" saveSubsetFonts="1" autoCompressPictures="0">
  <p:sldMasterIdLst>
    <p:sldMasterId id="2147483648" r:id="rId1"/>
  </p:sldMasterIdLst>
  <p:notesMasterIdLst>
    <p:notesMasterId r:id="rId31"/>
  </p:notesMasterIdLst>
  <p:sldIdLst>
    <p:sldId id="256" r:id="rId2"/>
    <p:sldId id="408" r:id="rId3"/>
    <p:sldId id="499" r:id="rId4"/>
    <p:sldId id="278" r:id="rId5"/>
    <p:sldId id="566" r:id="rId6"/>
    <p:sldId id="568" r:id="rId7"/>
    <p:sldId id="569" r:id="rId8"/>
    <p:sldId id="570" r:id="rId9"/>
    <p:sldId id="571" r:id="rId10"/>
    <p:sldId id="572" r:id="rId11"/>
    <p:sldId id="573" r:id="rId12"/>
    <p:sldId id="567" r:id="rId13"/>
    <p:sldId id="264" r:id="rId14"/>
    <p:sldId id="574" r:id="rId15"/>
    <p:sldId id="575" r:id="rId16"/>
    <p:sldId id="576" r:id="rId17"/>
    <p:sldId id="577" r:id="rId18"/>
    <p:sldId id="578" r:id="rId19"/>
    <p:sldId id="579" r:id="rId20"/>
    <p:sldId id="580" r:id="rId21"/>
    <p:sldId id="581" r:id="rId22"/>
    <p:sldId id="582" r:id="rId23"/>
    <p:sldId id="583" r:id="rId24"/>
    <p:sldId id="584" r:id="rId25"/>
    <p:sldId id="585" r:id="rId26"/>
    <p:sldId id="586" r:id="rId27"/>
    <p:sldId id="587" r:id="rId28"/>
    <p:sldId id="523" r:id="rId29"/>
    <p:sldId id="461" r:id="rId30"/>
  </p:sldIdLst>
  <p:sldSz cx="9144000" cy="6858000" type="screen4x3"/>
  <p:notesSz cx="7099300" cy="10234613"/>
  <p:embeddedFontLst>
    <p:embeddedFont>
      <p:font typeface="Blackadder ITC" pitchFamily="82" charset="77"/>
      <p:regular r:id="rId32"/>
    </p:embeddedFont>
    <p:embeddedFont>
      <p:font typeface="Consolas" panose="020B0609020204030204" pitchFamily="49" charset="0"/>
      <p:regular r:id="rId33"/>
      <p:bold r:id="rId34"/>
      <p:italic r:id="rId35"/>
      <p:boldItalic r:id="rId3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83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http://customooxmlschemas.google.com/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80" roundtripDataSignature="AMtx7milieXwv5OUJdQk1cj/252aZuXcI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AE3F3"/>
    <a:srgbClr val="FFDDDD"/>
    <a:srgbClr val="32CD32"/>
    <a:srgbClr val="1E90FF"/>
    <a:srgbClr val="D3242A"/>
    <a:srgbClr val="EDEDED"/>
    <a:srgbClr val="F8D7CD"/>
    <a:srgbClr val="FCECE8"/>
    <a:srgbClr val="ED7D31"/>
    <a:srgbClr val="E2F0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Keine Formatvorlage, Tabellenraster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8A107856-5554-42FB-B03E-39F5DBC370BA}" styleName="Mittlere Formatvorlage 4 - Akz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21E4AEA4-8DFA-4A89-87EB-49C32662AFE0}" styleName="Mittlere Formatvorlage 2 - Akz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284E427A-3D55-4303-BF80-6455036E1DE7}" styleName="Designformatvorlage 1 - Akz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9DCAF9ED-07DC-4A11-8D7F-57B35C25682E}" styleName="Mittlere Formatvorlage 1 - Akz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3380" autoAdjust="0"/>
    <p:restoredTop sz="94652" autoAdjust="0"/>
  </p:normalViewPr>
  <p:slideViewPr>
    <p:cSldViewPr snapToGrid="0">
      <p:cViewPr varScale="1">
        <p:scale>
          <a:sx n="128" d="100"/>
          <a:sy n="128" d="100"/>
        </p:scale>
        <p:origin x="1352" y="176"/>
      </p:cViewPr>
      <p:guideLst>
        <p:guide orient="horz" pos="2183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font" Target="fonts/font3.fntdata"/><Relationship Id="rId84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83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1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5.fntdata"/><Relationship Id="rId82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8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4.fntdata"/><Relationship Id="rId8" Type="http://schemas.openxmlformats.org/officeDocument/2006/relationships/slide" Target="slides/slide7.xml"/><Relationship Id="rId80" Type="http://customschemas.google.com/relationships/presentationmetadata" Target="metadata"/><Relationship Id="rId85" Type="http://schemas.microsoft.com/office/2016/11/relationships/changesInfo" Target="changesInfos/changesInfo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2.fntdata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Ingo Frommholz" userId="ee3b4549-206f-4e4f-93a1-b7ff676f0af7" providerId="ADAL" clId="{5F8971C4-3D52-5FAB-A951-9912A46CDBB0}"/>
    <pc:docChg chg="modSld">
      <pc:chgData name="Ingo Frommholz" userId="ee3b4549-206f-4e4f-93a1-b7ff676f0af7" providerId="ADAL" clId="{5F8971C4-3D52-5FAB-A951-9912A46CDBB0}" dt="2025-11-22T20:43:02.175" v="2" actId="20577"/>
      <pc:docMkLst>
        <pc:docMk/>
      </pc:docMkLst>
      <pc:sldChg chg="modSp mod">
        <pc:chgData name="Ingo Frommholz" userId="ee3b4549-206f-4e4f-93a1-b7ff676f0af7" providerId="ADAL" clId="{5F8971C4-3D52-5FAB-A951-9912A46CDBB0}" dt="2025-11-22T20:43:02.175" v="2" actId="20577"/>
        <pc:sldMkLst>
          <pc:docMk/>
          <pc:sldMk cId="0" sldId="256"/>
        </pc:sldMkLst>
        <pc:spChg chg="mod">
          <ac:chgData name="Ingo Frommholz" userId="ee3b4549-206f-4e4f-93a1-b7ff676f0af7" providerId="ADAL" clId="{5F8971C4-3D52-5FAB-A951-9912A46CDBB0}" dt="2025-11-22T20:43:02.175" v="2" actId="20577"/>
          <ac:spMkLst>
            <pc:docMk/>
            <pc:sldMk cId="0" sldId="256"/>
            <ac:spMk id="80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4925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 dirty="0">
              <a:solidFill>
                <a:schemeClr val="dk1"/>
              </a:solidFill>
              <a:latin typeface="Blackadder ITC" panose="04020505051007020D02" pitchFamily="82" charset="0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lackadder ITC" panose="04020505051007020D02" pitchFamily="82" charset="0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1</a:t>
            </a:fld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lackadder ITC" panose="04020505051007020D02" pitchFamily="82" charset="0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 dirty="0">
              <a:solidFill>
                <a:schemeClr val="dk1"/>
              </a:solidFill>
              <a:latin typeface="Blackadder ITC" panose="04020505051007020D02" pitchFamily="82" charset="0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lackadder ITC" panose="04020505051007020D02" pitchFamily="82" charset="0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2</a:t>
            </a:fld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lackadder ITC" panose="04020505051007020D02" pitchFamily="82" charset="0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49322379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18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0">
              <a:buNone/>
            </a:pPr>
            <a:r>
              <a:rPr lang="zxx" sz="2000" b="0" strike="noStrike" spc="-1">
                <a:latin typeface="Arial"/>
              </a:rPr>
              <a:t>10:35</a:t>
            </a:r>
            <a:endParaRPr lang="en-US" sz="2000" b="0" strike="noStrike" spc="-1">
              <a:latin typeface="Arial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18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0">
              <a:buNone/>
            </a:pPr>
            <a:r>
              <a:rPr lang="zxx" sz="2000" b="0" strike="noStrike" spc="-1">
                <a:latin typeface="Arial"/>
              </a:rPr>
              <a:t>10:35</a:t>
            </a:r>
            <a:endParaRPr lang="en-US" sz="2000" b="0" strike="noStrike" spc="-1"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13182629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18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0">
              <a:buNone/>
            </a:pPr>
            <a:r>
              <a:rPr lang="zxx" sz="2000" b="0" strike="noStrike" spc="-1">
                <a:latin typeface="Arial"/>
              </a:rPr>
              <a:t>10:35</a:t>
            </a:r>
            <a:endParaRPr lang="en-US" sz="2000" b="0" strike="noStrike" spc="-1"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21107923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18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0">
              <a:buNone/>
            </a:pPr>
            <a:r>
              <a:rPr lang="zxx" sz="2000" b="0" strike="noStrike" spc="-1">
                <a:latin typeface="Arial"/>
              </a:rPr>
              <a:t>10:35</a:t>
            </a:r>
            <a:endParaRPr lang="en-US" sz="2000" b="0" strike="noStrike" spc="-1"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33254946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18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0">
              <a:buNone/>
            </a:pPr>
            <a:r>
              <a:rPr lang="zxx" sz="2000" b="0" strike="noStrike" spc="-1">
                <a:latin typeface="Arial"/>
              </a:rPr>
              <a:t>10:35</a:t>
            </a:r>
            <a:endParaRPr lang="en-US" sz="2000" b="0" strike="noStrike" spc="-1"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92757801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18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0">
              <a:buNone/>
            </a:pPr>
            <a:r>
              <a:rPr lang="zxx" sz="2000" b="0" strike="noStrike" spc="-1">
                <a:latin typeface="Arial"/>
              </a:rPr>
              <a:t>10:35</a:t>
            </a:r>
            <a:endParaRPr lang="en-US" sz="2000" b="0" strike="noStrike" spc="-1"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4670022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 dirty="0">
              <a:solidFill>
                <a:schemeClr val="dk1"/>
              </a:solidFill>
              <a:latin typeface="Blackadder ITC" panose="04020505051007020D02" pitchFamily="82" charset="0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lackadder ITC" panose="04020505051007020D02" pitchFamily="82" charset="0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9</a:t>
            </a:fld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lackadder ITC" panose="04020505051007020D02" pitchFamily="82" charset="0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26325993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18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0">
              <a:buNone/>
            </a:pPr>
            <a:r>
              <a:rPr lang="zxx" sz="2000" b="0" strike="noStrike" spc="-1">
                <a:latin typeface="Arial"/>
              </a:rPr>
              <a:t>10:35</a:t>
            </a:r>
            <a:endParaRPr lang="en-US" sz="2000" b="0" strike="noStrike" spc="-1"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0261021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18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0">
              <a:buNone/>
            </a:pPr>
            <a:r>
              <a:rPr lang="zxx" sz="2000" b="0" strike="noStrike" spc="-1">
                <a:latin typeface="Arial"/>
              </a:rPr>
              <a:t>10:35</a:t>
            </a:r>
            <a:endParaRPr lang="en-US" sz="2000" b="0" strike="noStrike" spc="-1"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36628126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10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05000" lvl="1" indent="0">
              <a:lnSpc>
                <a:spcPct val="100000"/>
              </a:lnSpc>
              <a:spcBef>
                <a:spcPts val="1134"/>
              </a:spcBef>
              <a:buNone/>
            </a:pPr>
            <a:r>
              <a:rPr lang="de-AT" sz="1400" b="0" strike="noStrike" spc="-1">
                <a:solidFill>
                  <a:srgbClr val="0F0F0F"/>
                </a:solidFill>
                <a:latin typeface="Arial"/>
                <a:ea typeface="Droid Sans Fallback"/>
              </a:rPr>
              <a:t> </a:t>
            </a:r>
            <a:endParaRPr lang="en-US" sz="1400" b="0" strike="noStrike" spc="-1">
              <a:latin typeface="Arial"/>
            </a:endParaRPr>
          </a:p>
          <a:p>
            <a:pPr marL="405000" lvl="1" indent="-404640">
              <a:lnSpc>
                <a:spcPct val="100000"/>
              </a:lnSpc>
              <a:spcBef>
                <a:spcPts val="1134"/>
              </a:spcBef>
              <a:buClr>
                <a:srgbClr val="0F0F0F"/>
              </a:buClr>
              <a:buFont typeface="Wingdings" charset="2"/>
              <a:buChar char=""/>
            </a:pPr>
            <a:r>
              <a:rPr lang="de-AT" sz="1400" b="0" strike="noStrike" spc="-1">
                <a:solidFill>
                  <a:srgbClr val="0F0F0F"/>
                </a:solidFill>
                <a:latin typeface="Arial"/>
                <a:ea typeface="Droid Sans Fallback"/>
              </a:rPr>
              <a:t>pandas-Funktionalität in dieser Vorlesung: </a:t>
            </a:r>
            <a:endParaRPr lang="en-US" sz="1400" b="0" strike="noStrike" spc="-1"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AT" sz="1400" b="0" strike="noStrike" spc="-1">
                <a:solidFill>
                  <a:srgbClr val="0F0F0F"/>
                </a:solidFill>
                <a:latin typeface="Arial"/>
                <a:ea typeface="Droid Sans Fallback"/>
              </a:rPr>
              <a:t>Daten laden/anlegen ➡ Daten abrufen und filtern ➡ Spalten neu anlegen ➡ Fehlende Daten ausfüllen  ➡ Daten verarbeiten und Ergebnisse berechnen ➡ Neu berechnete Daten speichern</a:t>
            </a:r>
            <a:endParaRPr lang="en-US" sz="1400" b="0" strike="noStrike" spc="-1"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AT" sz="1400" b="0" strike="noStrike" spc="-1">
                <a:solidFill>
                  <a:srgbClr val="0F0F0F"/>
                </a:solidFill>
                <a:latin typeface="Arial"/>
                <a:ea typeface="Droid Sans Fallback"/>
              </a:rPr>
              <a:t>-------</a:t>
            </a:r>
            <a:endParaRPr lang="en-US" sz="1400" b="0" strike="noStrike" spc="-1">
              <a:latin typeface="Arial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 dirty="0">
              <a:solidFill>
                <a:schemeClr val="dk1"/>
              </a:solidFill>
              <a:latin typeface="Blackadder ITC" panose="04020505051007020D02" pitchFamily="82" charset="0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lackadder ITC" panose="04020505051007020D02" pitchFamily="82" charset="0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13</a:t>
            </a:fld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lackadder ITC" panose="04020505051007020D02" pitchFamily="82" charset="0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91121453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10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05000" lvl="1" indent="0">
              <a:lnSpc>
                <a:spcPct val="100000"/>
              </a:lnSpc>
              <a:spcBef>
                <a:spcPts val="1134"/>
              </a:spcBef>
              <a:buNone/>
            </a:pPr>
            <a:r>
              <a:rPr lang="de-AT" sz="1400" b="0" strike="noStrike" spc="-1">
                <a:solidFill>
                  <a:srgbClr val="0F0F0F"/>
                </a:solidFill>
                <a:latin typeface="Arial"/>
                <a:ea typeface="Droid Sans Fallback"/>
              </a:rPr>
              <a:t> </a:t>
            </a:r>
            <a:endParaRPr lang="en-US" sz="1400" b="0" strike="noStrike" spc="-1">
              <a:latin typeface="Arial"/>
            </a:endParaRPr>
          </a:p>
          <a:p>
            <a:pPr marL="405000" lvl="1" indent="-404640">
              <a:lnSpc>
                <a:spcPct val="100000"/>
              </a:lnSpc>
              <a:spcBef>
                <a:spcPts val="1134"/>
              </a:spcBef>
              <a:buClr>
                <a:srgbClr val="0F0F0F"/>
              </a:buClr>
              <a:buFont typeface="Wingdings" charset="2"/>
              <a:buChar char=""/>
            </a:pPr>
            <a:r>
              <a:rPr lang="de-AT" sz="1400" b="0" strike="noStrike" spc="-1">
                <a:solidFill>
                  <a:srgbClr val="0F0F0F"/>
                </a:solidFill>
                <a:latin typeface="Arial"/>
                <a:ea typeface="Droid Sans Fallback"/>
              </a:rPr>
              <a:t>pandas-Funktionalität in dieser Vorlesung: </a:t>
            </a:r>
            <a:endParaRPr lang="en-US" sz="1400" b="0" strike="noStrike" spc="-1"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AT" sz="1400" b="0" strike="noStrike" spc="-1">
                <a:solidFill>
                  <a:srgbClr val="0F0F0F"/>
                </a:solidFill>
                <a:latin typeface="Arial"/>
                <a:ea typeface="Droid Sans Fallback"/>
              </a:rPr>
              <a:t>Daten laden/anlegen ➡ Daten abrufen und filtern ➡ Spalten neu anlegen ➡ Fehlende Daten ausfüllen  ➡ Daten verarbeiten und Ergebnisse berechnen ➡ Neu berechnete Daten speichern</a:t>
            </a:r>
            <a:endParaRPr lang="en-US" sz="1400" b="0" strike="noStrike" spc="-1"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AT" sz="1400" b="0" strike="noStrike" spc="-1">
                <a:solidFill>
                  <a:srgbClr val="0F0F0F"/>
                </a:solidFill>
                <a:latin typeface="Arial"/>
                <a:ea typeface="Droid Sans Fallback"/>
              </a:rPr>
              <a:t>-------</a:t>
            </a:r>
            <a:endParaRPr lang="en-US" sz="1400" b="0" strike="noStrike" spc="-1"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11256879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10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05000" lvl="1" indent="0">
              <a:lnSpc>
                <a:spcPct val="100000"/>
              </a:lnSpc>
              <a:spcBef>
                <a:spcPts val="1134"/>
              </a:spcBef>
              <a:buNone/>
            </a:pPr>
            <a:r>
              <a:rPr lang="de-AT" sz="1400" b="0" strike="noStrike" spc="-1">
                <a:solidFill>
                  <a:srgbClr val="0F0F0F"/>
                </a:solidFill>
                <a:latin typeface="Arial"/>
                <a:ea typeface="Droid Sans Fallback"/>
              </a:rPr>
              <a:t> </a:t>
            </a:r>
            <a:endParaRPr lang="en-US" sz="1400" b="0" strike="noStrike" spc="-1">
              <a:latin typeface="Arial"/>
            </a:endParaRPr>
          </a:p>
          <a:p>
            <a:pPr marL="405000" lvl="1" indent="-404640">
              <a:lnSpc>
                <a:spcPct val="100000"/>
              </a:lnSpc>
              <a:spcBef>
                <a:spcPts val="1134"/>
              </a:spcBef>
              <a:buClr>
                <a:srgbClr val="0F0F0F"/>
              </a:buClr>
              <a:buFont typeface="Wingdings" charset="2"/>
              <a:buChar char=""/>
            </a:pPr>
            <a:r>
              <a:rPr lang="de-AT" sz="1400" b="0" strike="noStrike" spc="-1">
                <a:solidFill>
                  <a:srgbClr val="0F0F0F"/>
                </a:solidFill>
                <a:latin typeface="Arial"/>
                <a:ea typeface="Droid Sans Fallback"/>
              </a:rPr>
              <a:t>pandas-Funktionalität in dieser Vorlesung: </a:t>
            </a:r>
            <a:endParaRPr lang="en-US" sz="1400" b="0" strike="noStrike" spc="-1"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AT" sz="1400" b="0" strike="noStrike" spc="-1">
                <a:solidFill>
                  <a:srgbClr val="0F0F0F"/>
                </a:solidFill>
                <a:latin typeface="Arial"/>
                <a:ea typeface="Droid Sans Fallback"/>
              </a:rPr>
              <a:t>Daten laden/anlegen ➡ Daten abrufen und filtern ➡ Spalten neu anlegen ➡ Fehlende Daten ausfüllen  ➡ Daten verarbeiten und Ergebnisse berechnen ➡ Neu berechnete Daten speichern</a:t>
            </a:r>
            <a:endParaRPr lang="en-US" sz="1400" b="0" strike="noStrike" spc="-1"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AT" sz="1400" b="0" strike="noStrike" spc="-1">
                <a:solidFill>
                  <a:srgbClr val="0F0F0F"/>
                </a:solidFill>
                <a:latin typeface="Arial"/>
                <a:ea typeface="Droid Sans Fallback"/>
              </a:rPr>
              <a:t>-------</a:t>
            </a:r>
            <a:endParaRPr lang="en-US" sz="1400" b="0" strike="noStrike" spc="-1"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63758270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 dirty="0">
              <a:solidFill>
                <a:schemeClr val="dk1"/>
              </a:solidFill>
              <a:latin typeface="Blackadder ITC" panose="04020505051007020D02" pitchFamily="82" charset="0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lackadder ITC" panose="04020505051007020D02" pitchFamily="82" charset="0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16</a:t>
            </a:fld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lackadder ITC" panose="04020505051007020D02" pitchFamily="82" charset="0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2207719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18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0">
              <a:buNone/>
            </a:pPr>
            <a:r>
              <a:rPr lang="zxx" sz="2000" b="0" strike="noStrike" spc="-1">
                <a:latin typeface="Arial"/>
              </a:rPr>
              <a:t>10:35</a:t>
            </a:r>
            <a:endParaRPr lang="en-US" sz="2000" b="0" strike="noStrike" spc="-1"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68387803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18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0">
              <a:buNone/>
            </a:pPr>
            <a:r>
              <a:rPr lang="zxx" sz="2000" b="0" strike="noStrike" spc="-1">
                <a:latin typeface="Arial"/>
              </a:rPr>
              <a:t>10:35</a:t>
            </a:r>
            <a:endParaRPr lang="en-US" sz="2000" b="0" strike="noStrike" spc="-1"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63187401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18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0">
              <a:buNone/>
            </a:pPr>
            <a:r>
              <a:rPr lang="zxx" sz="2000" b="0" strike="noStrike" spc="-1">
                <a:latin typeface="Arial"/>
              </a:rPr>
              <a:t>10:35</a:t>
            </a:r>
            <a:endParaRPr lang="en-US" sz="2000" b="0" strike="noStrike" spc="-1"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84802810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18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0">
              <a:buNone/>
            </a:pPr>
            <a:r>
              <a:rPr lang="zxx" sz="2000" b="0" strike="noStrike" spc="-1">
                <a:latin typeface="Arial"/>
              </a:rPr>
              <a:t>10:35</a:t>
            </a:r>
            <a:endParaRPr lang="en-US" sz="2000" b="0" strike="noStrike" spc="-1"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36922266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18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0">
              <a:buNone/>
            </a:pPr>
            <a:r>
              <a:rPr lang="zxx" sz="2000" b="0" strike="noStrike" spc="-1">
                <a:latin typeface="Arial"/>
              </a:rPr>
              <a:t>10:35</a:t>
            </a:r>
            <a:endParaRPr lang="en-US" sz="2000" b="0" strike="noStrike" spc="-1"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80873355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18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0">
              <a:buNone/>
            </a:pPr>
            <a:r>
              <a:rPr lang="zxx" sz="2000" b="0" strike="noStrike" spc="-1">
                <a:latin typeface="Arial"/>
              </a:rPr>
              <a:t>10:35</a:t>
            </a:r>
            <a:endParaRPr lang="en-US" sz="2000" b="0" strike="noStrike" spc="-1"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29820352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18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0">
              <a:buNone/>
            </a:pPr>
            <a:r>
              <a:rPr lang="zxx" sz="2000" b="0" strike="noStrike" spc="-1">
                <a:latin typeface="Arial"/>
              </a:rPr>
              <a:t>10:35</a:t>
            </a:r>
            <a:endParaRPr lang="en-US" sz="2000" b="0" strike="noStrike" spc="-1"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62259788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18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0">
              <a:buNone/>
            </a:pPr>
            <a:r>
              <a:rPr lang="zxx" sz="2000" b="0" strike="noStrike" spc="-1">
                <a:latin typeface="Arial"/>
              </a:rPr>
              <a:t>10:35</a:t>
            </a:r>
            <a:endParaRPr lang="en-US" sz="2000" b="0" strike="noStrike" spc="-1"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07604434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18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0">
              <a:buNone/>
            </a:pPr>
            <a:r>
              <a:rPr lang="zxx" sz="2000" b="0" strike="noStrike" spc="-1">
                <a:latin typeface="Arial"/>
              </a:rPr>
              <a:t>10:35</a:t>
            </a:r>
            <a:endParaRPr lang="en-US" sz="2000" b="0" strike="noStrike" spc="-1"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04424340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18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0">
              <a:buNone/>
            </a:pPr>
            <a:r>
              <a:rPr lang="zxx" sz="2000" b="0" strike="noStrike" spc="-1">
                <a:latin typeface="Arial"/>
              </a:rPr>
              <a:t>10:35</a:t>
            </a:r>
            <a:endParaRPr lang="en-US" sz="2000" b="0" strike="noStrike" spc="-1"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21336757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 dirty="0">
              <a:solidFill>
                <a:schemeClr val="dk1"/>
              </a:solidFill>
              <a:latin typeface="Blackadder ITC" panose="04020505051007020D02" pitchFamily="82" charset="0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lackadder ITC" panose="04020505051007020D02" pitchFamily="82" charset="0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27</a:t>
            </a:fld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lackadder ITC" panose="04020505051007020D02" pitchFamily="82" charset="0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88250568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524420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Content" type="obj">
  <p:cSld name="OBJECT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g61e8dd047e_0_15"/>
          <p:cNvSpPr txBox="1">
            <a:spLocks noGrp="1"/>
          </p:cNvSpPr>
          <p:nvPr>
            <p:ph type="title"/>
          </p:nvPr>
        </p:nvSpPr>
        <p:spPr>
          <a:xfrm>
            <a:off x="457200" y="273600"/>
            <a:ext cx="8229300" cy="114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g61e8dd047e_0_15"/>
          <p:cNvSpPr txBox="1">
            <a:spLocks noGrp="1"/>
          </p:cNvSpPr>
          <p:nvPr>
            <p:ph type="body" idx="1"/>
          </p:nvPr>
        </p:nvSpPr>
        <p:spPr>
          <a:xfrm>
            <a:off x="2286000" y="338760"/>
            <a:ext cx="6399300" cy="48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EAB9558B-27C5-4CC8-9685-151D67DE7720}"/>
              </a:ext>
            </a:extLst>
          </p:cNvPr>
          <p:cNvSpPr txBox="1"/>
          <p:nvPr userDrawn="1"/>
        </p:nvSpPr>
        <p:spPr>
          <a:xfrm>
            <a:off x="8180614" y="6470198"/>
            <a:ext cx="123280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CE9CBD56-2686-4AAC-B011-CC68FE510BD3}" type="slidenum">
              <a:rPr lang="de-AT" smtClean="0">
                <a:solidFill>
                  <a:schemeClr val="bg1"/>
                </a:solidFill>
              </a:rPr>
              <a:t>‹#›</a:t>
            </a:fld>
            <a:r>
              <a:rPr lang="de-AT" dirty="0">
                <a:solidFill>
                  <a:schemeClr val="bg1"/>
                </a:solidFill>
              </a:rPr>
              <a:t> / 28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Content" type="obj" preserve="1">
  <p:cSld name="1_Title, Content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g61e8dd047e_0_15"/>
          <p:cNvSpPr txBox="1">
            <a:spLocks noGrp="1"/>
          </p:cNvSpPr>
          <p:nvPr>
            <p:ph type="title"/>
          </p:nvPr>
        </p:nvSpPr>
        <p:spPr>
          <a:xfrm>
            <a:off x="457200" y="273600"/>
            <a:ext cx="8229300" cy="114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22" name="Google Shape;22;g61e8dd047e_0_15"/>
          <p:cNvSpPr txBox="1">
            <a:spLocks noGrp="1"/>
          </p:cNvSpPr>
          <p:nvPr>
            <p:ph type="body" idx="1"/>
          </p:nvPr>
        </p:nvSpPr>
        <p:spPr>
          <a:xfrm>
            <a:off x="619431" y="2142979"/>
            <a:ext cx="7934633" cy="35253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EAB9558B-27C5-4CC8-9685-151D67DE7720}"/>
              </a:ext>
            </a:extLst>
          </p:cNvPr>
          <p:cNvSpPr txBox="1"/>
          <p:nvPr userDrawn="1"/>
        </p:nvSpPr>
        <p:spPr>
          <a:xfrm>
            <a:off x="8180614" y="6470198"/>
            <a:ext cx="123280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CE9CBD56-2686-4AAC-B011-CC68FE510BD3}" type="slidenum">
              <a:rPr lang="de-AT" smtClean="0">
                <a:solidFill>
                  <a:schemeClr val="bg1"/>
                </a:solidFill>
              </a:rPr>
              <a:t>‹#›</a:t>
            </a:fld>
            <a:r>
              <a:rPr lang="de-AT" dirty="0">
                <a:solidFill>
                  <a:schemeClr val="bg1"/>
                </a:solidFill>
              </a:rPr>
              <a:t> / 28</a:t>
            </a:r>
          </a:p>
        </p:txBody>
      </p:sp>
    </p:spTree>
    <p:extLst>
      <p:ext uri="{BB962C8B-B14F-4D97-AF65-F5344CB8AC3E}">
        <p14:creationId xmlns:p14="http://schemas.microsoft.com/office/powerpoint/2010/main" val="21399375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2.jpg"/><Relationship Id="rId4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4">
            <a:alphaModFix/>
          </a:blip>
          <a:srcRect/>
          <a:stretch>
            <a:fillRect/>
          </a:stretch>
        </a:blip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oogle Shape;6;g61e8dd047e_0_0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0" y="360"/>
            <a:ext cx="9143642" cy="6857280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Google Shape;7;g61e8dd047e_0_0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0" y="360"/>
            <a:ext cx="9143642" cy="685728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g61e8dd047e_0_0"/>
          <p:cNvSpPr/>
          <p:nvPr/>
        </p:nvSpPr>
        <p:spPr>
          <a:xfrm>
            <a:off x="3657600" y="1481760"/>
            <a:ext cx="184200" cy="30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0" r:id="rId1"/>
    <p:sldLayoutId id="2147483651" r:id="rId2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7" Type="http://schemas.openxmlformats.org/officeDocument/2006/relationships/slide" Target="slide28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slide" Target="slide17.xml"/><Relationship Id="rId5" Type="http://schemas.openxmlformats.org/officeDocument/2006/relationships/slide" Target="slide14.xml"/><Relationship Id="rId4" Type="http://schemas.openxmlformats.org/officeDocument/2006/relationships/slide" Target="slide10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dhelic/focsp/blob/main/notebooks/unit12.ipynb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docs.python.org" TargetMode="Externa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Google Shape;78;p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2" y="19050"/>
            <a:ext cx="9144000" cy="6858046"/>
          </a:xfrm>
          <a:prstGeom prst="rect">
            <a:avLst/>
          </a:prstGeom>
          <a:solidFill>
            <a:srgbClr val="D3242A"/>
          </a:solidFill>
          <a:ln>
            <a:noFill/>
          </a:ln>
        </p:spPr>
      </p:pic>
      <p:sp>
        <p:nvSpPr>
          <p:cNvPr id="79" name="Google Shape;79;p1"/>
          <p:cNvSpPr txBox="1">
            <a:spLocks noGrp="1"/>
          </p:cNvSpPr>
          <p:nvPr>
            <p:ph type="title"/>
          </p:nvPr>
        </p:nvSpPr>
        <p:spPr>
          <a:xfrm>
            <a:off x="353192" y="4030874"/>
            <a:ext cx="8229300" cy="114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None/>
            </a:pPr>
            <a:r>
              <a:rPr lang="en-US" sz="4400" b="1" noProof="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Fundamentals of Computer Science and Programming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None/>
            </a:pPr>
            <a:endParaRPr lang="en-US" sz="4400" b="1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p1"/>
          <p:cNvSpPr txBox="1">
            <a:spLocks noGrp="1"/>
          </p:cNvSpPr>
          <p:nvPr>
            <p:ph type="body" idx="1"/>
          </p:nvPr>
        </p:nvSpPr>
        <p:spPr>
          <a:xfrm>
            <a:off x="1169340" y="5175674"/>
            <a:ext cx="6977921" cy="48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spcBef>
                <a:spcPts val="0"/>
              </a:spcBef>
              <a:buSzPts val="800"/>
            </a:pPr>
            <a:r>
              <a:rPr lang="en-US" sz="3200" b="0" i="0" u="none" strike="noStrike" cap="none" noProof="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Unit </a:t>
            </a:r>
            <a:r>
              <a:rPr lang="en-US" sz="32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9</a:t>
            </a:r>
            <a:r>
              <a:rPr lang="en-US" sz="3200" noProof="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3200" b="0" i="0" u="none" strike="noStrike" cap="none" noProof="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–</a:t>
            </a:r>
            <a:r>
              <a:rPr lang="en-US" sz="3200" noProof="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 </a:t>
            </a:r>
            <a:r>
              <a:rPr lang="en-US" sz="3200" b="0" i="0" u="none" strike="noStrike" cap="none" noProof="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Object-oriented Programming</a:t>
            </a:r>
            <a:endParaRPr lang="en-US" sz="3200" b="0" i="0" u="none" strike="noStrike" cap="none" noProof="0" dirty="0">
              <a:solidFill>
                <a:schemeClr val="lt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E5EBE914-4CDA-45B5-B72B-D9613B9F4C3F}"/>
              </a:ext>
            </a:extLst>
          </p:cNvPr>
          <p:cNvSpPr/>
          <p:nvPr/>
        </p:nvSpPr>
        <p:spPr>
          <a:xfrm>
            <a:off x="8147261" y="6409467"/>
            <a:ext cx="702051" cy="316357"/>
          </a:xfrm>
          <a:prstGeom prst="rect">
            <a:avLst/>
          </a:prstGeom>
          <a:solidFill>
            <a:srgbClr val="D324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</p:spTree>
  </p:cSld>
  <p:clrMapOvr>
    <a:masterClrMapping/>
  </p:clrMapOvr>
  <p:transition spd="slow">
    <p:fade thruBlk="1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noProof="0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Outline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87" name="Google Shape;87;p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D7707901-CF88-4DD5-92F9-27B080708D9F}"/>
              </a:ext>
            </a:extLst>
          </p:cNvPr>
          <p:cNvSpPr txBox="1"/>
          <p:nvPr/>
        </p:nvSpPr>
        <p:spPr>
          <a:xfrm>
            <a:off x="457200" y="1701579"/>
            <a:ext cx="753386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  <a:hlinkClick r:id="rId3" action="ppaction://hlinksldjump"/>
              </a:rPr>
              <a:t>Object-oriented Programming</a:t>
            </a:r>
            <a:endParaRPr 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  <a:hlinkClick r:id="rId4" action="ppaction://hlinksldjump"/>
              </a:rPr>
              <a:t>Classes and objects</a:t>
            </a:r>
            <a:endParaRPr 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  <a:hlinkClick r:id="rId5" action="ppaction://hlinksldjump"/>
              </a:rPr>
              <a:t>Inheritance &amp; Composition</a:t>
            </a:r>
            <a:endParaRPr 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  <a:hlinkClick r:id="rId6" action="ppaction://hlinksldjump"/>
              </a:rPr>
              <a:t>Error Handling</a:t>
            </a:r>
            <a:endParaRPr 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  <a:hlinkClick r:id="rId7" action="ppaction://hlinksldjump"/>
              </a:rPr>
              <a:t>Exercise</a:t>
            </a:r>
            <a:endParaRPr 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E91C8A42-093C-4664-A394-225128BADC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858400"/>
            <a:ext cx="8229300" cy="1144800"/>
          </a:xfrm>
        </p:spPr>
        <p:txBody>
          <a:bodyPr/>
          <a:lstStyle/>
          <a:p>
            <a:pPr algn="ctr"/>
            <a:r>
              <a:rPr lang="en-US" sz="4400" b="1" dirty="0">
                <a:latin typeface="Calibri" panose="020F0502020204030204" pitchFamily="34" charset="0"/>
                <a:cs typeface="Calibri" panose="020F0502020204030204" pitchFamily="34" charset="0"/>
              </a:rPr>
              <a:t>Object-oriented Programming</a:t>
            </a:r>
            <a:endParaRPr lang="de-AT" sz="4400" dirty="0"/>
          </a:p>
        </p:txBody>
      </p:sp>
      <p:sp>
        <p:nvSpPr>
          <p:cNvPr id="87" name="Google Shape;87;p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8518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8" name="PlaceHolder 2"/>
          <p:cNvSpPr>
            <a:spLocks noGrp="1"/>
          </p:cNvSpPr>
          <p:nvPr>
            <p:ph type="body" idx="1"/>
          </p:nvPr>
        </p:nvSpPr>
        <p:spPr>
          <a:xfrm>
            <a:off x="619431" y="2142979"/>
            <a:ext cx="7934633" cy="1856207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86214" lvl="1" indent="-285959">
              <a:spcBef>
                <a:spcPts val="801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Typical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structure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computer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program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414" lvl="2" indent="-285959">
              <a:spcBef>
                <a:spcPts val="801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Definition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structures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for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manipulation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414" lvl="2" indent="-285959">
              <a:spcBef>
                <a:spcPts val="801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Division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functionality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into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functions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414" lvl="2" indent="-285959">
              <a:spcBef>
                <a:spcPts val="801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Combination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common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functionality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into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modules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414" lvl="2" indent="-285959">
              <a:spcBef>
                <a:spcPts val="801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Communication via global variables and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functions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‘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parameters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/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return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values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" name="Google Shape;86;p2">
            <a:extLst>
              <a:ext uri="{FF2B5EF4-FFF2-40B4-BE49-F238E27FC236}">
                <a16:creationId xmlns:a16="http://schemas.microsoft.com/office/drawing/2014/main" id="{3FD547F6-2EE3-4D84-AAAB-02062ECB183B}"/>
              </a:ext>
            </a:extLst>
          </p:cNvPr>
          <p:cNvSpPr txBox="1">
            <a:spLocks/>
          </p:cNvSpPr>
          <p:nvPr/>
        </p:nvSpPr>
        <p:spPr>
          <a:xfrm>
            <a:off x="313944" y="227023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Procedural programming</a:t>
            </a:r>
            <a:endParaRPr lang="en-US" dirty="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8" name="PlaceHolder 2"/>
          <p:cNvSpPr>
            <a:spLocks noGrp="1"/>
          </p:cNvSpPr>
          <p:nvPr>
            <p:ph type="body" idx="1"/>
          </p:nvPr>
        </p:nvSpPr>
        <p:spPr>
          <a:xfrm>
            <a:off x="619431" y="2142979"/>
            <a:ext cx="7934633" cy="237655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86214" lvl="1" indent="-285959">
              <a:spcBef>
                <a:spcPts val="801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Problems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procedural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programming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414" lvl="2" indent="-285959">
              <a:spcBef>
                <a:spcPts val="801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Mismatch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between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real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world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objects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and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structures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414" lvl="2" indent="-285959">
              <a:spcBef>
                <a:spcPts val="801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Loose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coupling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between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functions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and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structures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414" lvl="2" indent="-285959">
              <a:spcBef>
                <a:spcPts val="801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Unprotected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access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global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414" lvl="2" indent="-285959">
              <a:spcBef>
                <a:spcPts val="801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Complex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maintanance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200614" lvl="3" indent="-285959">
              <a:spcBef>
                <a:spcPts val="801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Changing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structure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may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cause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functions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stop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working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" name="Google Shape;86;p2">
            <a:extLst>
              <a:ext uri="{FF2B5EF4-FFF2-40B4-BE49-F238E27FC236}">
                <a16:creationId xmlns:a16="http://schemas.microsoft.com/office/drawing/2014/main" id="{3FD547F6-2EE3-4D84-AAAB-02062ECB183B}"/>
              </a:ext>
            </a:extLst>
          </p:cNvPr>
          <p:cNvSpPr txBox="1">
            <a:spLocks/>
          </p:cNvSpPr>
          <p:nvPr/>
        </p:nvSpPr>
        <p:spPr>
          <a:xfrm>
            <a:off x="313944" y="227023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Procedural programming</a:t>
            </a:r>
            <a:endParaRPr lang="en-US" dirty="0">
              <a:solidFill>
                <a:schemeClr val="dk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801939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8" name="PlaceHolder 2"/>
          <p:cNvSpPr>
            <a:spLocks noGrp="1"/>
          </p:cNvSpPr>
          <p:nvPr>
            <p:ph type="body" idx="1"/>
          </p:nvPr>
        </p:nvSpPr>
        <p:spPr>
          <a:xfrm>
            <a:off x="619431" y="2142979"/>
            <a:ext cx="7934633" cy="28262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86214" lvl="1" indent="-285959">
              <a:spcBef>
                <a:spcPts val="801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Real-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world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objects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are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reproduced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by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objects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in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programs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6214" lvl="1" indent="-285959">
              <a:spcBef>
                <a:spcPts val="801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 and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functions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are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combined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together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in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corresponding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objects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6214" lvl="1" indent="-285959">
              <a:spcBef>
                <a:spcPts val="801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b="1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Objects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are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composed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of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414" lvl="2" indent="-285959">
              <a:spcBef>
                <a:spcPts val="801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Behavior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what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an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object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can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do?)</a:t>
            </a:r>
          </a:p>
          <a:p>
            <a:pPr marL="1200614" lvl="3" indent="-285959">
              <a:spcBef>
                <a:spcPts val="801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Implemented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functions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in OOP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they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are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called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b="1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methods</a:t>
            </a:r>
            <a:endParaRPr lang="de-AT" sz="1800" b="1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414" lvl="2" indent="-285959">
              <a:spcBef>
                <a:spcPts val="801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State (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what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do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know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about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an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object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?)</a:t>
            </a:r>
          </a:p>
          <a:p>
            <a:pPr marL="1200614" lvl="3" indent="-285959">
              <a:spcBef>
                <a:spcPts val="801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Implemented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variables: in OOP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they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are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called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b="1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attributes</a:t>
            </a:r>
            <a:endParaRPr lang="de-AT" sz="1800" b="1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" name="Google Shape;86;p2">
            <a:extLst>
              <a:ext uri="{FF2B5EF4-FFF2-40B4-BE49-F238E27FC236}">
                <a16:creationId xmlns:a16="http://schemas.microsoft.com/office/drawing/2014/main" id="{3FD547F6-2EE3-4D84-AAAB-02062ECB183B}"/>
              </a:ext>
            </a:extLst>
          </p:cNvPr>
          <p:cNvSpPr txBox="1">
            <a:spLocks/>
          </p:cNvSpPr>
          <p:nvPr/>
        </p:nvSpPr>
        <p:spPr>
          <a:xfrm>
            <a:off x="313944" y="227023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Object-oriented programming</a:t>
            </a:r>
            <a:endParaRPr lang="en-US" dirty="0">
              <a:solidFill>
                <a:schemeClr val="dk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020005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8" name="PlaceHolder 2"/>
          <p:cNvSpPr>
            <a:spLocks noGrp="1"/>
          </p:cNvSpPr>
          <p:nvPr>
            <p:ph type="body" idx="1"/>
          </p:nvPr>
        </p:nvSpPr>
        <p:spPr>
          <a:xfrm>
            <a:off x="619431" y="2142979"/>
            <a:ext cx="7934633" cy="1814424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86214" lvl="1" indent="-285959">
              <a:spcBef>
                <a:spcPts val="801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Objects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are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created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from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b="1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classes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</a:p>
          <a:p>
            <a:pPr marL="743414" lvl="2" indent="-285959">
              <a:spcBef>
                <a:spcPts val="801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Classes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are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formal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definitions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structure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objects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200614" lvl="3" indent="-285959">
              <a:spcBef>
                <a:spcPts val="801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They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define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methods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and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attributes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6214" lvl="1" indent="-285959">
              <a:spcBef>
                <a:spcPts val="801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Hence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a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class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self-defined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complex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type</a:t>
            </a:r>
          </a:p>
        </p:txBody>
      </p:sp>
      <p:sp>
        <p:nvSpPr>
          <p:cNvPr id="11" name="Google Shape;86;p2">
            <a:extLst>
              <a:ext uri="{FF2B5EF4-FFF2-40B4-BE49-F238E27FC236}">
                <a16:creationId xmlns:a16="http://schemas.microsoft.com/office/drawing/2014/main" id="{3FD547F6-2EE3-4D84-AAAB-02062ECB183B}"/>
              </a:ext>
            </a:extLst>
          </p:cNvPr>
          <p:cNvSpPr txBox="1">
            <a:spLocks/>
          </p:cNvSpPr>
          <p:nvPr/>
        </p:nvSpPr>
        <p:spPr>
          <a:xfrm>
            <a:off x="313944" y="227023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Object-oriented programming</a:t>
            </a:r>
            <a:endParaRPr lang="en-US" dirty="0">
              <a:solidFill>
                <a:schemeClr val="dk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800729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8" name="PlaceHolder 2"/>
          <p:cNvSpPr>
            <a:spLocks noGrp="1"/>
          </p:cNvSpPr>
          <p:nvPr>
            <p:ph type="body" idx="1"/>
          </p:nvPr>
        </p:nvSpPr>
        <p:spPr>
          <a:xfrm>
            <a:off x="604683" y="1558362"/>
            <a:ext cx="7934633" cy="367320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86214" lvl="1" indent="-285959">
              <a:spcBef>
                <a:spcPts val="801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abstraction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414" lvl="2" indent="-285959">
              <a:spcBef>
                <a:spcPts val="801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Development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self-defined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complex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types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200614" lvl="3" indent="-285959">
              <a:spcBef>
                <a:spcPts val="801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Representation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real-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world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objects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6214" lvl="1" indent="-285959">
              <a:spcBef>
                <a:spcPts val="801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encapsulation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414" lvl="2" indent="-285959">
              <a:spcBef>
                <a:spcPts val="801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enclosed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into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objects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and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combined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with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methods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200614" lvl="3" indent="-285959">
              <a:spcBef>
                <a:spcPts val="801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Tight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coupling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and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methods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for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manipulation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that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6214" lvl="1" indent="-285959">
              <a:spcBef>
                <a:spcPts val="801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Information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hiding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414" lvl="2" indent="-285959">
              <a:spcBef>
                <a:spcPts val="801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Hiding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implementation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details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200614" lvl="3" indent="-285959">
              <a:spcBef>
                <a:spcPts val="801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Reading and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changing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object‘s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state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only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via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dedicated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methods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" name="Google Shape;86;p2">
            <a:extLst>
              <a:ext uri="{FF2B5EF4-FFF2-40B4-BE49-F238E27FC236}">
                <a16:creationId xmlns:a16="http://schemas.microsoft.com/office/drawing/2014/main" id="{3FD547F6-2EE3-4D84-AAAB-02062ECB183B}"/>
              </a:ext>
            </a:extLst>
          </p:cNvPr>
          <p:cNvSpPr txBox="1">
            <a:spLocks/>
          </p:cNvSpPr>
          <p:nvPr/>
        </p:nvSpPr>
        <p:spPr>
          <a:xfrm>
            <a:off x="306449" y="227023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Important concepts in OOP</a:t>
            </a:r>
            <a:endParaRPr lang="en-US" dirty="0">
              <a:solidFill>
                <a:schemeClr val="dk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481557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8" name="PlaceHolder 2"/>
          <p:cNvSpPr>
            <a:spLocks noGrp="1"/>
          </p:cNvSpPr>
          <p:nvPr>
            <p:ph type="body" idx="1"/>
          </p:nvPr>
        </p:nvSpPr>
        <p:spPr>
          <a:xfrm>
            <a:off x="604683" y="1558363"/>
            <a:ext cx="7934633" cy="3455848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86214" lvl="1" indent="-285959">
              <a:spcBef>
                <a:spcPts val="801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Code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reuse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414" lvl="2" indent="-285959">
              <a:spcBef>
                <a:spcPts val="801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Inheritance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subclasses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inherit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from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base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class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200614" lvl="3" indent="-285959">
              <a:spcBef>
                <a:spcPts val="801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Both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methods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and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attributes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200614" lvl="3" indent="-285959">
              <a:spcBef>
                <a:spcPts val="801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Subclasses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can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extend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both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200614" lvl="3" indent="-285959">
              <a:spcBef>
                <a:spcPts val="801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i="1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Is</a:t>
            </a:r>
            <a:r>
              <a:rPr lang="de-AT" sz="1800" i="1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-a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relation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414" lvl="2" indent="-285959">
              <a:spcBef>
                <a:spcPts val="801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Composition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</a:p>
          <a:p>
            <a:pPr marL="1200614" lvl="3" indent="-285959">
              <a:spcBef>
                <a:spcPts val="801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Classes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can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consist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one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or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more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other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classes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200614" lvl="3" indent="-285959">
              <a:spcBef>
                <a:spcPts val="801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i="1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Has</a:t>
            </a:r>
            <a:r>
              <a:rPr lang="de-AT" sz="1800" i="1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-a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relation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" name="Google Shape;86;p2">
            <a:extLst>
              <a:ext uri="{FF2B5EF4-FFF2-40B4-BE49-F238E27FC236}">
                <a16:creationId xmlns:a16="http://schemas.microsoft.com/office/drawing/2014/main" id="{3FD547F6-2EE3-4D84-AAAB-02062ECB183B}"/>
              </a:ext>
            </a:extLst>
          </p:cNvPr>
          <p:cNvSpPr txBox="1">
            <a:spLocks/>
          </p:cNvSpPr>
          <p:nvPr/>
        </p:nvSpPr>
        <p:spPr>
          <a:xfrm>
            <a:off x="306449" y="227023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Important concepts in OOP</a:t>
            </a:r>
            <a:endParaRPr lang="en-US" dirty="0">
              <a:solidFill>
                <a:schemeClr val="dk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653821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E91C8A42-093C-4664-A394-225128BADC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858400"/>
            <a:ext cx="8229300" cy="1144800"/>
          </a:xfrm>
        </p:spPr>
        <p:txBody>
          <a:bodyPr/>
          <a:lstStyle/>
          <a:p>
            <a:pPr algn="ctr"/>
            <a:r>
              <a:rPr lang="en-US" sz="4400" b="1" dirty="0">
                <a:latin typeface="Calibri" panose="020F0502020204030204" pitchFamily="34" charset="0"/>
                <a:cs typeface="Calibri" panose="020F0502020204030204" pitchFamily="34" charset="0"/>
              </a:rPr>
              <a:t>Classes and objects</a:t>
            </a:r>
            <a:endParaRPr lang="de-AT" sz="4400" dirty="0"/>
          </a:p>
        </p:txBody>
      </p:sp>
      <p:sp>
        <p:nvSpPr>
          <p:cNvPr id="87" name="Google Shape;87;p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8956684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86;p2">
            <a:extLst>
              <a:ext uri="{FF2B5EF4-FFF2-40B4-BE49-F238E27FC236}">
                <a16:creationId xmlns:a16="http://schemas.microsoft.com/office/drawing/2014/main" id="{3FD547F6-2EE3-4D84-AAAB-02062ECB183B}"/>
              </a:ext>
            </a:extLst>
          </p:cNvPr>
          <p:cNvSpPr txBox="1">
            <a:spLocks/>
          </p:cNvSpPr>
          <p:nvPr/>
        </p:nvSpPr>
        <p:spPr>
          <a:xfrm>
            <a:off x="306449" y="227023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Classes vs. objects</a:t>
            </a:r>
            <a:endParaRPr lang="en-US" dirty="0">
              <a:solidFill>
                <a:schemeClr val="dk1"/>
              </a:solidFill>
            </a:endParaRPr>
          </a:p>
        </p:txBody>
      </p:sp>
      <p:sp>
        <p:nvSpPr>
          <p:cNvPr id="6" name="Gefaltete Ecke 4">
            <a:extLst>
              <a:ext uri="{FF2B5EF4-FFF2-40B4-BE49-F238E27FC236}">
                <a16:creationId xmlns:a16="http://schemas.microsoft.com/office/drawing/2014/main" id="{A39CC160-81AB-41CA-8D3F-C9223F586277}"/>
              </a:ext>
            </a:extLst>
          </p:cNvPr>
          <p:cNvSpPr/>
          <p:nvPr/>
        </p:nvSpPr>
        <p:spPr>
          <a:xfrm>
            <a:off x="923725" y="2497024"/>
            <a:ext cx="2580640" cy="3139440"/>
          </a:xfrm>
          <a:prstGeom prst="foldedCorner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BFCBDF5E-EBC6-46E6-B92A-04842386F4DA}"/>
              </a:ext>
            </a:extLst>
          </p:cNvPr>
          <p:cNvSpPr txBox="1"/>
          <p:nvPr/>
        </p:nvSpPr>
        <p:spPr>
          <a:xfrm>
            <a:off x="1207198" y="2127692"/>
            <a:ext cx="20136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Blueprint (Class)</a:t>
            </a: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D162790D-DD0F-4767-81C0-341B3DCB01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65125" y="2497023"/>
            <a:ext cx="4100887" cy="2346797"/>
          </a:xfrm>
          <a:prstGeom prst="rect">
            <a:avLst/>
          </a:prstGeom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8226B596-CB7C-4EDD-8A15-CE5839F850D1}"/>
              </a:ext>
            </a:extLst>
          </p:cNvPr>
          <p:cNvSpPr txBox="1"/>
          <p:nvPr/>
        </p:nvSpPr>
        <p:spPr>
          <a:xfrm>
            <a:off x="4947193" y="4913475"/>
            <a:ext cx="2249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800" dirty="0">
                <a:solidFill>
                  <a:schemeClr val="bg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Source: </a:t>
            </a:r>
            <a:r>
              <a:rPr lang="en-GB" sz="1800" dirty="0" err="1">
                <a:solidFill>
                  <a:schemeClr val="bg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Wikipedia.org</a:t>
            </a:r>
            <a:endParaRPr lang="en-GB" sz="1800" dirty="0">
              <a:solidFill>
                <a:schemeClr val="bg2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8197D164-4D05-4DAB-AE4C-2D0515174F3F}"/>
              </a:ext>
            </a:extLst>
          </p:cNvPr>
          <p:cNvSpPr txBox="1"/>
          <p:nvPr/>
        </p:nvSpPr>
        <p:spPr>
          <a:xfrm>
            <a:off x="3865125" y="2127692"/>
            <a:ext cx="41008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Actual implementation (Object)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0FE06117-22A4-4CD0-982E-A9B2A927A484}"/>
              </a:ext>
            </a:extLst>
          </p:cNvPr>
          <p:cNvSpPr txBox="1"/>
          <p:nvPr/>
        </p:nvSpPr>
        <p:spPr>
          <a:xfrm>
            <a:off x="1013669" y="2605151"/>
            <a:ext cx="2499402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Blueprint of a car:</a:t>
            </a:r>
          </a:p>
          <a:p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GB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Attributes:</a:t>
            </a:r>
          </a:p>
          <a:p>
            <a:pPr marL="285750" lvl="2" indent="-285750">
              <a:buFont typeface="Wingdings" panose="05000000000000000000" pitchFamily="2" charset="2"/>
              <a:buChar char="v"/>
            </a:pPr>
            <a:r>
              <a:rPr lang="en-GB" sz="1800" dirty="0" err="1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number_of_seats</a:t>
            </a:r>
            <a:endParaRPr lang="en-GB" sz="1800" dirty="0"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GB" sz="1800" dirty="0" err="1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horse_power</a:t>
            </a:r>
            <a:endParaRPr lang="en-GB" sz="1800" dirty="0"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GB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Methods: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GB" sz="1800" dirty="0" err="1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turn_engine_on</a:t>
            </a:r>
            <a:r>
              <a:rPr lang="en-GB" sz="1800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()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GB" sz="1800" dirty="0" err="1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blow_horn</a:t>
            </a:r>
            <a:r>
              <a:rPr lang="en-GB" sz="1800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1153668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Textfeld 491"/>
          <p:cNvSpPr txBox="1"/>
          <p:nvPr/>
        </p:nvSpPr>
        <p:spPr>
          <a:xfrm>
            <a:off x="597072" y="2285997"/>
            <a:ext cx="7973310" cy="3013023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pPr marL="114300" indent="0">
              <a:buNone/>
            </a:pPr>
            <a:r>
              <a:rPr lang="en-GB" sz="1800" b="1" dirty="0">
                <a:solidFill>
                  <a:srgbClr val="08964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class</a:t>
            </a:r>
            <a:r>
              <a:rPr lang="en-GB" sz="18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GB" sz="1800" dirty="0">
                <a:solidFill>
                  <a:srgbClr val="2B639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Car</a:t>
            </a:r>
            <a:r>
              <a:rPr lang="en-GB" sz="1800" dirty="0">
                <a:latin typeface="Consolas" panose="020B0609020204030204" pitchFamily="49" charset="0"/>
                <a:cs typeface="Consolas" panose="020B0609020204030204" pitchFamily="49" charset="0"/>
              </a:rPr>
              <a:t>:</a:t>
            </a:r>
          </a:p>
          <a:p>
            <a:pPr marL="114300" indent="0">
              <a:buNone/>
            </a:pPr>
            <a:r>
              <a:rPr lang="en-GB" sz="18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GB" sz="1800" b="1" dirty="0">
                <a:solidFill>
                  <a:srgbClr val="08964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def</a:t>
            </a:r>
            <a:r>
              <a:rPr lang="en-GB" sz="18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GB" sz="1800" dirty="0">
                <a:solidFill>
                  <a:srgbClr val="2B639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__</a:t>
            </a:r>
            <a:r>
              <a:rPr lang="en-GB" sz="1800" dirty="0" err="1">
                <a:solidFill>
                  <a:srgbClr val="2B639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init</a:t>
            </a:r>
            <a:r>
              <a:rPr lang="en-GB" sz="1800" dirty="0">
                <a:solidFill>
                  <a:srgbClr val="2B639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__</a:t>
            </a:r>
            <a:r>
              <a:rPr lang="en-GB" sz="1800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GB" sz="1800" dirty="0">
                <a:solidFill>
                  <a:srgbClr val="2B639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self</a:t>
            </a:r>
            <a:r>
              <a:rPr lang="en-GB" sz="1800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GB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number_seats</a:t>
            </a:r>
            <a:r>
              <a:rPr lang="en-GB" sz="1800" dirty="0">
                <a:latin typeface="Consolas" panose="020B0609020204030204" pitchFamily="49" charset="0"/>
                <a:cs typeface="Consolas" panose="020B0609020204030204" pitchFamily="49" charset="0"/>
              </a:rPr>
              <a:t>, HP):</a:t>
            </a:r>
          </a:p>
          <a:p>
            <a:pPr marL="114300" indent="0">
              <a:buNone/>
            </a:pPr>
            <a:r>
              <a:rPr lang="en-GB" sz="1800" dirty="0"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GB" sz="1800" dirty="0" err="1">
                <a:solidFill>
                  <a:srgbClr val="2B639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self</a:t>
            </a:r>
            <a:r>
              <a:rPr lang="en-GB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GB" sz="1800" dirty="0" err="1">
                <a:solidFill>
                  <a:srgbClr val="2B639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horse_power</a:t>
            </a:r>
            <a:r>
              <a:rPr lang="en-GB" sz="1800" dirty="0">
                <a:latin typeface="Consolas" panose="020B0609020204030204" pitchFamily="49" charset="0"/>
                <a:cs typeface="Consolas" panose="020B0609020204030204" pitchFamily="49" charset="0"/>
              </a:rPr>
              <a:t> = HP	  </a:t>
            </a:r>
            <a:r>
              <a:rPr lang="en-GB" sz="1800" dirty="0">
                <a:solidFill>
                  <a:schemeClr val="bg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instance variable</a:t>
            </a:r>
          </a:p>
          <a:p>
            <a:pPr marL="114300" indent="0">
              <a:buNone/>
            </a:pPr>
            <a:r>
              <a:rPr lang="en-GB" sz="1800" dirty="0"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GB" sz="1800" dirty="0" err="1">
                <a:solidFill>
                  <a:srgbClr val="2B639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self</a:t>
            </a:r>
            <a:r>
              <a:rPr lang="en-GB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GB" sz="1800" dirty="0" err="1">
                <a:solidFill>
                  <a:srgbClr val="2B639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n_seats</a:t>
            </a:r>
            <a:r>
              <a:rPr lang="en-GB" sz="1800" dirty="0">
                <a:solidFill>
                  <a:srgbClr val="2B639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GB" sz="1800" dirty="0">
                <a:latin typeface="Consolas" panose="020B0609020204030204" pitchFamily="49" charset="0"/>
                <a:cs typeface="Consolas" panose="020B0609020204030204" pitchFamily="49" charset="0"/>
              </a:rPr>
              <a:t>= </a:t>
            </a:r>
            <a:r>
              <a:rPr lang="en-GB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number_seats</a:t>
            </a:r>
            <a:r>
              <a:rPr lang="en-GB" sz="1800" dirty="0">
                <a:latin typeface="Consolas" panose="020B0609020204030204" pitchFamily="49" charset="0"/>
                <a:cs typeface="Consolas" panose="020B0609020204030204" pitchFamily="49" charset="0"/>
              </a:rPr>
              <a:t>	  </a:t>
            </a:r>
            <a:r>
              <a:rPr lang="en-GB" sz="1800" dirty="0">
                <a:solidFill>
                  <a:schemeClr val="bg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instance variable</a:t>
            </a:r>
          </a:p>
          <a:p>
            <a:pPr marL="114300" indent="0">
              <a:buNone/>
            </a:pPr>
            <a:r>
              <a:rPr lang="en-GB" sz="1800" dirty="0"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</a:p>
          <a:p>
            <a:pPr marL="114300" indent="0">
              <a:buNone/>
            </a:pPr>
            <a:r>
              <a:rPr lang="en-GB" sz="18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GB" sz="1800" b="1" dirty="0">
                <a:solidFill>
                  <a:srgbClr val="08964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def</a:t>
            </a:r>
            <a:r>
              <a:rPr lang="en-GB" sz="18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GB" sz="1800" dirty="0" err="1">
                <a:solidFill>
                  <a:srgbClr val="2B639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turn_engine_on</a:t>
            </a:r>
            <a:r>
              <a:rPr lang="en-GB" sz="1800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GB" sz="1800" dirty="0">
                <a:solidFill>
                  <a:srgbClr val="2B639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self</a:t>
            </a:r>
            <a:r>
              <a:rPr lang="en-GB" sz="1800" dirty="0">
                <a:latin typeface="Consolas" panose="020B0609020204030204" pitchFamily="49" charset="0"/>
                <a:cs typeface="Consolas" panose="020B0609020204030204" pitchFamily="49" charset="0"/>
              </a:rPr>
              <a:t>):	  </a:t>
            </a:r>
            <a:r>
              <a:rPr lang="en-GB" sz="1800" dirty="0">
                <a:solidFill>
                  <a:schemeClr val="bg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method / function</a:t>
            </a:r>
          </a:p>
          <a:p>
            <a:pPr marL="114300" indent="0">
              <a:buNone/>
            </a:pPr>
            <a:r>
              <a:rPr lang="en-GB" sz="1800" dirty="0"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GB" sz="1800" dirty="0">
                <a:solidFill>
                  <a:srgbClr val="08964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print</a:t>
            </a:r>
            <a:r>
              <a:rPr lang="en-GB" sz="1800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GB" sz="1800" dirty="0" err="1">
                <a:solidFill>
                  <a:srgbClr val="9A020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f"Motor</a:t>
            </a:r>
            <a:r>
              <a:rPr lang="en-GB" sz="1800" dirty="0">
                <a:solidFill>
                  <a:srgbClr val="9A020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sound of </a:t>
            </a:r>
            <a:r>
              <a:rPr lang="en-GB" sz="1800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r>
              <a:rPr lang="en-GB" sz="1800" dirty="0" err="1">
                <a:solidFill>
                  <a:srgbClr val="2B639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self</a:t>
            </a:r>
            <a:r>
              <a:rPr lang="en-GB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GB" sz="1800" dirty="0" err="1">
                <a:solidFill>
                  <a:srgbClr val="2B639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horse_power</a:t>
            </a:r>
            <a:r>
              <a:rPr lang="en-GB" sz="1800" dirty="0">
                <a:latin typeface="Consolas" panose="020B0609020204030204" pitchFamily="49" charset="0"/>
                <a:cs typeface="Consolas" panose="020B0609020204030204" pitchFamily="49" charset="0"/>
              </a:rPr>
              <a:t>} </a:t>
            </a:r>
            <a:r>
              <a:rPr lang="en-GB" sz="1800" dirty="0">
                <a:solidFill>
                  <a:srgbClr val="9A020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HP."</a:t>
            </a:r>
            <a:r>
              <a:rPr lang="en-GB" sz="1800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  <a:p>
            <a:pPr marL="114300" indent="0">
              <a:buNone/>
            </a:pPr>
            <a:r>
              <a:rPr lang="en-GB" sz="1800" dirty="0"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</a:p>
          <a:p>
            <a:pPr marL="114300" indent="0">
              <a:buNone/>
            </a:pPr>
            <a:r>
              <a:rPr lang="en-GB" sz="18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GB" sz="1800" b="1" dirty="0">
                <a:solidFill>
                  <a:srgbClr val="08964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def</a:t>
            </a:r>
            <a:r>
              <a:rPr lang="en-GB" sz="18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GB" sz="1800" dirty="0" err="1">
                <a:solidFill>
                  <a:srgbClr val="2B639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blow_horn</a:t>
            </a:r>
            <a:r>
              <a:rPr lang="en-GB" sz="1800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GB" sz="1800" dirty="0">
                <a:solidFill>
                  <a:srgbClr val="2B639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self</a:t>
            </a:r>
            <a:r>
              <a:rPr lang="en-GB" sz="1800" dirty="0">
                <a:latin typeface="Consolas" panose="020B0609020204030204" pitchFamily="49" charset="0"/>
                <a:cs typeface="Consolas" panose="020B0609020204030204" pitchFamily="49" charset="0"/>
              </a:rPr>
              <a:t>):		  </a:t>
            </a:r>
            <a:r>
              <a:rPr lang="en-GB" sz="1800" dirty="0">
                <a:solidFill>
                  <a:schemeClr val="bg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method / function</a:t>
            </a:r>
          </a:p>
          <a:p>
            <a:pPr marL="114300" indent="0">
              <a:buNone/>
            </a:pPr>
            <a:r>
              <a:rPr lang="en-GB" sz="1800" dirty="0"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GB" sz="1800" dirty="0">
                <a:solidFill>
                  <a:srgbClr val="08964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print</a:t>
            </a:r>
            <a:r>
              <a:rPr lang="en-GB" sz="1800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GB" sz="1800" dirty="0">
                <a:solidFill>
                  <a:srgbClr val="9A020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GB" sz="1800" dirty="0">
                <a:latin typeface="Consolas" panose="020B0609020204030204" pitchFamily="49" charset="0"/>
                <a:cs typeface="Consolas" panose="020B0609020204030204" pitchFamily="49" charset="0"/>
              </a:rPr>
              <a:t>🎺</a:t>
            </a:r>
            <a:r>
              <a:rPr lang="en-GB" sz="1800" dirty="0">
                <a:solidFill>
                  <a:srgbClr val="9A020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GB" sz="1800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  <a:p>
            <a:endParaRPr lang="en-US" sz="1800" spc="-1" dirty="0">
              <a:latin typeface="Consolas" panose="020B0609020204030204" pitchFamily="49" charset="0"/>
            </a:endParaRPr>
          </a:p>
        </p:txBody>
      </p:sp>
      <p:sp>
        <p:nvSpPr>
          <p:cNvPr id="11" name="Google Shape;86;p2">
            <a:extLst>
              <a:ext uri="{FF2B5EF4-FFF2-40B4-BE49-F238E27FC236}">
                <a16:creationId xmlns:a16="http://schemas.microsoft.com/office/drawing/2014/main" id="{3FD547F6-2EE3-4D84-AAAB-02062ECB183B}"/>
              </a:ext>
            </a:extLst>
          </p:cNvPr>
          <p:cNvSpPr txBox="1">
            <a:spLocks/>
          </p:cNvSpPr>
          <p:nvPr/>
        </p:nvSpPr>
        <p:spPr>
          <a:xfrm>
            <a:off x="313944" y="227023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Class definition</a:t>
            </a:r>
            <a:endParaRPr lang="en-US" dirty="0">
              <a:solidFill>
                <a:schemeClr val="dk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4270055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PlaceHolder 1"/>
          <p:cNvSpPr>
            <a:spLocks noGrp="1"/>
          </p:cNvSpPr>
          <p:nvPr>
            <p:ph type="body" idx="1"/>
          </p:nvPr>
        </p:nvSpPr>
        <p:spPr>
          <a:xfrm>
            <a:off x="556389" y="4264700"/>
            <a:ext cx="7934633" cy="981856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86214" lvl="1" indent="-285959">
              <a:spcBef>
                <a:spcPts val="801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en-US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You do not need to specify the parameter self!</a:t>
            </a:r>
          </a:p>
          <a:p>
            <a:pPr marL="286214" lvl="1" indent="-285959">
              <a:spcBef>
                <a:spcPts val="801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en-US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Python does that for you.</a:t>
            </a:r>
          </a:p>
        </p:txBody>
      </p:sp>
      <p:sp>
        <p:nvSpPr>
          <p:cNvPr id="10" name="Google Shape;86;p2">
            <a:extLst>
              <a:ext uri="{FF2B5EF4-FFF2-40B4-BE49-F238E27FC236}">
                <a16:creationId xmlns:a16="http://schemas.microsoft.com/office/drawing/2014/main" id="{9586FE42-4EA4-4C92-A843-0958274ACDF3}"/>
              </a:ext>
            </a:extLst>
          </p:cNvPr>
          <p:cNvSpPr txBox="1">
            <a:spLocks/>
          </p:cNvSpPr>
          <p:nvPr/>
        </p:nvSpPr>
        <p:spPr>
          <a:xfrm>
            <a:off x="313944" y="269854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Class instantiation, aka constructing objects</a:t>
            </a:r>
            <a:endParaRPr lang="en-US" dirty="0">
              <a:solidFill>
                <a:schemeClr val="dk1"/>
              </a:solidFill>
            </a:endParaRP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70901FC9-8597-402B-9A5E-75C3F80AF7A3}"/>
              </a:ext>
            </a:extLst>
          </p:cNvPr>
          <p:cNvSpPr txBox="1"/>
          <p:nvPr/>
        </p:nvSpPr>
        <p:spPr>
          <a:xfrm>
            <a:off x="558395" y="2008677"/>
            <a:ext cx="7973310" cy="404738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pPr marL="115200"/>
            <a:r>
              <a:rPr lang="en-GB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my_car</a:t>
            </a:r>
            <a:r>
              <a:rPr lang="en-GB" sz="1800" dirty="0">
                <a:latin typeface="Consolas" panose="020B0609020204030204" pitchFamily="49" charset="0"/>
                <a:cs typeface="Consolas" panose="020B0609020204030204" pitchFamily="49" charset="0"/>
              </a:rPr>
              <a:t> = Car(</a:t>
            </a:r>
            <a:r>
              <a:rPr lang="en-GB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number_seats</a:t>
            </a:r>
            <a:r>
              <a:rPr lang="en-GB" sz="1800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GB" sz="1800" dirty="0">
                <a:solidFill>
                  <a:srgbClr val="08964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5</a:t>
            </a:r>
            <a:r>
              <a:rPr lang="en-GB" sz="1800" dirty="0">
                <a:latin typeface="Consolas" panose="020B0609020204030204" pitchFamily="49" charset="0"/>
                <a:cs typeface="Consolas" panose="020B0609020204030204" pitchFamily="49" charset="0"/>
              </a:rPr>
              <a:t>, HP = </a:t>
            </a:r>
            <a:r>
              <a:rPr lang="en-GB" sz="1800" dirty="0">
                <a:solidFill>
                  <a:srgbClr val="08964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400</a:t>
            </a:r>
            <a:r>
              <a:rPr lang="en-GB" sz="1800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  <a:p>
            <a:endParaRPr lang="en-US" sz="1800" spc="-1" dirty="0">
              <a:latin typeface="Consolas" panose="020B0609020204030204" pitchFamily="49" charset="0"/>
            </a:endParaRP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0BC223C4-E018-4DAE-97B1-5456531C0DB2}"/>
              </a:ext>
            </a:extLst>
          </p:cNvPr>
          <p:cNvSpPr txBox="1"/>
          <p:nvPr/>
        </p:nvSpPr>
        <p:spPr>
          <a:xfrm>
            <a:off x="556389" y="3683828"/>
            <a:ext cx="7973310" cy="404738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pPr marL="114300"/>
            <a:r>
              <a:rPr lang="en-GB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sports_car</a:t>
            </a:r>
            <a:r>
              <a:rPr lang="en-GB" sz="1800" dirty="0">
                <a:latin typeface="Consolas" panose="020B0609020204030204" pitchFamily="49" charset="0"/>
                <a:cs typeface="Consolas" panose="020B0609020204030204" pitchFamily="49" charset="0"/>
              </a:rPr>
              <a:t> = Car(</a:t>
            </a:r>
            <a:r>
              <a:rPr lang="en-GB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number_seats</a:t>
            </a:r>
            <a:r>
              <a:rPr lang="en-GB" sz="1800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GB" sz="1800" dirty="0">
                <a:solidFill>
                  <a:srgbClr val="08964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2</a:t>
            </a:r>
            <a:r>
              <a:rPr lang="en-GB" sz="1800" dirty="0">
                <a:latin typeface="Consolas" panose="020B0609020204030204" pitchFamily="49" charset="0"/>
                <a:cs typeface="Consolas" panose="020B0609020204030204" pitchFamily="49" charset="0"/>
              </a:rPr>
              <a:t>, HP = </a:t>
            </a:r>
            <a:r>
              <a:rPr lang="en-GB" sz="1800" dirty="0">
                <a:solidFill>
                  <a:srgbClr val="08964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600</a:t>
            </a:r>
            <a:r>
              <a:rPr lang="en-GB" sz="1800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F19945F1-CAE8-42E2-931B-50AF3EAFC727}"/>
              </a:ext>
            </a:extLst>
          </p:cNvPr>
          <p:cNvSpPr txBox="1"/>
          <p:nvPr/>
        </p:nvSpPr>
        <p:spPr>
          <a:xfrm>
            <a:off x="1143011" y="3024262"/>
            <a:ext cx="4830569" cy="404738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r>
              <a:rPr lang="en-GB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Class_Name</a:t>
            </a:r>
            <a:r>
              <a:rPr lang="en-GB" sz="1800" dirty="0"/>
              <a:t>(</a:t>
            </a:r>
            <a:r>
              <a:rPr lang="en-GB" sz="1800" i="1" dirty="0" err="1">
                <a:latin typeface="Consolas" panose="020B0609020204030204" pitchFamily="49" charset="0"/>
                <a:cs typeface="Consolas" panose="020B0609020204030204" pitchFamily="49" charset="0"/>
              </a:rPr>
              <a:t>arguments_for_init_method</a:t>
            </a:r>
            <a:r>
              <a:rPr lang="en-GB" sz="1800" dirty="0"/>
              <a:t>)</a:t>
            </a:r>
          </a:p>
          <a:p>
            <a:endParaRPr lang="en-US" sz="1800" spc="-1" dirty="0">
              <a:latin typeface="Consolas" panose="020B0609020204030204" pitchFamily="49" charset="0"/>
            </a:endParaRPr>
          </a:p>
        </p:txBody>
      </p:sp>
      <p:sp>
        <p:nvSpPr>
          <p:cNvPr id="7" name="Pfeil nach oben 4">
            <a:extLst>
              <a:ext uri="{FF2B5EF4-FFF2-40B4-BE49-F238E27FC236}">
                <a16:creationId xmlns:a16="http://schemas.microsoft.com/office/drawing/2014/main" id="{3C55DCE7-FB0C-4EEA-95D4-7B1D81AB6C5D}"/>
              </a:ext>
            </a:extLst>
          </p:cNvPr>
          <p:cNvSpPr/>
          <p:nvPr/>
        </p:nvSpPr>
        <p:spPr>
          <a:xfrm>
            <a:off x="1890901" y="2321834"/>
            <a:ext cx="167951" cy="522514"/>
          </a:xfrm>
          <a:prstGeom prst="upArrow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544F2EB6-E3C0-41B9-B9C6-F1F248378810}"/>
              </a:ext>
            </a:extLst>
          </p:cNvPr>
          <p:cNvGrpSpPr/>
          <p:nvPr/>
        </p:nvGrpSpPr>
        <p:grpSpPr>
          <a:xfrm>
            <a:off x="2873725" y="2321834"/>
            <a:ext cx="1853684" cy="522514"/>
            <a:chOff x="2746309" y="1614196"/>
            <a:chExt cx="1853684" cy="522514"/>
          </a:xfrm>
        </p:grpSpPr>
        <p:sp>
          <p:nvSpPr>
            <p:cNvPr id="9" name="Pfeil nach oben 6">
              <a:extLst>
                <a:ext uri="{FF2B5EF4-FFF2-40B4-BE49-F238E27FC236}">
                  <a16:creationId xmlns:a16="http://schemas.microsoft.com/office/drawing/2014/main" id="{3CB83421-1E92-40F5-A0F5-3EB440017B87}"/>
                </a:ext>
              </a:extLst>
            </p:cNvPr>
            <p:cNvSpPr/>
            <p:nvPr/>
          </p:nvSpPr>
          <p:spPr>
            <a:xfrm>
              <a:off x="2746309" y="1614196"/>
              <a:ext cx="167951" cy="522514"/>
            </a:xfrm>
            <a:prstGeom prst="upArrow">
              <a:avLst/>
            </a:prstGeom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Pfeil nach oben 7">
              <a:extLst>
                <a:ext uri="{FF2B5EF4-FFF2-40B4-BE49-F238E27FC236}">
                  <a16:creationId xmlns:a16="http://schemas.microsoft.com/office/drawing/2014/main" id="{02070D20-09AB-4C07-8F71-D5DF998DB340}"/>
                </a:ext>
              </a:extLst>
            </p:cNvPr>
            <p:cNvSpPr/>
            <p:nvPr/>
          </p:nvSpPr>
          <p:spPr>
            <a:xfrm>
              <a:off x="4432042" y="1614196"/>
              <a:ext cx="167951" cy="522514"/>
            </a:xfrm>
            <a:prstGeom prst="upArrow">
              <a:avLst/>
            </a:prstGeom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Rechteck 11">
              <a:extLst>
                <a:ext uri="{FF2B5EF4-FFF2-40B4-BE49-F238E27FC236}">
                  <a16:creationId xmlns:a16="http://schemas.microsoft.com/office/drawing/2014/main" id="{1DBEF40A-E1A3-442F-9502-2B445BECF707}"/>
                </a:ext>
              </a:extLst>
            </p:cNvPr>
            <p:cNvSpPr/>
            <p:nvPr/>
          </p:nvSpPr>
          <p:spPr>
            <a:xfrm>
              <a:off x="2830286" y="2078504"/>
              <a:ext cx="1700440" cy="4571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2" grpId="0" uiExpand="1" build="p"/>
      <p:bldP spid="5" grpId="0" animBg="1"/>
      <p:bldP spid="6" grpId="0" animBg="1"/>
      <p:bldP spid="7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E91C8A42-093C-4664-A394-225128BADC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858400"/>
            <a:ext cx="8229300" cy="1144800"/>
          </a:xfrm>
        </p:spPr>
        <p:txBody>
          <a:bodyPr/>
          <a:lstStyle/>
          <a:p>
            <a:pPr algn="ctr"/>
            <a:r>
              <a:rPr lang="en-US" sz="4400" b="1" dirty="0">
                <a:latin typeface="Calibri" panose="020F0502020204030204" pitchFamily="34" charset="0"/>
                <a:cs typeface="Calibri" panose="020F0502020204030204" pitchFamily="34" charset="0"/>
              </a:rPr>
              <a:t>Inheritance &amp; Composition</a:t>
            </a:r>
            <a:endParaRPr lang="de-AT" sz="4400" dirty="0"/>
          </a:p>
        </p:txBody>
      </p:sp>
      <p:sp>
        <p:nvSpPr>
          <p:cNvPr id="87" name="Google Shape;87;p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7220161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PlaceHolder 1"/>
          <p:cNvSpPr>
            <a:spLocks noGrp="1"/>
          </p:cNvSpPr>
          <p:nvPr>
            <p:ph type="body" idx="1"/>
          </p:nvPr>
        </p:nvSpPr>
        <p:spPr>
          <a:xfrm>
            <a:off x="604683" y="1411529"/>
            <a:ext cx="7934633" cy="1304146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86214" lvl="1" indent="-285959">
              <a:spcBef>
                <a:spcPts val="801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en-US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Improves the reusability, extensibility and maintainability of code</a:t>
            </a:r>
          </a:p>
          <a:p>
            <a:pPr marL="286214" lvl="1" indent="-285959">
              <a:spcBef>
                <a:spcPts val="801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en-US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Base class passes on attributes and functionality</a:t>
            </a:r>
          </a:p>
          <a:p>
            <a:pPr marL="286214" lvl="1" indent="-285959">
              <a:spcBef>
                <a:spcPts val="801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en-US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Derived class inherits attributes and functionality of base class </a:t>
            </a:r>
          </a:p>
        </p:txBody>
      </p:sp>
      <p:sp>
        <p:nvSpPr>
          <p:cNvPr id="10" name="Google Shape;86;p2">
            <a:extLst>
              <a:ext uri="{FF2B5EF4-FFF2-40B4-BE49-F238E27FC236}">
                <a16:creationId xmlns:a16="http://schemas.microsoft.com/office/drawing/2014/main" id="{9586FE42-4EA4-4C92-A843-0958274ACDF3}"/>
              </a:ext>
            </a:extLst>
          </p:cNvPr>
          <p:cNvSpPr txBox="1">
            <a:spLocks/>
          </p:cNvSpPr>
          <p:nvPr/>
        </p:nvSpPr>
        <p:spPr>
          <a:xfrm>
            <a:off x="313944" y="269854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Inheritance</a:t>
            </a:r>
            <a:endParaRPr lang="en-US" dirty="0">
              <a:solidFill>
                <a:schemeClr val="dk1"/>
              </a:solidFill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0C4E1A42-4E28-4F9B-B685-AB5E14055980}"/>
              </a:ext>
            </a:extLst>
          </p:cNvPr>
          <p:cNvSpPr/>
          <p:nvPr/>
        </p:nvSpPr>
        <p:spPr>
          <a:xfrm>
            <a:off x="3577380" y="2866748"/>
            <a:ext cx="1643062" cy="102155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Bicycle</a:t>
            </a:r>
          </a:p>
          <a:p>
            <a:pPr algn="ctr"/>
            <a:endParaRPr lang="en-GB" sz="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GB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tires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GB" dirty="0" err="1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color</a:t>
            </a:r>
            <a:endParaRPr lang="en-GB" dirty="0"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GB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ride()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7A4D09B5-2146-4675-A401-6DD48FEBAA14}"/>
              </a:ext>
            </a:extLst>
          </p:cNvPr>
          <p:cNvSpPr/>
          <p:nvPr/>
        </p:nvSpPr>
        <p:spPr>
          <a:xfrm>
            <a:off x="1743818" y="4390747"/>
            <a:ext cx="1643062" cy="102155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Mountain bike</a:t>
            </a:r>
          </a:p>
          <a:p>
            <a:pPr algn="ctr"/>
            <a:endParaRPr lang="en-GB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GB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suspension</a:t>
            </a:r>
            <a:b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15" name="Gewinkelte Verbindung 7">
            <a:extLst>
              <a:ext uri="{FF2B5EF4-FFF2-40B4-BE49-F238E27FC236}">
                <a16:creationId xmlns:a16="http://schemas.microsoft.com/office/drawing/2014/main" id="{CD81EF51-E792-4EDF-9AD0-FC9D6D08513F}"/>
              </a:ext>
            </a:extLst>
          </p:cNvPr>
          <p:cNvCxnSpPr>
            <a:cxnSpLocks/>
            <a:stCxn id="13" idx="2"/>
            <a:endCxn id="14" idx="0"/>
          </p:cNvCxnSpPr>
          <p:nvPr/>
        </p:nvCxnSpPr>
        <p:spPr>
          <a:xfrm rot="5400000">
            <a:off x="3230909" y="3222744"/>
            <a:ext cx="502443" cy="1833562"/>
          </a:xfrm>
          <a:prstGeom prst="bentConnector3">
            <a:avLst>
              <a:gd name="adj1" fmla="val 50000"/>
            </a:avLst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Gewinkelte Verbindung 11">
            <a:extLst>
              <a:ext uri="{FF2B5EF4-FFF2-40B4-BE49-F238E27FC236}">
                <a16:creationId xmlns:a16="http://schemas.microsoft.com/office/drawing/2014/main" id="{BCA7326A-448E-4FC6-BCFB-94E4E0DB2E5D}"/>
              </a:ext>
            </a:extLst>
          </p:cNvPr>
          <p:cNvCxnSpPr>
            <a:cxnSpLocks/>
          </p:cNvCxnSpPr>
          <p:nvPr/>
        </p:nvCxnSpPr>
        <p:spPr>
          <a:xfrm rot="16200000" flipH="1">
            <a:off x="5064471" y="3222745"/>
            <a:ext cx="502443" cy="1833562"/>
          </a:xfrm>
          <a:prstGeom prst="bentConnector3">
            <a:avLst>
              <a:gd name="adj1" fmla="val 50000"/>
            </a:avLst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Rechteck 16">
            <a:extLst>
              <a:ext uri="{FF2B5EF4-FFF2-40B4-BE49-F238E27FC236}">
                <a16:creationId xmlns:a16="http://schemas.microsoft.com/office/drawing/2014/main" id="{B05BA3A6-4C0E-4EEE-ABCD-16BA0039E822}"/>
              </a:ext>
            </a:extLst>
          </p:cNvPr>
          <p:cNvSpPr/>
          <p:nvPr/>
        </p:nvSpPr>
        <p:spPr>
          <a:xfrm>
            <a:off x="5500883" y="4390747"/>
            <a:ext cx="1643062" cy="102155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algn="ctr"/>
            <a:r>
              <a:rPr lang="en-GB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E-bike</a:t>
            </a:r>
          </a:p>
          <a:p>
            <a:endParaRPr lang="en-GB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GB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battery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GB" dirty="0">
                <a:highlight>
                  <a:srgbClr val="DAE3F3"/>
                </a:highlight>
                <a:latin typeface="Consolas" panose="020B0609020204030204" pitchFamily="49" charset="0"/>
              </a:rPr>
              <a:t>charge()</a:t>
            </a:r>
            <a:br>
              <a:rPr lang="en-GB" dirty="0"/>
            </a:br>
            <a:endParaRPr lang="en-GB" dirty="0"/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9507625B-3715-4903-8156-33C8B918AD79}"/>
              </a:ext>
            </a:extLst>
          </p:cNvPr>
          <p:cNvSpPr txBox="1"/>
          <p:nvPr/>
        </p:nvSpPr>
        <p:spPr>
          <a:xfrm>
            <a:off x="5320603" y="3223638"/>
            <a:ext cx="91403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Base class</a:t>
            </a:r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F367D9B7-10B9-49FB-98C6-AA97BE59BFD6}"/>
              </a:ext>
            </a:extLst>
          </p:cNvPr>
          <p:cNvSpPr txBox="1"/>
          <p:nvPr/>
        </p:nvSpPr>
        <p:spPr>
          <a:xfrm>
            <a:off x="463542" y="4747636"/>
            <a:ext cx="11400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Derived class</a:t>
            </a: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8724D403-B15A-453F-9A10-4D4CFBB7C45F}"/>
              </a:ext>
            </a:extLst>
          </p:cNvPr>
          <p:cNvSpPr txBox="1"/>
          <p:nvPr/>
        </p:nvSpPr>
        <p:spPr>
          <a:xfrm>
            <a:off x="7121579" y="4747636"/>
            <a:ext cx="11400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Derived class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9D02D4FA-EB76-4540-BC83-170589E6F31A}"/>
              </a:ext>
            </a:extLst>
          </p:cNvPr>
          <p:cNvSpPr/>
          <p:nvPr/>
        </p:nvSpPr>
        <p:spPr>
          <a:xfrm>
            <a:off x="3577380" y="4399082"/>
            <a:ext cx="1643062" cy="102155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City bike</a:t>
            </a:r>
          </a:p>
          <a:p>
            <a:endParaRPr lang="en-GB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GB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basket</a:t>
            </a:r>
            <a:br>
              <a:rPr lang="en-GB" dirty="0"/>
            </a:br>
            <a:endParaRPr lang="en-GB" dirty="0"/>
          </a:p>
        </p:txBody>
      </p:sp>
      <p:cxnSp>
        <p:nvCxnSpPr>
          <p:cNvPr id="3" name="Gerade Verbindung mit Pfeil 2">
            <a:extLst>
              <a:ext uri="{FF2B5EF4-FFF2-40B4-BE49-F238E27FC236}">
                <a16:creationId xmlns:a16="http://schemas.microsoft.com/office/drawing/2014/main" id="{68AFA3FB-92DB-4467-85B1-C60F350D27C8}"/>
              </a:ext>
            </a:extLst>
          </p:cNvPr>
          <p:cNvCxnSpPr>
            <a:endCxn id="23" idx="0"/>
          </p:cNvCxnSpPr>
          <p:nvPr/>
        </p:nvCxnSpPr>
        <p:spPr>
          <a:xfrm>
            <a:off x="4398911" y="4139525"/>
            <a:ext cx="0" cy="259557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feld 24">
            <a:extLst>
              <a:ext uri="{FF2B5EF4-FFF2-40B4-BE49-F238E27FC236}">
                <a16:creationId xmlns:a16="http://schemas.microsoft.com/office/drawing/2014/main" id="{9773AF02-1684-4EDA-A757-AC9CE2156D63}"/>
              </a:ext>
            </a:extLst>
          </p:cNvPr>
          <p:cNvSpPr txBox="1"/>
          <p:nvPr/>
        </p:nvSpPr>
        <p:spPr>
          <a:xfrm>
            <a:off x="3828883" y="5428972"/>
            <a:ext cx="11400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Derived class</a:t>
            </a:r>
          </a:p>
        </p:txBody>
      </p:sp>
    </p:spTree>
    <p:extLst>
      <p:ext uri="{BB962C8B-B14F-4D97-AF65-F5344CB8AC3E}">
        <p14:creationId xmlns:p14="http://schemas.microsoft.com/office/powerpoint/2010/main" val="31731686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7" grpId="0" animBg="1"/>
      <p:bldP spid="18" grpId="0"/>
      <p:bldP spid="19" grpId="0"/>
      <p:bldP spid="20" grpId="0"/>
      <p:bldP spid="23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PlaceHolder 1"/>
          <p:cNvSpPr>
            <a:spLocks noGrp="1"/>
          </p:cNvSpPr>
          <p:nvPr>
            <p:ph type="body" idx="1"/>
          </p:nvPr>
        </p:nvSpPr>
        <p:spPr>
          <a:xfrm>
            <a:off x="604683" y="1411529"/>
            <a:ext cx="7934633" cy="1304146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86214" lvl="1" indent="-285959">
              <a:spcBef>
                <a:spcPts val="801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en-US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Also improves the reusability, extensibility and maintainability of code</a:t>
            </a:r>
          </a:p>
          <a:p>
            <a:pPr marL="286214" lvl="1" indent="-285959">
              <a:spcBef>
                <a:spcPts val="801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en-US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Classes are modeled as compositions of other classes</a:t>
            </a:r>
          </a:p>
          <a:p>
            <a:pPr marL="286214" lvl="1" indent="-285959">
              <a:spcBef>
                <a:spcPts val="801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en-US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Composed class has access to the functionality of included classes</a:t>
            </a:r>
          </a:p>
        </p:txBody>
      </p:sp>
      <p:sp>
        <p:nvSpPr>
          <p:cNvPr id="10" name="Google Shape;86;p2">
            <a:extLst>
              <a:ext uri="{FF2B5EF4-FFF2-40B4-BE49-F238E27FC236}">
                <a16:creationId xmlns:a16="http://schemas.microsoft.com/office/drawing/2014/main" id="{9586FE42-4EA4-4C92-A843-0958274ACDF3}"/>
              </a:ext>
            </a:extLst>
          </p:cNvPr>
          <p:cNvSpPr txBox="1">
            <a:spLocks/>
          </p:cNvSpPr>
          <p:nvPr/>
        </p:nvSpPr>
        <p:spPr>
          <a:xfrm>
            <a:off x="313944" y="269854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Composition</a:t>
            </a:r>
            <a:endParaRPr lang="en-US" dirty="0">
              <a:solidFill>
                <a:schemeClr val="dk1"/>
              </a:solidFill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0C4E1A42-4E28-4F9B-B685-AB5E14055980}"/>
              </a:ext>
            </a:extLst>
          </p:cNvPr>
          <p:cNvSpPr/>
          <p:nvPr/>
        </p:nvSpPr>
        <p:spPr>
          <a:xfrm>
            <a:off x="3577380" y="2866748"/>
            <a:ext cx="1643062" cy="102155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Bicycle</a:t>
            </a:r>
          </a:p>
          <a:p>
            <a:pPr algn="ctr"/>
            <a:endParaRPr lang="en-GB" sz="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GB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tires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GB" dirty="0" err="1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color</a:t>
            </a:r>
            <a:endParaRPr lang="en-GB" dirty="0"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GB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ride()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7A4D09B5-2146-4675-A401-6DD48FEBAA14}"/>
              </a:ext>
            </a:extLst>
          </p:cNvPr>
          <p:cNvSpPr/>
          <p:nvPr/>
        </p:nvSpPr>
        <p:spPr>
          <a:xfrm>
            <a:off x="1743818" y="4390747"/>
            <a:ext cx="1643062" cy="102155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Mountain bike</a:t>
            </a:r>
          </a:p>
          <a:p>
            <a:pPr algn="ctr"/>
            <a:endParaRPr lang="en-GB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GB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suspension</a:t>
            </a:r>
            <a:b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15" name="Gewinkelte Verbindung 7">
            <a:extLst>
              <a:ext uri="{FF2B5EF4-FFF2-40B4-BE49-F238E27FC236}">
                <a16:creationId xmlns:a16="http://schemas.microsoft.com/office/drawing/2014/main" id="{CD81EF51-E792-4EDF-9AD0-FC9D6D08513F}"/>
              </a:ext>
            </a:extLst>
          </p:cNvPr>
          <p:cNvCxnSpPr>
            <a:cxnSpLocks/>
            <a:stCxn id="13" idx="2"/>
            <a:endCxn id="14" idx="0"/>
          </p:cNvCxnSpPr>
          <p:nvPr/>
        </p:nvCxnSpPr>
        <p:spPr>
          <a:xfrm rot="5400000">
            <a:off x="3230909" y="3222744"/>
            <a:ext cx="502443" cy="1833562"/>
          </a:xfrm>
          <a:prstGeom prst="bentConnector3">
            <a:avLst>
              <a:gd name="adj1" fmla="val 50000"/>
            </a:avLst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Gewinkelte Verbindung 11">
            <a:extLst>
              <a:ext uri="{FF2B5EF4-FFF2-40B4-BE49-F238E27FC236}">
                <a16:creationId xmlns:a16="http://schemas.microsoft.com/office/drawing/2014/main" id="{BCA7326A-448E-4FC6-BCFB-94E4E0DB2E5D}"/>
              </a:ext>
            </a:extLst>
          </p:cNvPr>
          <p:cNvCxnSpPr>
            <a:cxnSpLocks/>
          </p:cNvCxnSpPr>
          <p:nvPr/>
        </p:nvCxnSpPr>
        <p:spPr>
          <a:xfrm rot="16200000" flipH="1">
            <a:off x="5064471" y="3222745"/>
            <a:ext cx="502443" cy="1833562"/>
          </a:xfrm>
          <a:prstGeom prst="bentConnector3">
            <a:avLst>
              <a:gd name="adj1" fmla="val 50000"/>
            </a:avLst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Rechteck 16">
            <a:extLst>
              <a:ext uri="{FF2B5EF4-FFF2-40B4-BE49-F238E27FC236}">
                <a16:creationId xmlns:a16="http://schemas.microsoft.com/office/drawing/2014/main" id="{B05BA3A6-4C0E-4EEE-ABCD-16BA0039E822}"/>
              </a:ext>
            </a:extLst>
          </p:cNvPr>
          <p:cNvSpPr/>
          <p:nvPr/>
        </p:nvSpPr>
        <p:spPr>
          <a:xfrm>
            <a:off x="5500883" y="4390747"/>
            <a:ext cx="1643062" cy="102155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algn="ctr"/>
            <a:r>
              <a:rPr lang="en-GB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E-bike</a:t>
            </a:r>
          </a:p>
          <a:p>
            <a:endParaRPr lang="en-GB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GB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battery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GB" dirty="0">
                <a:highlight>
                  <a:srgbClr val="DAE3F3"/>
                </a:highlight>
                <a:latin typeface="Consolas" panose="020B0609020204030204" pitchFamily="49" charset="0"/>
              </a:rPr>
              <a:t>charge()</a:t>
            </a:r>
            <a:br>
              <a:rPr lang="en-GB" dirty="0"/>
            </a:br>
            <a:endParaRPr lang="en-GB" dirty="0"/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9507625B-3715-4903-8156-33C8B918AD79}"/>
              </a:ext>
            </a:extLst>
          </p:cNvPr>
          <p:cNvSpPr txBox="1"/>
          <p:nvPr/>
        </p:nvSpPr>
        <p:spPr>
          <a:xfrm>
            <a:off x="3941894" y="2585482"/>
            <a:ext cx="91403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Base class</a:t>
            </a:r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F367D9B7-10B9-49FB-98C6-AA97BE59BFD6}"/>
              </a:ext>
            </a:extLst>
          </p:cNvPr>
          <p:cNvSpPr txBox="1"/>
          <p:nvPr/>
        </p:nvSpPr>
        <p:spPr>
          <a:xfrm>
            <a:off x="463542" y="4747636"/>
            <a:ext cx="11400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Derived class</a:t>
            </a: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8724D403-B15A-453F-9A10-4D4CFBB7C45F}"/>
              </a:ext>
            </a:extLst>
          </p:cNvPr>
          <p:cNvSpPr txBox="1"/>
          <p:nvPr/>
        </p:nvSpPr>
        <p:spPr>
          <a:xfrm>
            <a:off x="7121579" y="4747636"/>
            <a:ext cx="11400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Derived class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9D02D4FA-EB76-4540-BC83-170589E6F31A}"/>
              </a:ext>
            </a:extLst>
          </p:cNvPr>
          <p:cNvSpPr/>
          <p:nvPr/>
        </p:nvSpPr>
        <p:spPr>
          <a:xfrm>
            <a:off x="3577380" y="4399082"/>
            <a:ext cx="1643062" cy="102155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City bike</a:t>
            </a:r>
          </a:p>
          <a:p>
            <a:endParaRPr lang="en-GB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GB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basket</a:t>
            </a:r>
            <a:br>
              <a:rPr lang="en-GB" dirty="0"/>
            </a:br>
            <a:endParaRPr lang="en-GB" dirty="0"/>
          </a:p>
        </p:txBody>
      </p:sp>
      <p:cxnSp>
        <p:nvCxnSpPr>
          <p:cNvPr id="3" name="Gerade Verbindung mit Pfeil 2">
            <a:extLst>
              <a:ext uri="{FF2B5EF4-FFF2-40B4-BE49-F238E27FC236}">
                <a16:creationId xmlns:a16="http://schemas.microsoft.com/office/drawing/2014/main" id="{68AFA3FB-92DB-4467-85B1-C60F350D27C8}"/>
              </a:ext>
            </a:extLst>
          </p:cNvPr>
          <p:cNvCxnSpPr>
            <a:endCxn id="23" idx="0"/>
          </p:cNvCxnSpPr>
          <p:nvPr/>
        </p:nvCxnSpPr>
        <p:spPr>
          <a:xfrm>
            <a:off x="4398911" y="4139525"/>
            <a:ext cx="0" cy="259557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feld 24">
            <a:extLst>
              <a:ext uri="{FF2B5EF4-FFF2-40B4-BE49-F238E27FC236}">
                <a16:creationId xmlns:a16="http://schemas.microsoft.com/office/drawing/2014/main" id="{9773AF02-1684-4EDA-A757-AC9CE2156D63}"/>
              </a:ext>
            </a:extLst>
          </p:cNvPr>
          <p:cNvSpPr txBox="1"/>
          <p:nvPr/>
        </p:nvSpPr>
        <p:spPr>
          <a:xfrm>
            <a:off x="3828883" y="5428972"/>
            <a:ext cx="11400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Derived class</a:t>
            </a:r>
          </a:p>
        </p:txBody>
      </p:sp>
      <p:sp>
        <p:nvSpPr>
          <p:cNvPr id="26" name="PlaceHolder 1">
            <a:extLst>
              <a:ext uri="{FF2B5EF4-FFF2-40B4-BE49-F238E27FC236}">
                <a16:creationId xmlns:a16="http://schemas.microsoft.com/office/drawing/2014/main" id="{7C6601B5-28BE-43C1-8565-7FE07576EC06}"/>
              </a:ext>
            </a:extLst>
          </p:cNvPr>
          <p:cNvSpPr txBox="1">
            <a:spLocks/>
          </p:cNvSpPr>
          <p:nvPr/>
        </p:nvSpPr>
        <p:spPr>
          <a:xfrm>
            <a:off x="604683" y="5753266"/>
            <a:ext cx="7934633" cy="518369"/>
          </a:xfrm>
          <a:prstGeom prst="rect">
            <a:avLst/>
          </a:prstGeom>
          <a:noFill/>
          <a:ln w="0"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286214" lvl="1" indent="-285959">
              <a:spcBef>
                <a:spcPts val="801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en-US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hlinkClick r:id="rId3"/>
              </a:rPr>
              <a:t>Notebook examples</a:t>
            </a:r>
            <a:endParaRPr lang="en-US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5225A5A7-3317-433E-8072-3E102489B75B}"/>
              </a:ext>
            </a:extLst>
          </p:cNvPr>
          <p:cNvSpPr/>
          <p:nvPr/>
        </p:nvSpPr>
        <p:spPr>
          <a:xfrm>
            <a:off x="6065784" y="2866748"/>
            <a:ext cx="1643062" cy="102155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Tires</a:t>
            </a:r>
          </a:p>
          <a:p>
            <a:pPr algn="ctr"/>
            <a:endParaRPr lang="en-GB" sz="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algn="ctr"/>
            <a:endParaRPr lang="en-GB" sz="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GB" dirty="0"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GB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profile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GB" dirty="0"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4" name="Gerade Verbindung mit Pfeil 3">
            <a:extLst>
              <a:ext uri="{FF2B5EF4-FFF2-40B4-BE49-F238E27FC236}">
                <a16:creationId xmlns:a16="http://schemas.microsoft.com/office/drawing/2014/main" id="{E7E66BA6-787E-41EB-A460-F831F72740CF}"/>
              </a:ext>
            </a:extLst>
          </p:cNvPr>
          <p:cNvCxnSpPr>
            <a:cxnSpLocks/>
            <a:endCxn id="21" idx="1"/>
          </p:cNvCxnSpPr>
          <p:nvPr/>
        </p:nvCxnSpPr>
        <p:spPr>
          <a:xfrm>
            <a:off x="5272828" y="3377526"/>
            <a:ext cx="792956" cy="0"/>
          </a:xfrm>
          <a:prstGeom prst="straightConnector1">
            <a:avLst/>
          </a:prstGeom>
          <a:ln w="25400">
            <a:solidFill>
              <a:schemeClr val="tx1"/>
            </a:solidFill>
            <a:headEnd type="diamon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hteck 23">
            <a:extLst>
              <a:ext uri="{FF2B5EF4-FFF2-40B4-BE49-F238E27FC236}">
                <a16:creationId xmlns:a16="http://schemas.microsoft.com/office/drawing/2014/main" id="{D322FB74-DC1B-44C3-8B48-3D22A152CB78}"/>
              </a:ext>
            </a:extLst>
          </p:cNvPr>
          <p:cNvSpPr/>
          <p:nvPr/>
        </p:nvSpPr>
        <p:spPr>
          <a:xfrm>
            <a:off x="1064036" y="2864371"/>
            <a:ext cx="1643062" cy="102155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Breaks</a:t>
            </a:r>
          </a:p>
          <a:p>
            <a:pPr algn="ctr"/>
            <a:endParaRPr lang="en-GB" sz="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algn="ctr"/>
            <a:endParaRPr lang="en-GB" sz="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GB" dirty="0"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GB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type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GB" dirty="0"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3D218F1B-92C5-4C2D-B0AD-4CAFEE8790B9}"/>
              </a:ext>
            </a:extLst>
          </p:cNvPr>
          <p:cNvCxnSpPr>
            <a:cxnSpLocks/>
          </p:cNvCxnSpPr>
          <p:nvPr/>
        </p:nvCxnSpPr>
        <p:spPr>
          <a:xfrm flipH="1" flipV="1">
            <a:off x="2707098" y="3389437"/>
            <a:ext cx="827420" cy="2378"/>
          </a:xfrm>
          <a:prstGeom prst="straightConnector1">
            <a:avLst/>
          </a:prstGeom>
          <a:ln w="25400">
            <a:solidFill>
              <a:schemeClr val="tx1"/>
            </a:solidFill>
            <a:headEnd type="diamon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430783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  <p:bldP spid="21" grpId="0" animBg="1"/>
      <p:bldP spid="24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E91C8A42-093C-4664-A394-225128BADC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858400"/>
            <a:ext cx="8229300" cy="1144800"/>
          </a:xfrm>
        </p:spPr>
        <p:txBody>
          <a:bodyPr/>
          <a:lstStyle/>
          <a:p>
            <a:pPr algn="ctr"/>
            <a:r>
              <a:rPr lang="en-US" sz="4400" b="1" dirty="0">
                <a:latin typeface="Calibri" panose="020F0502020204030204" pitchFamily="34" charset="0"/>
                <a:cs typeface="Calibri" panose="020F0502020204030204" pitchFamily="34" charset="0"/>
              </a:rPr>
              <a:t>Error Handling</a:t>
            </a:r>
            <a:endParaRPr lang="de-AT" sz="4400" dirty="0"/>
          </a:p>
        </p:txBody>
      </p:sp>
      <p:sp>
        <p:nvSpPr>
          <p:cNvPr id="87" name="Google Shape;87;p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7037108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8" name="PlaceHolder 2"/>
          <p:cNvSpPr>
            <a:spLocks noGrp="1"/>
          </p:cNvSpPr>
          <p:nvPr>
            <p:ph type="body" idx="1"/>
          </p:nvPr>
        </p:nvSpPr>
        <p:spPr>
          <a:xfrm>
            <a:off x="604683" y="1558363"/>
            <a:ext cx="7934633" cy="35994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86214" lvl="1" indent="-285959">
              <a:spcBef>
                <a:spcPts val="801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Simplifies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error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handling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via a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special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mechanism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6214" lvl="1" indent="-285959">
              <a:spcBef>
                <a:spcPts val="801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Return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values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are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used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for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 normal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program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control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flow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6214" lvl="1" indent="-285959">
              <a:spcBef>
                <a:spcPts val="801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Errors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are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handled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in a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structured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and parallel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flow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414" lvl="2" indent="-285959">
              <a:spcBef>
                <a:spcPts val="801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Errors „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throw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“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exception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objects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„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upwards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“</a:t>
            </a:r>
          </a:p>
          <a:p>
            <a:pPr marL="743414" lvl="2" indent="-285959">
              <a:spcBef>
                <a:spcPts val="801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Terminate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execution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current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function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6214" lvl="1" indent="-285959">
              <a:spcBef>
                <a:spcPts val="801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Higher-level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functions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can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414" lvl="2" indent="-285959">
              <a:spcBef>
                <a:spcPts val="801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Catch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exception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and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continue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414" lvl="2" indent="-285959">
              <a:spcBef>
                <a:spcPts val="801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Catch, „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throw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“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it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„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upwards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“ and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terminate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function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414" lvl="2" indent="-285959">
              <a:spcBef>
                <a:spcPts val="801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Terminate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function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without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catching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55" lvl="1" indent="0">
              <a:spcBef>
                <a:spcPts val="801"/>
              </a:spcBef>
              <a:buClr>
                <a:srgbClr val="0F0F0F"/>
              </a:buClr>
            </a:pP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414" lvl="2" indent="-285959">
              <a:spcBef>
                <a:spcPts val="801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" name="Google Shape;86;p2">
            <a:extLst>
              <a:ext uri="{FF2B5EF4-FFF2-40B4-BE49-F238E27FC236}">
                <a16:creationId xmlns:a16="http://schemas.microsoft.com/office/drawing/2014/main" id="{3FD547F6-2EE3-4D84-AAAB-02062ECB183B}"/>
              </a:ext>
            </a:extLst>
          </p:cNvPr>
          <p:cNvSpPr txBox="1">
            <a:spLocks/>
          </p:cNvSpPr>
          <p:nvPr/>
        </p:nvSpPr>
        <p:spPr>
          <a:xfrm>
            <a:off x="306449" y="227023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Exception handling</a:t>
            </a:r>
            <a:endParaRPr lang="en-US" dirty="0">
              <a:solidFill>
                <a:schemeClr val="dk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3520885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86;p2">
            <a:extLst>
              <a:ext uri="{FF2B5EF4-FFF2-40B4-BE49-F238E27FC236}">
                <a16:creationId xmlns:a16="http://schemas.microsoft.com/office/drawing/2014/main" id="{3FD547F6-2EE3-4D84-AAAB-02062ECB183B}"/>
              </a:ext>
            </a:extLst>
          </p:cNvPr>
          <p:cNvSpPr txBox="1">
            <a:spLocks/>
          </p:cNvSpPr>
          <p:nvPr/>
        </p:nvSpPr>
        <p:spPr>
          <a:xfrm>
            <a:off x="306449" y="227023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Exception object</a:t>
            </a:r>
            <a:endParaRPr lang="en-US" dirty="0">
              <a:solidFill>
                <a:schemeClr val="dk1"/>
              </a:solidFill>
            </a:endParaRPr>
          </a:p>
        </p:txBody>
      </p:sp>
      <p:sp>
        <p:nvSpPr>
          <p:cNvPr id="4" name="PlaceHolder 2">
            <a:extLst>
              <a:ext uri="{FF2B5EF4-FFF2-40B4-BE49-F238E27FC236}">
                <a16:creationId xmlns:a16="http://schemas.microsoft.com/office/drawing/2014/main" id="{8D06C058-40C1-459A-BAF9-FA354E1AD5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4683" y="1558364"/>
            <a:ext cx="7934633" cy="520467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86214" lvl="1" indent="-285959">
              <a:spcBef>
                <a:spcPts val="801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Contains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attributes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and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methods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classify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error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55" lvl="1" indent="0">
              <a:spcBef>
                <a:spcPts val="801"/>
              </a:spcBef>
              <a:buClr>
                <a:srgbClr val="0F0F0F"/>
              </a:buClr>
            </a:pP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414" lvl="2" indent="-285959">
              <a:spcBef>
                <a:spcPts val="801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7561D9C6-C93E-47CC-B7AC-0FDA433001FA}"/>
              </a:ext>
            </a:extLst>
          </p:cNvPr>
          <p:cNvSpPr txBox="1"/>
          <p:nvPr/>
        </p:nvSpPr>
        <p:spPr>
          <a:xfrm>
            <a:off x="597072" y="2285997"/>
            <a:ext cx="7973310" cy="1557341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pPr marL="114300" indent="0">
              <a:buNone/>
            </a:pPr>
            <a:r>
              <a:rPr lang="en-GB" sz="1800" dirty="0">
                <a:latin typeface="Consolas" panose="020B0609020204030204" pitchFamily="49" charset="0"/>
                <a:cs typeface="Consolas" panose="020B0609020204030204" pitchFamily="49" charset="0"/>
              </a:rPr>
              <a:t>e = Exception(</a:t>
            </a:r>
            <a:r>
              <a:rPr lang="en-GB" sz="1800" dirty="0">
                <a:solidFill>
                  <a:srgbClr val="9A020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"My custom error"</a:t>
            </a:r>
            <a:r>
              <a:rPr lang="en-GB" sz="1800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  <a:p>
            <a:pPr marL="114300" indent="0">
              <a:buNone/>
            </a:pPr>
            <a:r>
              <a:rPr lang="en-GB" sz="1800" dirty="0">
                <a:solidFill>
                  <a:srgbClr val="08964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print</a:t>
            </a:r>
            <a:r>
              <a:rPr lang="en-GB" sz="1800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GB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e.</a:t>
            </a:r>
            <a:r>
              <a:rPr lang="en-GB" sz="1800" dirty="0" err="1">
                <a:solidFill>
                  <a:srgbClr val="2B639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args</a:t>
            </a:r>
            <a:r>
              <a:rPr lang="en-GB" sz="1800" dirty="0">
                <a:latin typeface="Consolas" panose="020B0609020204030204" pitchFamily="49" charset="0"/>
                <a:cs typeface="Consolas" panose="020B0609020204030204" pitchFamily="49" charset="0"/>
              </a:rPr>
              <a:t>) 	</a:t>
            </a:r>
            <a:r>
              <a:rPr lang="en-GB" sz="1800" dirty="0">
                <a:solidFill>
                  <a:schemeClr val="bg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prints: </a:t>
            </a:r>
            <a:r>
              <a:rPr lang="de-AT" sz="1800" dirty="0">
                <a:solidFill>
                  <a:schemeClr val="bg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('</a:t>
            </a:r>
            <a:r>
              <a:rPr lang="de-AT" sz="1800" dirty="0" err="1">
                <a:solidFill>
                  <a:schemeClr val="bg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My</a:t>
            </a:r>
            <a:r>
              <a:rPr lang="de-AT" sz="1800" dirty="0">
                <a:solidFill>
                  <a:schemeClr val="bg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de-AT" sz="1800" dirty="0" err="1">
                <a:solidFill>
                  <a:schemeClr val="bg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custom</a:t>
            </a:r>
            <a:r>
              <a:rPr lang="de-AT" sz="1800" dirty="0">
                <a:solidFill>
                  <a:schemeClr val="bg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de-AT" sz="1800" dirty="0" err="1">
                <a:solidFill>
                  <a:schemeClr val="bg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error</a:t>
            </a:r>
            <a:r>
              <a:rPr lang="de-AT" sz="1800" dirty="0">
                <a:solidFill>
                  <a:schemeClr val="bg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',)</a:t>
            </a:r>
          </a:p>
          <a:p>
            <a:pPr marL="114300" indent="0">
              <a:buNone/>
            </a:pPr>
            <a:endParaRPr lang="de-AT" sz="1800" dirty="0">
              <a:solidFill>
                <a:schemeClr val="bg2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114300" indent="0">
              <a:buNone/>
            </a:pPr>
            <a:r>
              <a:rPr lang="en-GB" sz="1800" dirty="0">
                <a:latin typeface="Consolas" panose="020B0609020204030204" pitchFamily="49" charset="0"/>
                <a:cs typeface="Consolas" panose="020B0609020204030204" pitchFamily="49" charset="0"/>
              </a:rPr>
              <a:t>e = Exception(</a:t>
            </a:r>
            <a:r>
              <a:rPr lang="en-GB" sz="1800" dirty="0">
                <a:solidFill>
                  <a:srgbClr val="9A020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"My custom error"</a:t>
            </a:r>
            <a:r>
              <a:rPr lang="en-GB" sz="1800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GB" sz="1800" dirty="0">
                <a:solidFill>
                  <a:srgbClr val="08964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  <a:r>
              <a:rPr lang="en-GB" sz="1800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GB" sz="1800" dirty="0">
                <a:solidFill>
                  <a:srgbClr val="08964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2</a:t>
            </a:r>
            <a:r>
              <a:rPr lang="en-GB" sz="1800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  <a:p>
            <a:pPr marL="114300" indent="0">
              <a:buNone/>
            </a:pPr>
            <a:r>
              <a:rPr lang="en-GB" sz="1800" dirty="0">
                <a:solidFill>
                  <a:srgbClr val="08964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print</a:t>
            </a:r>
            <a:r>
              <a:rPr lang="en-GB" sz="1800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GB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e.</a:t>
            </a:r>
            <a:r>
              <a:rPr lang="en-GB" sz="1800" dirty="0" err="1">
                <a:solidFill>
                  <a:srgbClr val="2B639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args</a:t>
            </a:r>
            <a:r>
              <a:rPr lang="en-GB" sz="1800" dirty="0">
                <a:latin typeface="Consolas" panose="020B0609020204030204" pitchFamily="49" charset="0"/>
                <a:cs typeface="Consolas" panose="020B0609020204030204" pitchFamily="49" charset="0"/>
              </a:rPr>
              <a:t>) 	</a:t>
            </a:r>
            <a:r>
              <a:rPr lang="en-GB" sz="1800" dirty="0">
                <a:solidFill>
                  <a:schemeClr val="bg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prints: </a:t>
            </a:r>
            <a:r>
              <a:rPr lang="de-AT" sz="1800" dirty="0">
                <a:solidFill>
                  <a:schemeClr val="bg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('</a:t>
            </a:r>
            <a:r>
              <a:rPr lang="de-AT" sz="1800" dirty="0" err="1">
                <a:solidFill>
                  <a:schemeClr val="bg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My</a:t>
            </a:r>
            <a:r>
              <a:rPr lang="de-AT" sz="1800" dirty="0">
                <a:solidFill>
                  <a:schemeClr val="bg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de-AT" sz="1800" dirty="0" err="1">
                <a:solidFill>
                  <a:schemeClr val="bg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custom</a:t>
            </a:r>
            <a:r>
              <a:rPr lang="de-AT" sz="1800" dirty="0">
                <a:solidFill>
                  <a:schemeClr val="bg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de-AT" sz="1800" dirty="0" err="1">
                <a:solidFill>
                  <a:schemeClr val="bg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error</a:t>
            </a:r>
            <a:r>
              <a:rPr lang="de-AT" sz="1800" dirty="0">
                <a:solidFill>
                  <a:schemeClr val="bg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', 1, 2)</a:t>
            </a:r>
          </a:p>
          <a:p>
            <a:endParaRPr lang="en-US" sz="1800" spc="-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1807000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86;p2">
            <a:extLst>
              <a:ext uri="{FF2B5EF4-FFF2-40B4-BE49-F238E27FC236}">
                <a16:creationId xmlns:a16="http://schemas.microsoft.com/office/drawing/2014/main" id="{3FD547F6-2EE3-4D84-AAAB-02062ECB183B}"/>
              </a:ext>
            </a:extLst>
          </p:cNvPr>
          <p:cNvSpPr txBox="1">
            <a:spLocks/>
          </p:cNvSpPr>
          <p:nvPr/>
        </p:nvSpPr>
        <p:spPr>
          <a:xfrm>
            <a:off x="306449" y="227023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Throwing (raising) an exception</a:t>
            </a:r>
            <a:endParaRPr lang="en-US" dirty="0">
              <a:solidFill>
                <a:schemeClr val="dk1"/>
              </a:solidFill>
            </a:endParaRP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7561D9C6-C93E-47CC-B7AC-0FDA433001FA}"/>
              </a:ext>
            </a:extLst>
          </p:cNvPr>
          <p:cNvSpPr txBox="1"/>
          <p:nvPr/>
        </p:nvSpPr>
        <p:spPr>
          <a:xfrm>
            <a:off x="585345" y="1600197"/>
            <a:ext cx="7973310" cy="471491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pPr marL="114300" indent="0">
              <a:buNone/>
            </a:pPr>
            <a:r>
              <a:rPr lang="en-GB" sz="1800" b="1" dirty="0">
                <a:solidFill>
                  <a:srgbClr val="08964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raise</a:t>
            </a:r>
            <a:r>
              <a:rPr lang="en-GB" sz="1800" dirty="0">
                <a:latin typeface="Consolas" panose="020B0609020204030204" pitchFamily="49" charset="0"/>
                <a:cs typeface="Consolas" panose="020B0609020204030204" pitchFamily="49" charset="0"/>
              </a:rPr>
              <a:t> Exception(</a:t>
            </a:r>
            <a:r>
              <a:rPr lang="en-GB" sz="1800" dirty="0">
                <a:solidFill>
                  <a:srgbClr val="9A020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"My custom error"</a:t>
            </a:r>
            <a:r>
              <a:rPr lang="en-GB" sz="1800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  <a:p>
            <a:endParaRPr lang="en-US" sz="1800" spc="-1" dirty="0">
              <a:latin typeface="Consolas" panose="020B0609020204030204" pitchFamily="49" charset="0"/>
            </a:endParaRP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C8105602-2B48-4671-BF91-C2B37F511215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26581"/>
          <a:stretch/>
        </p:blipFill>
        <p:spPr>
          <a:xfrm>
            <a:off x="847148" y="2937215"/>
            <a:ext cx="6993404" cy="1277597"/>
          </a:xfrm>
          <a:prstGeom prst="rect">
            <a:avLst/>
          </a:prstGeom>
        </p:spPr>
      </p:pic>
      <p:sp>
        <p:nvSpPr>
          <p:cNvPr id="8" name="Pfeil nach unten 6">
            <a:extLst>
              <a:ext uri="{FF2B5EF4-FFF2-40B4-BE49-F238E27FC236}">
                <a16:creationId xmlns:a16="http://schemas.microsoft.com/office/drawing/2014/main" id="{CE4D54D0-D938-4EA0-92CA-B25191DD88A2}"/>
              </a:ext>
            </a:extLst>
          </p:cNvPr>
          <p:cNvSpPr/>
          <p:nvPr/>
        </p:nvSpPr>
        <p:spPr>
          <a:xfrm>
            <a:off x="3098200" y="2223967"/>
            <a:ext cx="166494" cy="578498"/>
          </a:xfrm>
          <a:prstGeom prst="downArrow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898168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86;p2">
            <a:extLst>
              <a:ext uri="{FF2B5EF4-FFF2-40B4-BE49-F238E27FC236}">
                <a16:creationId xmlns:a16="http://schemas.microsoft.com/office/drawing/2014/main" id="{3FD547F6-2EE3-4D84-AAAB-02062ECB183B}"/>
              </a:ext>
            </a:extLst>
          </p:cNvPr>
          <p:cNvSpPr txBox="1">
            <a:spLocks/>
          </p:cNvSpPr>
          <p:nvPr/>
        </p:nvSpPr>
        <p:spPr>
          <a:xfrm>
            <a:off x="306449" y="227023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Throwing (raising) an exception</a:t>
            </a:r>
            <a:endParaRPr lang="en-US" dirty="0">
              <a:solidFill>
                <a:schemeClr val="dk1"/>
              </a:solidFill>
            </a:endParaRP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7561D9C6-C93E-47CC-B7AC-0FDA433001FA}"/>
              </a:ext>
            </a:extLst>
          </p:cNvPr>
          <p:cNvSpPr txBox="1"/>
          <p:nvPr/>
        </p:nvSpPr>
        <p:spPr>
          <a:xfrm>
            <a:off x="585345" y="2550322"/>
            <a:ext cx="7973310" cy="471491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pPr marL="114300" indent="0">
              <a:buNone/>
            </a:pPr>
            <a:r>
              <a:rPr lang="en-GB" sz="1800" b="1" dirty="0">
                <a:solidFill>
                  <a:srgbClr val="08964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raise</a:t>
            </a:r>
            <a:r>
              <a:rPr lang="en-GB" sz="18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GB" sz="1800" dirty="0">
                <a:solidFill>
                  <a:srgbClr val="9A020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"test"</a:t>
            </a:r>
            <a:endParaRPr lang="en-GB" sz="18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8" name="Pfeil nach unten 6">
            <a:extLst>
              <a:ext uri="{FF2B5EF4-FFF2-40B4-BE49-F238E27FC236}">
                <a16:creationId xmlns:a16="http://schemas.microsoft.com/office/drawing/2014/main" id="{CE4D54D0-D938-4EA0-92CA-B25191DD88A2}"/>
              </a:ext>
            </a:extLst>
          </p:cNvPr>
          <p:cNvSpPr/>
          <p:nvPr/>
        </p:nvSpPr>
        <p:spPr>
          <a:xfrm>
            <a:off x="3098200" y="3138372"/>
            <a:ext cx="166494" cy="578498"/>
          </a:xfrm>
          <a:prstGeom prst="downArrow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PlaceHolder 2">
            <a:extLst>
              <a:ext uri="{FF2B5EF4-FFF2-40B4-BE49-F238E27FC236}">
                <a16:creationId xmlns:a16="http://schemas.microsoft.com/office/drawing/2014/main" id="{B0175EA7-F5DB-43DB-AAF1-44CF65A48A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4683" y="1558364"/>
            <a:ext cx="7934633" cy="853877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86214" lvl="1" indent="-285959">
              <a:spcBef>
                <a:spcPts val="801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can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only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throw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BaseException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objects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and…</a:t>
            </a:r>
          </a:p>
          <a:p>
            <a:pPr marL="286214" lvl="1" indent="-285959">
              <a:spcBef>
                <a:spcPts val="801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Objects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derived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from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BaseException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inheritance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28040CAA-0C76-4005-B12E-98D7DC15F6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959" y="4064031"/>
            <a:ext cx="7407576" cy="13723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31017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8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86;p2">
            <a:extLst>
              <a:ext uri="{FF2B5EF4-FFF2-40B4-BE49-F238E27FC236}">
                <a16:creationId xmlns:a16="http://schemas.microsoft.com/office/drawing/2014/main" id="{3FD547F6-2EE3-4D84-AAAB-02062ECB183B}"/>
              </a:ext>
            </a:extLst>
          </p:cNvPr>
          <p:cNvSpPr txBox="1">
            <a:spLocks/>
          </p:cNvSpPr>
          <p:nvPr/>
        </p:nvSpPr>
        <p:spPr>
          <a:xfrm>
            <a:off x="306449" y="227023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Built-in exceptions</a:t>
            </a:r>
            <a:endParaRPr lang="en-US" dirty="0">
              <a:solidFill>
                <a:schemeClr val="dk1"/>
              </a:solidFill>
            </a:endParaRPr>
          </a:p>
        </p:txBody>
      </p:sp>
      <p:sp>
        <p:nvSpPr>
          <p:cNvPr id="6" name="PlaceHolder 2">
            <a:extLst>
              <a:ext uri="{FF2B5EF4-FFF2-40B4-BE49-F238E27FC236}">
                <a16:creationId xmlns:a16="http://schemas.microsoft.com/office/drawing/2014/main" id="{B0175EA7-F5DB-43DB-AAF1-44CF65A48A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4683" y="1558364"/>
            <a:ext cx="7934633" cy="3006492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86214" lvl="1" indent="-285959">
              <a:spcBef>
                <a:spcPts val="801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BaseException</a:t>
            </a: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6214" lvl="1" indent="-285959">
              <a:spcBef>
                <a:spcPts val="801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Exception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(Base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class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for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user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</a:p>
          <a:p>
            <a:pPr marL="286214" lvl="1" indent="-285959">
              <a:spcBef>
                <a:spcPts val="801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SyntaxError</a:t>
            </a: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6214" lvl="1" indent="-285959">
              <a:spcBef>
                <a:spcPts val="801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NameError</a:t>
            </a: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6214" lvl="1" indent="-285959">
              <a:spcBef>
                <a:spcPts val="801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TypeError</a:t>
            </a: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6214" lvl="1" indent="-285959">
              <a:spcBef>
                <a:spcPts val="801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ImportErro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6214" lvl="1" indent="-285959">
              <a:spcBef>
                <a:spcPts val="801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… (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hlinkClick r:id="rId3" action="ppaction://hlinkfile"/>
              </a:rPr>
              <a:t>docs.python.org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47732694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86;p2">
            <a:extLst>
              <a:ext uri="{FF2B5EF4-FFF2-40B4-BE49-F238E27FC236}">
                <a16:creationId xmlns:a16="http://schemas.microsoft.com/office/drawing/2014/main" id="{3FD547F6-2EE3-4D84-AAAB-02062ECB183B}"/>
              </a:ext>
            </a:extLst>
          </p:cNvPr>
          <p:cNvSpPr txBox="1">
            <a:spLocks/>
          </p:cNvSpPr>
          <p:nvPr/>
        </p:nvSpPr>
        <p:spPr>
          <a:xfrm>
            <a:off x="306449" y="227023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Exception handling</a:t>
            </a:r>
            <a:endParaRPr lang="en-US" dirty="0">
              <a:solidFill>
                <a:schemeClr val="dk1"/>
              </a:solidFill>
            </a:endParaRP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7561D9C6-C93E-47CC-B7AC-0FDA433001FA}"/>
              </a:ext>
            </a:extLst>
          </p:cNvPr>
          <p:cNvSpPr txBox="1"/>
          <p:nvPr/>
        </p:nvSpPr>
        <p:spPr>
          <a:xfrm>
            <a:off x="585345" y="2800355"/>
            <a:ext cx="7973310" cy="471491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pPr marL="114300" indent="0">
              <a:buNone/>
            </a:pPr>
            <a:r>
              <a:rPr lang="en-GB" sz="1800" dirty="0">
                <a:solidFill>
                  <a:srgbClr val="089645"/>
                </a:solidFill>
                <a:latin typeface="Consolas" panose="020B0609020204030204" pitchFamily="49" charset="0"/>
              </a:rPr>
              <a:t>open</a:t>
            </a:r>
            <a:r>
              <a:rPr lang="en-GB" sz="1800" dirty="0">
                <a:latin typeface="Consolas" panose="020B0609020204030204" pitchFamily="49" charset="0"/>
              </a:rPr>
              <a:t>(</a:t>
            </a:r>
            <a:r>
              <a:rPr lang="en-GB" sz="1800" dirty="0">
                <a:solidFill>
                  <a:srgbClr val="9A020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GB" sz="1800" dirty="0">
                <a:solidFill>
                  <a:srgbClr val="9A0201"/>
                </a:solidFill>
                <a:latin typeface="Consolas" panose="020B0609020204030204" pitchFamily="49" charset="0"/>
              </a:rPr>
              <a:t>/</a:t>
            </a:r>
            <a:r>
              <a:rPr lang="en-GB" sz="1800" dirty="0" err="1">
                <a:solidFill>
                  <a:srgbClr val="9A0201"/>
                </a:solidFill>
                <a:latin typeface="Consolas" panose="020B0609020204030204" pitchFamily="49" charset="0"/>
              </a:rPr>
              <a:t>tmp</a:t>
            </a:r>
            <a:r>
              <a:rPr lang="en-GB" sz="1800" dirty="0">
                <a:solidFill>
                  <a:srgbClr val="9A0201"/>
                </a:solidFill>
                <a:latin typeface="Consolas" panose="020B0609020204030204" pitchFamily="49" charset="0"/>
              </a:rPr>
              <a:t>/</a:t>
            </a:r>
            <a:r>
              <a:rPr lang="en-GB" sz="1800" dirty="0" err="1">
                <a:solidFill>
                  <a:srgbClr val="9A0201"/>
                </a:solidFill>
                <a:latin typeface="Consolas" panose="020B0609020204030204" pitchFamily="49" charset="0"/>
              </a:rPr>
              <a:t>non_existing_file</a:t>
            </a:r>
            <a:r>
              <a:rPr lang="en-GB" sz="1800" dirty="0">
                <a:solidFill>
                  <a:srgbClr val="9A020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GB" sz="1800" dirty="0">
                <a:latin typeface="Consolas" panose="020B0609020204030204" pitchFamily="49" charset="0"/>
              </a:rPr>
              <a:t>, </a:t>
            </a:r>
            <a:r>
              <a:rPr lang="en-GB" sz="1800" dirty="0">
                <a:solidFill>
                  <a:srgbClr val="9A020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GB" sz="1800" dirty="0">
                <a:solidFill>
                  <a:srgbClr val="9A0201"/>
                </a:solidFill>
                <a:latin typeface="Consolas" panose="020B0609020204030204" pitchFamily="49" charset="0"/>
              </a:rPr>
              <a:t>r</a:t>
            </a:r>
            <a:r>
              <a:rPr lang="en-GB" sz="1800" dirty="0">
                <a:solidFill>
                  <a:srgbClr val="9A020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GB" sz="18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" name="Pfeil nach unten 6">
            <a:extLst>
              <a:ext uri="{FF2B5EF4-FFF2-40B4-BE49-F238E27FC236}">
                <a16:creationId xmlns:a16="http://schemas.microsoft.com/office/drawing/2014/main" id="{CE4D54D0-D938-4EA0-92CA-B25191DD88A2}"/>
              </a:ext>
            </a:extLst>
          </p:cNvPr>
          <p:cNvSpPr/>
          <p:nvPr/>
        </p:nvSpPr>
        <p:spPr>
          <a:xfrm>
            <a:off x="3098200" y="3388405"/>
            <a:ext cx="166494" cy="578498"/>
          </a:xfrm>
          <a:prstGeom prst="downArrow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PlaceHolder 2">
            <a:extLst>
              <a:ext uri="{FF2B5EF4-FFF2-40B4-BE49-F238E27FC236}">
                <a16:creationId xmlns:a16="http://schemas.microsoft.com/office/drawing/2014/main" id="{B0175EA7-F5DB-43DB-AAF1-44CF65A48A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4683" y="1558364"/>
            <a:ext cx="7934633" cy="1013386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lvl="0" indent="-342900">
              <a:lnSpc>
                <a:spcPct val="115000"/>
              </a:lnSpc>
              <a:buSzPts val="1800"/>
              <a:buFont typeface="Wingdings" panose="05000000000000000000" pitchFamily="2" charset="2"/>
              <a:buChar char="v"/>
            </a:pPr>
            <a:r>
              <a:rPr lang="en-GB" sz="1800" b="1" dirty="0">
                <a:solidFill>
                  <a:srgbClr val="08964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try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keyword opens a try-block</a:t>
            </a:r>
          </a:p>
          <a:p>
            <a:pPr lvl="0" indent="-342900">
              <a:lnSpc>
                <a:spcPct val="115000"/>
              </a:lnSpc>
              <a:buSzPts val="1800"/>
              <a:buFont typeface="Wingdings" panose="05000000000000000000" pitchFamily="2" charset="2"/>
              <a:buChar char="v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Exceptions within that try-block are caught within the except-block</a:t>
            </a:r>
          </a:p>
          <a:p>
            <a:pPr lvl="0" indent="-342900">
              <a:lnSpc>
                <a:spcPct val="115000"/>
              </a:lnSpc>
              <a:buSzPts val="1800"/>
              <a:buFont typeface="Wingdings" panose="05000000000000000000" pitchFamily="2" charset="2"/>
              <a:buChar char="v"/>
            </a:pPr>
            <a:r>
              <a:rPr lang="en-GB" sz="1800" b="1" dirty="0">
                <a:solidFill>
                  <a:srgbClr val="08964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except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defines which exceptions should be handled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9E8855B6-BD87-4EE5-AC6B-4AB641C004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463" y="4140849"/>
            <a:ext cx="7346083" cy="1225549"/>
          </a:xfrm>
          <a:prstGeom prst="rect">
            <a:avLst/>
          </a:prstGeom>
          <a:solidFill>
            <a:srgbClr val="FFDDDD"/>
          </a:solidFill>
        </p:spPr>
      </p:pic>
    </p:spTree>
    <p:extLst>
      <p:ext uri="{BB962C8B-B14F-4D97-AF65-F5344CB8AC3E}">
        <p14:creationId xmlns:p14="http://schemas.microsoft.com/office/powerpoint/2010/main" val="29881150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8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86;p2">
            <a:extLst>
              <a:ext uri="{FF2B5EF4-FFF2-40B4-BE49-F238E27FC236}">
                <a16:creationId xmlns:a16="http://schemas.microsoft.com/office/drawing/2014/main" id="{3FD547F6-2EE3-4D84-AAAB-02062ECB183B}"/>
              </a:ext>
            </a:extLst>
          </p:cNvPr>
          <p:cNvSpPr txBox="1">
            <a:spLocks/>
          </p:cNvSpPr>
          <p:nvPr/>
        </p:nvSpPr>
        <p:spPr>
          <a:xfrm>
            <a:off x="306449" y="227023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Exception handling</a:t>
            </a:r>
            <a:endParaRPr lang="en-US" dirty="0">
              <a:solidFill>
                <a:schemeClr val="dk1"/>
              </a:solidFill>
            </a:endParaRP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7561D9C6-C93E-47CC-B7AC-0FDA433001FA}"/>
              </a:ext>
            </a:extLst>
          </p:cNvPr>
          <p:cNvSpPr txBox="1"/>
          <p:nvPr/>
        </p:nvSpPr>
        <p:spPr>
          <a:xfrm>
            <a:off x="585345" y="1735932"/>
            <a:ext cx="7973310" cy="1321594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pPr marL="114300" indent="0">
              <a:buNone/>
            </a:pPr>
            <a:r>
              <a:rPr lang="en-GB" sz="1800" b="1" dirty="0">
                <a:solidFill>
                  <a:srgbClr val="08964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try</a:t>
            </a:r>
            <a:r>
              <a:rPr lang="en-GB" sz="1800" dirty="0">
                <a:latin typeface="Consolas" panose="020B0609020204030204" pitchFamily="49" charset="0"/>
                <a:cs typeface="Consolas" panose="020B0609020204030204" pitchFamily="49" charset="0"/>
              </a:rPr>
              <a:t>:</a:t>
            </a:r>
          </a:p>
          <a:p>
            <a:pPr marL="114300" indent="0">
              <a:buNone/>
            </a:pPr>
            <a:r>
              <a:rPr lang="en-GB" sz="18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GB" sz="1800" dirty="0">
                <a:solidFill>
                  <a:srgbClr val="08964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open</a:t>
            </a:r>
            <a:r>
              <a:rPr lang="en-GB" sz="1800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GB" sz="1800" dirty="0">
                <a:solidFill>
                  <a:srgbClr val="9A020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"/</a:t>
            </a:r>
            <a:r>
              <a:rPr lang="en-GB" sz="1800" dirty="0" err="1">
                <a:solidFill>
                  <a:srgbClr val="9A020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tmp</a:t>
            </a:r>
            <a:r>
              <a:rPr lang="en-GB" sz="1800" dirty="0">
                <a:solidFill>
                  <a:srgbClr val="9A020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</a:t>
            </a:r>
            <a:r>
              <a:rPr lang="en-GB" sz="1800" dirty="0" err="1">
                <a:solidFill>
                  <a:srgbClr val="9A020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non_existing_file</a:t>
            </a:r>
            <a:r>
              <a:rPr lang="en-GB" sz="1800" dirty="0">
                <a:solidFill>
                  <a:srgbClr val="9A020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GB" sz="1800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GB" sz="1800" dirty="0">
                <a:solidFill>
                  <a:srgbClr val="9A020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"r"</a:t>
            </a:r>
            <a:r>
              <a:rPr lang="en-GB" sz="1800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  <a:p>
            <a:pPr marL="114300" indent="0">
              <a:buNone/>
            </a:pPr>
            <a:r>
              <a:rPr lang="en-GB" sz="1800" b="1" dirty="0">
                <a:solidFill>
                  <a:srgbClr val="08964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except</a:t>
            </a:r>
            <a:r>
              <a:rPr lang="en-GB" sz="18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GB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FileNotFoundError</a:t>
            </a:r>
            <a:r>
              <a:rPr lang="en-GB" sz="18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GB" sz="1800" b="1" dirty="0">
                <a:solidFill>
                  <a:srgbClr val="08964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as</a:t>
            </a:r>
            <a:r>
              <a:rPr lang="en-GB" sz="1800" dirty="0">
                <a:latin typeface="Consolas" panose="020B0609020204030204" pitchFamily="49" charset="0"/>
                <a:cs typeface="Consolas" panose="020B0609020204030204" pitchFamily="49" charset="0"/>
              </a:rPr>
              <a:t> e:</a:t>
            </a:r>
          </a:p>
          <a:p>
            <a:pPr marL="114300" indent="0">
              <a:buNone/>
            </a:pPr>
            <a:r>
              <a:rPr lang="en-GB" sz="18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GB" sz="1800" dirty="0">
                <a:solidFill>
                  <a:srgbClr val="08964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print</a:t>
            </a:r>
            <a:r>
              <a:rPr lang="en-GB" sz="1800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GB" sz="1800" dirty="0" err="1">
                <a:solidFill>
                  <a:srgbClr val="9A020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f"Caught</a:t>
            </a:r>
            <a:r>
              <a:rPr lang="en-GB" sz="1800" dirty="0">
                <a:solidFill>
                  <a:srgbClr val="9A020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 </a:t>
            </a:r>
            <a:r>
              <a:rPr lang="en-GB" sz="1800" dirty="0">
                <a:latin typeface="Consolas" panose="020B0609020204030204" pitchFamily="49" charset="0"/>
                <a:cs typeface="Consolas" panose="020B0609020204030204" pitchFamily="49" charset="0"/>
              </a:rPr>
              <a:t>{e}</a:t>
            </a:r>
            <a:r>
              <a:rPr lang="en-GB" sz="1800" dirty="0">
                <a:solidFill>
                  <a:srgbClr val="9A020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GB" sz="1800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</p:txBody>
      </p:sp>
      <p:sp>
        <p:nvSpPr>
          <p:cNvPr id="8" name="Pfeil nach unten 6">
            <a:extLst>
              <a:ext uri="{FF2B5EF4-FFF2-40B4-BE49-F238E27FC236}">
                <a16:creationId xmlns:a16="http://schemas.microsoft.com/office/drawing/2014/main" id="{CE4D54D0-D938-4EA0-92CA-B25191DD88A2}"/>
              </a:ext>
            </a:extLst>
          </p:cNvPr>
          <p:cNvSpPr/>
          <p:nvPr/>
        </p:nvSpPr>
        <p:spPr>
          <a:xfrm>
            <a:off x="3098200" y="3388405"/>
            <a:ext cx="166494" cy="578498"/>
          </a:xfrm>
          <a:prstGeom prst="downArrow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55A3A08E-121E-453A-8027-DF0B831FAA7D}"/>
              </a:ext>
            </a:extLst>
          </p:cNvPr>
          <p:cNvSpPr/>
          <p:nvPr/>
        </p:nvSpPr>
        <p:spPr>
          <a:xfrm>
            <a:off x="892747" y="4209813"/>
            <a:ext cx="7358505" cy="523220"/>
          </a:xfrm>
          <a:prstGeom prst="rect">
            <a:avLst/>
          </a:prstGeom>
          <a:solidFill>
            <a:srgbClr val="FFDDDD"/>
          </a:solidFill>
        </p:spPr>
        <p:txBody>
          <a:bodyPr wrap="square">
            <a:spAutoFit/>
          </a:bodyPr>
          <a:lstStyle/>
          <a:p>
            <a:pPr marL="114300" indent="0">
              <a:buNone/>
            </a:pPr>
            <a:r>
              <a:rPr lang="en-GB" dirty="0">
                <a:solidFill>
                  <a:schemeClr val="bg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prints: </a:t>
            </a:r>
          </a:p>
          <a:p>
            <a:pPr marL="114300" indent="0">
              <a:buNone/>
            </a:pPr>
            <a:r>
              <a:rPr lang="en-GB" dirty="0">
                <a:solidFill>
                  <a:schemeClr val="bg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</a:t>
            </a:r>
            <a:r>
              <a:rPr lang="de-AT" dirty="0" err="1">
                <a:solidFill>
                  <a:schemeClr val="bg2"/>
                </a:solidFill>
                <a:latin typeface="Consolas" panose="020B0609020204030204" pitchFamily="49" charset="0"/>
              </a:rPr>
              <a:t>Caught</a:t>
            </a:r>
            <a:r>
              <a:rPr lang="de-AT" dirty="0">
                <a:solidFill>
                  <a:schemeClr val="bg2"/>
                </a:solidFill>
                <a:latin typeface="Consolas" panose="020B0609020204030204" pitchFamily="49" charset="0"/>
              </a:rPr>
              <a:t>: [</a:t>
            </a:r>
            <a:r>
              <a:rPr lang="de-AT" dirty="0" err="1">
                <a:solidFill>
                  <a:schemeClr val="bg2"/>
                </a:solidFill>
                <a:latin typeface="Consolas" panose="020B0609020204030204" pitchFamily="49" charset="0"/>
              </a:rPr>
              <a:t>Errno</a:t>
            </a:r>
            <a:r>
              <a:rPr lang="de-AT" dirty="0">
                <a:solidFill>
                  <a:schemeClr val="bg2"/>
                </a:solidFill>
                <a:latin typeface="Consolas" panose="020B0609020204030204" pitchFamily="49" charset="0"/>
              </a:rPr>
              <a:t> 2] </a:t>
            </a:r>
            <a:r>
              <a:rPr lang="de-AT" dirty="0" err="1">
                <a:solidFill>
                  <a:schemeClr val="bg2"/>
                </a:solidFill>
                <a:latin typeface="Consolas" panose="020B0609020204030204" pitchFamily="49" charset="0"/>
              </a:rPr>
              <a:t>No</a:t>
            </a:r>
            <a:r>
              <a:rPr lang="de-AT" dirty="0">
                <a:solidFill>
                  <a:schemeClr val="bg2"/>
                </a:solidFill>
                <a:latin typeface="Consolas" panose="020B0609020204030204" pitchFamily="49" charset="0"/>
              </a:rPr>
              <a:t> such </a:t>
            </a:r>
            <a:r>
              <a:rPr lang="de-AT" dirty="0" err="1">
                <a:solidFill>
                  <a:schemeClr val="bg2"/>
                </a:solidFill>
                <a:latin typeface="Consolas" panose="020B0609020204030204" pitchFamily="49" charset="0"/>
              </a:rPr>
              <a:t>file</a:t>
            </a:r>
            <a:r>
              <a:rPr lang="de-AT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de-AT" dirty="0" err="1">
                <a:solidFill>
                  <a:schemeClr val="bg2"/>
                </a:solidFill>
                <a:latin typeface="Consolas" panose="020B0609020204030204" pitchFamily="49" charset="0"/>
              </a:rPr>
              <a:t>or</a:t>
            </a:r>
            <a:r>
              <a:rPr lang="de-AT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de-AT" dirty="0" err="1">
                <a:solidFill>
                  <a:schemeClr val="bg2"/>
                </a:solidFill>
                <a:latin typeface="Consolas" panose="020B0609020204030204" pitchFamily="49" charset="0"/>
              </a:rPr>
              <a:t>directory</a:t>
            </a:r>
            <a:r>
              <a:rPr lang="de-AT" dirty="0">
                <a:solidFill>
                  <a:schemeClr val="bg2"/>
                </a:solidFill>
                <a:latin typeface="Consolas" panose="020B0609020204030204" pitchFamily="49" charset="0"/>
              </a:rPr>
              <a:t>: '/</a:t>
            </a:r>
            <a:r>
              <a:rPr lang="de-AT" dirty="0" err="1">
                <a:solidFill>
                  <a:schemeClr val="bg2"/>
                </a:solidFill>
                <a:latin typeface="Consolas" panose="020B0609020204030204" pitchFamily="49" charset="0"/>
              </a:rPr>
              <a:t>tmp</a:t>
            </a:r>
            <a:r>
              <a:rPr lang="de-AT" dirty="0">
                <a:solidFill>
                  <a:schemeClr val="bg2"/>
                </a:solidFill>
                <a:latin typeface="Consolas" panose="020B0609020204030204" pitchFamily="49" charset="0"/>
              </a:rPr>
              <a:t>/</a:t>
            </a:r>
            <a:r>
              <a:rPr lang="de-AT" dirty="0" err="1">
                <a:solidFill>
                  <a:schemeClr val="bg2"/>
                </a:solidFill>
                <a:latin typeface="Consolas" panose="020B0609020204030204" pitchFamily="49" charset="0"/>
              </a:rPr>
              <a:t>non_existing_file</a:t>
            </a:r>
            <a:r>
              <a:rPr lang="de-AT" dirty="0">
                <a:solidFill>
                  <a:schemeClr val="bg2"/>
                </a:solidFill>
                <a:latin typeface="Consolas" panose="020B0609020204030204" pitchFamily="49" charset="0"/>
              </a:rPr>
              <a:t>'</a:t>
            </a:r>
            <a:endParaRPr lang="en-GB" dirty="0">
              <a:solidFill>
                <a:schemeClr val="bg2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695484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8" grpId="0" animBg="1"/>
      <p:bldP spid="2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86;p2">
            <a:extLst>
              <a:ext uri="{FF2B5EF4-FFF2-40B4-BE49-F238E27FC236}">
                <a16:creationId xmlns:a16="http://schemas.microsoft.com/office/drawing/2014/main" id="{3FD547F6-2EE3-4D84-AAAB-02062ECB183B}"/>
              </a:ext>
            </a:extLst>
          </p:cNvPr>
          <p:cNvSpPr txBox="1">
            <a:spLocks/>
          </p:cNvSpPr>
          <p:nvPr/>
        </p:nvSpPr>
        <p:spPr>
          <a:xfrm>
            <a:off x="306449" y="227023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Try-Except-Else</a:t>
            </a:r>
            <a:endParaRPr lang="en-US" dirty="0">
              <a:solidFill>
                <a:schemeClr val="dk1"/>
              </a:solidFill>
            </a:endParaRP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7561D9C6-C93E-47CC-B7AC-0FDA433001FA}"/>
              </a:ext>
            </a:extLst>
          </p:cNvPr>
          <p:cNvSpPr txBox="1"/>
          <p:nvPr/>
        </p:nvSpPr>
        <p:spPr>
          <a:xfrm>
            <a:off x="585345" y="1735932"/>
            <a:ext cx="7973310" cy="3000374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pPr marL="114300" indent="0">
              <a:buNone/>
            </a:pPr>
            <a:r>
              <a:rPr lang="en-GB" sz="1800" b="1" dirty="0">
                <a:solidFill>
                  <a:srgbClr val="08964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try</a:t>
            </a:r>
            <a:r>
              <a:rPr lang="en-GB" sz="1800" dirty="0">
                <a:latin typeface="Consolas" panose="020B0609020204030204" pitchFamily="49" charset="0"/>
                <a:cs typeface="Consolas" panose="020B0609020204030204" pitchFamily="49" charset="0"/>
              </a:rPr>
              <a:t>:</a:t>
            </a:r>
          </a:p>
          <a:p>
            <a:pPr marL="114300" indent="0">
              <a:buNone/>
            </a:pPr>
            <a:r>
              <a:rPr lang="en-GB" sz="18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GB" sz="1800" dirty="0">
                <a:solidFill>
                  <a:srgbClr val="08964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print</a:t>
            </a:r>
            <a:r>
              <a:rPr lang="en-GB" sz="1800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GB" sz="1800" dirty="0">
                <a:solidFill>
                  <a:srgbClr val="9A020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"all good"</a:t>
            </a:r>
            <a:r>
              <a:rPr lang="en-GB" sz="1800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  <a:p>
            <a:pPr marL="114300" indent="0">
              <a:buNone/>
            </a:pPr>
            <a:r>
              <a:rPr lang="en-GB" sz="1800" b="1" dirty="0">
                <a:solidFill>
                  <a:srgbClr val="08964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except</a:t>
            </a:r>
            <a:r>
              <a:rPr lang="en-GB" sz="18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GB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NameError</a:t>
            </a:r>
            <a:r>
              <a:rPr lang="en-GB" sz="1800" dirty="0">
                <a:latin typeface="Consolas" panose="020B0609020204030204" pitchFamily="49" charset="0"/>
                <a:cs typeface="Consolas" panose="020B0609020204030204" pitchFamily="49" charset="0"/>
              </a:rPr>
              <a:t>:</a:t>
            </a:r>
          </a:p>
          <a:p>
            <a:pPr marL="114300" indent="0">
              <a:buNone/>
            </a:pPr>
            <a:r>
              <a:rPr lang="en-GB" sz="1800" dirty="0">
                <a:solidFill>
                  <a:schemeClr val="bg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# catch and continue</a:t>
            </a:r>
            <a:endParaRPr lang="en-GB" sz="18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114300" indent="0">
              <a:buNone/>
            </a:pPr>
            <a:r>
              <a:rPr lang="en-GB" sz="18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GB" sz="1800" dirty="0">
                <a:solidFill>
                  <a:srgbClr val="08964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print</a:t>
            </a:r>
            <a:r>
              <a:rPr lang="en-GB" sz="1800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GB" sz="1800" dirty="0">
                <a:solidFill>
                  <a:srgbClr val="9A020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"Undefined variables found."</a:t>
            </a:r>
            <a:r>
              <a:rPr lang="en-GB" sz="1800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  <a:endParaRPr lang="en-GB" sz="1800" dirty="0">
              <a:solidFill>
                <a:schemeClr val="bg2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114300" indent="0">
              <a:buNone/>
            </a:pPr>
            <a:r>
              <a:rPr lang="en-GB" sz="1800" b="1" dirty="0">
                <a:solidFill>
                  <a:srgbClr val="08964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except</a:t>
            </a:r>
            <a:r>
              <a:rPr lang="en-GB" sz="1800" dirty="0">
                <a:latin typeface="Consolas" panose="020B0609020204030204" pitchFamily="49" charset="0"/>
                <a:cs typeface="Consolas" panose="020B0609020204030204" pitchFamily="49" charset="0"/>
              </a:rPr>
              <a:t>:</a:t>
            </a:r>
          </a:p>
          <a:p>
            <a:pPr marL="114300" indent="0">
              <a:buNone/>
            </a:pPr>
            <a:r>
              <a:rPr lang="en-GB" sz="18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GB" sz="1800" dirty="0">
                <a:solidFill>
                  <a:srgbClr val="08964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print</a:t>
            </a:r>
            <a:r>
              <a:rPr lang="en-GB" sz="1800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GB" sz="1800" dirty="0">
                <a:solidFill>
                  <a:srgbClr val="9A020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"Don't know this error."</a:t>
            </a:r>
            <a:r>
              <a:rPr lang="en-GB" sz="1800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  <a:p>
            <a:pPr marL="114300" indent="0">
              <a:buNone/>
            </a:pPr>
            <a:r>
              <a:rPr lang="en-GB" sz="18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GB" sz="1800" b="1" dirty="0">
                <a:solidFill>
                  <a:srgbClr val="08964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raise 	</a:t>
            </a:r>
            <a:r>
              <a:rPr lang="en-GB" sz="1800" dirty="0">
                <a:solidFill>
                  <a:schemeClr val="bg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throw the exception "upwards"</a:t>
            </a:r>
          </a:p>
          <a:p>
            <a:pPr marL="114300" indent="0">
              <a:buNone/>
            </a:pPr>
            <a:r>
              <a:rPr lang="en-GB" sz="1800" b="1" dirty="0">
                <a:solidFill>
                  <a:srgbClr val="08964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else</a:t>
            </a:r>
            <a:r>
              <a:rPr lang="en-GB" sz="1800" dirty="0">
                <a:latin typeface="Consolas" panose="020B0609020204030204" pitchFamily="49" charset="0"/>
                <a:cs typeface="Consolas" panose="020B0609020204030204" pitchFamily="49" charset="0"/>
              </a:rPr>
              <a:t>:</a:t>
            </a:r>
          </a:p>
          <a:p>
            <a:pPr marL="114300" indent="0">
              <a:buNone/>
            </a:pPr>
            <a:r>
              <a:rPr lang="en-GB" sz="18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GB" sz="1800" dirty="0">
                <a:solidFill>
                  <a:srgbClr val="08964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print</a:t>
            </a:r>
            <a:r>
              <a:rPr lang="en-GB" sz="1800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GB" sz="1800" dirty="0">
                <a:solidFill>
                  <a:srgbClr val="9A020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"Everything is fine!"</a:t>
            </a:r>
            <a:r>
              <a:rPr lang="en-GB" sz="1800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02133411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86;p2">
            <a:extLst>
              <a:ext uri="{FF2B5EF4-FFF2-40B4-BE49-F238E27FC236}">
                <a16:creationId xmlns:a16="http://schemas.microsoft.com/office/drawing/2014/main" id="{3FD547F6-2EE3-4D84-AAAB-02062ECB183B}"/>
              </a:ext>
            </a:extLst>
          </p:cNvPr>
          <p:cNvSpPr txBox="1">
            <a:spLocks/>
          </p:cNvSpPr>
          <p:nvPr/>
        </p:nvSpPr>
        <p:spPr>
          <a:xfrm>
            <a:off x="306449" y="227023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Finally</a:t>
            </a:r>
            <a:endParaRPr lang="en-US" dirty="0">
              <a:solidFill>
                <a:schemeClr val="dk1"/>
              </a:solidFill>
            </a:endParaRP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7561D9C6-C93E-47CC-B7AC-0FDA433001FA}"/>
              </a:ext>
            </a:extLst>
          </p:cNvPr>
          <p:cNvSpPr txBox="1"/>
          <p:nvPr/>
        </p:nvSpPr>
        <p:spPr>
          <a:xfrm>
            <a:off x="604683" y="2336011"/>
            <a:ext cx="7973310" cy="2771774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pPr marL="114300" indent="0">
              <a:buNone/>
            </a:pPr>
            <a:r>
              <a:rPr lang="en-GB" sz="1800" b="1" dirty="0">
                <a:solidFill>
                  <a:srgbClr val="08964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try</a:t>
            </a:r>
            <a:r>
              <a:rPr lang="en-GB" sz="1800" dirty="0">
                <a:latin typeface="Consolas" panose="020B0609020204030204" pitchFamily="49" charset="0"/>
                <a:cs typeface="Consolas" panose="020B0609020204030204" pitchFamily="49" charset="0"/>
              </a:rPr>
              <a:t>:</a:t>
            </a:r>
          </a:p>
          <a:p>
            <a:pPr marL="114300" indent="0">
              <a:buNone/>
            </a:pPr>
            <a:r>
              <a:rPr lang="en-GB" sz="18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GB" sz="1800" dirty="0">
                <a:solidFill>
                  <a:srgbClr val="08964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print</a:t>
            </a:r>
            <a:r>
              <a:rPr lang="en-GB" sz="1800" dirty="0">
                <a:latin typeface="Consolas" panose="020B0609020204030204" pitchFamily="49" charset="0"/>
                <a:cs typeface="Consolas" panose="020B0609020204030204" pitchFamily="49" charset="0"/>
              </a:rPr>
              <a:t>(a)</a:t>
            </a:r>
          </a:p>
          <a:p>
            <a:pPr marL="114300" indent="0">
              <a:buNone/>
            </a:pPr>
            <a:r>
              <a:rPr lang="en-GB" sz="1800" b="1" dirty="0">
                <a:solidFill>
                  <a:srgbClr val="08964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except</a:t>
            </a:r>
            <a:r>
              <a:rPr lang="en-GB" sz="18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GB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FileNotFoundError</a:t>
            </a:r>
            <a:r>
              <a:rPr lang="en-GB" sz="1800" dirty="0">
                <a:latin typeface="Consolas" panose="020B0609020204030204" pitchFamily="49" charset="0"/>
                <a:cs typeface="Consolas" panose="020B0609020204030204" pitchFamily="49" charset="0"/>
              </a:rPr>
              <a:t>:</a:t>
            </a:r>
          </a:p>
          <a:p>
            <a:pPr marL="114300" indent="0">
              <a:buNone/>
            </a:pPr>
            <a:r>
              <a:rPr lang="en-GB" sz="18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GB" sz="1800" dirty="0">
                <a:solidFill>
                  <a:srgbClr val="08964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print</a:t>
            </a:r>
            <a:r>
              <a:rPr lang="en-GB" sz="1800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GB" sz="1800" dirty="0">
                <a:solidFill>
                  <a:srgbClr val="9A020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"File does not exist"</a:t>
            </a:r>
            <a:r>
              <a:rPr lang="en-GB" sz="1800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  <a:p>
            <a:pPr marL="114300" indent="0">
              <a:buNone/>
            </a:pPr>
            <a:r>
              <a:rPr lang="en-GB" sz="1800" b="1" dirty="0">
                <a:solidFill>
                  <a:srgbClr val="08964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except</a:t>
            </a:r>
            <a:r>
              <a:rPr lang="en-GB" sz="1800" dirty="0">
                <a:latin typeface="Consolas" panose="020B0609020204030204" pitchFamily="49" charset="0"/>
                <a:cs typeface="Consolas" panose="020B0609020204030204" pitchFamily="49" charset="0"/>
              </a:rPr>
              <a:t>:</a:t>
            </a:r>
          </a:p>
          <a:p>
            <a:pPr marL="114300" indent="0">
              <a:buNone/>
            </a:pPr>
            <a:r>
              <a:rPr lang="en-GB" sz="18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GB" sz="1800" dirty="0">
                <a:solidFill>
                  <a:srgbClr val="08964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print</a:t>
            </a:r>
            <a:r>
              <a:rPr lang="en-GB" sz="1800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GB" sz="1800" dirty="0">
                <a:solidFill>
                  <a:srgbClr val="9A020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"Don't know this error"</a:t>
            </a:r>
            <a:r>
              <a:rPr lang="en-GB" sz="1800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  <a:p>
            <a:pPr marL="114300" indent="0">
              <a:buNone/>
            </a:pPr>
            <a:r>
              <a:rPr lang="en-GB" sz="18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GB" sz="1800" b="1" dirty="0">
                <a:solidFill>
                  <a:srgbClr val="08964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raise</a:t>
            </a:r>
          </a:p>
          <a:p>
            <a:pPr marL="114300" indent="0">
              <a:buNone/>
            </a:pPr>
            <a:r>
              <a:rPr lang="en-GB" sz="1800" b="1" dirty="0">
                <a:solidFill>
                  <a:srgbClr val="08964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finally</a:t>
            </a:r>
            <a:r>
              <a:rPr lang="en-GB" sz="1800" dirty="0">
                <a:latin typeface="Consolas" panose="020B0609020204030204" pitchFamily="49" charset="0"/>
                <a:cs typeface="Consolas" panose="020B0609020204030204" pitchFamily="49" charset="0"/>
              </a:rPr>
              <a:t>:</a:t>
            </a:r>
          </a:p>
          <a:p>
            <a:pPr marL="114300" indent="0">
              <a:buNone/>
            </a:pPr>
            <a:r>
              <a:rPr lang="en-GB" sz="18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GB" sz="1800" dirty="0">
                <a:solidFill>
                  <a:srgbClr val="08964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print</a:t>
            </a:r>
            <a:r>
              <a:rPr lang="en-GB" sz="1800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GB" sz="1800" dirty="0">
                <a:solidFill>
                  <a:srgbClr val="9A020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"cleaning up"</a:t>
            </a:r>
            <a:r>
              <a:rPr lang="en-GB" sz="1800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</p:txBody>
      </p:sp>
      <p:sp>
        <p:nvSpPr>
          <p:cNvPr id="4" name="PlaceHolder 2">
            <a:extLst>
              <a:ext uri="{FF2B5EF4-FFF2-40B4-BE49-F238E27FC236}">
                <a16:creationId xmlns:a16="http://schemas.microsoft.com/office/drawing/2014/main" id="{379DC674-8440-4564-94D3-EB34519972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4683" y="1558364"/>
            <a:ext cx="7934633" cy="499036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lvl="0" indent="-342900">
              <a:lnSpc>
                <a:spcPct val="115000"/>
              </a:lnSpc>
              <a:buSzPts val="1800"/>
              <a:buFont typeface="Wingdings" panose="05000000000000000000" pitchFamily="2" charset="2"/>
              <a:buChar char="v"/>
            </a:pPr>
            <a:r>
              <a:rPr lang="en-GB" sz="1800" b="1" dirty="0">
                <a:solidFill>
                  <a:srgbClr val="08964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finally </a:t>
            </a:r>
            <a:r>
              <a:rPr lang="en-GB" sz="18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block is always executed at the end (“</a:t>
            </a:r>
            <a:r>
              <a:rPr lang="en-GB" sz="1800" dirty="0" err="1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cleanup</a:t>
            </a:r>
            <a:r>
              <a:rPr lang="en-GB" sz="18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” handler) </a:t>
            </a: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9195197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86;p2">
            <a:extLst>
              <a:ext uri="{FF2B5EF4-FFF2-40B4-BE49-F238E27FC236}">
                <a16:creationId xmlns:a16="http://schemas.microsoft.com/office/drawing/2014/main" id="{3FD547F6-2EE3-4D84-AAAB-02062ECB183B}"/>
              </a:ext>
            </a:extLst>
          </p:cNvPr>
          <p:cNvSpPr txBox="1">
            <a:spLocks/>
          </p:cNvSpPr>
          <p:nvPr/>
        </p:nvSpPr>
        <p:spPr>
          <a:xfrm>
            <a:off x="306449" y="227023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Type checks</a:t>
            </a:r>
            <a:endParaRPr lang="en-US" dirty="0">
              <a:solidFill>
                <a:schemeClr val="dk1"/>
              </a:solidFill>
            </a:endParaRP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7561D9C6-C93E-47CC-B7AC-0FDA433001FA}"/>
              </a:ext>
            </a:extLst>
          </p:cNvPr>
          <p:cNvSpPr txBox="1"/>
          <p:nvPr/>
        </p:nvSpPr>
        <p:spPr>
          <a:xfrm>
            <a:off x="604683" y="2336012"/>
            <a:ext cx="7973310" cy="1514470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pPr marL="114300" indent="0">
              <a:buNone/>
            </a:pPr>
            <a:r>
              <a:rPr lang="en-GB" sz="1600" b="1" dirty="0">
                <a:solidFill>
                  <a:srgbClr val="08964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def</a:t>
            </a:r>
            <a:r>
              <a:rPr lang="en-GB" sz="16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GB" sz="1600" dirty="0" err="1">
                <a:solidFill>
                  <a:srgbClr val="2B639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my_function</a:t>
            </a:r>
            <a:r>
              <a:rPr lang="en-GB" sz="1600" dirty="0">
                <a:latin typeface="Consolas" panose="020B0609020204030204" pitchFamily="49" charset="0"/>
                <a:cs typeface="Consolas" panose="020B0609020204030204" pitchFamily="49" charset="0"/>
              </a:rPr>
              <a:t>(number):</a:t>
            </a:r>
          </a:p>
          <a:p>
            <a:pPr marL="114300" indent="0">
              <a:buNone/>
            </a:pPr>
            <a:r>
              <a:rPr lang="en-GB" sz="16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GB" sz="1600" b="1" dirty="0">
                <a:solidFill>
                  <a:srgbClr val="08964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if</a:t>
            </a:r>
            <a:r>
              <a:rPr lang="en-GB" sz="1600" dirty="0">
                <a:solidFill>
                  <a:srgbClr val="08964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GB" sz="1600" dirty="0" err="1">
                <a:solidFill>
                  <a:srgbClr val="08964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isinstance</a:t>
            </a:r>
            <a:r>
              <a:rPr lang="en-GB" sz="1600" dirty="0">
                <a:latin typeface="Consolas" panose="020B0609020204030204" pitchFamily="49" charset="0"/>
                <a:cs typeface="Consolas" panose="020B0609020204030204" pitchFamily="49" charset="0"/>
              </a:rPr>
              <a:t>(number, </a:t>
            </a:r>
            <a:r>
              <a:rPr lang="en-GB" sz="1600" dirty="0">
                <a:solidFill>
                  <a:srgbClr val="08964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  <a:r>
              <a:rPr lang="en-GB" sz="1600" dirty="0">
                <a:latin typeface="Consolas" panose="020B0609020204030204" pitchFamily="49" charset="0"/>
                <a:cs typeface="Consolas" panose="020B0609020204030204" pitchFamily="49" charset="0"/>
              </a:rPr>
              <a:t>):</a:t>
            </a:r>
          </a:p>
          <a:p>
            <a:pPr marL="114300" indent="0">
              <a:buNone/>
            </a:pPr>
            <a:r>
              <a:rPr lang="en-GB" sz="1600" dirty="0"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GB" sz="1600" dirty="0">
                <a:solidFill>
                  <a:srgbClr val="08964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print</a:t>
            </a:r>
            <a:r>
              <a:rPr lang="en-GB" sz="1600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GB" sz="1600" dirty="0" err="1">
                <a:solidFill>
                  <a:srgbClr val="9A020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f"My</a:t>
            </a:r>
            <a:r>
              <a:rPr lang="en-GB" sz="1600" dirty="0">
                <a:solidFill>
                  <a:srgbClr val="9A020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number: </a:t>
            </a:r>
            <a:r>
              <a:rPr lang="en-GB" sz="1600" dirty="0">
                <a:latin typeface="Consolas" panose="020B0609020204030204" pitchFamily="49" charset="0"/>
                <a:cs typeface="Consolas" panose="020B0609020204030204" pitchFamily="49" charset="0"/>
              </a:rPr>
              <a:t>{number}</a:t>
            </a:r>
            <a:r>
              <a:rPr lang="en-GB" sz="1600" dirty="0">
                <a:solidFill>
                  <a:srgbClr val="9A020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GB" sz="1600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  <a:p>
            <a:pPr marL="114300" indent="0">
              <a:buNone/>
            </a:pPr>
            <a:r>
              <a:rPr lang="en-GB" sz="16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GB" sz="1600" b="1" dirty="0">
                <a:solidFill>
                  <a:srgbClr val="08964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else</a:t>
            </a:r>
            <a:r>
              <a:rPr lang="en-GB" sz="1600" dirty="0">
                <a:latin typeface="Consolas" panose="020B0609020204030204" pitchFamily="49" charset="0"/>
                <a:cs typeface="Consolas" panose="020B0609020204030204" pitchFamily="49" charset="0"/>
              </a:rPr>
              <a:t>:</a:t>
            </a:r>
          </a:p>
          <a:p>
            <a:pPr marL="114300" indent="0">
              <a:buNone/>
            </a:pPr>
            <a:r>
              <a:rPr lang="en-GB" sz="1600" dirty="0"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GB" sz="1600" b="1" dirty="0">
                <a:solidFill>
                  <a:srgbClr val="08964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raise</a:t>
            </a:r>
            <a:r>
              <a:rPr lang="en-GB" sz="16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GB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TypeError</a:t>
            </a:r>
            <a:r>
              <a:rPr lang="en-GB" sz="1600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GB" sz="1600" dirty="0">
                <a:solidFill>
                  <a:srgbClr val="9A020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"Only integers are allowed as input."</a:t>
            </a:r>
            <a:r>
              <a:rPr lang="en-GB" sz="1600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</p:txBody>
      </p:sp>
      <p:sp>
        <p:nvSpPr>
          <p:cNvPr id="4" name="PlaceHolder 2">
            <a:extLst>
              <a:ext uri="{FF2B5EF4-FFF2-40B4-BE49-F238E27FC236}">
                <a16:creationId xmlns:a16="http://schemas.microsoft.com/office/drawing/2014/main" id="{379DC674-8440-4564-94D3-EB34519972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4683" y="1558364"/>
            <a:ext cx="7934633" cy="499036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lvl="0" indent="-342900">
              <a:lnSpc>
                <a:spcPct val="115000"/>
              </a:lnSpc>
              <a:buSzPts val="1800"/>
              <a:buFont typeface="Wingdings" panose="05000000000000000000" pitchFamily="2" charset="2"/>
              <a:buChar char="v"/>
            </a:pPr>
            <a:r>
              <a:rPr lang="en-GB" sz="18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Check variable type with </a:t>
            </a:r>
            <a:r>
              <a:rPr lang="en-GB" sz="1800" dirty="0" err="1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isinstance</a:t>
            </a:r>
            <a:r>
              <a:rPr lang="en-GB" sz="1800" dirty="0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116615098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E91C8A42-093C-4664-A394-225128BADC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858400"/>
            <a:ext cx="8229300" cy="1144800"/>
          </a:xfrm>
        </p:spPr>
        <p:txBody>
          <a:bodyPr/>
          <a:lstStyle/>
          <a:p>
            <a:pPr algn="ctr"/>
            <a:r>
              <a:rPr lang="en-US" sz="4400" b="1" dirty="0">
                <a:latin typeface="Calibri" panose="020F0502020204030204" pitchFamily="34" charset="0"/>
                <a:cs typeface="Calibri" panose="020F0502020204030204" pitchFamily="34" charset="0"/>
              </a:rPr>
              <a:t>Exercise</a:t>
            </a:r>
            <a:endParaRPr lang="de-AT" sz="4400" dirty="0"/>
          </a:p>
        </p:txBody>
      </p:sp>
      <p:sp>
        <p:nvSpPr>
          <p:cNvPr id="87" name="Google Shape;87;p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3804953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Student task</a:t>
            </a:r>
          </a:p>
        </p:txBody>
      </p:sp>
      <p:sp>
        <p:nvSpPr>
          <p:cNvPr id="4" name="Textfeld 2">
            <a:extLst>
              <a:ext uri="{FF2B5EF4-FFF2-40B4-BE49-F238E27FC236}">
                <a16:creationId xmlns:a16="http://schemas.microsoft.com/office/drawing/2014/main" id="{B1AB2DE2-BFB4-403B-9976-58C0812A00AF}"/>
              </a:ext>
            </a:extLst>
          </p:cNvPr>
          <p:cNvSpPr txBox="1"/>
          <p:nvPr/>
        </p:nvSpPr>
        <p:spPr>
          <a:xfrm>
            <a:off x="457200" y="1534163"/>
            <a:ext cx="8229600" cy="4801314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lvl="0">
              <a:defRPr/>
            </a:pPr>
            <a:r>
              <a:rPr lang="de-DE" sz="1800" b="1" dirty="0">
                <a:latin typeface="Calibri" panose="020F0502020204030204" pitchFamily="34" charset="0"/>
                <a:cs typeface="Calibri" panose="020F0502020204030204" pitchFamily="34" charset="0"/>
              </a:rPr>
              <a:t>Task 1:</a:t>
            </a:r>
            <a:r>
              <a:rPr lang="de-DE" sz="1800" b="1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Think about a problem that you would like to solve using OOP. Your problem should require at least three classes, one inheritance (is-a relation) and one composition (has-a relation). Sketch a class diagram for your solution and identify the attributes and methods for your classes.</a:t>
            </a:r>
          </a:p>
          <a:p>
            <a:pPr lvl="0">
              <a:defRPr/>
            </a:pPr>
            <a:endParaRPr 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lvl="0">
              <a:defRPr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Some ideas:</a:t>
            </a:r>
          </a:p>
          <a:p>
            <a:pPr marL="285750" lvl="0" indent="-285750">
              <a:buFont typeface="Wingdings" panose="05000000000000000000" pitchFamily="2" charset="2"/>
              <a:buChar char="v"/>
              <a:defRPr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Plotting data histograms</a:t>
            </a:r>
          </a:p>
          <a:p>
            <a:pPr marL="285750" lvl="0" indent="-285750">
              <a:buFont typeface="Wingdings" panose="05000000000000000000" pitchFamily="2" charset="2"/>
              <a:buChar char="v"/>
              <a:defRPr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Fitting curves to data</a:t>
            </a:r>
          </a:p>
          <a:p>
            <a:pPr marL="285750" lvl="0" indent="-285750">
              <a:buFont typeface="Wingdings" panose="05000000000000000000" pitchFamily="2" charset="2"/>
              <a:buChar char="v"/>
              <a:defRPr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Performing statistical tests</a:t>
            </a:r>
          </a:p>
          <a:p>
            <a:pPr marL="285750" lvl="0" indent="-285750">
              <a:buFont typeface="Wingdings" panose="05000000000000000000" pitchFamily="2" charset="2"/>
              <a:buChar char="v"/>
              <a:defRPr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Database of students</a:t>
            </a:r>
          </a:p>
          <a:p>
            <a:pPr marL="285750" lvl="0" indent="-285750">
              <a:buFont typeface="Wingdings" panose="05000000000000000000" pitchFamily="2" charset="2"/>
              <a:buChar char="v"/>
              <a:defRPr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Web application to search for students</a:t>
            </a:r>
          </a:p>
          <a:p>
            <a:pPr marL="285750" lvl="0" indent="-285750">
              <a:buFont typeface="Wingdings" panose="05000000000000000000" pitchFamily="2" charset="2"/>
              <a:buChar char="v"/>
              <a:defRPr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Searching for words in text documents</a:t>
            </a:r>
          </a:p>
          <a:p>
            <a:pPr marL="285750" lvl="0" indent="-285750">
              <a:buFont typeface="Wingdings" panose="05000000000000000000" pitchFamily="2" charset="2"/>
              <a:buChar char="v"/>
              <a:defRPr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Manipulating images</a:t>
            </a:r>
          </a:p>
          <a:p>
            <a:pPr marL="285750" lvl="0" indent="-285750">
              <a:buFont typeface="Wingdings" panose="05000000000000000000" pitchFamily="2" charset="2"/>
              <a:buChar char="v"/>
              <a:defRPr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…</a:t>
            </a:r>
          </a:p>
          <a:p>
            <a:pPr lvl="0">
              <a:defRPr/>
            </a:pPr>
            <a:endParaRPr 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lvl="0">
              <a:defRPr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Select a topic that is of interest to you. The goal is that every student works on her/his own topic.</a:t>
            </a:r>
          </a:p>
        </p:txBody>
      </p:sp>
    </p:spTree>
    <p:extLst>
      <p:ext uri="{BB962C8B-B14F-4D97-AF65-F5344CB8AC3E}">
        <p14:creationId xmlns:p14="http://schemas.microsoft.com/office/powerpoint/2010/main" val="26882658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1309</Words>
  <Application>Microsoft Macintosh PowerPoint</Application>
  <PresentationFormat>On-screen Show (4:3)</PresentationFormat>
  <Paragraphs>269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5" baseType="lpstr">
      <vt:lpstr>Blackadder ITC</vt:lpstr>
      <vt:lpstr>Wingdings</vt:lpstr>
      <vt:lpstr>Consolas</vt:lpstr>
      <vt:lpstr>Arial</vt:lpstr>
      <vt:lpstr>Calibri</vt:lpstr>
      <vt:lpstr>Office Theme</vt:lpstr>
      <vt:lpstr>Fundamentals of Computer Science and Programming </vt:lpstr>
      <vt:lpstr>Outline</vt:lpstr>
      <vt:lpstr>Object-oriented Programming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Classes and objects</vt:lpstr>
      <vt:lpstr>PowerPoint Presentation</vt:lpstr>
      <vt:lpstr>PowerPoint Presentation</vt:lpstr>
      <vt:lpstr>PowerPoint Presentation</vt:lpstr>
      <vt:lpstr>Inheritance &amp; Composition</vt:lpstr>
      <vt:lpstr>PowerPoint Presentation</vt:lpstr>
      <vt:lpstr>PowerPoint Presentation</vt:lpstr>
      <vt:lpstr>Error Handling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Exercise</vt:lpstr>
      <vt:lpstr>Student task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FP Basics of Computer Programming</dc:title>
  <dc:creator>Lyndon Nixon</dc:creator>
  <cp:lastModifiedBy>Ingo Frommholz</cp:lastModifiedBy>
  <cp:revision>1121</cp:revision>
  <dcterms:modified xsi:type="dcterms:W3CDTF">2025-11-22T20:43:08Z</dcterms:modified>
</cp:coreProperties>
</file>