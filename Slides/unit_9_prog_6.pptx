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408" r:id="rId3"/>
    <p:sldId id="499" r:id="rId4"/>
    <p:sldId id="278" r:id="rId5"/>
    <p:sldId id="566" r:id="rId6"/>
    <p:sldId id="568" r:id="rId7"/>
    <p:sldId id="569" r:id="rId8"/>
    <p:sldId id="570" r:id="rId9"/>
    <p:sldId id="571" r:id="rId10"/>
    <p:sldId id="572" r:id="rId11"/>
    <p:sldId id="573" r:id="rId12"/>
    <p:sldId id="567" r:id="rId13"/>
    <p:sldId id="264" r:id="rId14"/>
    <p:sldId id="574" r:id="rId15"/>
    <p:sldId id="575" r:id="rId16"/>
    <p:sldId id="576" r:id="rId17"/>
    <p:sldId id="577" r:id="rId18"/>
    <p:sldId id="578" r:id="rId19"/>
    <p:sldId id="579" r:id="rId20"/>
    <p:sldId id="580" r:id="rId21"/>
    <p:sldId id="581" r:id="rId22"/>
    <p:sldId id="582" r:id="rId23"/>
    <p:sldId id="583" r:id="rId24"/>
    <p:sldId id="584" r:id="rId25"/>
    <p:sldId id="585" r:id="rId26"/>
    <p:sldId id="586" r:id="rId27"/>
    <p:sldId id="587" r:id="rId28"/>
    <p:sldId id="523" r:id="rId29"/>
    <p:sldId id="461" r:id="rId30"/>
  </p:sldIdLst>
  <p:sldSz cx="9144000" cy="6858000" type="screen4x3"/>
  <p:notesSz cx="7099300" cy="10234613"/>
  <p:embeddedFontLst>
    <p:embeddedFont>
      <p:font typeface="Blackadder ITC" pitchFamily="82" charset="77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FFDDDD"/>
    <a:srgbClr val="32CD32"/>
    <a:srgbClr val="1E90FF"/>
    <a:srgbClr val="D3242A"/>
    <a:srgbClr val="EDEDED"/>
    <a:srgbClr val="F8D7CD"/>
    <a:srgbClr val="FCECE8"/>
    <a:srgbClr val="ED7D31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5A55CC-7538-5A48-B65E-6F40BAE7BFB1}" v="51" dt="2025-11-27T12:28:26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0" autoAdjust="0"/>
    <p:restoredTop sz="94598" autoAdjust="0"/>
  </p:normalViewPr>
  <p:slideViewPr>
    <p:cSldViewPr snapToGrid="0">
      <p:cViewPr varScale="1">
        <p:scale>
          <a:sx n="151" d="100"/>
          <a:sy n="151" d="100"/>
        </p:scale>
        <p:origin x="1336" y="192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80" Type="http://customschemas.google.com/relationships/presentationmetadata" Target="metadata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5F8971C4-3D52-5FAB-A951-9912A46CDBB0}"/>
    <pc:docChg chg="custSel modSld">
      <pc:chgData name="Ingo Frommholz" userId="ee3b4549-206f-4e4f-93a1-b7ff676f0af7" providerId="ADAL" clId="{5F8971C4-3D52-5FAB-A951-9912A46CDBB0}" dt="2025-11-27T15:10:21.451" v="152" actId="20577"/>
      <pc:docMkLst>
        <pc:docMk/>
      </pc:docMkLst>
      <pc:sldChg chg="modSp mod">
        <pc:chgData name="Ingo Frommholz" userId="ee3b4549-206f-4e4f-93a1-b7ff676f0af7" providerId="ADAL" clId="{5F8971C4-3D52-5FAB-A951-9912A46CDBB0}" dt="2025-11-22T20:43:02.175" v="2" actId="20577"/>
        <pc:sldMkLst>
          <pc:docMk/>
          <pc:sldMk cId="0" sldId="256"/>
        </pc:sldMkLst>
        <pc:spChg chg="mod">
          <ac:chgData name="Ingo Frommholz" userId="ee3b4549-206f-4e4f-93a1-b7ff676f0af7" providerId="ADAL" clId="{5F8971C4-3D52-5FAB-A951-9912A46CDBB0}" dt="2025-11-22T20:43:02.175" v="2" actId="20577"/>
          <ac:spMkLst>
            <pc:docMk/>
            <pc:sldMk cId="0" sldId="256"/>
            <ac:spMk id="80" creationId="{00000000-0000-0000-0000-000000000000}"/>
          </ac:spMkLst>
        </pc:spChg>
      </pc:sldChg>
      <pc:sldChg chg="modSp modAnim">
        <pc:chgData name="Ingo Frommholz" userId="ee3b4549-206f-4e4f-93a1-b7ff676f0af7" providerId="ADAL" clId="{5F8971C4-3D52-5FAB-A951-9912A46CDBB0}" dt="2025-11-27T12:28:26.324" v="53" actId="20577"/>
        <pc:sldMkLst>
          <pc:docMk/>
          <pc:sldMk cId="4043078330" sldId="576"/>
        </pc:sldMkLst>
        <pc:spChg chg="mod">
          <ac:chgData name="Ingo Frommholz" userId="ee3b4549-206f-4e4f-93a1-b7ff676f0af7" providerId="ADAL" clId="{5F8971C4-3D52-5FAB-A951-9912A46CDBB0}" dt="2025-11-27T12:28:26.324" v="53" actId="20577"/>
          <ac:spMkLst>
            <pc:docMk/>
            <pc:sldMk cId="4043078330" sldId="576"/>
            <ac:spMk id="26" creationId="{7C6601B5-28BE-43C1-8565-7FE07576EC06}"/>
          </ac:spMkLst>
        </pc:spChg>
      </pc:sldChg>
      <pc:sldChg chg="modSp mod">
        <pc:chgData name="Ingo Frommholz" userId="ee3b4549-206f-4e4f-93a1-b7ff676f0af7" providerId="ADAL" clId="{5F8971C4-3D52-5FAB-A951-9912A46CDBB0}" dt="2025-11-27T15:10:21.451" v="152" actId="20577"/>
        <pc:sldMkLst>
          <pc:docMk/>
          <pc:sldMk cId="1166150988" sldId="587"/>
        </pc:sldMkLst>
        <pc:spChg chg="mod">
          <ac:chgData name="Ingo Frommholz" userId="ee3b4549-206f-4e4f-93a1-b7ff676f0af7" providerId="ADAL" clId="{5F8971C4-3D52-5FAB-A951-9912A46CDBB0}" dt="2025-11-27T15:10:21.451" v="152" actId="20577"/>
          <ac:spMkLst>
            <pc:docMk/>
            <pc:sldMk cId="1166150988" sldId="587"/>
            <ac:spMk id="5" creationId="{7561D9C6-C93E-47CC-B7AC-0FDA433001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3223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1826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1079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2549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7578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6700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3259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2610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6281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5000" lvl="1" indent="0">
              <a:lnSpc>
                <a:spcPct val="100000"/>
              </a:lnSpc>
              <a:spcBef>
                <a:spcPts val="1134"/>
              </a:spcBef>
              <a:buNone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 </a:t>
            </a:r>
            <a:endParaRPr lang="en-US" sz="1400" b="0" strike="noStrike" spc="-1">
              <a:latin typeface="Arial"/>
            </a:endParaRPr>
          </a:p>
          <a:p>
            <a:pPr marL="405000" lvl="1" indent="-404640">
              <a:lnSpc>
                <a:spcPct val="100000"/>
              </a:lnSpc>
              <a:spcBef>
                <a:spcPts val="1134"/>
              </a:spcBef>
              <a:buClr>
                <a:srgbClr val="0F0F0F"/>
              </a:buClr>
              <a:buFont typeface="Wingdings" charset="2"/>
              <a:buChar char=""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pandas-Funktionalität in dieser Vorlesung: </a:t>
            </a:r>
            <a:endParaRPr lang="en-US" sz="1400" b="0" strike="noStrike" spc="-1"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Daten laden/anlegen ➡ Daten abrufen und filtern ➡ Spalten neu anlegen ➡ Fehlende Daten ausfüllen  ➡ Daten verarbeiten und Ergebnisse berechnen ➡ Neu berechnete Daten speichern</a:t>
            </a:r>
            <a:endParaRPr lang="en-US" sz="1400" b="0" strike="noStrike" spc="-1"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-------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1214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5000" lvl="1" indent="0">
              <a:lnSpc>
                <a:spcPct val="100000"/>
              </a:lnSpc>
              <a:spcBef>
                <a:spcPts val="1134"/>
              </a:spcBef>
              <a:buNone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 </a:t>
            </a:r>
            <a:endParaRPr lang="en-US" sz="1400" b="0" strike="noStrike" spc="-1">
              <a:latin typeface="Arial"/>
            </a:endParaRPr>
          </a:p>
          <a:p>
            <a:pPr marL="405000" lvl="1" indent="-404640">
              <a:lnSpc>
                <a:spcPct val="100000"/>
              </a:lnSpc>
              <a:spcBef>
                <a:spcPts val="1134"/>
              </a:spcBef>
              <a:buClr>
                <a:srgbClr val="0F0F0F"/>
              </a:buClr>
              <a:buFont typeface="Wingdings" charset="2"/>
              <a:buChar char=""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pandas-Funktionalität in dieser Vorlesung: </a:t>
            </a:r>
            <a:endParaRPr lang="en-US" sz="1400" b="0" strike="noStrike" spc="-1"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Daten laden/anlegen ➡ Daten abrufen und filtern ➡ Spalten neu anlegen ➡ Fehlende Daten ausfüllen  ➡ Daten verarbeiten und Ergebnisse berechnen ➡ Neu berechnete Daten speichern</a:t>
            </a:r>
            <a:endParaRPr lang="en-US" sz="1400" b="0" strike="noStrike" spc="-1"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-------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2568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5000" lvl="1" indent="0">
              <a:lnSpc>
                <a:spcPct val="100000"/>
              </a:lnSpc>
              <a:spcBef>
                <a:spcPts val="1134"/>
              </a:spcBef>
              <a:buNone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 </a:t>
            </a:r>
            <a:endParaRPr lang="en-US" sz="1400" b="0" strike="noStrike" spc="-1">
              <a:latin typeface="Arial"/>
            </a:endParaRPr>
          </a:p>
          <a:p>
            <a:pPr marL="405000" lvl="1" indent="-404640">
              <a:lnSpc>
                <a:spcPct val="100000"/>
              </a:lnSpc>
              <a:spcBef>
                <a:spcPts val="1134"/>
              </a:spcBef>
              <a:buClr>
                <a:srgbClr val="0F0F0F"/>
              </a:buClr>
              <a:buFont typeface="Wingdings" charset="2"/>
              <a:buChar char=""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pandas-Funktionalität in dieser Vorlesung: </a:t>
            </a:r>
            <a:endParaRPr lang="en-US" sz="1400" b="0" strike="noStrike" spc="-1"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Daten laden/anlegen ➡ Daten abrufen und filtern ➡ Spalten neu anlegen ➡ Fehlende Daten ausfüllen  ➡ Daten verarbeiten und Ergebnisse berechnen ➡ Neu berechnete Daten speichern</a:t>
            </a:r>
            <a:endParaRPr lang="en-US" sz="1400" b="0" strike="noStrike" spc="-1"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1400" b="0" strike="noStrike" spc="-1">
                <a:solidFill>
                  <a:srgbClr val="0F0F0F"/>
                </a:solidFill>
                <a:latin typeface="Arial"/>
                <a:ea typeface="Droid Sans Fallback"/>
              </a:rPr>
              <a:t>-------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7582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077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38780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8740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802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9222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8733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8203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25978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60443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42434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zxx" sz="2000" b="0" strike="noStrike" spc="-1">
                <a:latin typeface="Arial"/>
              </a:rPr>
              <a:t>10:35</a:t>
            </a:r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33675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2505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42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28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1_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619431" y="2142979"/>
            <a:ext cx="7934633" cy="352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213993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7.xml"/><Relationship Id="rId5" Type="http://schemas.openxmlformats.org/officeDocument/2006/relationships/slide" Target="slide14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docs.python.or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1169340" y="5175674"/>
            <a:ext cx="6977921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Object-oriented Programming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707901-CF88-4DD5-92F9-27B080708D9F}"/>
              </a:ext>
            </a:extLst>
          </p:cNvPr>
          <p:cNvSpPr txBox="1"/>
          <p:nvPr/>
        </p:nvSpPr>
        <p:spPr>
          <a:xfrm>
            <a:off x="457200" y="1701579"/>
            <a:ext cx="75338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Object-oriented Programming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Classes and objects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Inheritance &amp; Composition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Error Handling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Object-oriented Programming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2"/>
          <p:cNvSpPr>
            <a:spLocks noGrp="1"/>
          </p:cNvSpPr>
          <p:nvPr>
            <p:ph type="body" idx="1"/>
          </p:nvPr>
        </p:nvSpPr>
        <p:spPr>
          <a:xfrm>
            <a:off x="619431" y="2142979"/>
            <a:ext cx="7934633" cy="18562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manipulation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functionality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functionality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 via global variables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13944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Procedural programming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2"/>
          <p:cNvSpPr>
            <a:spLocks noGrp="1"/>
          </p:cNvSpPr>
          <p:nvPr>
            <p:ph type="body" idx="1"/>
          </p:nvPr>
        </p:nvSpPr>
        <p:spPr>
          <a:xfrm>
            <a:off x="619431" y="2142979"/>
            <a:ext cx="7934633" cy="2376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Problems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procedural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Mismatch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Loose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coupling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Unprotected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global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maintanance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13944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Procedural programming</a:t>
            </a: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193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2"/>
          <p:cNvSpPr>
            <a:spLocks noGrp="1"/>
          </p:cNvSpPr>
          <p:nvPr>
            <p:ph type="body" idx="1"/>
          </p:nvPr>
        </p:nvSpPr>
        <p:spPr>
          <a:xfrm>
            <a:off x="619431" y="2142979"/>
            <a:ext cx="7934633" cy="2826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reproduced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together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corresponding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do?)</a:t>
            </a: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 OOP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de-AT" sz="1800" b="1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(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?)</a:t>
            </a: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variables: in OOP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</a:t>
            </a:r>
            <a:endParaRPr lang="de-AT" sz="1800" b="1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13944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Object-oriented programming</a:t>
            </a: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000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2"/>
          <p:cNvSpPr>
            <a:spLocks noGrp="1"/>
          </p:cNvSpPr>
          <p:nvPr>
            <p:ph type="body" idx="1"/>
          </p:nvPr>
        </p:nvSpPr>
        <p:spPr>
          <a:xfrm>
            <a:off x="619431" y="2142979"/>
            <a:ext cx="7934633" cy="181442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Hence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self-defined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type</a:t>
            </a:r>
          </a:p>
        </p:txBody>
      </p:sp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13944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Object-oriented programming</a:t>
            </a: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07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2"/>
          <p:cNvSpPr>
            <a:spLocks noGrp="1"/>
          </p:cNvSpPr>
          <p:nvPr>
            <p:ph type="body" idx="1"/>
          </p:nvPr>
        </p:nvSpPr>
        <p:spPr>
          <a:xfrm>
            <a:off x="604683" y="1558362"/>
            <a:ext cx="7934633" cy="36732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abstraction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self-defined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real-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encapsulation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enclosed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Tight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coupling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manipulation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hiding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details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object‘s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dedicated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Important concepts in OOP</a:t>
            </a: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155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2"/>
          <p:cNvSpPr>
            <a:spLocks noGrp="1"/>
          </p:cNvSpPr>
          <p:nvPr>
            <p:ph type="body" idx="1"/>
          </p:nvPr>
        </p:nvSpPr>
        <p:spPr>
          <a:xfrm>
            <a:off x="604683" y="1558363"/>
            <a:ext cx="7934633" cy="34558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Inheritance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subclasses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inherit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Subclasses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i="1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i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Composition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614" lvl="3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i="1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de-AT" sz="1800" i="1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-a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Important concepts in OOP</a:t>
            </a: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382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Classes and objects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56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Classes vs. objects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Gefaltete Ecke 4">
            <a:extLst>
              <a:ext uri="{FF2B5EF4-FFF2-40B4-BE49-F238E27FC236}">
                <a16:creationId xmlns:a16="http://schemas.microsoft.com/office/drawing/2014/main" id="{A39CC160-81AB-41CA-8D3F-C9223F586277}"/>
              </a:ext>
            </a:extLst>
          </p:cNvPr>
          <p:cNvSpPr/>
          <p:nvPr/>
        </p:nvSpPr>
        <p:spPr>
          <a:xfrm>
            <a:off x="923725" y="2497024"/>
            <a:ext cx="2580640" cy="313944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FCBDF5E-EBC6-46E6-B92A-04842386F4DA}"/>
              </a:ext>
            </a:extLst>
          </p:cNvPr>
          <p:cNvSpPr txBox="1"/>
          <p:nvPr/>
        </p:nvSpPr>
        <p:spPr>
          <a:xfrm>
            <a:off x="1207198" y="2127692"/>
            <a:ext cx="2013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Blueprint (Class)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162790D-DD0F-4767-81C0-341B3DCB0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125" y="2497023"/>
            <a:ext cx="4100887" cy="234679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226B596-CB7C-4EDD-8A15-CE5839F850D1}"/>
              </a:ext>
            </a:extLst>
          </p:cNvPr>
          <p:cNvSpPr txBox="1"/>
          <p:nvPr/>
        </p:nvSpPr>
        <p:spPr>
          <a:xfrm>
            <a:off x="4947193" y="4913475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GB" sz="18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Wikipedia.org</a:t>
            </a:r>
            <a:endParaRPr lang="en-GB"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197D164-4D05-4DAB-AE4C-2D0515174F3F}"/>
              </a:ext>
            </a:extLst>
          </p:cNvPr>
          <p:cNvSpPr txBox="1"/>
          <p:nvPr/>
        </p:nvSpPr>
        <p:spPr>
          <a:xfrm>
            <a:off x="3865125" y="2127692"/>
            <a:ext cx="4100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 implementation (Object)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FE06117-22A4-4CD0-982E-A9B2A927A484}"/>
              </a:ext>
            </a:extLst>
          </p:cNvPr>
          <p:cNvSpPr txBox="1"/>
          <p:nvPr/>
        </p:nvSpPr>
        <p:spPr>
          <a:xfrm>
            <a:off x="1013669" y="2605151"/>
            <a:ext cx="249940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Blueprint of a car:</a:t>
            </a:r>
          </a:p>
          <a:p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Attributes:</a:t>
            </a:r>
          </a:p>
          <a:p>
            <a:pPr marL="285750" lvl="2" indent="-285750">
              <a:buFont typeface="Wingdings" panose="05000000000000000000" pitchFamily="2" charset="2"/>
              <a:buChar char="v"/>
            </a:pPr>
            <a:r>
              <a:rPr lang="en-GB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number_of_seats</a:t>
            </a:r>
            <a:endParaRPr lang="en-GB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horse_power</a:t>
            </a:r>
            <a:endParaRPr lang="en-GB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turn_engine_on</a:t>
            </a:r>
            <a:r>
              <a:rPr lang="en-GB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blow_horn</a:t>
            </a:r>
            <a:r>
              <a:rPr lang="en-GB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5366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feld 491"/>
          <p:cNvSpPr txBox="1"/>
          <p:nvPr/>
        </p:nvSpPr>
        <p:spPr>
          <a:xfrm>
            <a:off x="597072" y="2285997"/>
            <a:ext cx="7973310" cy="3013023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GB" sz="1800" dirty="0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number_seats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, HP):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horse_power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= HP	  </a:t>
            </a:r>
            <a:r>
              <a:rPr lang="en-GB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instance variable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n_seats</a:t>
            </a:r>
            <a:r>
              <a:rPr lang="en-GB" sz="1800" dirty="0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number_seats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	  </a:t>
            </a:r>
            <a:r>
              <a:rPr lang="en-GB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instance variable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turn_engine_on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):	  </a:t>
            </a:r>
            <a:r>
              <a:rPr lang="en-GB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/ function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 err="1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f"Motor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sound of 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horse_power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HP."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blow_horn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):		  </a:t>
            </a:r>
            <a:r>
              <a:rPr lang="en-GB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/ function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🎺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1800" spc="-1" dirty="0">
              <a:latin typeface="Consolas" panose="020B0609020204030204" pitchFamily="49" charset="0"/>
            </a:endParaRPr>
          </a:p>
        </p:txBody>
      </p:sp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13944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Class definition</a:t>
            </a: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700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body" idx="1"/>
          </p:nvPr>
        </p:nvSpPr>
        <p:spPr>
          <a:xfrm>
            <a:off x="556389" y="4264700"/>
            <a:ext cx="7934633" cy="98185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do not need to specify the parameter self!</a:t>
            </a: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does that for you.</a:t>
            </a:r>
          </a:p>
        </p:txBody>
      </p:sp>
      <p:sp>
        <p:nvSpPr>
          <p:cNvPr id="10" name="Google Shape;86;p2">
            <a:extLst>
              <a:ext uri="{FF2B5EF4-FFF2-40B4-BE49-F238E27FC236}">
                <a16:creationId xmlns:a16="http://schemas.microsoft.com/office/drawing/2014/main" id="{9586FE42-4EA4-4C92-A843-0958274ACDF3}"/>
              </a:ext>
            </a:extLst>
          </p:cNvPr>
          <p:cNvSpPr txBox="1">
            <a:spLocks/>
          </p:cNvSpPr>
          <p:nvPr/>
        </p:nvSpPr>
        <p:spPr>
          <a:xfrm>
            <a:off x="313944" y="26985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Class instantiation, aka constructing objects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0901FC9-8597-402B-9A5E-75C3F80AF7A3}"/>
              </a:ext>
            </a:extLst>
          </p:cNvPr>
          <p:cNvSpPr txBox="1"/>
          <p:nvPr/>
        </p:nvSpPr>
        <p:spPr>
          <a:xfrm>
            <a:off x="558395" y="2008677"/>
            <a:ext cx="7973310" cy="404738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5200"/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my_car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= Car(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number_seats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, HP =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400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1800" spc="-1" dirty="0">
              <a:latin typeface="Consolas" panose="020B0609020204030204" pitchFamily="49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BC223C4-E018-4DAE-97B1-5456531C0DB2}"/>
              </a:ext>
            </a:extLst>
          </p:cNvPr>
          <p:cNvSpPr txBox="1"/>
          <p:nvPr/>
        </p:nvSpPr>
        <p:spPr>
          <a:xfrm>
            <a:off x="556389" y="3683828"/>
            <a:ext cx="7973310" cy="404738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/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sports_car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= Car(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number_seats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, HP =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600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19945F1-CAE8-42E2-931B-50AF3EAFC727}"/>
              </a:ext>
            </a:extLst>
          </p:cNvPr>
          <p:cNvSpPr txBox="1"/>
          <p:nvPr/>
        </p:nvSpPr>
        <p:spPr>
          <a:xfrm>
            <a:off x="1143011" y="3024262"/>
            <a:ext cx="4830569" cy="404738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Class_Name</a:t>
            </a:r>
            <a:r>
              <a:rPr lang="en-GB" sz="1800" dirty="0"/>
              <a:t>(</a:t>
            </a:r>
            <a:r>
              <a:rPr lang="en-GB" sz="18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arguments_for_init_method</a:t>
            </a:r>
            <a:r>
              <a:rPr lang="en-GB" sz="1800" dirty="0"/>
              <a:t>)</a:t>
            </a:r>
          </a:p>
          <a:p>
            <a:endParaRPr lang="en-US" sz="1800" spc="-1" dirty="0">
              <a:latin typeface="Consolas" panose="020B0609020204030204" pitchFamily="49" charset="0"/>
            </a:endParaRPr>
          </a:p>
        </p:txBody>
      </p:sp>
      <p:sp>
        <p:nvSpPr>
          <p:cNvPr id="7" name="Pfeil nach oben 4">
            <a:extLst>
              <a:ext uri="{FF2B5EF4-FFF2-40B4-BE49-F238E27FC236}">
                <a16:creationId xmlns:a16="http://schemas.microsoft.com/office/drawing/2014/main" id="{3C55DCE7-FB0C-4EEA-95D4-7B1D81AB6C5D}"/>
              </a:ext>
            </a:extLst>
          </p:cNvPr>
          <p:cNvSpPr/>
          <p:nvPr/>
        </p:nvSpPr>
        <p:spPr>
          <a:xfrm>
            <a:off x="1890901" y="2321834"/>
            <a:ext cx="167951" cy="522514"/>
          </a:xfrm>
          <a:prstGeom prst="up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4F2EB6-E3C0-41B9-B9C6-F1F248378810}"/>
              </a:ext>
            </a:extLst>
          </p:cNvPr>
          <p:cNvGrpSpPr/>
          <p:nvPr/>
        </p:nvGrpSpPr>
        <p:grpSpPr>
          <a:xfrm>
            <a:off x="2873725" y="2321834"/>
            <a:ext cx="1853684" cy="522514"/>
            <a:chOff x="2746309" y="1614196"/>
            <a:chExt cx="1853684" cy="522514"/>
          </a:xfrm>
        </p:grpSpPr>
        <p:sp>
          <p:nvSpPr>
            <p:cNvPr id="9" name="Pfeil nach oben 6">
              <a:extLst>
                <a:ext uri="{FF2B5EF4-FFF2-40B4-BE49-F238E27FC236}">
                  <a16:creationId xmlns:a16="http://schemas.microsoft.com/office/drawing/2014/main" id="{3CB83421-1E92-40F5-A0F5-3EB440017B87}"/>
                </a:ext>
              </a:extLst>
            </p:cNvPr>
            <p:cNvSpPr/>
            <p:nvPr/>
          </p:nvSpPr>
          <p:spPr>
            <a:xfrm>
              <a:off x="2746309" y="1614196"/>
              <a:ext cx="167951" cy="522514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Pfeil nach oben 7">
              <a:extLst>
                <a:ext uri="{FF2B5EF4-FFF2-40B4-BE49-F238E27FC236}">
                  <a16:creationId xmlns:a16="http://schemas.microsoft.com/office/drawing/2014/main" id="{02070D20-09AB-4C07-8F71-D5DF998DB340}"/>
                </a:ext>
              </a:extLst>
            </p:cNvPr>
            <p:cNvSpPr/>
            <p:nvPr/>
          </p:nvSpPr>
          <p:spPr>
            <a:xfrm>
              <a:off x="4432042" y="1614196"/>
              <a:ext cx="167951" cy="522514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1DBEF40A-E1A3-442F-9502-2B445BECF707}"/>
                </a:ext>
              </a:extLst>
            </p:cNvPr>
            <p:cNvSpPr/>
            <p:nvPr/>
          </p:nvSpPr>
          <p:spPr>
            <a:xfrm>
              <a:off x="2830286" y="2078504"/>
              <a:ext cx="1700440" cy="457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" grpId="0" uiExpand="1" build="p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Inheritance &amp; Composition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201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body" idx="1"/>
          </p:nvPr>
        </p:nvSpPr>
        <p:spPr>
          <a:xfrm>
            <a:off x="604683" y="1411529"/>
            <a:ext cx="7934633" cy="130414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the reusability, extensibility and maintainability of code</a:t>
            </a: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class passes on attributes and functionality</a:t>
            </a: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class inherits attributes and functionality of base class </a:t>
            </a:r>
          </a:p>
        </p:txBody>
      </p:sp>
      <p:sp>
        <p:nvSpPr>
          <p:cNvPr id="10" name="Google Shape;86;p2">
            <a:extLst>
              <a:ext uri="{FF2B5EF4-FFF2-40B4-BE49-F238E27FC236}">
                <a16:creationId xmlns:a16="http://schemas.microsoft.com/office/drawing/2014/main" id="{9586FE42-4EA4-4C92-A843-0958274ACDF3}"/>
              </a:ext>
            </a:extLst>
          </p:cNvPr>
          <p:cNvSpPr txBox="1">
            <a:spLocks/>
          </p:cNvSpPr>
          <p:nvPr/>
        </p:nvSpPr>
        <p:spPr>
          <a:xfrm>
            <a:off x="313944" y="26985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Inheritance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C4E1A42-4E28-4F9B-B685-AB5E14055980}"/>
              </a:ext>
            </a:extLst>
          </p:cNvPr>
          <p:cNvSpPr/>
          <p:nvPr/>
        </p:nvSpPr>
        <p:spPr>
          <a:xfrm>
            <a:off x="3577380" y="2866748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Bicycle</a:t>
            </a:r>
          </a:p>
          <a:p>
            <a:pPr algn="ctr"/>
            <a:endParaRPr lang="en-GB" sz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tires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endParaRPr lang="en-GB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ride()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A4D09B5-2146-4675-A401-6DD48FEBAA14}"/>
              </a:ext>
            </a:extLst>
          </p:cNvPr>
          <p:cNvSpPr/>
          <p:nvPr/>
        </p:nvSpPr>
        <p:spPr>
          <a:xfrm>
            <a:off x="1743818" y="4390747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Mountain bike</a:t>
            </a:r>
          </a:p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suspension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Gewinkelte Verbindung 7">
            <a:extLst>
              <a:ext uri="{FF2B5EF4-FFF2-40B4-BE49-F238E27FC236}">
                <a16:creationId xmlns:a16="http://schemas.microsoft.com/office/drawing/2014/main" id="{CD81EF51-E792-4EDF-9AD0-FC9D6D08513F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rot="5400000">
            <a:off x="3230909" y="3222744"/>
            <a:ext cx="502443" cy="183356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winkelte Verbindung 11">
            <a:extLst>
              <a:ext uri="{FF2B5EF4-FFF2-40B4-BE49-F238E27FC236}">
                <a16:creationId xmlns:a16="http://schemas.microsoft.com/office/drawing/2014/main" id="{BCA7326A-448E-4FC6-BCFB-94E4E0DB2E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64471" y="3222745"/>
            <a:ext cx="502443" cy="183356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B05BA3A6-4C0E-4EEE-ABCD-16BA0039E822}"/>
              </a:ext>
            </a:extLst>
          </p:cNvPr>
          <p:cNvSpPr/>
          <p:nvPr/>
        </p:nvSpPr>
        <p:spPr>
          <a:xfrm>
            <a:off x="5500883" y="4390747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E-bike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battery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</a:rPr>
              <a:t>charge()</a:t>
            </a:r>
            <a:br>
              <a:rPr lang="en-GB" dirty="0"/>
            </a:br>
            <a:endParaRPr lang="en-GB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507625B-3715-4903-8156-33C8B918AD79}"/>
              </a:ext>
            </a:extLst>
          </p:cNvPr>
          <p:cNvSpPr txBox="1"/>
          <p:nvPr/>
        </p:nvSpPr>
        <p:spPr>
          <a:xfrm>
            <a:off x="5320603" y="3223638"/>
            <a:ext cx="914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class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367D9B7-10B9-49FB-98C6-AA97BE59BFD6}"/>
              </a:ext>
            </a:extLst>
          </p:cNvPr>
          <p:cNvSpPr txBox="1"/>
          <p:nvPr/>
        </p:nvSpPr>
        <p:spPr>
          <a:xfrm>
            <a:off x="463542" y="4747636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class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724D403-B15A-453F-9A10-4D4CFBB7C45F}"/>
              </a:ext>
            </a:extLst>
          </p:cNvPr>
          <p:cNvSpPr txBox="1"/>
          <p:nvPr/>
        </p:nvSpPr>
        <p:spPr>
          <a:xfrm>
            <a:off x="7121579" y="4747636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class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D02D4FA-EB76-4540-BC83-170589E6F31A}"/>
              </a:ext>
            </a:extLst>
          </p:cNvPr>
          <p:cNvSpPr/>
          <p:nvPr/>
        </p:nvSpPr>
        <p:spPr>
          <a:xfrm>
            <a:off x="3577380" y="4399082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bike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basket</a:t>
            </a:r>
            <a:br>
              <a:rPr lang="en-GB" dirty="0"/>
            </a:br>
            <a:endParaRPr lang="en-GB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68AFA3FB-92DB-4467-85B1-C60F350D27C8}"/>
              </a:ext>
            </a:extLst>
          </p:cNvPr>
          <p:cNvCxnSpPr>
            <a:endCxn id="23" idx="0"/>
          </p:cNvCxnSpPr>
          <p:nvPr/>
        </p:nvCxnSpPr>
        <p:spPr>
          <a:xfrm>
            <a:off x="4398911" y="4139525"/>
            <a:ext cx="0" cy="259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9773AF02-1684-4EDA-A757-AC9CE2156D63}"/>
              </a:ext>
            </a:extLst>
          </p:cNvPr>
          <p:cNvSpPr txBox="1"/>
          <p:nvPr/>
        </p:nvSpPr>
        <p:spPr>
          <a:xfrm>
            <a:off x="3828883" y="5428972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class</a:t>
            </a:r>
          </a:p>
        </p:txBody>
      </p:sp>
    </p:spTree>
    <p:extLst>
      <p:ext uri="{BB962C8B-B14F-4D97-AF65-F5344CB8AC3E}">
        <p14:creationId xmlns:p14="http://schemas.microsoft.com/office/powerpoint/2010/main" val="317316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  <p:bldP spid="18" grpId="0"/>
      <p:bldP spid="19" grpId="0"/>
      <p:bldP spid="20" grpId="0"/>
      <p:bldP spid="23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body" idx="1"/>
          </p:nvPr>
        </p:nvSpPr>
        <p:spPr>
          <a:xfrm>
            <a:off x="604683" y="1411529"/>
            <a:ext cx="7934633" cy="130414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Also improves the reusability, extensibility and maintainability of code</a:t>
            </a: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Classes are modeled as compositions of other classes</a:t>
            </a: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Composed class has access to the functionality of included classes</a:t>
            </a:r>
          </a:p>
        </p:txBody>
      </p:sp>
      <p:sp>
        <p:nvSpPr>
          <p:cNvPr id="10" name="Google Shape;86;p2">
            <a:extLst>
              <a:ext uri="{FF2B5EF4-FFF2-40B4-BE49-F238E27FC236}">
                <a16:creationId xmlns:a16="http://schemas.microsoft.com/office/drawing/2014/main" id="{9586FE42-4EA4-4C92-A843-0958274ACDF3}"/>
              </a:ext>
            </a:extLst>
          </p:cNvPr>
          <p:cNvSpPr txBox="1">
            <a:spLocks/>
          </p:cNvSpPr>
          <p:nvPr/>
        </p:nvSpPr>
        <p:spPr>
          <a:xfrm>
            <a:off x="313944" y="269854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Composition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C4E1A42-4E28-4F9B-B685-AB5E14055980}"/>
              </a:ext>
            </a:extLst>
          </p:cNvPr>
          <p:cNvSpPr/>
          <p:nvPr/>
        </p:nvSpPr>
        <p:spPr>
          <a:xfrm>
            <a:off x="3577380" y="2866748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Bicycle</a:t>
            </a:r>
          </a:p>
          <a:p>
            <a:pPr algn="ctr"/>
            <a:endParaRPr lang="en-GB" sz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tires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endParaRPr lang="en-GB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ride()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A4D09B5-2146-4675-A401-6DD48FEBAA14}"/>
              </a:ext>
            </a:extLst>
          </p:cNvPr>
          <p:cNvSpPr/>
          <p:nvPr/>
        </p:nvSpPr>
        <p:spPr>
          <a:xfrm>
            <a:off x="1743818" y="4390747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Mountain bike</a:t>
            </a:r>
          </a:p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suspension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Gewinkelte Verbindung 7">
            <a:extLst>
              <a:ext uri="{FF2B5EF4-FFF2-40B4-BE49-F238E27FC236}">
                <a16:creationId xmlns:a16="http://schemas.microsoft.com/office/drawing/2014/main" id="{CD81EF51-E792-4EDF-9AD0-FC9D6D08513F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rot="5400000">
            <a:off x="3230909" y="3222744"/>
            <a:ext cx="502443" cy="183356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winkelte Verbindung 11">
            <a:extLst>
              <a:ext uri="{FF2B5EF4-FFF2-40B4-BE49-F238E27FC236}">
                <a16:creationId xmlns:a16="http://schemas.microsoft.com/office/drawing/2014/main" id="{BCA7326A-448E-4FC6-BCFB-94E4E0DB2E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64471" y="3222745"/>
            <a:ext cx="502443" cy="183356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B05BA3A6-4C0E-4EEE-ABCD-16BA0039E822}"/>
              </a:ext>
            </a:extLst>
          </p:cNvPr>
          <p:cNvSpPr/>
          <p:nvPr/>
        </p:nvSpPr>
        <p:spPr>
          <a:xfrm>
            <a:off x="5500883" y="4390747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E-bike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battery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</a:rPr>
              <a:t>charge()</a:t>
            </a:r>
            <a:br>
              <a:rPr lang="en-GB" dirty="0"/>
            </a:br>
            <a:endParaRPr lang="en-GB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507625B-3715-4903-8156-33C8B918AD79}"/>
              </a:ext>
            </a:extLst>
          </p:cNvPr>
          <p:cNvSpPr txBox="1"/>
          <p:nvPr/>
        </p:nvSpPr>
        <p:spPr>
          <a:xfrm>
            <a:off x="3941894" y="2585482"/>
            <a:ext cx="914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class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367D9B7-10B9-49FB-98C6-AA97BE59BFD6}"/>
              </a:ext>
            </a:extLst>
          </p:cNvPr>
          <p:cNvSpPr txBox="1"/>
          <p:nvPr/>
        </p:nvSpPr>
        <p:spPr>
          <a:xfrm>
            <a:off x="463542" y="4747636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class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724D403-B15A-453F-9A10-4D4CFBB7C45F}"/>
              </a:ext>
            </a:extLst>
          </p:cNvPr>
          <p:cNvSpPr txBox="1"/>
          <p:nvPr/>
        </p:nvSpPr>
        <p:spPr>
          <a:xfrm>
            <a:off x="7121579" y="4747636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class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D02D4FA-EB76-4540-BC83-170589E6F31A}"/>
              </a:ext>
            </a:extLst>
          </p:cNvPr>
          <p:cNvSpPr/>
          <p:nvPr/>
        </p:nvSpPr>
        <p:spPr>
          <a:xfrm>
            <a:off x="3577380" y="4399082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bike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basket</a:t>
            </a:r>
            <a:br>
              <a:rPr lang="en-GB" dirty="0"/>
            </a:br>
            <a:endParaRPr lang="en-GB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68AFA3FB-92DB-4467-85B1-C60F350D27C8}"/>
              </a:ext>
            </a:extLst>
          </p:cNvPr>
          <p:cNvCxnSpPr>
            <a:endCxn id="23" idx="0"/>
          </p:cNvCxnSpPr>
          <p:nvPr/>
        </p:nvCxnSpPr>
        <p:spPr>
          <a:xfrm>
            <a:off x="4398911" y="4139525"/>
            <a:ext cx="0" cy="259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9773AF02-1684-4EDA-A757-AC9CE2156D63}"/>
              </a:ext>
            </a:extLst>
          </p:cNvPr>
          <p:cNvSpPr txBox="1"/>
          <p:nvPr/>
        </p:nvSpPr>
        <p:spPr>
          <a:xfrm>
            <a:off x="3828883" y="5428972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class</a:t>
            </a:r>
          </a:p>
        </p:txBody>
      </p:sp>
      <p:sp>
        <p:nvSpPr>
          <p:cNvPr id="26" name="PlaceHolder 1">
            <a:extLst>
              <a:ext uri="{FF2B5EF4-FFF2-40B4-BE49-F238E27FC236}">
                <a16:creationId xmlns:a16="http://schemas.microsoft.com/office/drawing/2014/main" id="{7C6601B5-28BE-43C1-8565-7FE07576EC06}"/>
              </a:ext>
            </a:extLst>
          </p:cNvPr>
          <p:cNvSpPr txBox="1">
            <a:spLocks/>
          </p:cNvSpPr>
          <p:nvPr/>
        </p:nvSpPr>
        <p:spPr>
          <a:xfrm>
            <a:off x="604683" y="5753266"/>
            <a:ext cx="7934633" cy="518369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 9 Python Notebook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225A5A7-3317-433E-8072-3E102489B75B}"/>
              </a:ext>
            </a:extLst>
          </p:cNvPr>
          <p:cNvSpPr/>
          <p:nvPr/>
        </p:nvSpPr>
        <p:spPr>
          <a:xfrm>
            <a:off x="6065784" y="2866748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Tires</a:t>
            </a:r>
          </a:p>
          <a:p>
            <a:pPr algn="ctr"/>
            <a:endParaRPr lang="en-GB" sz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sz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profile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E7E66BA6-787E-41EB-A460-F831F72740CF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272828" y="3377526"/>
            <a:ext cx="792956" cy="0"/>
          </a:xfrm>
          <a:prstGeom prst="straightConnector1">
            <a:avLst/>
          </a:prstGeom>
          <a:ln w="25400">
            <a:solidFill>
              <a:schemeClr val="tx1"/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D322FB74-DC1B-44C3-8B48-3D22A152CB78}"/>
              </a:ext>
            </a:extLst>
          </p:cNvPr>
          <p:cNvSpPr/>
          <p:nvPr/>
        </p:nvSpPr>
        <p:spPr>
          <a:xfrm>
            <a:off x="1064036" y="2864371"/>
            <a:ext cx="1643062" cy="1021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Breaks</a:t>
            </a:r>
          </a:p>
          <a:p>
            <a:pPr algn="ctr"/>
            <a:endParaRPr lang="en-GB" sz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sz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3D218F1B-92C5-4C2D-B0AD-4CAFEE8790B9}"/>
              </a:ext>
            </a:extLst>
          </p:cNvPr>
          <p:cNvCxnSpPr>
            <a:cxnSpLocks/>
          </p:cNvCxnSpPr>
          <p:nvPr/>
        </p:nvCxnSpPr>
        <p:spPr>
          <a:xfrm flipH="1" flipV="1">
            <a:off x="2707098" y="3389437"/>
            <a:ext cx="827420" cy="2378"/>
          </a:xfrm>
          <a:prstGeom prst="straightConnector1">
            <a:avLst/>
          </a:prstGeom>
          <a:ln w="25400">
            <a:solidFill>
              <a:schemeClr val="tx1"/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7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1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Error Handling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371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2"/>
          <p:cNvSpPr>
            <a:spLocks noGrp="1"/>
          </p:cNvSpPr>
          <p:nvPr>
            <p:ph type="body" idx="1"/>
          </p:nvPr>
        </p:nvSpPr>
        <p:spPr>
          <a:xfrm>
            <a:off x="604683" y="1558363"/>
            <a:ext cx="7934633" cy="3599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Simplifies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mechanism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normal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parallel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Errors „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throw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upwards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Terminate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Higher-level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Catch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Catch, „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throw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upwards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terminate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Terminate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catching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5" lvl="1" indent="0">
              <a:spcBef>
                <a:spcPts val="801"/>
              </a:spcBef>
              <a:buClr>
                <a:srgbClr val="0F0F0F"/>
              </a:buClr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Exception handling</a:t>
            </a: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208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Exception object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8D06C058-40C1-459A-BAF9-FA354E1AD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683" y="1558364"/>
            <a:ext cx="7934633" cy="5204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5" lvl="1" indent="0">
              <a:spcBef>
                <a:spcPts val="801"/>
              </a:spcBef>
              <a:buClr>
                <a:srgbClr val="0F0F0F"/>
              </a:buClr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3414" lvl="2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61D9C6-C93E-47CC-B7AC-0FDA433001FA}"/>
              </a:ext>
            </a:extLst>
          </p:cNvPr>
          <p:cNvSpPr txBox="1"/>
          <p:nvPr/>
        </p:nvSpPr>
        <p:spPr>
          <a:xfrm>
            <a:off x="597072" y="2285997"/>
            <a:ext cx="7973310" cy="155734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e = Exception(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custom error"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e.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en-GB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prints: </a:t>
            </a:r>
            <a:r>
              <a:rPr lang="de-AT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de-AT" sz="18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</a:t>
            </a:r>
            <a:r>
              <a:rPr lang="de-AT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custom</a:t>
            </a:r>
            <a:r>
              <a:rPr lang="de-AT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</a:t>
            </a:r>
            <a:r>
              <a:rPr lang="de-AT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',)</a:t>
            </a:r>
          </a:p>
          <a:p>
            <a:pPr marL="114300" indent="0">
              <a:buNone/>
            </a:pPr>
            <a:endParaRPr lang="de-AT" sz="1800" dirty="0">
              <a:solidFill>
                <a:schemeClr val="bg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e = Exception(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custom error"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e.</a:t>
            </a:r>
            <a:r>
              <a:rPr lang="en-GB" sz="18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en-GB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prints: </a:t>
            </a:r>
            <a:r>
              <a:rPr lang="de-AT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de-AT" sz="18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</a:t>
            </a:r>
            <a:r>
              <a:rPr lang="de-AT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custom</a:t>
            </a:r>
            <a:r>
              <a:rPr lang="de-AT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</a:t>
            </a:r>
            <a:r>
              <a:rPr lang="de-AT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 1, 2)</a:t>
            </a:r>
          </a:p>
          <a:p>
            <a:endParaRPr lang="en-US" sz="1800" spc="-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070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Throwing (raising) an exception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61D9C6-C93E-47CC-B7AC-0FDA433001FA}"/>
              </a:ext>
            </a:extLst>
          </p:cNvPr>
          <p:cNvSpPr txBox="1"/>
          <p:nvPr/>
        </p:nvSpPr>
        <p:spPr>
          <a:xfrm>
            <a:off x="585345" y="1600197"/>
            <a:ext cx="7973310" cy="47149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raise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Exception(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custom error"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1800" spc="-1" dirty="0">
              <a:latin typeface="Consolas" panose="020B0609020204030204" pitchFamily="49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8105602-2B48-4671-BF91-C2B37F5112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581"/>
          <a:stretch/>
        </p:blipFill>
        <p:spPr>
          <a:xfrm>
            <a:off x="847148" y="2937215"/>
            <a:ext cx="6993404" cy="1277597"/>
          </a:xfrm>
          <a:prstGeom prst="rect">
            <a:avLst/>
          </a:prstGeom>
        </p:spPr>
      </p:pic>
      <p:sp>
        <p:nvSpPr>
          <p:cNvPr id="8" name="Pfeil nach unten 6">
            <a:extLst>
              <a:ext uri="{FF2B5EF4-FFF2-40B4-BE49-F238E27FC236}">
                <a16:creationId xmlns:a16="http://schemas.microsoft.com/office/drawing/2014/main" id="{CE4D54D0-D938-4EA0-92CA-B25191DD88A2}"/>
              </a:ext>
            </a:extLst>
          </p:cNvPr>
          <p:cNvSpPr/>
          <p:nvPr/>
        </p:nvSpPr>
        <p:spPr>
          <a:xfrm>
            <a:off x="3098200" y="2223967"/>
            <a:ext cx="166494" cy="578498"/>
          </a:xfrm>
          <a:prstGeom prst="down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81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Throwing (raising) an exception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61D9C6-C93E-47CC-B7AC-0FDA433001FA}"/>
              </a:ext>
            </a:extLst>
          </p:cNvPr>
          <p:cNvSpPr txBox="1"/>
          <p:nvPr/>
        </p:nvSpPr>
        <p:spPr>
          <a:xfrm>
            <a:off x="585345" y="2550322"/>
            <a:ext cx="7973310" cy="47149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raise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"test"</a:t>
            </a:r>
            <a:endParaRPr lang="en-GB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Pfeil nach unten 6">
            <a:extLst>
              <a:ext uri="{FF2B5EF4-FFF2-40B4-BE49-F238E27FC236}">
                <a16:creationId xmlns:a16="http://schemas.microsoft.com/office/drawing/2014/main" id="{CE4D54D0-D938-4EA0-92CA-B25191DD88A2}"/>
              </a:ext>
            </a:extLst>
          </p:cNvPr>
          <p:cNvSpPr/>
          <p:nvPr/>
        </p:nvSpPr>
        <p:spPr>
          <a:xfrm>
            <a:off x="3098200" y="3138372"/>
            <a:ext cx="166494" cy="578498"/>
          </a:xfrm>
          <a:prstGeom prst="down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B0175EA7-F5DB-43DB-AAF1-44CF65A48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683" y="1558364"/>
            <a:ext cx="7934633" cy="8538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throw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BaseException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and…</a:t>
            </a: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BaseException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inheritance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8040CAA-0C76-4005-B12E-98D7DC15F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9" y="4064031"/>
            <a:ext cx="7407576" cy="137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0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Built-in exceptions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B0175EA7-F5DB-43DB-AAF1-44CF65A48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683" y="1558364"/>
            <a:ext cx="7934633" cy="300649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BaseException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Exception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(Base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SyntaxError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NameError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TypeError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ImportErro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6214" lvl="1" indent="-285959">
              <a:spcBef>
                <a:spcPts val="801"/>
              </a:spcBef>
              <a:buClr>
                <a:srgbClr val="0F0F0F"/>
              </a:buClr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 (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action="ppaction://hlinkfile"/>
              </a:rPr>
              <a:t>docs.python.org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7326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Exception handling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61D9C6-C93E-47CC-B7AC-0FDA433001FA}"/>
              </a:ext>
            </a:extLst>
          </p:cNvPr>
          <p:cNvSpPr txBox="1"/>
          <p:nvPr/>
        </p:nvSpPr>
        <p:spPr>
          <a:xfrm>
            <a:off x="585345" y="2800355"/>
            <a:ext cx="7973310" cy="47149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 indent="0">
              <a:buNone/>
            </a:pP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</a:rPr>
              <a:t>open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</a:rPr>
              <a:t>/</a:t>
            </a:r>
            <a:r>
              <a:rPr lang="en-GB" sz="1800" dirty="0" err="1">
                <a:solidFill>
                  <a:srgbClr val="9A0201"/>
                </a:solidFill>
                <a:latin typeface="Consolas" panose="020B0609020204030204" pitchFamily="49" charset="0"/>
              </a:rPr>
              <a:t>tmp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</a:rPr>
              <a:t>/</a:t>
            </a:r>
            <a:r>
              <a:rPr lang="en-GB" sz="1800" dirty="0" err="1">
                <a:solidFill>
                  <a:srgbClr val="9A0201"/>
                </a:solidFill>
                <a:latin typeface="Consolas" panose="020B0609020204030204" pitchFamily="49" charset="0"/>
              </a:rPr>
              <a:t>non_existing_file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800" dirty="0"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</a:rPr>
              <a:t>r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Pfeil nach unten 6">
            <a:extLst>
              <a:ext uri="{FF2B5EF4-FFF2-40B4-BE49-F238E27FC236}">
                <a16:creationId xmlns:a16="http://schemas.microsoft.com/office/drawing/2014/main" id="{CE4D54D0-D938-4EA0-92CA-B25191DD88A2}"/>
              </a:ext>
            </a:extLst>
          </p:cNvPr>
          <p:cNvSpPr/>
          <p:nvPr/>
        </p:nvSpPr>
        <p:spPr>
          <a:xfrm>
            <a:off x="3098200" y="3388405"/>
            <a:ext cx="166494" cy="578498"/>
          </a:xfrm>
          <a:prstGeom prst="down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B0175EA7-F5DB-43DB-AAF1-44CF65A48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683" y="1558364"/>
            <a:ext cx="7934633" cy="101338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lvl="0" indent="-342900">
              <a:lnSpc>
                <a:spcPct val="115000"/>
              </a:lnSpc>
              <a:buSzPts val="1800"/>
              <a:buFont typeface="Wingdings" panose="05000000000000000000" pitchFamily="2" charset="2"/>
              <a:buChar char="v"/>
            </a:pPr>
            <a:r>
              <a:rPr lang="en-GB" sz="1800" b="1" dirty="0">
                <a:solidFill>
                  <a:srgbClr val="0896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keyword opens a try-block</a:t>
            </a:r>
          </a:p>
          <a:p>
            <a:pPr lvl="0" indent="-342900">
              <a:lnSpc>
                <a:spcPct val="115000"/>
              </a:lnSpc>
              <a:buSzPts val="1800"/>
              <a:buFont typeface="Wingdings" panose="05000000000000000000" pitchFamily="2" charset="2"/>
              <a:buChar char="v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Exceptions within that try-block are caught within the except-block</a:t>
            </a:r>
          </a:p>
          <a:p>
            <a:pPr lvl="0" indent="-342900">
              <a:lnSpc>
                <a:spcPct val="115000"/>
              </a:lnSpc>
              <a:buSzPts val="1800"/>
              <a:buFont typeface="Wingdings" panose="05000000000000000000" pitchFamily="2" charset="2"/>
              <a:buChar char="v"/>
            </a:pPr>
            <a:r>
              <a:rPr lang="en-GB" sz="1800" b="1" dirty="0">
                <a:solidFill>
                  <a:srgbClr val="0896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defines which exceptions should be handled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E8855B6-BD87-4EE5-AC6B-4AB641C00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63" y="4140849"/>
            <a:ext cx="7346083" cy="1225549"/>
          </a:xfrm>
          <a:prstGeom prst="rect">
            <a:avLst/>
          </a:prstGeom>
          <a:solidFill>
            <a:srgbClr val="FFDDDD"/>
          </a:solidFill>
        </p:spPr>
      </p:pic>
    </p:spTree>
    <p:extLst>
      <p:ext uri="{BB962C8B-B14F-4D97-AF65-F5344CB8AC3E}">
        <p14:creationId xmlns:p14="http://schemas.microsoft.com/office/powerpoint/2010/main" val="298811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Exception handling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61D9C6-C93E-47CC-B7AC-0FDA433001FA}"/>
              </a:ext>
            </a:extLst>
          </p:cNvPr>
          <p:cNvSpPr txBox="1"/>
          <p:nvPr/>
        </p:nvSpPr>
        <p:spPr>
          <a:xfrm>
            <a:off x="585345" y="1735932"/>
            <a:ext cx="7973310" cy="1321594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</a:t>
            </a:r>
            <a:r>
              <a:rPr lang="en-GB" sz="1800" dirty="0" err="1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800" dirty="0" err="1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non_existing_file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FileNotFoundError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e: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 err="1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f"Caught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{e}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8" name="Pfeil nach unten 6">
            <a:extLst>
              <a:ext uri="{FF2B5EF4-FFF2-40B4-BE49-F238E27FC236}">
                <a16:creationId xmlns:a16="http://schemas.microsoft.com/office/drawing/2014/main" id="{CE4D54D0-D938-4EA0-92CA-B25191DD88A2}"/>
              </a:ext>
            </a:extLst>
          </p:cNvPr>
          <p:cNvSpPr/>
          <p:nvPr/>
        </p:nvSpPr>
        <p:spPr>
          <a:xfrm>
            <a:off x="3098200" y="3388405"/>
            <a:ext cx="166494" cy="578498"/>
          </a:xfrm>
          <a:prstGeom prst="down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5A3A08E-121E-453A-8027-DF0B831FAA7D}"/>
              </a:ext>
            </a:extLst>
          </p:cNvPr>
          <p:cNvSpPr/>
          <p:nvPr/>
        </p:nvSpPr>
        <p:spPr>
          <a:xfrm>
            <a:off x="892747" y="4209813"/>
            <a:ext cx="7358505" cy="523220"/>
          </a:xfrm>
          <a:prstGeom prst="rect">
            <a:avLst/>
          </a:prstGeom>
          <a:solidFill>
            <a:srgbClr val="FFDDDD"/>
          </a:solidFill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GB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prints: </a:t>
            </a:r>
          </a:p>
          <a:p>
            <a:pPr marL="114300" indent="0">
              <a:buNone/>
            </a:pPr>
            <a:r>
              <a:rPr lang="en-GB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de-AT" dirty="0" err="1">
                <a:solidFill>
                  <a:schemeClr val="bg2"/>
                </a:solidFill>
                <a:latin typeface="Consolas" panose="020B0609020204030204" pitchFamily="49" charset="0"/>
              </a:rPr>
              <a:t>Caught</a:t>
            </a:r>
            <a:r>
              <a:rPr lang="de-AT" dirty="0">
                <a:solidFill>
                  <a:schemeClr val="bg2"/>
                </a:solidFill>
                <a:latin typeface="Consolas" panose="020B0609020204030204" pitchFamily="49" charset="0"/>
              </a:rPr>
              <a:t>: [</a:t>
            </a:r>
            <a:r>
              <a:rPr lang="de-AT" dirty="0" err="1">
                <a:solidFill>
                  <a:schemeClr val="bg2"/>
                </a:solidFill>
                <a:latin typeface="Consolas" panose="020B0609020204030204" pitchFamily="49" charset="0"/>
              </a:rPr>
              <a:t>Errno</a:t>
            </a:r>
            <a:r>
              <a:rPr lang="de-AT" dirty="0">
                <a:solidFill>
                  <a:schemeClr val="bg2"/>
                </a:solidFill>
                <a:latin typeface="Consolas" panose="020B0609020204030204" pitchFamily="49" charset="0"/>
              </a:rPr>
              <a:t> 2] </a:t>
            </a:r>
            <a:r>
              <a:rPr lang="de-AT" dirty="0" err="1">
                <a:solidFill>
                  <a:schemeClr val="bg2"/>
                </a:solidFill>
                <a:latin typeface="Consolas" panose="020B0609020204030204" pitchFamily="49" charset="0"/>
              </a:rPr>
              <a:t>No</a:t>
            </a:r>
            <a:r>
              <a:rPr lang="de-AT" dirty="0">
                <a:solidFill>
                  <a:schemeClr val="bg2"/>
                </a:solidFill>
                <a:latin typeface="Consolas" panose="020B0609020204030204" pitchFamily="49" charset="0"/>
              </a:rPr>
              <a:t> such </a:t>
            </a:r>
            <a:r>
              <a:rPr lang="de-AT" dirty="0" err="1">
                <a:solidFill>
                  <a:schemeClr val="bg2"/>
                </a:solidFill>
                <a:latin typeface="Consolas" panose="020B0609020204030204" pitchFamily="49" charset="0"/>
              </a:rPr>
              <a:t>file</a:t>
            </a:r>
            <a:r>
              <a:rPr lang="de-AT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de-AT" dirty="0" err="1">
                <a:solidFill>
                  <a:schemeClr val="bg2"/>
                </a:solidFill>
                <a:latin typeface="Consolas" panose="020B0609020204030204" pitchFamily="49" charset="0"/>
              </a:rPr>
              <a:t>or</a:t>
            </a:r>
            <a:r>
              <a:rPr lang="de-AT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de-AT" dirty="0" err="1">
                <a:solidFill>
                  <a:schemeClr val="bg2"/>
                </a:solidFill>
                <a:latin typeface="Consolas" panose="020B0609020204030204" pitchFamily="49" charset="0"/>
              </a:rPr>
              <a:t>directory</a:t>
            </a:r>
            <a:r>
              <a:rPr lang="de-AT" dirty="0">
                <a:solidFill>
                  <a:schemeClr val="bg2"/>
                </a:solidFill>
                <a:latin typeface="Consolas" panose="020B0609020204030204" pitchFamily="49" charset="0"/>
              </a:rPr>
              <a:t>: '/</a:t>
            </a:r>
            <a:r>
              <a:rPr lang="de-AT" dirty="0" err="1">
                <a:solidFill>
                  <a:schemeClr val="bg2"/>
                </a:solidFill>
                <a:latin typeface="Consolas" panose="020B0609020204030204" pitchFamily="49" charset="0"/>
              </a:rPr>
              <a:t>tmp</a:t>
            </a:r>
            <a:r>
              <a:rPr lang="de-AT" dirty="0">
                <a:solidFill>
                  <a:schemeClr val="bg2"/>
                </a:solidFill>
                <a:latin typeface="Consolas" panose="020B0609020204030204" pitchFamily="49" charset="0"/>
              </a:rPr>
              <a:t>/</a:t>
            </a:r>
            <a:r>
              <a:rPr lang="de-AT" dirty="0" err="1">
                <a:solidFill>
                  <a:schemeClr val="bg2"/>
                </a:solidFill>
                <a:latin typeface="Consolas" panose="020B0609020204030204" pitchFamily="49" charset="0"/>
              </a:rPr>
              <a:t>non_existing_file</a:t>
            </a:r>
            <a:r>
              <a:rPr lang="de-AT" dirty="0">
                <a:solidFill>
                  <a:schemeClr val="bg2"/>
                </a:solidFill>
                <a:latin typeface="Consolas" panose="020B0609020204030204" pitchFamily="49" charset="0"/>
              </a:rPr>
              <a:t>'</a:t>
            </a:r>
            <a:endParaRPr lang="en-GB" dirty="0">
              <a:solidFill>
                <a:schemeClr val="bg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54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Try-Except-Else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61D9C6-C93E-47CC-B7AC-0FDA433001FA}"/>
              </a:ext>
            </a:extLst>
          </p:cNvPr>
          <p:cNvSpPr txBox="1"/>
          <p:nvPr/>
        </p:nvSpPr>
        <p:spPr>
          <a:xfrm>
            <a:off x="585345" y="1735932"/>
            <a:ext cx="7973310" cy="3000374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"all good"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NameError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catch and continue</a:t>
            </a:r>
            <a:endParaRPr lang="en-GB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"Undefined variables found."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GB" sz="1800" dirty="0">
              <a:solidFill>
                <a:schemeClr val="bg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"Don't know this error."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raise 	</a:t>
            </a:r>
            <a:r>
              <a:rPr lang="en-GB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throw the exception "upwards"</a:t>
            </a:r>
          </a:p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"Everything is fine!"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1334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Finally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61D9C6-C93E-47CC-B7AC-0FDA433001FA}"/>
              </a:ext>
            </a:extLst>
          </p:cNvPr>
          <p:cNvSpPr txBox="1"/>
          <p:nvPr/>
        </p:nvSpPr>
        <p:spPr>
          <a:xfrm>
            <a:off x="604683" y="2336011"/>
            <a:ext cx="7973310" cy="2771774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(a)</a:t>
            </a:r>
          </a:p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FileNotFoundError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"File does not exist"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"Don't know this error"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raise</a:t>
            </a:r>
          </a:p>
          <a:p>
            <a:pPr marL="114300" indent="0">
              <a:buNone/>
            </a:pPr>
            <a:r>
              <a:rPr lang="en-GB" sz="18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finally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"cleaning up"</a:t>
            </a:r>
            <a:r>
              <a:rPr lang="en-GB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79DC674-8440-4564-94D3-EB3451997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683" y="1558364"/>
            <a:ext cx="7934633" cy="4990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lvl="0" indent="-342900">
              <a:lnSpc>
                <a:spcPct val="115000"/>
              </a:lnSpc>
              <a:buSzPts val="1800"/>
              <a:buFont typeface="Wingdings" panose="05000000000000000000" pitchFamily="2" charset="2"/>
              <a:buChar char="v"/>
            </a:pPr>
            <a:r>
              <a:rPr lang="en-GB" sz="1800" b="1" dirty="0">
                <a:solidFill>
                  <a:srgbClr val="08964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finally </a:t>
            </a:r>
            <a:r>
              <a:rPr lang="en-GB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is always executed at the end (“</a:t>
            </a:r>
            <a:r>
              <a:rPr lang="en-GB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cleanup</a:t>
            </a:r>
            <a:r>
              <a:rPr lang="en-GB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handler) 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951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6;p2">
            <a:extLst>
              <a:ext uri="{FF2B5EF4-FFF2-40B4-BE49-F238E27FC236}">
                <a16:creationId xmlns:a16="http://schemas.microsoft.com/office/drawing/2014/main" id="{3FD547F6-2EE3-4D84-AAAB-02062ECB183B}"/>
              </a:ext>
            </a:extLst>
          </p:cNvPr>
          <p:cNvSpPr txBox="1">
            <a:spLocks/>
          </p:cNvSpPr>
          <p:nvPr/>
        </p:nvSpPr>
        <p:spPr>
          <a:xfrm>
            <a:off x="306449" y="227023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Type checks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61D9C6-C93E-47CC-B7AC-0FDA433001FA}"/>
              </a:ext>
            </a:extLst>
          </p:cNvPr>
          <p:cNvSpPr txBox="1"/>
          <p:nvPr/>
        </p:nvSpPr>
        <p:spPr>
          <a:xfrm>
            <a:off x="604683" y="2336012"/>
            <a:ext cx="7973310" cy="323984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114300" indent="0">
              <a:buNone/>
            </a:pPr>
            <a:r>
              <a:rPr lang="en-GB" sz="16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2B639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my_function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(number):</a:t>
            </a:r>
          </a:p>
          <a:p>
            <a:pPr marL="11430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GB" sz="16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isinstance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(number, </a:t>
            </a:r>
            <a:r>
              <a:rPr lang="en-GB" sz="16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marL="11430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f"My</a:t>
            </a:r>
            <a:r>
              <a:rPr lang="en-GB" sz="16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number: 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{number}</a:t>
            </a:r>
            <a:r>
              <a:rPr lang="en-GB" sz="16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8964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raise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TypeError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9A02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"Only integers are allowed as input."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14300" indent="0">
              <a:buNone/>
            </a:pPr>
            <a:endParaRPr lang="en-GB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14300" indent="0">
              <a:buNone/>
            </a:pPr>
            <a:endParaRPr lang="en-GB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try:</a:t>
            </a:r>
          </a:p>
          <a:p>
            <a:pPr marL="11430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my_function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(“Ingo”)</a:t>
            </a:r>
          </a:p>
          <a:p>
            <a:pPr marL="11430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Exception 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TypeError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1430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print(“Oops!”)</a:t>
            </a: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79DC674-8440-4564-94D3-EB3451997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683" y="1558364"/>
            <a:ext cx="7934633" cy="4990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lvl="0" indent="-342900">
              <a:lnSpc>
                <a:spcPct val="115000"/>
              </a:lnSpc>
              <a:buSzPts val="1800"/>
              <a:buFont typeface="Wingdings" panose="05000000000000000000" pitchFamily="2" charset="2"/>
              <a:buChar char="v"/>
            </a:pPr>
            <a:r>
              <a:rPr lang="en-GB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variable type with </a:t>
            </a:r>
            <a:r>
              <a:rPr lang="en-GB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isinstance</a:t>
            </a:r>
            <a:r>
              <a:rPr lang="en-GB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66150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049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534163"/>
            <a:ext cx="8229600" cy="480131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 1: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 about a problem that you would like to solve using OOP. Your problem should require at least three classes, one inheritance (is-a relation) and one composition (has-a relation). Sketch a class diagram for your solution and identify the attributes and methods for your classes.</a:t>
            </a:r>
          </a:p>
          <a:p>
            <a:pPr lvl="0">
              <a:defRPr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ideas:</a:t>
            </a: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Plotting data histograms</a:t>
            </a: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Fitting curves to data</a:t>
            </a: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Performing statistical tests</a:t>
            </a: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of students</a:t>
            </a: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application to search for students</a:t>
            </a: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Searching for words in text documents</a:t>
            </a: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Manipulating images</a:t>
            </a:r>
          </a:p>
          <a:p>
            <a:pPr marL="285750" lvl="0" indent="-285750">
              <a:buFont typeface="Wingdings" panose="05000000000000000000" pitchFamily="2" charset="2"/>
              <a:buChar char="v"/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lvl="0">
              <a:defRPr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a topic that is of interest to you. The goal is that every student works on her/his own topic.</a:t>
            </a:r>
          </a:p>
        </p:txBody>
      </p:sp>
    </p:spTree>
    <p:extLst>
      <p:ext uri="{BB962C8B-B14F-4D97-AF65-F5344CB8AC3E}">
        <p14:creationId xmlns:p14="http://schemas.microsoft.com/office/powerpoint/2010/main" val="268826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1329</Words>
  <Application>Microsoft Macintosh PowerPoint</Application>
  <PresentationFormat>On-screen Show (4:3)</PresentationFormat>
  <Paragraphs>275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Wingdings</vt:lpstr>
      <vt:lpstr>Consolas</vt:lpstr>
      <vt:lpstr>Arial</vt:lpstr>
      <vt:lpstr>Calibri</vt:lpstr>
      <vt:lpstr>Blackadder ITC</vt:lpstr>
      <vt:lpstr>Office Theme</vt:lpstr>
      <vt:lpstr>Fundamentals of Computer Science and Programming </vt:lpstr>
      <vt:lpstr>Outline</vt:lpstr>
      <vt:lpstr>Object-oriented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Classes and objects</vt:lpstr>
      <vt:lpstr>PowerPoint Presentation</vt:lpstr>
      <vt:lpstr>PowerPoint Presentation</vt:lpstr>
      <vt:lpstr>PowerPoint Presentation</vt:lpstr>
      <vt:lpstr>Inheritance &amp; Composition</vt:lpstr>
      <vt:lpstr>PowerPoint Presentation</vt:lpstr>
      <vt:lpstr>PowerPoint Presentation</vt:lpstr>
      <vt:lpstr>Error Handling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1122</cp:revision>
  <dcterms:modified xsi:type="dcterms:W3CDTF">2025-11-27T15:16:44Z</dcterms:modified>
</cp:coreProperties>
</file>