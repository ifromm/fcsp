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embedTrueTypeFonts="1" saveSubsetFonts="1" autoCompressPictures="0">
  <p:sldMasterIdLst>
    <p:sldMasterId id="2147483648" r:id="rId1"/>
    <p:sldMasterId id="2147483653" r:id="rId2"/>
  </p:sldMasterIdLst>
  <p:notesMasterIdLst>
    <p:notesMasterId r:id="rId112"/>
  </p:notesMasterIdLst>
  <p:sldIdLst>
    <p:sldId id="256" r:id="rId3"/>
    <p:sldId id="408" r:id="rId4"/>
    <p:sldId id="554" r:id="rId5"/>
    <p:sldId id="605" r:id="rId6"/>
    <p:sldId id="639" r:id="rId7"/>
    <p:sldId id="640" r:id="rId8"/>
    <p:sldId id="641" r:id="rId9"/>
    <p:sldId id="642" r:id="rId10"/>
    <p:sldId id="576" r:id="rId11"/>
    <p:sldId id="579" r:id="rId12"/>
    <p:sldId id="581" r:id="rId13"/>
    <p:sldId id="645" r:id="rId14"/>
    <p:sldId id="649" r:id="rId15"/>
    <p:sldId id="650" r:id="rId16"/>
    <p:sldId id="648" r:id="rId17"/>
    <p:sldId id="651" r:id="rId18"/>
    <p:sldId id="652" r:id="rId19"/>
    <p:sldId id="653" r:id="rId20"/>
    <p:sldId id="654" r:id="rId21"/>
    <p:sldId id="655" r:id="rId22"/>
    <p:sldId id="656" r:id="rId23"/>
    <p:sldId id="657" r:id="rId24"/>
    <p:sldId id="658" r:id="rId25"/>
    <p:sldId id="659" r:id="rId26"/>
    <p:sldId id="660" r:id="rId27"/>
    <p:sldId id="661" r:id="rId28"/>
    <p:sldId id="662" r:id="rId29"/>
    <p:sldId id="663" r:id="rId30"/>
    <p:sldId id="664" r:id="rId31"/>
    <p:sldId id="665" r:id="rId32"/>
    <p:sldId id="666" r:id="rId33"/>
    <p:sldId id="667" r:id="rId34"/>
    <p:sldId id="668" r:id="rId35"/>
    <p:sldId id="669" r:id="rId36"/>
    <p:sldId id="670" r:id="rId37"/>
    <p:sldId id="671" r:id="rId38"/>
    <p:sldId id="672" r:id="rId39"/>
    <p:sldId id="673" r:id="rId40"/>
    <p:sldId id="674" r:id="rId41"/>
    <p:sldId id="675" r:id="rId42"/>
    <p:sldId id="676" r:id="rId43"/>
    <p:sldId id="677" r:id="rId44"/>
    <p:sldId id="678" r:id="rId45"/>
    <p:sldId id="679" r:id="rId46"/>
    <p:sldId id="680" r:id="rId47"/>
    <p:sldId id="681" r:id="rId48"/>
    <p:sldId id="682" r:id="rId49"/>
    <p:sldId id="683" r:id="rId50"/>
    <p:sldId id="684" r:id="rId51"/>
    <p:sldId id="689" r:id="rId52"/>
    <p:sldId id="685" r:id="rId53"/>
    <p:sldId id="686" r:id="rId54"/>
    <p:sldId id="687" r:id="rId55"/>
    <p:sldId id="688" r:id="rId56"/>
    <p:sldId id="690" r:id="rId57"/>
    <p:sldId id="523" r:id="rId58"/>
    <p:sldId id="461" r:id="rId59"/>
    <p:sldId id="646" r:id="rId60"/>
    <p:sldId id="691" r:id="rId61"/>
    <p:sldId id="693" r:id="rId62"/>
    <p:sldId id="692" r:id="rId63"/>
    <p:sldId id="694" r:id="rId64"/>
    <p:sldId id="695" r:id="rId65"/>
    <p:sldId id="696" r:id="rId66"/>
    <p:sldId id="697" r:id="rId67"/>
    <p:sldId id="698" r:id="rId68"/>
    <p:sldId id="699" r:id="rId69"/>
    <p:sldId id="700" r:id="rId70"/>
    <p:sldId id="701" r:id="rId71"/>
    <p:sldId id="702" r:id="rId72"/>
    <p:sldId id="703" r:id="rId73"/>
    <p:sldId id="704" r:id="rId74"/>
    <p:sldId id="705" r:id="rId75"/>
    <p:sldId id="706" r:id="rId76"/>
    <p:sldId id="707" r:id="rId77"/>
    <p:sldId id="708" r:id="rId78"/>
    <p:sldId id="709" r:id="rId79"/>
    <p:sldId id="710" r:id="rId80"/>
    <p:sldId id="711" r:id="rId81"/>
    <p:sldId id="712" r:id="rId82"/>
    <p:sldId id="713" r:id="rId83"/>
    <p:sldId id="714" r:id="rId84"/>
    <p:sldId id="715" r:id="rId85"/>
    <p:sldId id="716" r:id="rId86"/>
    <p:sldId id="717" r:id="rId87"/>
    <p:sldId id="718" r:id="rId88"/>
    <p:sldId id="719" r:id="rId89"/>
    <p:sldId id="720" r:id="rId90"/>
    <p:sldId id="721" r:id="rId91"/>
    <p:sldId id="722" r:id="rId92"/>
    <p:sldId id="643" r:id="rId93"/>
    <p:sldId id="644" r:id="rId94"/>
    <p:sldId id="647" r:id="rId95"/>
    <p:sldId id="723" r:id="rId96"/>
    <p:sldId id="724" r:id="rId97"/>
    <p:sldId id="725" r:id="rId98"/>
    <p:sldId id="726" r:id="rId99"/>
    <p:sldId id="727" r:id="rId100"/>
    <p:sldId id="728" r:id="rId101"/>
    <p:sldId id="729" r:id="rId102"/>
    <p:sldId id="730" r:id="rId103"/>
    <p:sldId id="731" r:id="rId104"/>
    <p:sldId id="732" r:id="rId105"/>
    <p:sldId id="733" r:id="rId106"/>
    <p:sldId id="734" r:id="rId107"/>
    <p:sldId id="735" r:id="rId108"/>
    <p:sldId id="736" r:id="rId109"/>
    <p:sldId id="737" r:id="rId110"/>
    <p:sldId id="738" r:id="rId111"/>
  </p:sldIdLst>
  <p:sldSz cx="9144000" cy="6858000" type="screen4x3"/>
  <p:notesSz cx="7099300" cy="10234613"/>
  <p:embeddedFontLst>
    <p:embeddedFont>
      <p:font typeface="Blackadder ITC" pitchFamily="82" charset="77"/>
      <p:regular r:id="rId113"/>
    </p:embeddedFont>
    <p:embeddedFont>
      <p:font typeface="Cambria Math" panose="02040503050406030204" pitchFamily="18" charset="0"/>
      <p:regular r:id="rId114"/>
    </p:embeddedFont>
    <p:embeddedFont>
      <p:font typeface="Consolas" panose="020B0609020204030204" pitchFamily="49" charset="0"/>
      <p:regular r:id="rId115"/>
      <p:bold r:id="rId116"/>
      <p:italic r:id="rId117"/>
      <p:boldItalic r:id="rId1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8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3" roundtripDataSignature="AMtx7milieXwv5OUJdQk1cj/252aZuXc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D7CD"/>
    <a:srgbClr val="BFBFBF"/>
    <a:srgbClr val="1E90FF"/>
    <a:srgbClr val="DAE3F3"/>
    <a:srgbClr val="FCECE8"/>
    <a:srgbClr val="32CD32"/>
    <a:srgbClr val="D3242A"/>
    <a:srgbClr val="EDEDED"/>
    <a:srgbClr val="ED7D31"/>
    <a:srgbClr val="E2F0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855603-2CF3-4742-A44A-95945365BBF7}" v="1" dt="2026-05-26T12:10:33.6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A107856-5554-42FB-B03E-39F5DBC370BA}" styleName="Mittlere Formatvorlage 4 - Akz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ittlere Formatvorlage 1 - Akz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57" autoAdjust="0"/>
    <p:restoredTop sz="92528" autoAdjust="0"/>
  </p:normalViewPr>
  <p:slideViewPr>
    <p:cSldViewPr snapToGrid="0">
      <p:cViewPr varScale="1">
        <p:scale>
          <a:sx n="104" d="100"/>
          <a:sy n="104" d="100"/>
        </p:scale>
        <p:origin x="216" y="432"/>
      </p:cViewPr>
      <p:guideLst>
        <p:guide orient="horz" pos="218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font" Target="fonts/font5.fntdata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customschemas.google.com/relationships/presentationmetadata" Target="metadata"/><Relationship Id="rId128" Type="http://schemas.microsoft.com/office/2016/11/relationships/changesInfo" Target="changesInfos/changesInfo1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font" Target="fonts/font1.fntdata"/><Relationship Id="rId118" Type="http://schemas.openxmlformats.org/officeDocument/2006/relationships/font" Target="fonts/font6.fntdata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presProps" Target="presProps.xml"/><Relationship Id="rId129" Type="http://schemas.microsoft.com/office/2015/10/relationships/revisionInfo" Target="revisionInfo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font" Target="fonts/font2.fntdata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5" Type="http://schemas.openxmlformats.org/officeDocument/2006/relationships/viewProps" Target="view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font" Target="fonts/font3.fntdata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font" Target="fonts/font4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go Frommholz" userId="ee3b4549-206f-4e4f-93a1-b7ff676f0af7" providerId="ADAL" clId="{5F8971C4-3D52-5FAB-A951-9912A46CDBB0}"/>
    <pc:docChg chg="custSel modSld">
      <pc:chgData name="Ingo Frommholz" userId="ee3b4549-206f-4e4f-93a1-b7ff676f0af7" providerId="ADAL" clId="{5F8971C4-3D52-5FAB-A951-9912A46CDBB0}" dt="2026-05-26T12:58:12.808" v="219" actId="20577"/>
      <pc:docMkLst>
        <pc:docMk/>
      </pc:docMkLst>
      <pc:sldChg chg="modSp mod">
        <pc:chgData name="Ingo Frommholz" userId="ee3b4549-206f-4e4f-93a1-b7ff676f0af7" providerId="ADAL" clId="{5F8971C4-3D52-5FAB-A951-9912A46CDBB0}" dt="2026-05-25T20:59:20.231" v="209" actId="1038"/>
        <pc:sldMkLst>
          <pc:docMk/>
          <pc:sldMk cId="0" sldId="256"/>
        </pc:sldMkLst>
        <pc:picChg chg="mod">
          <ac:chgData name="Ingo Frommholz" userId="ee3b4549-206f-4e4f-93a1-b7ff676f0af7" providerId="ADAL" clId="{5F8971C4-3D52-5FAB-A951-9912A46CDBB0}" dt="2026-05-25T20:59:20.231" v="209" actId="1038"/>
          <ac:picMkLst>
            <pc:docMk/>
            <pc:sldMk cId="0" sldId="256"/>
            <ac:picMk id="78" creationId="{00000000-0000-0000-0000-000000000000}"/>
          </ac:picMkLst>
        </pc:picChg>
      </pc:sldChg>
      <pc:sldChg chg="modSp">
        <pc:chgData name="Ingo Frommholz" userId="ee3b4549-206f-4e4f-93a1-b7ff676f0af7" providerId="ADAL" clId="{5F8971C4-3D52-5FAB-A951-9912A46CDBB0}" dt="2026-05-26T12:10:33.688" v="210" actId="20577"/>
        <pc:sldMkLst>
          <pc:docMk/>
          <pc:sldMk cId="3527944703" sldId="691"/>
        </pc:sldMkLst>
        <pc:spChg chg="mod">
          <ac:chgData name="Ingo Frommholz" userId="ee3b4549-206f-4e4f-93a1-b7ff676f0af7" providerId="ADAL" clId="{5F8971C4-3D52-5FAB-A951-9912A46CDBB0}" dt="2026-05-26T12:10:33.688" v="210" actId="20577"/>
          <ac:spMkLst>
            <pc:docMk/>
            <pc:sldMk cId="3527944703" sldId="691"/>
            <ac:spMk id="10" creationId="{9254B13C-19D7-4861-A881-548D1903C1E4}"/>
          </ac:spMkLst>
        </pc:spChg>
      </pc:sldChg>
      <pc:sldChg chg="modSp mod">
        <pc:chgData name="Ingo Frommholz" userId="ee3b4549-206f-4e4f-93a1-b7ff676f0af7" providerId="ADAL" clId="{5F8971C4-3D52-5FAB-A951-9912A46CDBB0}" dt="2026-05-26T12:58:12.808" v="219" actId="20577"/>
        <pc:sldMkLst>
          <pc:docMk/>
          <pc:sldMk cId="1090199631" sldId="723"/>
        </pc:sldMkLst>
        <pc:spChg chg="mod">
          <ac:chgData name="Ingo Frommholz" userId="ee3b4549-206f-4e4f-93a1-b7ff676f0af7" providerId="ADAL" clId="{5F8971C4-3D52-5FAB-A951-9912A46CDBB0}" dt="2026-05-26T12:58:12.808" v="219" actId="20577"/>
          <ac:spMkLst>
            <pc:docMk/>
            <pc:sldMk cId="1090199631" sldId="723"/>
            <ac:spMk id="10" creationId="{9254B13C-19D7-4861-A881-548D1903C1E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62775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43150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0038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62062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36070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7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058075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20834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9650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73802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11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924220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54810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9210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14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73052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02660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25112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95576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45236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65583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71892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41712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74622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593566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01296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5708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26596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56463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94072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65885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03333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60046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667836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61660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831387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799429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392598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30334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406134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149158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335224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174251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02663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692033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164703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57603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524919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341256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223789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084615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059311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148453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246698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378634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437420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55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825056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244208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57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2106065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401430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749478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132730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834800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000359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642741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779145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560490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455130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335176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5194629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599457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4290887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789926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5773992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7975079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762583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0705063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3676306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748946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8637026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0177144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5495342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8448990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088863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3169473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9907882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5878816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479582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7958039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8953413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4410502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90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90372499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594094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709932" y="4861443"/>
            <a:ext cx="5679439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725" tIns="94725" rIns="94725" bIns="947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b="0" i="0" u="none" strike="noStrike" cap="none" dirty="0">
              <a:solidFill>
                <a:schemeClr val="dk1"/>
              </a:solidFill>
              <a:latin typeface="Blackadder ITC" panose="04020505051007020D02" pitchFamily="82" charset="0"/>
              <a:sym typeface="Arial"/>
            </a:endParaRPr>
          </a:p>
        </p:txBody>
      </p:sp>
      <p:sp>
        <p:nvSpPr>
          <p:cNvPr id="84" name="Google Shape;84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de-DE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lackadder ITC" panose="04020505051007020D02" pitchFamily="82" charset="0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92</a:t>
            </a:fld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lackadder ITC" panose="04020505051007020D02" pitchFamily="8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203048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1065187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0536442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806732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212603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6652427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1513416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3065995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5195570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5523078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6607185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3081197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9443500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103898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1586844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701977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26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1e8dd047e_0_1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61e8dd047e_0_15"/>
          <p:cNvSpPr txBox="1">
            <a:spLocks noGrp="1"/>
          </p:cNvSpPr>
          <p:nvPr>
            <p:ph type="body" idx="1"/>
          </p:nvPr>
        </p:nvSpPr>
        <p:spPr>
          <a:xfrm>
            <a:off x="2286000" y="338760"/>
            <a:ext cx="6399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AB9558B-27C5-4CC8-9685-151D67DE7720}"/>
              </a:ext>
            </a:extLst>
          </p:cNvPr>
          <p:cNvSpPr txBox="1"/>
          <p:nvPr userDrawn="1"/>
        </p:nvSpPr>
        <p:spPr>
          <a:xfrm>
            <a:off x="8180614" y="6470198"/>
            <a:ext cx="1232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E9CBD56-2686-4AAC-B011-CC68FE510BD3}" type="slidenum">
              <a:rPr lang="de-AT" smtClean="0">
                <a:solidFill>
                  <a:schemeClr val="bg1"/>
                </a:solidFill>
              </a:rPr>
              <a:t>‹#›</a:t>
            </a:fld>
            <a:r>
              <a:rPr lang="de-AT" dirty="0">
                <a:solidFill>
                  <a:schemeClr val="bg1"/>
                </a:solidFill>
              </a:rPr>
              <a:t> / 108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 preserve="1">
  <p:cSld name="1_Title,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1e8dd047e_0_1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g61e8dd047e_0_15"/>
          <p:cNvSpPr txBox="1">
            <a:spLocks noGrp="1"/>
          </p:cNvSpPr>
          <p:nvPr>
            <p:ph type="body" idx="1"/>
          </p:nvPr>
        </p:nvSpPr>
        <p:spPr>
          <a:xfrm>
            <a:off x="619431" y="2142979"/>
            <a:ext cx="7934633" cy="3525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AB9558B-27C5-4CC8-9685-151D67DE7720}"/>
              </a:ext>
            </a:extLst>
          </p:cNvPr>
          <p:cNvSpPr txBox="1"/>
          <p:nvPr userDrawn="1"/>
        </p:nvSpPr>
        <p:spPr>
          <a:xfrm>
            <a:off x="8180614" y="6470198"/>
            <a:ext cx="12328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E9CBD56-2686-4AAC-B011-CC68FE510BD3}" type="slidenum">
              <a:rPr lang="de-AT" smtClean="0">
                <a:solidFill>
                  <a:schemeClr val="bg1"/>
                </a:solidFill>
              </a:rPr>
              <a:t>‹#›</a:t>
            </a:fld>
            <a:r>
              <a:rPr lang="de-AT" dirty="0">
                <a:solidFill>
                  <a:schemeClr val="bg1"/>
                </a:solidFill>
              </a:rPr>
              <a:t> / 108</a:t>
            </a:r>
          </a:p>
        </p:txBody>
      </p:sp>
    </p:spTree>
    <p:extLst>
      <p:ext uri="{BB962C8B-B14F-4D97-AF65-F5344CB8AC3E}">
        <p14:creationId xmlns:p14="http://schemas.microsoft.com/office/powerpoint/2010/main" val="2139937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Title,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1e8dd047e_0_15"/>
          <p:cNvSpPr txBox="1">
            <a:spLocks noGrp="1"/>
          </p:cNvSpPr>
          <p:nvPr>
            <p:ph type="title"/>
          </p:nvPr>
        </p:nvSpPr>
        <p:spPr>
          <a:xfrm>
            <a:off x="457200" y="273600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g61e8dd047e_0_15"/>
          <p:cNvSpPr txBox="1">
            <a:spLocks noGrp="1"/>
          </p:cNvSpPr>
          <p:nvPr>
            <p:ph type="body" idx="1"/>
          </p:nvPr>
        </p:nvSpPr>
        <p:spPr>
          <a:xfrm>
            <a:off x="2286000" y="338760"/>
            <a:ext cx="6399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AB9558B-27C5-4CC8-9685-151D67DE7720}"/>
              </a:ext>
            </a:extLst>
          </p:cNvPr>
          <p:cNvSpPr txBox="1"/>
          <p:nvPr userDrawn="1"/>
        </p:nvSpPr>
        <p:spPr>
          <a:xfrm>
            <a:off x="8180614" y="6434758"/>
            <a:ext cx="1232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E9CBD56-2686-4AAC-B011-CC68FE510BD3}" type="slidenum">
              <a:rPr lang="de-AT" sz="1600" baseline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‹#›</a:t>
            </a:fld>
            <a:r>
              <a:rPr lang="de-AT" sz="1600" baseline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/ 108</a:t>
            </a:r>
          </a:p>
        </p:txBody>
      </p:sp>
    </p:spTree>
    <p:extLst>
      <p:ext uri="{BB962C8B-B14F-4D97-AF65-F5344CB8AC3E}">
        <p14:creationId xmlns:p14="http://schemas.microsoft.com/office/powerpoint/2010/main" val="1148477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g61e8dd047e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60"/>
            <a:ext cx="9143642" cy="685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g61e8dd047e_0_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360"/>
            <a:ext cx="9143642" cy="685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g61e8dd047e_0_0"/>
          <p:cNvSpPr/>
          <p:nvPr/>
        </p:nvSpPr>
        <p:spPr>
          <a:xfrm>
            <a:off x="3657600" y="1481760"/>
            <a:ext cx="1842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g61e8dd047e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360"/>
            <a:ext cx="9143642" cy="6857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g61e8dd047e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360"/>
            <a:ext cx="9143642" cy="685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g61e8dd047e_0_0"/>
          <p:cNvSpPr/>
          <p:nvPr/>
        </p:nvSpPr>
        <p:spPr>
          <a:xfrm>
            <a:off x="3657600" y="1481760"/>
            <a:ext cx="1842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Blackadder ITC" panose="04020505051007020D02" pitchFamily="82" charset="0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472783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91.xml"/><Relationship Id="rId3" Type="http://schemas.openxmlformats.org/officeDocument/2006/relationships/slide" Target="slide3.xml"/><Relationship Id="rId7" Type="http://schemas.openxmlformats.org/officeDocument/2006/relationships/slide" Target="slide5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slide" Target="slide56.xml"/><Relationship Id="rId5" Type="http://schemas.openxmlformats.org/officeDocument/2006/relationships/slide" Target="slide12.xml"/><Relationship Id="rId4" Type="http://schemas.openxmlformats.org/officeDocument/2006/relationships/slide" Target="slide8.xml"/><Relationship Id="rId9" Type="http://schemas.openxmlformats.org/officeDocument/2006/relationships/slide" Target="slide9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817" y="0"/>
            <a:ext cx="9144000" cy="6858046"/>
          </a:xfrm>
          <a:prstGeom prst="rect">
            <a:avLst/>
          </a:prstGeom>
          <a:solidFill>
            <a:srgbClr val="D3242A"/>
          </a:solidFill>
          <a:ln>
            <a:noFill/>
          </a:ln>
        </p:spPr>
      </p:pic>
      <p:sp>
        <p:nvSpPr>
          <p:cNvPr id="79" name="Google Shape;79;p1"/>
          <p:cNvSpPr txBox="1">
            <a:spLocks noGrp="1"/>
          </p:cNvSpPr>
          <p:nvPr>
            <p:ph type="title"/>
          </p:nvPr>
        </p:nvSpPr>
        <p:spPr>
          <a:xfrm>
            <a:off x="353192" y="4030874"/>
            <a:ext cx="822930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 sz="4400" b="1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Fundamentals of Computer Science and Programming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lang="en-US" sz="4400" b="1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"/>
          <p:cNvSpPr txBox="1">
            <a:spLocks noGrp="1"/>
          </p:cNvSpPr>
          <p:nvPr>
            <p:ph type="body" idx="1"/>
          </p:nvPr>
        </p:nvSpPr>
        <p:spPr>
          <a:xfrm>
            <a:off x="1956231" y="5175674"/>
            <a:ext cx="5536308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  <a:buSzPts val="800"/>
            </a:pPr>
            <a:r>
              <a:rPr lang="en-US" sz="3200" b="0" i="0" u="none" strike="noStrike" cap="none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Unit </a:t>
            </a:r>
            <a:r>
              <a:rPr lang="en-US" sz="32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r>
              <a:rPr lang="en-US" sz="3200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b="0" i="0" u="none" strike="noStrike" cap="none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lang="en-US" sz="3200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en-US" sz="3200" b="0" i="0" u="none" strike="noStrike" cap="none" noProof="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Searching and sorting</a:t>
            </a:r>
            <a:endParaRPr lang="en-US" sz="3200" b="0" i="0" u="none" strike="noStrike" cap="none" noProof="0" dirty="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5EBE914-4CDA-45B5-B72B-D9613B9F4C3F}"/>
              </a:ext>
            </a:extLst>
          </p:cNvPr>
          <p:cNvSpPr/>
          <p:nvPr/>
        </p:nvSpPr>
        <p:spPr>
          <a:xfrm>
            <a:off x="8147261" y="6409467"/>
            <a:ext cx="702051" cy="316357"/>
          </a:xfrm>
          <a:prstGeom prst="rect">
            <a:avLst/>
          </a:prstGeom>
          <a:solidFill>
            <a:srgbClr val="D324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>
              <a:buClr>
                <a:schemeClr val="dk1"/>
              </a:buClr>
              <a:buSzPts val="2800"/>
            </a:pPr>
            <a:r>
              <a:rPr lang="en-US" sz="2800" b="1" noProof="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Outline</a:t>
            </a:r>
            <a:endParaRPr lang="en-US" noProof="0" dirty="0">
              <a:solidFill>
                <a:schemeClr val="dk1"/>
              </a:solidFill>
            </a:endParaRPr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7707901-CF88-4DD5-92F9-27B080708D9F}"/>
              </a:ext>
            </a:extLst>
          </p:cNvPr>
          <p:cNvSpPr txBox="1"/>
          <p:nvPr/>
        </p:nvSpPr>
        <p:spPr>
          <a:xfrm>
            <a:off x="457200" y="1701579"/>
            <a:ext cx="75338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3" action="ppaction://hlinksldjump"/>
              </a:rPr>
              <a:t>Searching – recap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4" action="ppaction://hlinksldjump"/>
              </a:rPr>
              <a:t>Sorting – recap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  <a:hlinkClick r:id="rId5" action="ppaction://hlinksldjump"/>
              </a:rPr>
              <a:t>Bogosort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5" action="ppaction://hlinksldjump"/>
              </a:rPr>
              <a:t>Bubble sort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6" action="ppaction://hlinksldjump"/>
              </a:rPr>
              <a:t>Exercise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7" action="ppaction://hlinksldjump"/>
              </a:rPr>
              <a:t>Selection sort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8" action="ppaction://hlinksldjump"/>
              </a:rPr>
              <a:t>Exercise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  <a:hlinkClick r:id="rId9" action="ppaction://hlinksldjump"/>
              </a:rPr>
              <a:t>Merge sort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DD75F84A-628F-4285-8834-34B695CA3624}"/>
              </a:ext>
            </a:extLst>
          </p:cNvPr>
          <p:cNvSpPr txBox="1"/>
          <p:nvPr/>
        </p:nvSpPr>
        <p:spPr>
          <a:xfrm>
            <a:off x="1043482" y="4328454"/>
            <a:ext cx="70567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Some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slides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based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on Chapter 11+12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endParaRPr lang="de-DE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Introduction to Computation and Programming using Python (3</a:t>
            </a:r>
            <a:r>
              <a:rPr lang="en-US" sz="18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rd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edition)</a:t>
            </a:r>
          </a:p>
          <a:p>
            <a:pPr algn="ctr"/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and the corresponding MIT course</a:t>
            </a:r>
          </a:p>
          <a:p>
            <a:pPr algn="ctr"/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by John </a:t>
            </a:r>
            <a:r>
              <a:rPr lang="en-US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Guttag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Searching - recap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90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Search algorithms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90734"/>
            <a:ext cx="8229300" cy="2936190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dirty="0">
                <a:ea typeface="Calibri" panose="020F0502020204030204" pitchFamily="34" charset="0"/>
              </a:rPr>
              <a:t>Search </a:t>
            </a:r>
            <a:r>
              <a:rPr lang="de-AT" dirty="0" err="1">
                <a:ea typeface="Calibri" panose="020F0502020204030204" pitchFamily="34" charset="0"/>
              </a:rPr>
              <a:t>algorithms</a:t>
            </a:r>
            <a:r>
              <a:rPr lang="de-AT" dirty="0">
                <a:ea typeface="Calibri" panose="020F0502020204030204" pitchFamily="34" charset="0"/>
              </a:rPr>
              <a:t> </a:t>
            </a:r>
            <a:r>
              <a:rPr lang="de-AT" dirty="0" err="1">
                <a:ea typeface="Calibri" panose="020F0502020204030204" pitchFamily="34" charset="0"/>
              </a:rPr>
              <a:t>are</a:t>
            </a:r>
            <a:r>
              <a:rPr lang="de-AT" dirty="0">
                <a:ea typeface="Calibri" panose="020F0502020204030204" pitchFamily="34" charset="0"/>
              </a:rPr>
              <a:t> </a:t>
            </a:r>
            <a:r>
              <a:rPr lang="de-AT" dirty="0" err="1">
                <a:ea typeface="Calibri" panose="020F0502020204030204" pitchFamily="34" charset="0"/>
              </a:rPr>
              <a:t>methods</a:t>
            </a:r>
            <a:r>
              <a:rPr lang="de-AT" dirty="0">
                <a:ea typeface="Calibri" panose="020F0502020204030204" pitchFamily="34" charset="0"/>
              </a:rPr>
              <a:t> </a:t>
            </a:r>
            <a:r>
              <a:rPr lang="de-AT" dirty="0" err="1">
                <a:ea typeface="Calibri" panose="020F0502020204030204" pitchFamily="34" charset="0"/>
              </a:rPr>
              <a:t>for</a:t>
            </a:r>
            <a:r>
              <a:rPr lang="de-AT" dirty="0">
                <a:ea typeface="Calibri" panose="020F0502020204030204" pitchFamily="34" charset="0"/>
              </a:rPr>
              <a:t> </a:t>
            </a:r>
            <a:r>
              <a:rPr lang="de-AT" dirty="0" err="1">
                <a:ea typeface="Calibri" panose="020F0502020204030204" pitchFamily="34" charset="0"/>
              </a:rPr>
              <a:t>finding</a:t>
            </a:r>
            <a:r>
              <a:rPr lang="de-AT" dirty="0">
                <a:ea typeface="Calibri" panose="020F0502020204030204" pitchFamily="34" charset="0"/>
              </a:rPr>
              <a:t> an item (</a:t>
            </a:r>
            <a:r>
              <a:rPr lang="de-AT" dirty="0" err="1">
                <a:ea typeface="Calibri" panose="020F0502020204030204" pitchFamily="34" charset="0"/>
              </a:rPr>
              <a:t>or</a:t>
            </a:r>
            <a:r>
              <a:rPr lang="de-AT" dirty="0">
                <a:ea typeface="Calibri" panose="020F0502020204030204" pitchFamily="34" charset="0"/>
              </a:rPr>
              <a:t> </a:t>
            </a:r>
            <a:r>
              <a:rPr lang="de-AT" dirty="0" err="1">
                <a:ea typeface="Calibri" panose="020F0502020204030204" pitchFamily="34" charset="0"/>
              </a:rPr>
              <a:t>group</a:t>
            </a:r>
            <a:r>
              <a:rPr lang="de-AT" dirty="0">
                <a:ea typeface="Calibri" panose="020F0502020204030204" pitchFamily="34" charset="0"/>
              </a:rPr>
              <a:t> </a:t>
            </a:r>
            <a:r>
              <a:rPr lang="de-AT" dirty="0" err="1">
                <a:ea typeface="Calibri" panose="020F0502020204030204" pitchFamily="34" charset="0"/>
              </a:rPr>
              <a:t>of</a:t>
            </a:r>
            <a:r>
              <a:rPr lang="de-AT" dirty="0">
                <a:ea typeface="Calibri" panose="020F0502020204030204" pitchFamily="34" charset="0"/>
              </a:rPr>
              <a:t> </a:t>
            </a:r>
            <a:r>
              <a:rPr lang="de-AT" dirty="0" err="1">
                <a:ea typeface="Calibri" panose="020F0502020204030204" pitchFamily="34" charset="0"/>
              </a:rPr>
              <a:t>items</a:t>
            </a:r>
            <a:r>
              <a:rPr lang="de-AT" dirty="0">
                <a:ea typeface="Calibri" panose="020F0502020204030204" pitchFamily="34" charset="0"/>
              </a:rPr>
              <a:t>) </a:t>
            </a:r>
            <a:r>
              <a:rPr lang="de-AT" dirty="0" err="1">
                <a:ea typeface="Calibri" panose="020F0502020204030204" pitchFamily="34" charset="0"/>
              </a:rPr>
              <a:t>with</a:t>
            </a:r>
            <a:r>
              <a:rPr lang="de-AT" dirty="0">
                <a:ea typeface="Calibri" panose="020F0502020204030204" pitchFamily="34" charset="0"/>
              </a:rPr>
              <a:t> </a:t>
            </a:r>
            <a:r>
              <a:rPr lang="de-AT" dirty="0" err="1">
                <a:ea typeface="Calibri" panose="020F0502020204030204" pitchFamily="34" charset="0"/>
              </a:rPr>
              <a:t>specific</a:t>
            </a:r>
            <a:r>
              <a:rPr lang="de-AT" dirty="0">
                <a:ea typeface="Calibri" panose="020F0502020204030204" pitchFamily="34" charset="0"/>
              </a:rPr>
              <a:t> </a:t>
            </a:r>
            <a:r>
              <a:rPr lang="de-AT" dirty="0" err="1">
                <a:ea typeface="Calibri" panose="020F0502020204030204" pitchFamily="34" charset="0"/>
              </a:rPr>
              <a:t>properties</a:t>
            </a:r>
            <a:r>
              <a:rPr lang="de-AT" dirty="0">
                <a:ea typeface="Calibri" panose="020F0502020204030204" pitchFamily="34" charset="0"/>
              </a:rPr>
              <a:t> in a </a:t>
            </a:r>
            <a:r>
              <a:rPr lang="de-AT" dirty="0" err="1">
                <a:ea typeface="Calibri" panose="020F0502020204030204" pitchFamily="34" charset="0"/>
              </a:rPr>
              <a:t>collection</a:t>
            </a:r>
            <a:r>
              <a:rPr lang="de-AT" dirty="0">
                <a:ea typeface="Calibri" panose="020F0502020204030204" pitchFamily="34" charset="0"/>
              </a:rPr>
              <a:t> </a:t>
            </a:r>
            <a:r>
              <a:rPr lang="de-AT" dirty="0" err="1">
                <a:ea typeface="Calibri" panose="020F0502020204030204" pitchFamily="34" charset="0"/>
              </a:rPr>
              <a:t>of</a:t>
            </a:r>
            <a:r>
              <a:rPr lang="de-AT" dirty="0">
                <a:ea typeface="Calibri" panose="020F0502020204030204" pitchFamily="34" charset="0"/>
              </a:rPr>
              <a:t> </a:t>
            </a:r>
            <a:r>
              <a:rPr lang="de-AT" dirty="0" err="1">
                <a:ea typeface="Calibri" panose="020F0502020204030204" pitchFamily="34" charset="0"/>
              </a:rPr>
              <a:t>items</a:t>
            </a:r>
            <a:endParaRPr lang="de-AT" dirty="0">
              <a:ea typeface="Calibri" panose="020F0502020204030204" pitchFamily="34" charset="0"/>
            </a:endParaRPr>
          </a:p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dirty="0">
                <a:ea typeface="Calibri" panose="020F0502020204030204" pitchFamily="34" charset="0"/>
              </a:rPr>
              <a:t>Collection </a:t>
            </a:r>
            <a:r>
              <a:rPr lang="de-AT" dirty="0" err="1">
                <a:ea typeface="Calibri" panose="020F0502020204030204" pitchFamily="34" charset="0"/>
              </a:rPr>
              <a:t>may</a:t>
            </a:r>
            <a:r>
              <a:rPr lang="de-AT" dirty="0">
                <a:ea typeface="Calibri" panose="020F0502020204030204" pitchFamily="34" charset="0"/>
              </a:rPr>
              <a:t> </a:t>
            </a:r>
            <a:r>
              <a:rPr lang="de-AT" dirty="0" err="1">
                <a:ea typeface="Calibri" panose="020F0502020204030204" pitchFamily="34" charset="0"/>
              </a:rPr>
              <a:t>be</a:t>
            </a:r>
            <a:r>
              <a:rPr lang="de-AT" dirty="0">
                <a:ea typeface="Calibri" panose="020F0502020204030204" pitchFamily="34" charset="0"/>
              </a:rPr>
              <a:t> </a:t>
            </a:r>
            <a:r>
              <a:rPr lang="de-AT" i="1" dirty="0" err="1">
                <a:ea typeface="Calibri" panose="020F0502020204030204" pitchFamily="34" charset="0"/>
              </a:rPr>
              <a:t>implicit</a:t>
            </a:r>
            <a:endParaRPr lang="de-AT" i="1" dirty="0">
              <a:ea typeface="Calibri" panose="020F0502020204030204" pitchFamily="34" charset="0"/>
            </a:endParaRP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E.g., find a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square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root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314450" lvl="2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Exhaustive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enumeration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314450" lvl="2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Bisection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algorithm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314450" lvl="2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Newton‘s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method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dirty="0">
                <a:ea typeface="Calibri" panose="020F0502020204030204" pitchFamily="34" charset="0"/>
              </a:rPr>
              <a:t>Collection </a:t>
            </a:r>
            <a:r>
              <a:rPr lang="de-AT" dirty="0" err="1">
                <a:ea typeface="Calibri" panose="020F0502020204030204" pitchFamily="34" charset="0"/>
              </a:rPr>
              <a:t>may</a:t>
            </a:r>
            <a:r>
              <a:rPr lang="de-AT" dirty="0">
                <a:ea typeface="Calibri" panose="020F0502020204030204" pitchFamily="34" charset="0"/>
              </a:rPr>
              <a:t> </a:t>
            </a:r>
            <a:r>
              <a:rPr lang="de-AT" dirty="0" err="1">
                <a:ea typeface="Calibri" panose="020F0502020204030204" pitchFamily="34" charset="0"/>
              </a:rPr>
              <a:t>be</a:t>
            </a:r>
            <a:r>
              <a:rPr lang="de-AT" dirty="0">
                <a:ea typeface="Calibri" panose="020F0502020204030204" pitchFamily="34" charset="0"/>
              </a:rPr>
              <a:t> </a:t>
            </a:r>
            <a:r>
              <a:rPr lang="de-AT" i="1" dirty="0">
                <a:ea typeface="Calibri" panose="020F0502020204030204" pitchFamily="34" charset="0"/>
              </a:rPr>
              <a:t>explicit</a:t>
            </a: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Find a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a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students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6028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Search algorithms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90734"/>
            <a:ext cx="8229300" cy="1899870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dirty="0">
                <a:ea typeface="Calibri" panose="020F0502020204030204" pitchFamily="34" charset="0"/>
              </a:rPr>
              <a:t>Linear </a:t>
            </a:r>
            <a:r>
              <a:rPr lang="de-AT" dirty="0" err="1">
                <a:ea typeface="Calibri" panose="020F0502020204030204" pitchFamily="34" charset="0"/>
              </a:rPr>
              <a:t>search</a:t>
            </a:r>
            <a:endParaRPr lang="de-AT" dirty="0">
              <a:ea typeface="Calibri" panose="020F0502020204030204" pitchFamily="34" charset="0"/>
            </a:endParaRP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Brute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force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does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not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have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sorted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dirty="0">
                <a:ea typeface="Calibri" panose="020F0502020204030204" pitchFamily="34" charset="0"/>
              </a:rPr>
              <a:t>Binary </a:t>
            </a:r>
            <a:r>
              <a:rPr lang="de-AT" dirty="0" err="1">
                <a:ea typeface="Calibri" panose="020F0502020204030204" pitchFamily="34" charset="0"/>
              </a:rPr>
              <a:t>search</a:t>
            </a:r>
            <a:endParaRPr lang="de-AT" dirty="0">
              <a:ea typeface="Calibri" panose="020F0502020204030204" pitchFamily="34" charset="0"/>
            </a:endParaRP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sorted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Iterative and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recursive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implementations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989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Linear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45456" y="3669658"/>
                <a:ext cx="8041044" cy="432261"/>
              </a:xfrm>
            </p:spPr>
            <p:txBody>
              <a:bodyPr anchor="t"/>
              <a:lstStyle/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Complexity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45456" y="3669658"/>
                <a:ext cx="8041044" cy="432261"/>
              </a:xfrm>
              <a:blipFill>
                <a:blip r:embed="rId3"/>
                <a:stretch>
                  <a:fillRect t="-18310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feld 3">
            <a:extLst>
              <a:ext uri="{FF2B5EF4-FFF2-40B4-BE49-F238E27FC236}">
                <a16:creationId xmlns:a16="http://schemas.microsoft.com/office/drawing/2014/main" id="{92801FA6-3A28-4196-A016-9A2132C8161A}"/>
              </a:ext>
            </a:extLst>
          </p:cNvPr>
          <p:cNvSpPr txBox="1"/>
          <p:nvPr/>
        </p:nvSpPr>
        <p:spPr>
          <a:xfrm>
            <a:off x="645456" y="2003189"/>
            <a:ext cx="8041044" cy="1513941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 lvl="0">
              <a:defRPr/>
            </a:pPr>
            <a:r>
              <a:rPr lang="en-US" sz="1800" dirty="0">
                <a:latin typeface="Consolas" panose="020B0609020204030204" pitchFamily="49" charset="0"/>
                <a:cs typeface="Calibri" panose="020F0502020204030204" pitchFamily="34" charset="0"/>
              </a:rPr>
              <a:t>def search(l, o):</a:t>
            </a:r>
          </a:p>
          <a:p>
            <a:pPr lvl="0">
              <a:defRPr/>
            </a:pPr>
            <a:r>
              <a:rPr lang="en-US" sz="1800" dirty="0">
                <a:latin typeface="Consolas" panose="020B0609020204030204" pitchFamily="49" charset="0"/>
                <a:cs typeface="Calibri" panose="020F0502020204030204" pitchFamily="34" charset="0"/>
              </a:rPr>
              <a:t>    for e in l:</a:t>
            </a:r>
          </a:p>
          <a:p>
            <a:pPr lvl="0">
              <a:defRPr/>
            </a:pPr>
            <a:r>
              <a:rPr lang="en-US" sz="1800" dirty="0">
                <a:latin typeface="Consolas" panose="020B0609020204030204" pitchFamily="49" charset="0"/>
                <a:cs typeface="Calibri" panose="020F0502020204030204" pitchFamily="34" charset="0"/>
              </a:rPr>
              <a:t>        if e == o:</a:t>
            </a:r>
          </a:p>
          <a:p>
            <a:pPr lvl="0">
              <a:defRPr/>
            </a:pPr>
            <a:r>
              <a:rPr lang="en-US" sz="1800" dirty="0">
                <a:latin typeface="Consolas" panose="020B0609020204030204" pitchFamily="49" charset="0"/>
                <a:cs typeface="Calibri" panose="020F0502020204030204" pitchFamily="34" charset="0"/>
              </a:rPr>
              <a:t>            return True</a:t>
            </a:r>
          </a:p>
          <a:p>
            <a:pPr lvl="0">
              <a:defRPr/>
            </a:pPr>
            <a:r>
              <a:rPr lang="en-US" sz="1800" dirty="0">
                <a:latin typeface="Consolas" panose="020B0609020204030204" pitchFamily="49" charset="0"/>
                <a:cs typeface="Calibri" panose="020F0502020204030204" pitchFamily="34" charset="0"/>
              </a:rPr>
              <a:t>    return False</a:t>
            </a:r>
            <a:endParaRPr lang="de-DE" sz="1800" dirty="0">
              <a:latin typeface="Consolas" panose="020B0609020204030204" pitchFamily="49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80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51602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dirty="0"/>
              <a:t>Binary</a:t>
            </a:r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45456" y="5603753"/>
                <a:ext cx="8041044" cy="432261"/>
              </a:xfrm>
            </p:spPr>
            <p:txBody>
              <a:bodyPr anchor="t"/>
              <a:lstStyle/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Complexity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func>
                      <m:funcPr>
                        <m:ctrlP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de-AT" sz="1800" b="0" i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log</m:t>
                        </m:r>
                      </m:fName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</m:e>
                    </m:func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dirty="0">
                    <a:ea typeface="Calibri" panose="020F0502020204030204" pitchFamily="34" charset="0"/>
                  </a:rPr>
                  <a:t>List </a:t>
                </a:r>
                <a:r>
                  <a:rPr lang="de-AT" dirty="0" err="1">
                    <a:ea typeface="Calibri" panose="020F0502020204030204" pitchFamily="34" charset="0"/>
                  </a:rPr>
                  <a:t>has</a:t>
                </a:r>
                <a:r>
                  <a:rPr lang="de-AT" dirty="0">
                    <a:ea typeface="Calibri" panose="020F0502020204030204" pitchFamily="34" charset="0"/>
                  </a:rPr>
                  <a:t> </a:t>
                </a:r>
                <a:r>
                  <a:rPr lang="de-AT" dirty="0" err="1">
                    <a:ea typeface="Calibri" panose="020F0502020204030204" pitchFamily="34" charset="0"/>
                  </a:rPr>
                  <a:t>to</a:t>
                </a:r>
                <a:r>
                  <a:rPr lang="de-AT" dirty="0">
                    <a:ea typeface="Calibri" panose="020F0502020204030204" pitchFamily="34" charset="0"/>
                  </a:rPr>
                  <a:t> </a:t>
                </a:r>
                <a:r>
                  <a:rPr lang="de-AT" dirty="0" err="1">
                    <a:ea typeface="Calibri" panose="020F0502020204030204" pitchFamily="34" charset="0"/>
                  </a:rPr>
                  <a:t>be</a:t>
                </a:r>
                <a:r>
                  <a:rPr lang="de-AT" dirty="0">
                    <a:ea typeface="Calibri" panose="020F0502020204030204" pitchFamily="34" charset="0"/>
                  </a:rPr>
                  <a:t> </a:t>
                </a:r>
                <a:r>
                  <a:rPr lang="de-AT" dirty="0" err="1">
                    <a:ea typeface="Calibri" panose="020F0502020204030204" pitchFamily="34" charset="0"/>
                  </a:rPr>
                  <a:t>sorted</a:t>
                </a:r>
                <a:r>
                  <a:rPr lang="de-AT" dirty="0">
                    <a:ea typeface="Calibri" panose="020F0502020204030204" pitchFamily="34" charset="0"/>
                  </a:rPr>
                  <a:t> (</a:t>
                </a:r>
                <a:r>
                  <a:rPr lang="de-AT" dirty="0" err="1">
                    <a:ea typeface="Calibri" panose="020F0502020204030204" pitchFamily="34" charset="0"/>
                  </a:rPr>
                  <a:t>here</a:t>
                </a:r>
                <a:r>
                  <a:rPr lang="de-AT" dirty="0">
                    <a:ea typeface="Calibri" panose="020F0502020204030204" pitchFamily="34" charset="0"/>
                  </a:rPr>
                  <a:t>: </a:t>
                </a:r>
                <a:r>
                  <a:rPr lang="de-AT" dirty="0" err="1">
                    <a:ea typeface="Calibri" panose="020F0502020204030204" pitchFamily="34" charset="0"/>
                  </a:rPr>
                  <a:t>ascending</a:t>
                </a:r>
                <a:r>
                  <a:rPr lang="de-AT" dirty="0">
                    <a:ea typeface="Calibri" panose="020F0502020204030204" pitchFamily="34" charset="0"/>
                  </a:rPr>
                  <a:t> </a:t>
                </a:r>
                <a:r>
                  <a:rPr lang="de-AT" dirty="0" err="1">
                    <a:ea typeface="Calibri" panose="020F0502020204030204" pitchFamily="34" charset="0"/>
                  </a:rPr>
                  <a:t>from</a:t>
                </a:r>
                <a:r>
                  <a:rPr lang="de-AT" dirty="0">
                    <a:ea typeface="Calibri" panose="020F0502020204030204" pitchFamily="34" charset="0"/>
                  </a:rPr>
                  <a:t> </a:t>
                </a:r>
                <a:r>
                  <a:rPr lang="de-AT" dirty="0" err="1">
                    <a:ea typeface="Calibri" panose="020F0502020204030204" pitchFamily="34" charset="0"/>
                  </a:rPr>
                  <a:t>left</a:t>
                </a:r>
                <a:r>
                  <a:rPr lang="de-AT" dirty="0">
                    <a:ea typeface="Calibri" panose="020F0502020204030204" pitchFamily="34" charset="0"/>
                  </a:rPr>
                  <a:t> </a:t>
                </a:r>
                <a:r>
                  <a:rPr lang="de-AT" dirty="0" err="1">
                    <a:ea typeface="Calibri" panose="020F0502020204030204" pitchFamily="34" charset="0"/>
                  </a:rPr>
                  <a:t>to</a:t>
                </a:r>
                <a:r>
                  <a:rPr lang="de-AT" dirty="0">
                    <a:ea typeface="Calibri" panose="020F0502020204030204" pitchFamily="34" charset="0"/>
                  </a:rPr>
                  <a:t> </a:t>
                </a:r>
                <a:r>
                  <a:rPr lang="de-AT" dirty="0" err="1">
                    <a:ea typeface="Calibri" panose="020F0502020204030204" pitchFamily="34" charset="0"/>
                  </a:rPr>
                  <a:t>right</a:t>
                </a:r>
                <a:r>
                  <a:rPr lang="de-AT" dirty="0">
                    <a:ea typeface="Calibri" panose="020F0502020204030204" pitchFamily="34" charset="0"/>
                  </a:rPr>
                  <a:t>)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45456" y="5603753"/>
                <a:ext cx="8041044" cy="432261"/>
              </a:xfrm>
              <a:blipFill>
                <a:blip r:embed="rId3"/>
                <a:stretch>
                  <a:fillRect t="-17143" b="-57143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feld 3">
            <a:extLst>
              <a:ext uri="{FF2B5EF4-FFF2-40B4-BE49-F238E27FC236}">
                <a16:creationId xmlns:a16="http://schemas.microsoft.com/office/drawing/2014/main" id="{92801FA6-3A28-4196-A016-9A2132C8161A}"/>
              </a:ext>
            </a:extLst>
          </p:cNvPr>
          <p:cNvSpPr txBox="1"/>
          <p:nvPr/>
        </p:nvSpPr>
        <p:spPr>
          <a:xfrm>
            <a:off x="645456" y="1886269"/>
            <a:ext cx="8041044" cy="3533629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pPr lvl="0">
              <a:defRPr/>
            </a:pPr>
            <a:r>
              <a:rPr lang="en-US" sz="18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def </a:t>
            </a:r>
            <a:r>
              <a:rPr lang="en-US" sz="1800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binary_search</a:t>
            </a:r>
            <a:r>
              <a:rPr lang="en-US" sz="18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(l, o):</a:t>
            </a:r>
          </a:p>
          <a:p>
            <a:pPr lvl="0">
              <a:defRPr/>
            </a:pPr>
            <a:r>
              <a:rPr lang="en-US" sz="18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  low = 0</a:t>
            </a:r>
          </a:p>
          <a:p>
            <a:pPr lvl="0">
              <a:defRPr/>
            </a:pPr>
            <a:r>
              <a:rPr lang="en-US" sz="18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  high = </a:t>
            </a:r>
            <a:r>
              <a:rPr lang="en-US" sz="1800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len</a:t>
            </a:r>
            <a:r>
              <a:rPr lang="en-US" sz="18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(l) - 1</a:t>
            </a:r>
          </a:p>
          <a:p>
            <a:pPr lvl="0">
              <a:defRPr/>
            </a:pPr>
            <a:r>
              <a:rPr lang="en-US" sz="18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  while low &lt;= high:</a:t>
            </a:r>
          </a:p>
          <a:p>
            <a:pPr lvl="0">
              <a:defRPr/>
            </a:pPr>
            <a:r>
              <a:rPr lang="en-US" sz="18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      mid = low + (high - low)//2</a:t>
            </a:r>
          </a:p>
          <a:p>
            <a:pPr lvl="0">
              <a:defRPr/>
            </a:pPr>
            <a:r>
              <a:rPr lang="en-US" sz="18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      if l[mid] == o:</a:t>
            </a:r>
          </a:p>
          <a:p>
            <a:pPr lvl="0">
              <a:defRPr/>
            </a:pPr>
            <a:r>
              <a:rPr lang="en-US" sz="18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          return True</a:t>
            </a:r>
          </a:p>
          <a:p>
            <a:pPr lvl="0">
              <a:defRPr/>
            </a:pPr>
            <a:r>
              <a:rPr lang="en-US" sz="18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sz="1800" dirty="0" err="1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elif</a:t>
            </a:r>
            <a:r>
              <a:rPr lang="en-US" sz="18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l[mid] &lt; o:</a:t>
            </a:r>
          </a:p>
          <a:p>
            <a:pPr lvl="0">
              <a:defRPr/>
            </a:pPr>
            <a:r>
              <a:rPr lang="en-US" sz="18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          low = mid + 1  # continue with right half</a:t>
            </a:r>
          </a:p>
          <a:p>
            <a:pPr lvl="0">
              <a:defRPr/>
            </a:pPr>
            <a:r>
              <a:rPr lang="en-US" sz="18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      else:</a:t>
            </a:r>
          </a:p>
          <a:p>
            <a:pPr lvl="0">
              <a:defRPr/>
            </a:pPr>
            <a:r>
              <a:rPr lang="en-US" sz="18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          high = mid – 1 # continue with left half</a:t>
            </a:r>
          </a:p>
          <a:p>
            <a:pPr lvl="0">
              <a:defRPr/>
            </a:pPr>
            <a:r>
              <a:rPr lang="en-US" sz="18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rPr>
              <a:t>    return False</a:t>
            </a:r>
            <a:endParaRPr lang="de-DE" sz="1800" dirty="0"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800" i="0" u="none" strike="noStrike" kern="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30858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Sorting - recap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78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Sorting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87;p2">
                <a:extLst>
                  <a:ext uri="{FF2B5EF4-FFF2-40B4-BE49-F238E27FC236}">
                    <a16:creationId xmlns:a16="http://schemas.microsoft.com/office/drawing/2014/main" id="{A2631455-C22E-4DC9-9A61-C9088D9EB4E8}"/>
                  </a:ext>
                </a:extLst>
              </p:cNvPr>
              <p:cNvSpPr txBox="1">
                <a:spLocks noGrp="1"/>
              </p:cNvSpPr>
              <p:nvPr/>
            </p:nvSpPr>
            <p:spPr>
              <a:xfrm>
                <a:off x="456900" y="1810582"/>
                <a:ext cx="8229600" cy="15804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L="914400" marR="0" lvl="1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L="1371600" marR="0" lvl="2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L="1828800" marR="0" lvl="3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L="2286000" marR="0" lvl="4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L="2743200" marR="0" lvl="5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L="3200400" marR="0" lvl="6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L="3657600" marR="0" lvl="7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L="4114800" marR="0" lvl="8" indent="-2286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64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Definition 1: Sorting </a:t>
                </a:r>
                <a:r>
                  <a:rPr lang="en-US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problem.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64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Input: </a:t>
                </a:r>
                <a:r>
                  <a:rPr kumimoji="0" lang="en-US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A sequence of </a:t>
                </a:r>
                <a14:m>
                  <m:oMath xmlns:m="http://schemas.openxmlformats.org/officeDocument/2006/math">
                    <m:r>
                      <a:rPr kumimoji="0" lang="de-AT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𝑛</m:t>
                    </m:r>
                  </m:oMath>
                </a14:m>
                <a:r>
                  <a:rPr kumimoji="0" lang="en-US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numbers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de-AT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kumimoji="0" lang="de-AT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𝑎</m:t>
                            </m:r>
                          </m:e>
                          <m:sub>
                            <m:r>
                              <a:rPr kumimoji="0" lang="de-AT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1</m:t>
                            </m:r>
                          </m:sub>
                        </m:sSub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</m:t>
                        </m:r>
                        <m:sSub>
                          <m:sSubPr>
                            <m:ctrlPr>
                              <a:rPr kumimoji="0" lang="de-AT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kumimoji="0" lang="de-AT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𝑎</m:t>
                            </m:r>
                          </m:e>
                          <m:sub>
                            <m:r>
                              <a:rPr kumimoji="0" lang="de-AT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2</m:t>
                            </m:r>
                          </m:sub>
                        </m:sSub>
                        <m:r>
                          <a:rPr kumimoji="0" lang="de-AT" sz="1800" b="0" i="1" u="none" strike="noStrike" kern="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Calibri" panose="020F0502020204030204" pitchFamily="34" charset="0"/>
                            <a:sym typeface="Arial"/>
                          </a:rPr>
                          <m:t>, …,</m:t>
                        </m:r>
                        <m:sSub>
                          <m:sSubPr>
                            <m:ctrlPr>
                              <a:rPr kumimoji="0" lang="de-AT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</m:ctrlPr>
                          </m:sSubPr>
                          <m:e>
                            <m:r>
                              <a:rPr kumimoji="0" lang="de-AT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𝑎</m:t>
                            </m:r>
                          </m:e>
                          <m:sub>
                            <m:r>
                              <a:rPr kumimoji="0" lang="de-AT" sz="1800" b="0" i="1" u="none" strike="noStrike" kern="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Calibri" panose="020F0502020204030204" pitchFamily="34" charset="0"/>
                                <a:sym typeface="Arial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kumimoji="0" lang="de-AT" sz="1800" b="0" i="1" u="none" strike="noStrike" kern="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Calibri" panose="020F0502020204030204" pitchFamily="34" charset="0"/>
                        <a:sym typeface="Arial"/>
                      </a:rPr>
                      <m:t>.</m:t>
                    </m:r>
                  </m:oMath>
                </a14:m>
                <a:endPara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cs typeface="Calibri" panose="020F0502020204030204" pitchFamily="34" charset="0"/>
                  <a:sym typeface="Arial"/>
                </a:endParaRPr>
              </a:p>
              <a:p>
                <a:pPr marL="0" lvl="0" indent="0">
                  <a:spcBef>
                    <a:spcPts val="640"/>
                  </a:spcBef>
                </a:pPr>
                <a:r>
                  <a:rPr lang="en-US" sz="1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Output: </a:t>
                </a:r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A permutation (reordering)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de-AT" sz="180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SupPr>
                          <m:e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1</m:t>
                            </m:r>
                          </m:sub>
                          <m:sup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′</m:t>
                            </m:r>
                          </m:sup>
                        </m:sSubSup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,</m:t>
                        </m:r>
                        <m:sSubSup>
                          <m:sSubSupPr>
                            <m:ctrlPr>
                              <a:rPr lang="de-AT" sz="180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SupPr>
                          <m:e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2</m:t>
                            </m:r>
                          </m:sub>
                          <m:sup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′</m:t>
                            </m:r>
                          </m:sup>
                        </m:sSubSup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, …,</m:t>
                        </m:r>
                        <m:sSubSup>
                          <m:sSubSupPr>
                            <m:ctrlPr>
                              <a:rPr lang="de-AT" sz="180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sSubSupPr>
                          <m:e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cs typeface="Calibri" panose="020F0502020204030204" pitchFamily="34" charset="0"/>
                              </a:rPr>
                              <m:t>′</m:t>
                            </m:r>
                          </m:sup>
                        </m:sSubSup>
                      </m:e>
                    </m:d>
                  </m:oMath>
                </a14:m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 of the input sequence such that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  <m:sup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bSup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≤</m:t>
                    </m:r>
                    <m:sSubSup>
                      <m:sSubSupPr>
                        <m:ctrlP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  <m:sup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bSup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≤</m:t>
                    </m:r>
                    <m:r>
                      <a:rPr lang="de-AT" sz="1800" i="1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…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≤</m:t>
                    </m:r>
                    <m:sSubSup>
                      <m:sSubSupPr>
                        <m:ctrlP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sub>
                      <m:sup>
                        <m:r>
                          <a:rPr lang="de-AT" sz="1800" i="1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cs typeface="Calibri" panose="020F0502020204030204" pitchFamily="34" charset="0"/>
                    <a:sym typeface="Arial"/>
                  </a:rPr>
                  <a:t>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64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7" name="Google Shape;87;p2">
                <a:extLst>
                  <a:ext uri="{FF2B5EF4-FFF2-40B4-BE49-F238E27FC236}">
                    <a16:creationId xmlns:a16="http://schemas.microsoft.com/office/drawing/2014/main" id="{A2631455-C22E-4DC9-9A61-C9088D9EB4E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900" y="1810582"/>
                <a:ext cx="8229600" cy="1580400"/>
              </a:xfrm>
              <a:prstGeom prst="rect">
                <a:avLst/>
              </a:prstGeom>
              <a:blipFill>
                <a:blip r:embed="rId3"/>
                <a:stretch>
                  <a:fillRect l="-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feld 2">
            <a:extLst>
              <a:ext uri="{FF2B5EF4-FFF2-40B4-BE49-F238E27FC236}">
                <a16:creationId xmlns:a16="http://schemas.microsoft.com/office/drawing/2014/main" id="{32B58B8C-6B9B-418E-AEAC-84A1081DDCE0}"/>
              </a:ext>
            </a:extLst>
          </p:cNvPr>
          <p:cNvSpPr txBox="1"/>
          <p:nvPr/>
        </p:nvSpPr>
        <p:spPr>
          <a:xfrm>
            <a:off x="456900" y="3723382"/>
            <a:ext cx="8229600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-DE" sz="18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Example</a:t>
            </a: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1: 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Given an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sequence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(31, 41, 59, 26, 41, 58), a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sorting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algorithm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returns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sequence</a:t>
            </a:r>
            <a:r>
              <a:rPr lang="de-DE" sz="1800" dirty="0">
                <a:latin typeface="Calibri" panose="020F0502020204030204" pitchFamily="34" charset="0"/>
                <a:cs typeface="Calibri" panose="020F0502020204030204" pitchFamily="34" charset="0"/>
              </a:rPr>
              <a:t> (26, 31, 41, 41, 58, 59)</a:t>
            </a: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mbria Math" panose="02040503050406030204" pitchFamily="18" charset="0"/>
                <a:cs typeface="Calibri" panose="020F0502020204030204" pitchFamily="34" charset="0"/>
                <a:sym typeface="Arial"/>
              </a:rPr>
              <a:t>. </a:t>
            </a: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 Math" panose="02040503050406030204" pitchFamily="18" charset="0"/>
              <a:ea typeface="Cambria Math" panose="02040503050406030204" pitchFamily="18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6900" y="4472451"/>
            <a:ext cx="8229300" cy="1243735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Sorting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fundamental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operation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computer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science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Many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 intermediate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many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good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efficient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sorting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algorithms</a:t>
            </a:r>
            <a:endParaRPr lang="de-AT" sz="1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455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Insertion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1932422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Insertion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way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many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people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cards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empty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left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a deck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cards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on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pick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card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 a time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card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cards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left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hand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space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card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insert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new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card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correct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position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2B6371B-578A-4E1C-A49C-68E97BB7C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841" y="3919665"/>
            <a:ext cx="3163830" cy="2386588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F0455014-D33F-4281-892C-A3CA3ED3BAF0}"/>
              </a:ext>
            </a:extLst>
          </p:cNvPr>
          <p:cNvSpPr txBox="1"/>
          <p:nvPr/>
        </p:nvSpPr>
        <p:spPr>
          <a:xfrm>
            <a:off x="1836966" y="6242400"/>
            <a:ext cx="54697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Source: https://www.linux-magazine.com/Issues/2020/233/Sorted/%28offset%29/3</a:t>
            </a:r>
          </a:p>
        </p:txBody>
      </p:sp>
    </p:spTree>
    <p:extLst>
      <p:ext uri="{BB962C8B-B14F-4D97-AF65-F5344CB8AC3E}">
        <p14:creationId xmlns:p14="http://schemas.microsoft.com/office/powerpoint/2010/main" val="772765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Insertion sort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47C202A-9E44-4853-83E7-CFF444228ADF}"/>
              </a:ext>
            </a:extLst>
          </p:cNvPr>
          <p:cNvSpPr txBox="1"/>
          <p:nvPr/>
        </p:nvSpPr>
        <p:spPr>
          <a:xfrm>
            <a:off x="645456" y="1234800"/>
            <a:ext cx="8041044" cy="3302939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r>
              <a:rPr lang="en-US" sz="1800" spc="-1" dirty="0">
                <a:latin typeface="Consolas" panose="020B0609020204030204" pitchFamily="49" charset="0"/>
              </a:rPr>
              <a:t>def </a:t>
            </a:r>
            <a:r>
              <a:rPr lang="en-US" sz="1800" spc="-1" dirty="0" err="1">
                <a:latin typeface="Consolas" panose="020B0609020204030204" pitchFamily="49" charset="0"/>
              </a:rPr>
              <a:t>insertion_sort</a:t>
            </a:r>
            <a:r>
              <a:rPr lang="en-US" sz="1800" spc="-1" dirty="0">
                <a:latin typeface="Consolas" panose="020B0609020204030204" pitchFamily="49" charset="0"/>
              </a:rPr>
              <a:t>(l):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if </a:t>
            </a:r>
            <a:r>
              <a:rPr lang="en-US" sz="1800" spc="-1" dirty="0" err="1">
                <a:latin typeface="Consolas" panose="020B0609020204030204" pitchFamily="49" charset="0"/>
              </a:rPr>
              <a:t>len</a:t>
            </a:r>
            <a:r>
              <a:rPr lang="en-US" sz="1800" spc="-1" dirty="0">
                <a:latin typeface="Consolas" panose="020B0609020204030204" pitchFamily="49" charset="0"/>
              </a:rPr>
              <a:t>(l) &lt; 2: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return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for </a:t>
            </a:r>
            <a:r>
              <a:rPr lang="en-US" sz="1800" spc="-1" dirty="0" err="1">
                <a:latin typeface="Consolas" panose="020B0609020204030204" pitchFamily="49" charset="0"/>
              </a:rPr>
              <a:t>i</a:t>
            </a:r>
            <a:r>
              <a:rPr lang="en-US" sz="1800" spc="-1" dirty="0">
                <a:latin typeface="Consolas" panose="020B0609020204030204" pitchFamily="49" charset="0"/>
              </a:rPr>
              <a:t> in range(1, </a:t>
            </a:r>
            <a:r>
              <a:rPr lang="en-US" sz="1800" spc="-1" dirty="0" err="1">
                <a:latin typeface="Consolas" panose="020B0609020204030204" pitchFamily="49" charset="0"/>
              </a:rPr>
              <a:t>len</a:t>
            </a:r>
            <a:r>
              <a:rPr lang="en-US" sz="1800" spc="-1" dirty="0">
                <a:latin typeface="Consolas" panose="020B0609020204030204" pitchFamily="49" charset="0"/>
              </a:rPr>
              <a:t>(l)):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</a:t>
            </a:r>
            <a:r>
              <a:rPr lang="en-US" sz="1800" spc="-1" dirty="0" err="1">
                <a:latin typeface="Consolas" panose="020B0609020204030204" pitchFamily="49" charset="0"/>
              </a:rPr>
              <a:t>current_value</a:t>
            </a:r>
            <a:r>
              <a:rPr lang="en-US" sz="1800" spc="-1" dirty="0">
                <a:latin typeface="Consolas" panose="020B0609020204030204" pitchFamily="49" charset="0"/>
              </a:rPr>
              <a:t> = l[</a:t>
            </a:r>
            <a:r>
              <a:rPr lang="en-US" sz="1800" spc="-1" dirty="0" err="1">
                <a:latin typeface="Consolas" panose="020B0609020204030204" pitchFamily="49" charset="0"/>
              </a:rPr>
              <a:t>i</a:t>
            </a:r>
            <a:r>
              <a:rPr lang="en-US" sz="1800" spc="-1" dirty="0">
                <a:latin typeface="Consolas" panose="020B0609020204030204" pitchFamily="49" charset="0"/>
              </a:rPr>
              <a:t>]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j = </a:t>
            </a:r>
            <a:r>
              <a:rPr lang="en-US" sz="1800" spc="-1" dirty="0" err="1">
                <a:latin typeface="Consolas" panose="020B0609020204030204" pitchFamily="49" charset="0"/>
              </a:rPr>
              <a:t>i</a:t>
            </a:r>
            <a:r>
              <a:rPr lang="en-US" sz="1800" spc="-1" dirty="0">
                <a:latin typeface="Consolas" panose="020B0609020204030204" pitchFamily="49" charset="0"/>
              </a:rPr>
              <a:t> - 1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while j &gt;= 0 and </a:t>
            </a:r>
            <a:r>
              <a:rPr lang="en-US" sz="1800" spc="-1" dirty="0" err="1">
                <a:latin typeface="Consolas" panose="020B0609020204030204" pitchFamily="49" charset="0"/>
              </a:rPr>
              <a:t>current_value</a:t>
            </a:r>
            <a:r>
              <a:rPr lang="en-US" sz="1800" spc="-1" dirty="0">
                <a:latin typeface="Consolas" panose="020B0609020204030204" pitchFamily="49" charset="0"/>
              </a:rPr>
              <a:t> &lt; l[j]: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    l[j + 1] = l[j]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    j -= 1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l[j + 1] = </a:t>
            </a:r>
            <a:r>
              <a:rPr lang="en-US" sz="1800" spc="-1" dirty="0" err="1">
                <a:latin typeface="Consolas" panose="020B0609020204030204" pitchFamily="49" charset="0"/>
              </a:rPr>
              <a:t>current_value</a:t>
            </a:r>
            <a:endParaRPr lang="en-US" sz="1800" spc="-1" dirty="0"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platzhalter 2">
                <a:extLst>
                  <a:ext uri="{FF2B5EF4-FFF2-40B4-BE49-F238E27FC236}">
                    <a16:creationId xmlns:a16="http://schemas.microsoft.com/office/drawing/2014/main" id="{D9563D5D-CF80-4478-8DE2-F2CE9787FBA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45456" y="4811273"/>
                <a:ext cx="8041044" cy="432261"/>
              </a:xfrm>
            </p:spPr>
            <p:txBody>
              <a:bodyPr anchor="t"/>
              <a:lstStyle/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Complexity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de-AT" sz="1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</m:e>
                      <m:sup>
                        <m:r>
                          <a:rPr lang="de-AT" sz="1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Textplatzhalter 2">
                <a:extLst>
                  <a:ext uri="{FF2B5EF4-FFF2-40B4-BE49-F238E27FC236}">
                    <a16:creationId xmlns:a16="http://schemas.microsoft.com/office/drawing/2014/main" id="{D9563D5D-CF80-4478-8DE2-F2CE9787FB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45456" y="4811273"/>
                <a:ext cx="8041044" cy="432261"/>
              </a:xfrm>
              <a:blipFill>
                <a:blip r:embed="rId3"/>
                <a:stretch>
                  <a:fillRect t="-18310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4770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 err="1">
                <a:latin typeface="Calibri" panose="020F0502020204030204" pitchFamily="34" charset="0"/>
                <a:cs typeface="Calibri" panose="020F0502020204030204" pitchFamily="34" charset="0"/>
              </a:rPr>
              <a:t>Bogosort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386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 err="1">
                <a:latin typeface="Calibri" panose="020F0502020204030204" pitchFamily="34" charset="0"/>
                <a:cs typeface="Calibri" panose="020F0502020204030204" pitchFamily="34" charset="0"/>
              </a:rPr>
              <a:t>Bogosort</a:t>
            </a:r>
            <a:endParaRPr lang="en-GB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1932422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Also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known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monkey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stupid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permutation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</a:t>
            </a:r>
          </a:p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To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sort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a deck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of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cards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Throw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them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in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the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air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Pick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them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up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Check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whether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they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are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sorted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Wingdings" panose="05000000000000000000" pitchFamily="2" charset="2"/>
            </a:endParaRP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Repeat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if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 not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sorted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569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 err="1">
                <a:latin typeface="Calibri" panose="020F0502020204030204" pitchFamily="34" charset="0"/>
                <a:cs typeface="Calibri" panose="020F0502020204030204" pitchFamily="34" charset="0"/>
              </a:rPr>
              <a:t>Bogosort</a:t>
            </a:r>
            <a:endParaRPr lang="en-GB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47C202A-9E44-4853-83E7-CFF444228ADF}"/>
              </a:ext>
            </a:extLst>
          </p:cNvPr>
          <p:cNvSpPr txBox="1"/>
          <p:nvPr/>
        </p:nvSpPr>
        <p:spPr>
          <a:xfrm>
            <a:off x="645456" y="1234800"/>
            <a:ext cx="8041044" cy="1144801"/>
          </a:xfrm>
          <a:prstGeom prst="rect">
            <a:avLst/>
          </a:prstGeom>
          <a:solidFill>
            <a:srgbClr val="DAE3F3"/>
          </a:solidFill>
          <a:ln w="0">
            <a:noFill/>
          </a:ln>
        </p:spPr>
        <p:txBody>
          <a:bodyPr lIns="63607" tIns="31804" rIns="63607" bIns="31804" anchor="t">
            <a:noAutofit/>
          </a:bodyPr>
          <a:lstStyle/>
          <a:p>
            <a:r>
              <a:rPr lang="en-US" sz="1800" spc="-1" dirty="0">
                <a:latin typeface="Consolas" panose="020B0609020204030204" pitchFamily="49" charset="0"/>
              </a:rPr>
              <a:t>def </a:t>
            </a:r>
            <a:r>
              <a:rPr lang="en-US" sz="1800" spc="-1" dirty="0" err="1">
                <a:latin typeface="Consolas" panose="020B0609020204030204" pitchFamily="49" charset="0"/>
              </a:rPr>
              <a:t>bogo_sort</a:t>
            </a:r>
            <a:r>
              <a:rPr lang="en-US" sz="1800" spc="-1" dirty="0">
                <a:latin typeface="Consolas" panose="020B0609020204030204" pitchFamily="49" charset="0"/>
              </a:rPr>
              <a:t>(l):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while not </a:t>
            </a:r>
            <a:r>
              <a:rPr lang="en-US" sz="1800" spc="-1" dirty="0" err="1">
                <a:latin typeface="Consolas" panose="020B0609020204030204" pitchFamily="49" charset="0"/>
              </a:rPr>
              <a:t>is_sorted</a:t>
            </a:r>
            <a:r>
              <a:rPr lang="en-US" sz="1800" spc="-1" dirty="0">
                <a:latin typeface="Consolas" panose="020B0609020204030204" pitchFamily="49" charset="0"/>
              </a:rPr>
              <a:t>(l):</a:t>
            </a:r>
          </a:p>
          <a:p>
            <a:r>
              <a:rPr lang="en-US" sz="1800" spc="-1" dirty="0">
                <a:latin typeface="Consolas" panose="020B0609020204030204" pitchFamily="49" charset="0"/>
              </a:rPr>
              <a:t>        </a:t>
            </a:r>
            <a:r>
              <a:rPr lang="en-US" sz="1800" spc="-1" dirty="0" err="1">
                <a:latin typeface="Consolas" panose="020B0609020204030204" pitchFamily="49" charset="0"/>
              </a:rPr>
              <a:t>random.shuffle</a:t>
            </a:r>
            <a:r>
              <a:rPr lang="en-US" sz="1800" spc="-1" dirty="0">
                <a:latin typeface="Consolas" panose="020B0609020204030204" pitchFamily="49" charset="0"/>
              </a:rPr>
              <a:t>(l)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platzhalter 2">
                <a:extLst>
                  <a:ext uri="{FF2B5EF4-FFF2-40B4-BE49-F238E27FC236}">
                    <a16:creationId xmlns:a16="http://schemas.microsoft.com/office/drawing/2014/main" id="{D9563D5D-CF80-4478-8DE2-F2CE9787FBA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645456" y="2688274"/>
                <a:ext cx="8041044" cy="1581575"/>
              </a:xfrm>
            </p:spPr>
            <p:txBody>
              <a:bodyPr anchor="t"/>
              <a:lstStyle/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Best-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case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complexity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check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list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sorted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Worst-case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complexity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keeping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track on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permutations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already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checked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d>
                      <m:dPr>
                        <m:ctrlP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⋅</m:t>
                        </m:r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!</m:t>
                        </m:r>
                      </m:e>
                    </m:d>
                  </m:oMath>
                </a14:m>
                <a:endParaRPr lang="de-AT" sz="18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Worst-case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complexity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not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keeping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track on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permutations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already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checked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Unbounded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unlucky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Textplatzhalter 2">
                <a:extLst>
                  <a:ext uri="{FF2B5EF4-FFF2-40B4-BE49-F238E27FC236}">
                    <a16:creationId xmlns:a16="http://schemas.microsoft.com/office/drawing/2014/main" id="{D9563D5D-CF80-4478-8DE2-F2CE9787FB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45456" y="2688274"/>
                <a:ext cx="8041044" cy="1581575"/>
              </a:xfrm>
              <a:blipFill>
                <a:blip r:embed="rId3"/>
                <a:stretch>
                  <a:fillRect t="-5019"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1738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818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1932422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consecutive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pairs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elements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Swap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elements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pairs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such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smaller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such pass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through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will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place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largest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element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end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end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reached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again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Stop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there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swaps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925044"/>
              </p:ext>
            </p:extLst>
          </p:nvPr>
        </p:nvGraphicFramePr>
        <p:xfrm>
          <a:off x="1663054" y="3820292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555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pass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95310"/>
              </p:ext>
            </p:extLst>
          </p:nvPr>
        </p:nvGraphicFramePr>
        <p:xfrm>
          <a:off x="1663054" y="3820292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9AF23A0B-0874-4F8A-94EA-6F6B7E4F191E}"/>
              </a:ext>
            </a:extLst>
          </p:cNvPr>
          <p:cNvSpPr/>
          <p:nvPr/>
        </p:nvSpPr>
        <p:spPr>
          <a:xfrm flipH="1">
            <a:off x="1908000" y="4558943"/>
            <a:ext cx="1533600" cy="582920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ln w="36720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7D303A02-9B83-4302-813D-5047AC6353F5}"/>
              </a:ext>
            </a:extLst>
          </p:cNvPr>
          <p:cNvSpPr/>
          <p:nvPr/>
        </p:nvSpPr>
        <p:spPr>
          <a:xfrm>
            <a:off x="2347405" y="4558943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59642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046174"/>
              </p:ext>
            </p:extLst>
          </p:nvPr>
        </p:nvGraphicFramePr>
        <p:xfrm>
          <a:off x="1663054" y="3820292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9" name="Textplatzhalter 2">
            <a:extLst>
              <a:ext uri="{FF2B5EF4-FFF2-40B4-BE49-F238E27FC236}">
                <a16:creationId xmlns:a16="http://schemas.microsoft.com/office/drawing/2014/main" id="{D405FCCB-9091-4222-8E7F-39EB5C4229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pass</a:t>
            </a:r>
          </a:p>
        </p:txBody>
      </p:sp>
    </p:spTree>
    <p:extLst>
      <p:ext uri="{BB962C8B-B14F-4D97-AF65-F5344CB8AC3E}">
        <p14:creationId xmlns:p14="http://schemas.microsoft.com/office/powerpoint/2010/main" val="26652008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689981"/>
              </p:ext>
            </p:extLst>
          </p:nvPr>
        </p:nvGraphicFramePr>
        <p:xfrm>
          <a:off x="1663054" y="3820292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782BDC51-566B-4593-8165-33F4223C72F4}"/>
              </a:ext>
            </a:extLst>
          </p:cNvPr>
          <p:cNvSpPr/>
          <p:nvPr/>
        </p:nvSpPr>
        <p:spPr>
          <a:xfrm flipH="1">
            <a:off x="2941667" y="4558943"/>
            <a:ext cx="1533600" cy="582920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ln w="36720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7DB3B4E8-1718-4909-9EF6-AEBFCC087E2D}"/>
              </a:ext>
            </a:extLst>
          </p:cNvPr>
          <p:cNvSpPr/>
          <p:nvPr/>
        </p:nvSpPr>
        <p:spPr>
          <a:xfrm>
            <a:off x="3381072" y="4558943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B3B08F2B-60DF-4EE0-937F-1E77E6EF6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pass</a:t>
            </a:r>
          </a:p>
        </p:txBody>
      </p:sp>
    </p:spTree>
    <p:extLst>
      <p:ext uri="{BB962C8B-B14F-4D97-AF65-F5344CB8AC3E}">
        <p14:creationId xmlns:p14="http://schemas.microsoft.com/office/powerpoint/2010/main" val="2714872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155860"/>
              </p:ext>
            </p:extLst>
          </p:nvPr>
        </p:nvGraphicFramePr>
        <p:xfrm>
          <a:off x="1663054" y="3820292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9" name="Textplatzhalter 2">
            <a:extLst>
              <a:ext uri="{FF2B5EF4-FFF2-40B4-BE49-F238E27FC236}">
                <a16:creationId xmlns:a16="http://schemas.microsoft.com/office/drawing/2014/main" id="{71492C14-10A3-455B-BCFA-25E72D44F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pass</a:t>
            </a:r>
          </a:p>
        </p:txBody>
      </p:sp>
    </p:spTree>
    <p:extLst>
      <p:ext uri="{BB962C8B-B14F-4D97-AF65-F5344CB8AC3E}">
        <p14:creationId xmlns:p14="http://schemas.microsoft.com/office/powerpoint/2010/main" val="35255864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826320"/>
              </p:ext>
            </p:extLst>
          </p:nvPr>
        </p:nvGraphicFramePr>
        <p:xfrm>
          <a:off x="1663054" y="3820292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7DB3B4E8-1718-4909-9EF6-AEBFCC087E2D}"/>
              </a:ext>
            </a:extLst>
          </p:cNvPr>
          <p:cNvSpPr/>
          <p:nvPr/>
        </p:nvSpPr>
        <p:spPr>
          <a:xfrm>
            <a:off x="4494253" y="4558943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B9817046-7D8D-40F6-B150-72E3B9CFADEE}"/>
              </a:ext>
            </a:extLst>
          </p:cNvPr>
          <p:cNvSpPr txBox="1">
            <a:spLocks/>
          </p:cNvSpPr>
          <p:nvPr/>
        </p:nvSpPr>
        <p:spPr>
          <a:xfrm>
            <a:off x="457200" y="1653135"/>
            <a:ext cx="8229300" cy="50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pass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9883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107076"/>
              </p:ext>
            </p:extLst>
          </p:nvPr>
        </p:nvGraphicFramePr>
        <p:xfrm>
          <a:off x="1663054" y="3820292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7DB3B4E8-1718-4909-9EF6-AEBFCC087E2D}"/>
              </a:ext>
            </a:extLst>
          </p:cNvPr>
          <p:cNvSpPr/>
          <p:nvPr/>
        </p:nvSpPr>
        <p:spPr>
          <a:xfrm>
            <a:off x="5329139" y="4558943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6B29F118-0528-495D-8CCD-06974CC529B5}"/>
              </a:ext>
            </a:extLst>
          </p:cNvPr>
          <p:cNvSpPr/>
          <p:nvPr/>
        </p:nvSpPr>
        <p:spPr>
          <a:xfrm flipH="1">
            <a:off x="4969251" y="4558943"/>
            <a:ext cx="1533600" cy="582920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ln w="36720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1A274539-B23A-4D7F-92BC-BF8D7BF710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pass</a:t>
            </a:r>
          </a:p>
        </p:txBody>
      </p:sp>
    </p:spTree>
    <p:extLst>
      <p:ext uri="{BB962C8B-B14F-4D97-AF65-F5344CB8AC3E}">
        <p14:creationId xmlns:p14="http://schemas.microsoft.com/office/powerpoint/2010/main" val="1922075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14625"/>
              </p:ext>
            </p:extLst>
          </p:nvPr>
        </p:nvGraphicFramePr>
        <p:xfrm>
          <a:off x="1663054" y="3820292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9" name="Textplatzhalter 2">
            <a:extLst>
              <a:ext uri="{FF2B5EF4-FFF2-40B4-BE49-F238E27FC236}">
                <a16:creationId xmlns:a16="http://schemas.microsoft.com/office/drawing/2014/main" id="{B4A05752-0C07-415E-A4ED-241CBCB4D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pass</a:t>
            </a:r>
          </a:p>
        </p:txBody>
      </p:sp>
    </p:spTree>
    <p:extLst>
      <p:ext uri="{BB962C8B-B14F-4D97-AF65-F5344CB8AC3E}">
        <p14:creationId xmlns:p14="http://schemas.microsoft.com/office/powerpoint/2010/main" val="14799389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2027105"/>
              </p:ext>
            </p:extLst>
          </p:nvPr>
        </p:nvGraphicFramePr>
        <p:xfrm>
          <a:off x="1663054" y="3820292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F22BAA4D-014B-433B-A69E-B17CE13E3A24}"/>
              </a:ext>
            </a:extLst>
          </p:cNvPr>
          <p:cNvSpPr/>
          <p:nvPr/>
        </p:nvSpPr>
        <p:spPr>
          <a:xfrm>
            <a:off x="6418465" y="4558943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32881A1C-6FFC-4280-988A-639B8AFF97A9}"/>
              </a:ext>
            </a:extLst>
          </p:cNvPr>
          <p:cNvSpPr/>
          <p:nvPr/>
        </p:nvSpPr>
        <p:spPr>
          <a:xfrm flipH="1">
            <a:off x="6058577" y="4558943"/>
            <a:ext cx="1533600" cy="582920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ln w="36720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E2259613-759A-4577-B2F8-4F5B4B5AB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pass</a:t>
            </a:r>
          </a:p>
        </p:txBody>
      </p:sp>
    </p:spTree>
    <p:extLst>
      <p:ext uri="{BB962C8B-B14F-4D97-AF65-F5344CB8AC3E}">
        <p14:creationId xmlns:p14="http://schemas.microsoft.com/office/powerpoint/2010/main" val="2397336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401983"/>
              </p:ext>
            </p:extLst>
          </p:nvPr>
        </p:nvGraphicFramePr>
        <p:xfrm>
          <a:off x="1663054" y="3820292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9" name="Textplatzhalter 2">
            <a:extLst>
              <a:ext uri="{FF2B5EF4-FFF2-40B4-BE49-F238E27FC236}">
                <a16:creationId xmlns:a16="http://schemas.microsoft.com/office/drawing/2014/main" id="{E2940C66-E7AB-43EB-8459-0D8AD0906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pass</a:t>
            </a:r>
          </a:p>
        </p:txBody>
      </p:sp>
    </p:spTree>
    <p:extLst>
      <p:ext uri="{BB962C8B-B14F-4D97-AF65-F5344CB8AC3E}">
        <p14:creationId xmlns:p14="http://schemas.microsoft.com/office/powerpoint/2010/main" val="6739056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4887346"/>
              </p:ext>
            </p:extLst>
          </p:nvPr>
        </p:nvGraphicFramePr>
        <p:xfrm>
          <a:off x="1663054" y="3820292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7" name="Textplatzhalter 2">
            <a:extLst>
              <a:ext uri="{FF2B5EF4-FFF2-40B4-BE49-F238E27FC236}">
                <a16:creationId xmlns:a16="http://schemas.microsoft.com/office/drawing/2014/main" id="{36C1A7E1-EF1A-43AD-8D9D-C29B152074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Second pass</a:t>
            </a:r>
          </a:p>
        </p:txBody>
      </p:sp>
    </p:spTree>
    <p:extLst>
      <p:ext uri="{BB962C8B-B14F-4D97-AF65-F5344CB8AC3E}">
        <p14:creationId xmlns:p14="http://schemas.microsoft.com/office/powerpoint/2010/main" val="7928681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692775"/>
              </p:ext>
            </p:extLst>
          </p:nvPr>
        </p:nvGraphicFramePr>
        <p:xfrm>
          <a:off x="1663054" y="3820292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0EA1D8B9-DE38-4B5B-AA2F-B07C3BAEC1A9}"/>
              </a:ext>
            </a:extLst>
          </p:cNvPr>
          <p:cNvSpPr/>
          <p:nvPr/>
        </p:nvSpPr>
        <p:spPr>
          <a:xfrm>
            <a:off x="2347405" y="4558943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26E18BA9-1FED-4BE7-9F5A-E5D89DD28B13}"/>
              </a:ext>
            </a:extLst>
          </p:cNvPr>
          <p:cNvSpPr txBox="1">
            <a:spLocks/>
          </p:cNvSpPr>
          <p:nvPr/>
        </p:nvSpPr>
        <p:spPr>
          <a:xfrm>
            <a:off x="457200" y="1653135"/>
            <a:ext cx="8229300" cy="50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Second pass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1105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149103"/>
              </p:ext>
            </p:extLst>
          </p:nvPr>
        </p:nvGraphicFramePr>
        <p:xfrm>
          <a:off x="1663054" y="3820292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0EA1D8B9-DE38-4B5B-AA2F-B07C3BAEC1A9}"/>
              </a:ext>
            </a:extLst>
          </p:cNvPr>
          <p:cNvSpPr/>
          <p:nvPr/>
        </p:nvSpPr>
        <p:spPr>
          <a:xfrm>
            <a:off x="3373126" y="4558943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7425357E-6408-453F-BB85-BB184A256C7A}"/>
              </a:ext>
            </a:extLst>
          </p:cNvPr>
          <p:cNvSpPr txBox="1">
            <a:spLocks/>
          </p:cNvSpPr>
          <p:nvPr/>
        </p:nvSpPr>
        <p:spPr>
          <a:xfrm>
            <a:off x="457200" y="1653135"/>
            <a:ext cx="8229300" cy="50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Second pass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01456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2785528"/>
              </p:ext>
            </p:extLst>
          </p:nvPr>
        </p:nvGraphicFramePr>
        <p:xfrm>
          <a:off x="1663054" y="3820292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0EA1D8B9-DE38-4B5B-AA2F-B07C3BAEC1A9}"/>
              </a:ext>
            </a:extLst>
          </p:cNvPr>
          <p:cNvSpPr/>
          <p:nvPr/>
        </p:nvSpPr>
        <p:spPr>
          <a:xfrm>
            <a:off x="4295475" y="4558943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8C99D78E-EE00-4D3F-85C3-0F904613690B}"/>
              </a:ext>
            </a:extLst>
          </p:cNvPr>
          <p:cNvSpPr/>
          <p:nvPr/>
        </p:nvSpPr>
        <p:spPr>
          <a:xfrm flipH="1">
            <a:off x="3856070" y="4558943"/>
            <a:ext cx="1533600" cy="582920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ln w="36720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0639D647-CBB1-4F22-ACE7-449D0E7A3106}"/>
              </a:ext>
            </a:extLst>
          </p:cNvPr>
          <p:cNvSpPr txBox="1">
            <a:spLocks/>
          </p:cNvSpPr>
          <p:nvPr/>
        </p:nvSpPr>
        <p:spPr>
          <a:xfrm>
            <a:off x="457200" y="1653135"/>
            <a:ext cx="8229300" cy="50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Second pass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0930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468043"/>
              </p:ext>
            </p:extLst>
          </p:nvPr>
        </p:nvGraphicFramePr>
        <p:xfrm>
          <a:off x="1663054" y="3820292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9" name="Textplatzhalter 2">
            <a:extLst>
              <a:ext uri="{FF2B5EF4-FFF2-40B4-BE49-F238E27FC236}">
                <a16:creationId xmlns:a16="http://schemas.microsoft.com/office/drawing/2014/main" id="{99E7826D-DED8-483B-9C34-FAA72ED2DC38}"/>
              </a:ext>
            </a:extLst>
          </p:cNvPr>
          <p:cNvSpPr txBox="1">
            <a:spLocks/>
          </p:cNvSpPr>
          <p:nvPr/>
        </p:nvSpPr>
        <p:spPr>
          <a:xfrm>
            <a:off x="457200" y="1653135"/>
            <a:ext cx="8229300" cy="50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Second pass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42910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822133"/>
              </p:ext>
            </p:extLst>
          </p:nvPr>
        </p:nvGraphicFramePr>
        <p:xfrm>
          <a:off x="1663054" y="3820292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535F65FC-E0D3-4A91-A491-1C10E937077A}"/>
              </a:ext>
            </a:extLst>
          </p:cNvPr>
          <p:cNvSpPr/>
          <p:nvPr/>
        </p:nvSpPr>
        <p:spPr>
          <a:xfrm>
            <a:off x="5400706" y="4558943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8099C03E-9493-4A2F-9D6E-1710F2544C3C}"/>
              </a:ext>
            </a:extLst>
          </p:cNvPr>
          <p:cNvSpPr/>
          <p:nvPr/>
        </p:nvSpPr>
        <p:spPr>
          <a:xfrm flipH="1">
            <a:off x="4961301" y="4558943"/>
            <a:ext cx="1533600" cy="582920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ln w="36720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810594A0-9644-4F7A-A166-BB2EFC366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Second pass</a:t>
            </a:r>
          </a:p>
        </p:txBody>
      </p:sp>
    </p:spTree>
    <p:extLst>
      <p:ext uri="{BB962C8B-B14F-4D97-AF65-F5344CB8AC3E}">
        <p14:creationId xmlns:p14="http://schemas.microsoft.com/office/powerpoint/2010/main" val="333561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955619"/>
              </p:ext>
            </p:extLst>
          </p:nvPr>
        </p:nvGraphicFramePr>
        <p:xfrm>
          <a:off x="1663054" y="3820292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9" name="Textplatzhalter 2">
            <a:extLst>
              <a:ext uri="{FF2B5EF4-FFF2-40B4-BE49-F238E27FC236}">
                <a16:creationId xmlns:a16="http://schemas.microsoft.com/office/drawing/2014/main" id="{B527EE16-CA1B-4ADE-AD05-350C026182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Second pass</a:t>
            </a:r>
          </a:p>
        </p:txBody>
      </p:sp>
    </p:spTree>
    <p:extLst>
      <p:ext uri="{BB962C8B-B14F-4D97-AF65-F5344CB8AC3E}">
        <p14:creationId xmlns:p14="http://schemas.microsoft.com/office/powerpoint/2010/main" val="26371859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393225"/>
              </p:ext>
            </p:extLst>
          </p:nvPr>
        </p:nvGraphicFramePr>
        <p:xfrm>
          <a:off x="1663054" y="3820292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94F4B3AC-8D96-4F29-8514-6B9DFE8E4DA4}"/>
              </a:ext>
            </a:extLst>
          </p:cNvPr>
          <p:cNvSpPr/>
          <p:nvPr/>
        </p:nvSpPr>
        <p:spPr>
          <a:xfrm>
            <a:off x="6386666" y="4558943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300688A9-8E1A-4971-9BE9-0C41045E0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Second pass</a:t>
            </a:r>
          </a:p>
        </p:txBody>
      </p:sp>
    </p:spTree>
    <p:extLst>
      <p:ext uri="{BB962C8B-B14F-4D97-AF65-F5344CB8AC3E}">
        <p14:creationId xmlns:p14="http://schemas.microsoft.com/office/powerpoint/2010/main" val="9373819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611175"/>
              </p:ext>
            </p:extLst>
          </p:nvPr>
        </p:nvGraphicFramePr>
        <p:xfrm>
          <a:off x="1663054" y="3820292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8" name="Textplatzhalter 2">
            <a:extLst>
              <a:ext uri="{FF2B5EF4-FFF2-40B4-BE49-F238E27FC236}">
                <a16:creationId xmlns:a16="http://schemas.microsoft.com/office/drawing/2014/main" id="{173973E1-FE9F-4CEF-8FA1-5F04157DB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Third pass</a:t>
            </a:r>
          </a:p>
        </p:txBody>
      </p:sp>
    </p:spTree>
    <p:extLst>
      <p:ext uri="{BB962C8B-B14F-4D97-AF65-F5344CB8AC3E}">
        <p14:creationId xmlns:p14="http://schemas.microsoft.com/office/powerpoint/2010/main" val="31200114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086349"/>
              </p:ext>
            </p:extLst>
          </p:nvPr>
        </p:nvGraphicFramePr>
        <p:xfrm>
          <a:off x="1663054" y="3820292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8" name="Textplatzhalter 2">
            <a:extLst>
              <a:ext uri="{FF2B5EF4-FFF2-40B4-BE49-F238E27FC236}">
                <a16:creationId xmlns:a16="http://schemas.microsoft.com/office/drawing/2014/main" id="{173973E1-FE9F-4CEF-8FA1-5F04157DB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Third pass</a:t>
            </a:r>
          </a:p>
        </p:txBody>
      </p:sp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AFB0B0CF-7E2A-4E81-8A95-6BE3F7AF077D}"/>
              </a:ext>
            </a:extLst>
          </p:cNvPr>
          <p:cNvSpPr/>
          <p:nvPr/>
        </p:nvSpPr>
        <p:spPr>
          <a:xfrm>
            <a:off x="2275844" y="4558943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3328628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001302"/>
              </p:ext>
            </p:extLst>
          </p:nvPr>
        </p:nvGraphicFramePr>
        <p:xfrm>
          <a:off x="1663054" y="3820292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8" name="Textplatzhalter 2">
            <a:extLst>
              <a:ext uri="{FF2B5EF4-FFF2-40B4-BE49-F238E27FC236}">
                <a16:creationId xmlns:a16="http://schemas.microsoft.com/office/drawing/2014/main" id="{173973E1-FE9F-4CEF-8FA1-5F04157DB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Third pass</a:t>
            </a:r>
          </a:p>
        </p:txBody>
      </p:sp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AFB0B0CF-7E2A-4E81-8A95-6BE3F7AF077D}"/>
              </a:ext>
            </a:extLst>
          </p:cNvPr>
          <p:cNvSpPr/>
          <p:nvPr/>
        </p:nvSpPr>
        <p:spPr>
          <a:xfrm>
            <a:off x="3365173" y="4558943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CBAD1699-EB76-423B-BD33-DE679D015440}"/>
              </a:ext>
            </a:extLst>
          </p:cNvPr>
          <p:cNvSpPr/>
          <p:nvPr/>
        </p:nvSpPr>
        <p:spPr>
          <a:xfrm flipH="1">
            <a:off x="2925765" y="4558943"/>
            <a:ext cx="1533600" cy="582920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ln w="36720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233065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060071"/>
              </p:ext>
            </p:extLst>
          </p:nvPr>
        </p:nvGraphicFramePr>
        <p:xfrm>
          <a:off x="1663054" y="3820292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8" name="Textplatzhalter 2">
            <a:extLst>
              <a:ext uri="{FF2B5EF4-FFF2-40B4-BE49-F238E27FC236}">
                <a16:creationId xmlns:a16="http://schemas.microsoft.com/office/drawing/2014/main" id="{173973E1-FE9F-4CEF-8FA1-5F04157DB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Third pass</a:t>
            </a:r>
          </a:p>
        </p:txBody>
      </p:sp>
    </p:spTree>
    <p:extLst>
      <p:ext uri="{BB962C8B-B14F-4D97-AF65-F5344CB8AC3E}">
        <p14:creationId xmlns:p14="http://schemas.microsoft.com/office/powerpoint/2010/main" val="34097664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941285"/>
              </p:ext>
            </p:extLst>
          </p:nvPr>
        </p:nvGraphicFramePr>
        <p:xfrm>
          <a:off x="1663054" y="3820292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8" name="Textplatzhalter 2">
            <a:extLst>
              <a:ext uri="{FF2B5EF4-FFF2-40B4-BE49-F238E27FC236}">
                <a16:creationId xmlns:a16="http://schemas.microsoft.com/office/drawing/2014/main" id="{173973E1-FE9F-4CEF-8FA1-5F04157DB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Third pass</a:t>
            </a:r>
          </a:p>
        </p:txBody>
      </p:sp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F4DD3051-3C67-478A-ADA1-4A67CBD148B5}"/>
              </a:ext>
            </a:extLst>
          </p:cNvPr>
          <p:cNvSpPr/>
          <p:nvPr/>
        </p:nvSpPr>
        <p:spPr>
          <a:xfrm>
            <a:off x="4446548" y="4558943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47507F25-7E0D-4A89-ADD8-BA0E9D2BEF65}"/>
              </a:ext>
            </a:extLst>
          </p:cNvPr>
          <p:cNvSpPr/>
          <p:nvPr/>
        </p:nvSpPr>
        <p:spPr>
          <a:xfrm flipH="1">
            <a:off x="4007140" y="4558943"/>
            <a:ext cx="1533600" cy="582920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ln w="36720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50866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802059"/>
              </p:ext>
            </p:extLst>
          </p:nvPr>
        </p:nvGraphicFramePr>
        <p:xfrm>
          <a:off x="1663054" y="3820292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8" name="Textplatzhalter 2">
            <a:extLst>
              <a:ext uri="{FF2B5EF4-FFF2-40B4-BE49-F238E27FC236}">
                <a16:creationId xmlns:a16="http://schemas.microsoft.com/office/drawing/2014/main" id="{173973E1-FE9F-4CEF-8FA1-5F04157DB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Third pass</a:t>
            </a:r>
          </a:p>
        </p:txBody>
      </p:sp>
    </p:spTree>
    <p:extLst>
      <p:ext uri="{BB962C8B-B14F-4D97-AF65-F5344CB8AC3E}">
        <p14:creationId xmlns:p14="http://schemas.microsoft.com/office/powerpoint/2010/main" val="29905940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8175909"/>
              </p:ext>
            </p:extLst>
          </p:nvPr>
        </p:nvGraphicFramePr>
        <p:xfrm>
          <a:off x="1663054" y="3820292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8" name="Textplatzhalter 2">
            <a:extLst>
              <a:ext uri="{FF2B5EF4-FFF2-40B4-BE49-F238E27FC236}">
                <a16:creationId xmlns:a16="http://schemas.microsoft.com/office/drawing/2014/main" id="{173973E1-FE9F-4CEF-8FA1-5F04157DB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Third pass</a:t>
            </a:r>
          </a:p>
        </p:txBody>
      </p:sp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25F5AB17-AADB-4347-B43A-3C3CF0218F0E}"/>
              </a:ext>
            </a:extLst>
          </p:cNvPr>
          <p:cNvSpPr/>
          <p:nvPr/>
        </p:nvSpPr>
        <p:spPr>
          <a:xfrm>
            <a:off x="5345044" y="4558943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0665436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728564"/>
              </p:ext>
            </p:extLst>
          </p:nvPr>
        </p:nvGraphicFramePr>
        <p:xfrm>
          <a:off x="1663054" y="3820292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8" name="Textplatzhalter 2">
            <a:extLst>
              <a:ext uri="{FF2B5EF4-FFF2-40B4-BE49-F238E27FC236}">
                <a16:creationId xmlns:a16="http://schemas.microsoft.com/office/drawing/2014/main" id="{173973E1-FE9F-4CEF-8FA1-5F04157DB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Third pass</a:t>
            </a:r>
          </a:p>
        </p:txBody>
      </p:sp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25F5AB17-AADB-4347-B43A-3C3CF0218F0E}"/>
              </a:ext>
            </a:extLst>
          </p:cNvPr>
          <p:cNvSpPr/>
          <p:nvPr/>
        </p:nvSpPr>
        <p:spPr>
          <a:xfrm>
            <a:off x="6386663" y="4558943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1850889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692699"/>
              </p:ext>
            </p:extLst>
          </p:nvPr>
        </p:nvGraphicFramePr>
        <p:xfrm>
          <a:off x="1663054" y="3820292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8" name="Textplatzhalter 2">
            <a:extLst>
              <a:ext uri="{FF2B5EF4-FFF2-40B4-BE49-F238E27FC236}">
                <a16:creationId xmlns:a16="http://schemas.microsoft.com/office/drawing/2014/main" id="{173973E1-FE9F-4CEF-8FA1-5F04157DB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Fourth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pass</a:t>
            </a:r>
          </a:p>
        </p:txBody>
      </p:sp>
    </p:spTree>
    <p:extLst>
      <p:ext uri="{BB962C8B-B14F-4D97-AF65-F5344CB8AC3E}">
        <p14:creationId xmlns:p14="http://schemas.microsoft.com/office/powerpoint/2010/main" val="3569283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8211196"/>
              </p:ext>
            </p:extLst>
          </p:nvPr>
        </p:nvGraphicFramePr>
        <p:xfrm>
          <a:off x="1663054" y="3820292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8" name="Textplatzhalter 2">
            <a:extLst>
              <a:ext uri="{FF2B5EF4-FFF2-40B4-BE49-F238E27FC236}">
                <a16:creationId xmlns:a16="http://schemas.microsoft.com/office/drawing/2014/main" id="{173973E1-FE9F-4CEF-8FA1-5F04157DB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Fourth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pass</a:t>
            </a:r>
          </a:p>
        </p:txBody>
      </p:sp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A6C07971-35E6-4217-9E94-E1598606931E}"/>
              </a:ext>
            </a:extLst>
          </p:cNvPr>
          <p:cNvSpPr/>
          <p:nvPr/>
        </p:nvSpPr>
        <p:spPr>
          <a:xfrm>
            <a:off x="2323553" y="4558943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5D467771-2C5A-4C05-88E2-627826004134}"/>
              </a:ext>
            </a:extLst>
          </p:cNvPr>
          <p:cNvSpPr/>
          <p:nvPr/>
        </p:nvSpPr>
        <p:spPr>
          <a:xfrm flipH="1">
            <a:off x="1884145" y="4558943"/>
            <a:ext cx="1533600" cy="582920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ln w="36720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217210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412842"/>
              </p:ext>
            </p:extLst>
          </p:nvPr>
        </p:nvGraphicFramePr>
        <p:xfrm>
          <a:off x="1663054" y="3820292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8" name="Textplatzhalter 2">
            <a:extLst>
              <a:ext uri="{FF2B5EF4-FFF2-40B4-BE49-F238E27FC236}">
                <a16:creationId xmlns:a16="http://schemas.microsoft.com/office/drawing/2014/main" id="{173973E1-FE9F-4CEF-8FA1-5F04157DB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Fourth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pass</a:t>
            </a:r>
          </a:p>
        </p:txBody>
      </p:sp>
    </p:spTree>
    <p:extLst>
      <p:ext uri="{BB962C8B-B14F-4D97-AF65-F5344CB8AC3E}">
        <p14:creationId xmlns:p14="http://schemas.microsoft.com/office/powerpoint/2010/main" val="39196324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431717"/>
              </p:ext>
            </p:extLst>
          </p:nvPr>
        </p:nvGraphicFramePr>
        <p:xfrm>
          <a:off x="1663054" y="3820292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8" name="Textplatzhalter 2">
            <a:extLst>
              <a:ext uri="{FF2B5EF4-FFF2-40B4-BE49-F238E27FC236}">
                <a16:creationId xmlns:a16="http://schemas.microsoft.com/office/drawing/2014/main" id="{173973E1-FE9F-4CEF-8FA1-5F04157DB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Fourth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pass</a:t>
            </a:r>
          </a:p>
        </p:txBody>
      </p:sp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4EF69B1C-5B3B-4D8B-8738-9B981733D391}"/>
              </a:ext>
            </a:extLst>
          </p:cNvPr>
          <p:cNvSpPr/>
          <p:nvPr/>
        </p:nvSpPr>
        <p:spPr>
          <a:xfrm>
            <a:off x="3404927" y="4558943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7664849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696437"/>
              </p:ext>
            </p:extLst>
          </p:nvPr>
        </p:nvGraphicFramePr>
        <p:xfrm>
          <a:off x="1663054" y="3820292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8" name="Textplatzhalter 2">
            <a:extLst>
              <a:ext uri="{FF2B5EF4-FFF2-40B4-BE49-F238E27FC236}">
                <a16:creationId xmlns:a16="http://schemas.microsoft.com/office/drawing/2014/main" id="{173973E1-FE9F-4CEF-8FA1-5F04157DB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Fourth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pass</a:t>
            </a:r>
          </a:p>
        </p:txBody>
      </p:sp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4EF69B1C-5B3B-4D8B-8738-9B981733D391}"/>
              </a:ext>
            </a:extLst>
          </p:cNvPr>
          <p:cNvSpPr/>
          <p:nvPr/>
        </p:nvSpPr>
        <p:spPr>
          <a:xfrm>
            <a:off x="4343181" y="4558943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0144465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3904636"/>
              </p:ext>
            </p:extLst>
          </p:nvPr>
        </p:nvGraphicFramePr>
        <p:xfrm>
          <a:off x="1663054" y="3820292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8" name="Textplatzhalter 2">
            <a:extLst>
              <a:ext uri="{FF2B5EF4-FFF2-40B4-BE49-F238E27FC236}">
                <a16:creationId xmlns:a16="http://schemas.microsoft.com/office/drawing/2014/main" id="{173973E1-FE9F-4CEF-8FA1-5F04157DB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Fourth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pass</a:t>
            </a:r>
          </a:p>
        </p:txBody>
      </p:sp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4EF69B1C-5B3B-4D8B-8738-9B981733D391}"/>
              </a:ext>
            </a:extLst>
          </p:cNvPr>
          <p:cNvSpPr/>
          <p:nvPr/>
        </p:nvSpPr>
        <p:spPr>
          <a:xfrm>
            <a:off x="5376850" y="4558943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5986123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173151"/>
              </p:ext>
            </p:extLst>
          </p:nvPr>
        </p:nvGraphicFramePr>
        <p:xfrm>
          <a:off x="1663054" y="3820292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8" name="Textplatzhalter 2">
            <a:extLst>
              <a:ext uri="{FF2B5EF4-FFF2-40B4-BE49-F238E27FC236}">
                <a16:creationId xmlns:a16="http://schemas.microsoft.com/office/drawing/2014/main" id="{173973E1-FE9F-4CEF-8FA1-5F04157DB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Fourth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pass</a:t>
            </a:r>
          </a:p>
        </p:txBody>
      </p:sp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4EF69B1C-5B3B-4D8B-8738-9B981733D391}"/>
              </a:ext>
            </a:extLst>
          </p:cNvPr>
          <p:cNvSpPr/>
          <p:nvPr/>
        </p:nvSpPr>
        <p:spPr>
          <a:xfrm>
            <a:off x="6402569" y="4558943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8810633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2248232"/>
              </p:ext>
            </p:extLst>
          </p:nvPr>
        </p:nvGraphicFramePr>
        <p:xfrm>
          <a:off x="1663054" y="3820292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8" name="Textplatzhalter 2">
            <a:extLst>
              <a:ext uri="{FF2B5EF4-FFF2-40B4-BE49-F238E27FC236}">
                <a16:creationId xmlns:a16="http://schemas.microsoft.com/office/drawing/2014/main" id="{173973E1-FE9F-4CEF-8FA1-5F04157DB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Fifth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pass</a:t>
            </a:r>
          </a:p>
        </p:txBody>
      </p:sp>
    </p:spTree>
    <p:extLst>
      <p:ext uri="{BB962C8B-B14F-4D97-AF65-F5344CB8AC3E}">
        <p14:creationId xmlns:p14="http://schemas.microsoft.com/office/powerpoint/2010/main" val="41359576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731353"/>
              </p:ext>
            </p:extLst>
          </p:nvPr>
        </p:nvGraphicFramePr>
        <p:xfrm>
          <a:off x="1663054" y="3820292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8" name="Textplatzhalter 2">
            <a:extLst>
              <a:ext uri="{FF2B5EF4-FFF2-40B4-BE49-F238E27FC236}">
                <a16:creationId xmlns:a16="http://schemas.microsoft.com/office/drawing/2014/main" id="{173973E1-FE9F-4CEF-8FA1-5F04157DB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Fifth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pass</a:t>
            </a:r>
          </a:p>
        </p:txBody>
      </p:sp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A0339090-950D-45C8-9C79-14BC6BB3434B}"/>
              </a:ext>
            </a:extLst>
          </p:cNvPr>
          <p:cNvSpPr/>
          <p:nvPr/>
        </p:nvSpPr>
        <p:spPr>
          <a:xfrm>
            <a:off x="2275840" y="4558943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2263806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/>
        </p:nvGraphicFramePr>
        <p:xfrm>
          <a:off x="1663054" y="3820292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8" name="Textplatzhalter 2">
            <a:extLst>
              <a:ext uri="{FF2B5EF4-FFF2-40B4-BE49-F238E27FC236}">
                <a16:creationId xmlns:a16="http://schemas.microsoft.com/office/drawing/2014/main" id="{173973E1-FE9F-4CEF-8FA1-5F04157DB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Fifth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pass</a:t>
            </a:r>
          </a:p>
        </p:txBody>
      </p:sp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4EF69B1C-5B3B-4D8B-8738-9B981733D391}"/>
              </a:ext>
            </a:extLst>
          </p:cNvPr>
          <p:cNvSpPr/>
          <p:nvPr/>
        </p:nvSpPr>
        <p:spPr>
          <a:xfrm>
            <a:off x="3404927" y="4558943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2609331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/>
        </p:nvGraphicFramePr>
        <p:xfrm>
          <a:off x="1663054" y="3820292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8" name="Textplatzhalter 2">
            <a:extLst>
              <a:ext uri="{FF2B5EF4-FFF2-40B4-BE49-F238E27FC236}">
                <a16:creationId xmlns:a16="http://schemas.microsoft.com/office/drawing/2014/main" id="{173973E1-FE9F-4CEF-8FA1-5F04157DB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Fifth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pass</a:t>
            </a:r>
          </a:p>
        </p:txBody>
      </p:sp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4EF69B1C-5B3B-4D8B-8738-9B981733D391}"/>
              </a:ext>
            </a:extLst>
          </p:cNvPr>
          <p:cNvSpPr/>
          <p:nvPr/>
        </p:nvSpPr>
        <p:spPr>
          <a:xfrm>
            <a:off x="4343181" y="4558943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9950890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/>
        </p:nvGraphicFramePr>
        <p:xfrm>
          <a:off x="1663054" y="3820292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8" name="Textplatzhalter 2">
            <a:extLst>
              <a:ext uri="{FF2B5EF4-FFF2-40B4-BE49-F238E27FC236}">
                <a16:creationId xmlns:a16="http://schemas.microsoft.com/office/drawing/2014/main" id="{173973E1-FE9F-4CEF-8FA1-5F04157DB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Fifth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pass</a:t>
            </a:r>
          </a:p>
        </p:txBody>
      </p:sp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4EF69B1C-5B3B-4D8B-8738-9B981733D391}"/>
              </a:ext>
            </a:extLst>
          </p:cNvPr>
          <p:cNvSpPr/>
          <p:nvPr/>
        </p:nvSpPr>
        <p:spPr>
          <a:xfrm>
            <a:off x="5376850" y="4558943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13527374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/>
        </p:nvGraphicFramePr>
        <p:xfrm>
          <a:off x="1663054" y="3820292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8" name="Textplatzhalter 2">
            <a:extLst>
              <a:ext uri="{FF2B5EF4-FFF2-40B4-BE49-F238E27FC236}">
                <a16:creationId xmlns:a16="http://schemas.microsoft.com/office/drawing/2014/main" id="{173973E1-FE9F-4CEF-8FA1-5F04157DB7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Fifth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pass</a:t>
            </a:r>
          </a:p>
        </p:txBody>
      </p:sp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4EF69B1C-5B3B-4D8B-8738-9B981733D391}"/>
              </a:ext>
            </a:extLst>
          </p:cNvPr>
          <p:cNvSpPr/>
          <p:nvPr/>
        </p:nvSpPr>
        <p:spPr>
          <a:xfrm>
            <a:off x="6402569" y="4558943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518853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Bubble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653135"/>
                <a:ext cx="8229300" cy="2934768"/>
              </a:xfrm>
            </p:spPr>
            <p:txBody>
              <a:bodyPr/>
              <a:lstStyle/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worst-case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many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passes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there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are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elements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list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d>
                      <m:dPr>
                        <m:ctrlP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</m:e>
                    </m:d>
                  </m:oMath>
                </a14:m>
                <a:endParaRPr lang="de-AT" sz="18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each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pass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comparisons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Altogether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d>
                      <m:dPr>
                        <m:ctrlP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⋅</m:t>
                        </m:r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e>
                    </m:d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e>
                      <m:sup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Can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you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think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some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optimizations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At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𝑖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pass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stop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at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−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𝑖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𝑖</m:t>
                        </m:r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−1</m:t>
                        </m:r>
                      </m:e>
                    </m:d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elements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are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already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sorted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could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keep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track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index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last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swap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stop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there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314450" lvl="2" indent="-285750"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 all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elements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after last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stop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are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already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sorted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However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with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all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optimizations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complexity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still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e>
                      <m:sup>
                        <m:r>
                          <a:rPr lang="de-AT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de-AT" sz="1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53135"/>
                <a:ext cx="8229300" cy="293476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2863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Exercise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04953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p:sp>
        <p:nvSpPr>
          <p:cNvPr id="4" name="Textfeld 2">
            <a:extLst>
              <a:ext uri="{FF2B5EF4-FFF2-40B4-BE49-F238E27FC236}">
                <a16:creationId xmlns:a16="http://schemas.microsoft.com/office/drawing/2014/main" id="{B1AB2DE2-BFB4-403B-9976-58C0812A00AF}"/>
              </a:ext>
            </a:extLst>
          </p:cNvPr>
          <p:cNvSpPr txBox="1"/>
          <p:nvPr/>
        </p:nvSpPr>
        <p:spPr>
          <a:xfrm>
            <a:off x="461938" y="1605600"/>
            <a:ext cx="8229600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defRPr/>
            </a:pPr>
            <a:r>
              <a:rPr lang="de-DE" sz="1800" b="1" dirty="0">
                <a:latin typeface="Calibri" panose="020F0502020204030204" pitchFamily="34" charset="0"/>
                <a:cs typeface="Calibri" panose="020F0502020204030204" pitchFamily="34" charset="0"/>
              </a:rPr>
              <a:t>Task 1: 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Implement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bubble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cs typeface="Calibri" panose="020F0502020204030204" pitchFamily="34" charset="0"/>
              </a:rPr>
              <a:t>sort</a:t>
            </a:r>
            <a:r>
              <a:rPr lang="de-AT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2658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Selection sort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20468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Selection sort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653134"/>
                <a:ext cx="8229300" cy="2807547"/>
              </a:xfrm>
            </p:spPr>
            <p:txBody>
              <a:bodyPr/>
              <a:lstStyle/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First pass</a:t>
                </a:r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Find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minimal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element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from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list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Swap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minimal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element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with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element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at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index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0</a:t>
                </a: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each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subsequent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step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𝑖</m:t>
                    </m:r>
                  </m:oMath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Find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minimal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element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remaining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sublist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Swap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with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𝑖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element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Iterate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with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𝑖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from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1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−1</m:t>
                    </m:r>
                  </m:oMath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keep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left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portion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list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sorted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At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𝑖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step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first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𝑖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elements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are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sorted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All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other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elements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are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bigger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than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first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𝑖</m:t>
                    </m:r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-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elements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53134"/>
                <a:ext cx="8229300" cy="2807547"/>
              </a:xfrm>
              <a:blipFill>
                <a:blip r:embed="rId3"/>
                <a:stretch>
                  <a:fillRect t="-1351" b="-3604"/>
                </a:stretch>
              </a:blipFill>
            </p:spPr>
            <p:txBody>
              <a:bodyPr/>
              <a:lstStyle/>
              <a:p>
                <a:r>
                  <a:rPr lang="en-AT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632898"/>
              </p:ext>
            </p:extLst>
          </p:nvPr>
        </p:nvGraphicFramePr>
        <p:xfrm>
          <a:off x="1655103" y="4631325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7944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Selection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pass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44959"/>
              </p:ext>
            </p:extLst>
          </p:nvPr>
        </p:nvGraphicFramePr>
        <p:xfrm>
          <a:off x="1656000" y="4633200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1E9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945764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Selection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pass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998487"/>
              </p:ext>
            </p:extLst>
          </p:nvPr>
        </p:nvGraphicFramePr>
        <p:xfrm>
          <a:off x="1656000" y="4633200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1E9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70394C26-DCDF-46B4-9B54-CAA822B2ED94}"/>
              </a:ext>
            </a:extLst>
          </p:cNvPr>
          <p:cNvSpPr/>
          <p:nvPr/>
        </p:nvSpPr>
        <p:spPr>
          <a:xfrm>
            <a:off x="2244036" y="5374880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34094326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Selection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pass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1764373"/>
              </p:ext>
            </p:extLst>
          </p:nvPr>
        </p:nvGraphicFramePr>
        <p:xfrm>
          <a:off x="1656000" y="4633200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1E9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70394C26-DCDF-46B4-9B54-CAA822B2ED94}"/>
              </a:ext>
            </a:extLst>
          </p:cNvPr>
          <p:cNvSpPr/>
          <p:nvPr/>
        </p:nvSpPr>
        <p:spPr>
          <a:xfrm>
            <a:off x="3293609" y="5366929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9896608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Selection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pass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042133"/>
              </p:ext>
            </p:extLst>
          </p:nvPr>
        </p:nvGraphicFramePr>
        <p:xfrm>
          <a:off x="1656000" y="4633200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1E9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70394C26-DCDF-46B4-9B54-CAA822B2ED94}"/>
              </a:ext>
            </a:extLst>
          </p:cNvPr>
          <p:cNvSpPr/>
          <p:nvPr/>
        </p:nvSpPr>
        <p:spPr>
          <a:xfrm>
            <a:off x="3293609" y="5358978"/>
            <a:ext cx="1930398" cy="501134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54305851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Selection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pass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167102"/>
              </p:ext>
            </p:extLst>
          </p:nvPr>
        </p:nvGraphicFramePr>
        <p:xfrm>
          <a:off x="1656000" y="4633200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1E9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70394C26-DCDF-46B4-9B54-CAA822B2ED94}"/>
              </a:ext>
            </a:extLst>
          </p:cNvPr>
          <p:cNvSpPr/>
          <p:nvPr/>
        </p:nvSpPr>
        <p:spPr>
          <a:xfrm>
            <a:off x="3293608" y="5358977"/>
            <a:ext cx="2995873" cy="741679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68364295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Selection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pass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503241"/>
              </p:ext>
            </p:extLst>
          </p:nvPr>
        </p:nvGraphicFramePr>
        <p:xfrm>
          <a:off x="1656000" y="4633200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1E9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D74D3213-7A3E-40D3-AA6B-771E63E208CA}"/>
              </a:ext>
            </a:extLst>
          </p:cNvPr>
          <p:cNvSpPr/>
          <p:nvPr/>
        </p:nvSpPr>
        <p:spPr>
          <a:xfrm>
            <a:off x="6378716" y="5366929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6240349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Selection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pass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2895281"/>
              </p:ext>
            </p:extLst>
          </p:nvPr>
        </p:nvGraphicFramePr>
        <p:xfrm>
          <a:off x="1656000" y="4633200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1E9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BF2403EB-1434-4AFB-83F9-7935FC6C29CD}"/>
              </a:ext>
            </a:extLst>
          </p:cNvPr>
          <p:cNvSpPr/>
          <p:nvPr/>
        </p:nvSpPr>
        <p:spPr>
          <a:xfrm flipH="1">
            <a:off x="2234316" y="5366929"/>
            <a:ext cx="3871133" cy="741680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ln w="36720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48706955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Selection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pass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808158"/>
              </p:ext>
            </p:extLst>
          </p:nvPr>
        </p:nvGraphicFramePr>
        <p:xfrm>
          <a:off x="1656000" y="4633200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183460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Selection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Second pass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978208"/>
              </p:ext>
            </p:extLst>
          </p:nvPr>
        </p:nvGraphicFramePr>
        <p:xfrm>
          <a:off x="1656000" y="4633200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670150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Selection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Second pass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266212"/>
              </p:ext>
            </p:extLst>
          </p:nvPr>
        </p:nvGraphicFramePr>
        <p:xfrm>
          <a:off x="1656000" y="4633200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1E9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98282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Selection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Second pass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920662"/>
              </p:ext>
            </p:extLst>
          </p:nvPr>
        </p:nvGraphicFramePr>
        <p:xfrm>
          <a:off x="1656000" y="4633200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1E9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D2584410-5D39-4FCF-8F2E-419881FC9C64}"/>
              </a:ext>
            </a:extLst>
          </p:cNvPr>
          <p:cNvSpPr/>
          <p:nvPr/>
        </p:nvSpPr>
        <p:spPr>
          <a:xfrm>
            <a:off x="3333365" y="5374880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13862884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Selection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Second pass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304684"/>
              </p:ext>
            </p:extLst>
          </p:nvPr>
        </p:nvGraphicFramePr>
        <p:xfrm>
          <a:off x="1656000" y="4633200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1E9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F816F039-751D-4AE0-9207-5DC388CF8D01}"/>
              </a:ext>
            </a:extLst>
          </p:cNvPr>
          <p:cNvSpPr/>
          <p:nvPr/>
        </p:nvSpPr>
        <p:spPr>
          <a:xfrm>
            <a:off x="3293609" y="5358978"/>
            <a:ext cx="1930398" cy="501134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56237285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Selection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Second pass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869106"/>
              </p:ext>
            </p:extLst>
          </p:nvPr>
        </p:nvGraphicFramePr>
        <p:xfrm>
          <a:off x="1656000" y="4633200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1E9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61521F23-FEE2-4C52-A9F7-65BA8DDD07F3}"/>
              </a:ext>
            </a:extLst>
          </p:cNvPr>
          <p:cNvSpPr/>
          <p:nvPr/>
        </p:nvSpPr>
        <p:spPr>
          <a:xfrm>
            <a:off x="3293608" y="5358977"/>
            <a:ext cx="2995873" cy="741679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32184737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Selection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Second pass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211992"/>
              </p:ext>
            </p:extLst>
          </p:nvPr>
        </p:nvGraphicFramePr>
        <p:xfrm>
          <a:off x="1656000" y="4633200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1E9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61521F23-FEE2-4C52-A9F7-65BA8DDD07F3}"/>
              </a:ext>
            </a:extLst>
          </p:cNvPr>
          <p:cNvSpPr/>
          <p:nvPr/>
        </p:nvSpPr>
        <p:spPr>
          <a:xfrm>
            <a:off x="3293608" y="5351026"/>
            <a:ext cx="4005689" cy="922553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94878657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Selection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Third pass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672324"/>
              </p:ext>
            </p:extLst>
          </p:nvPr>
        </p:nvGraphicFramePr>
        <p:xfrm>
          <a:off x="1656000" y="4633200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299026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Selection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Third pass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2252067"/>
              </p:ext>
            </p:extLst>
          </p:nvPr>
        </p:nvGraphicFramePr>
        <p:xfrm>
          <a:off x="1656000" y="4633200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1E9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983857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Selection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Third pass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194781"/>
              </p:ext>
            </p:extLst>
          </p:nvPr>
        </p:nvGraphicFramePr>
        <p:xfrm>
          <a:off x="1656000" y="4633200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1E9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34B28E04-1296-4C2C-9F66-868633946912}"/>
              </a:ext>
            </a:extLst>
          </p:cNvPr>
          <p:cNvSpPr/>
          <p:nvPr/>
        </p:nvSpPr>
        <p:spPr>
          <a:xfrm>
            <a:off x="4311377" y="5358978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62036925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Selection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Third pass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018107"/>
              </p:ext>
            </p:extLst>
          </p:nvPr>
        </p:nvGraphicFramePr>
        <p:xfrm>
          <a:off x="1656000" y="4633200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1E9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6" name="Freihandform: Form 5">
            <a:extLst>
              <a:ext uri="{FF2B5EF4-FFF2-40B4-BE49-F238E27FC236}">
                <a16:creationId xmlns:a16="http://schemas.microsoft.com/office/drawing/2014/main" id="{260E7B77-F0D6-4676-A9A4-170CC2EE5F06}"/>
              </a:ext>
            </a:extLst>
          </p:cNvPr>
          <p:cNvSpPr/>
          <p:nvPr/>
        </p:nvSpPr>
        <p:spPr>
          <a:xfrm>
            <a:off x="4311375" y="5343076"/>
            <a:ext cx="1930398" cy="501134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72267962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Selection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Third pass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847292"/>
              </p:ext>
            </p:extLst>
          </p:nvPr>
        </p:nvGraphicFramePr>
        <p:xfrm>
          <a:off x="1656000" y="4633200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1E9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7" name="Freihandform: Form 6">
            <a:extLst>
              <a:ext uri="{FF2B5EF4-FFF2-40B4-BE49-F238E27FC236}">
                <a16:creationId xmlns:a16="http://schemas.microsoft.com/office/drawing/2014/main" id="{1669AEC0-5942-43A2-837A-563FBD4691C3}"/>
              </a:ext>
            </a:extLst>
          </p:cNvPr>
          <p:cNvSpPr/>
          <p:nvPr/>
        </p:nvSpPr>
        <p:spPr>
          <a:xfrm>
            <a:off x="4239816" y="5358977"/>
            <a:ext cx="2995873" cy="741679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74839981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Selection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Third pass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808108"/>
              </p:ext>
            </p:extLst>
          </p:nvPr>
        </p:nvGraphicFramePr>
        <p:xfrm>
          <a:off x="1656000" y="4633200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1E9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841796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Selection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Third pass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/>
        </p:nvGraphicFramePr>
        <p:xfrm>
          <a:off x="1656000" y="4633200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1E9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AFAD99EB-6FD2-41DF-A4AE-C14B56450795}"/>
              </a:ext>
            </a:extLst>
          </p:cNvPr>
          <p:cNvSpPr/>
          <p:nvPr/>
        </p:nvSpPr>
        <p:spPr>
          <a:xfrm flipH="1">
            <a:off x="4222141" y="5366929"/>
            <a:ext cx="3044197" cy="548841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ln w="36720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30747232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Selection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Third pass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8729115"/>
              </p:ext>
            </p:extLst>
          </p:nvPr>
        </p:nvGraphicFramePr>
        <p:xfrm>
          <a:off x="1656000" y="4633200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998440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Selection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Fourth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pass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7223701"/>
              </p:ext>
            </p:extLst>
          </p:nvPr>
        </p:nvGraphicFramePr>
        <p:xfrm>
          <a:off x="1656000" y="4633200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490714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Selection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Fourth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pass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8993344"/>
              </p:ext>
            </p:extLst>
          </p:nvPr>
        </p:nvGraphicFramePr>
        <p:xfrm>
          <a:off x="1656000" y="4633200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1E9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201E302E-DD8F-4C1D-8025-5EE896B3CB78}"/>
              </a:ext>
            </a:extLst>
          </p:cNvPr>
          <p:cNvSpPr/>
          <p:nvPr/>
        </p:nvSpPr>
        <p:spPr>
          <a:xfrm>
            <a:off x="5249631" y="5358978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70293474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Selection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Fourth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pass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040651"/>
              </p:ext>
            </p:extLst>
          </p:nvPr>
        </p:nvGraphicFramePr>
        <p:xfrm>
          <a:off x="1656000" y="4633200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1E9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201E302E-DD8F-4C1D-8025-5EE896B3CB78}"/>
              </a:ext>
            </a:extLst>
          </p:cNvPr>
          <p:cNvSpPr/>
          <p:nvPr/>
        </p:nvSpPr>
        <p:spPr>
          <a:xfrm>
            <a:off x="6394614" y="5358978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88415148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Selection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Fourth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pass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620953"/>
              </p:ext>
            </p:extLst>
          </p:nvPr>
        </p:nvGraphicFramePr>
        <p:xfrm>
          <a:off x="1656000" y="4633200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1E9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887164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Selection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Fourth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pass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/>
        </p:nvGraphicFramePr>
        <p:xfrm>
          <a:off x="1656000" y="4633200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1E9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6B898117-090E-4F91-909D-D8BD4D7939B9}"/>
              </a:ext>
            </a:extLst>
          </p:cNvPr>
          <p:cNvSpPr/>
          <p:nvPr/>
        </p:nvSpPr>
        <p:spPr>
          <a:xfrm flipH="1">
            <a:off x="5247859" y="5366930"/>
            <a:ext cx="2018477" cy="405718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ln w="36720">
            <a:solidFill>
              <a:srgbClr val="000000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85960860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Selection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Fourth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pass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614657"/>
              </p:ext>
            </p:extLst>
          </p:nvPr>
        </p:nvGraphicFramePr>
        <p:xfrm>
          <a:off x="1656000" y="4633200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289360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Selection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Fifth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pass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008492"/>
              </p:ext>
            </p:extLst>
          </p:nvPr>
        </p:nvGraphicFramePr>
        <p:xfrm>
          <a:off x="1656000" y="4633200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586671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Selection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503916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Fifth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pass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797311"/>
              </p:ext>
            </p:extLst>
          </p:nvPr>
        </p:nvGraphicFramePr>
        <p:xfrm>
          <a:off x="1656000" y="4633200"/>
          <a:ext cx="6096000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330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1E90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5" name="Freihandform: Form 4">
            <a:extLst>
              <a:ext uri="{FF2B5EF4-FFF2-40B4-BE49-F238E27FC236}">
                <a16:creationId xmlns:a16="http://schemas.microsoft.com/office/drawing/2014/main" id="{D150CC47-6A22-4A58-87A6-70AC029796AC}"/>
              </a:ext>
            </a:extLst>
          </p:cNvPr>
          <p:cNvSpPr/>
          <p:nvPr/>
        </p:nvSpPr>
        <p:spPr>
          <a:xfrm>
            <a:off x="6402571" y="5358978"/>
            <a:ext cx="791590" cy="26401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587669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Selection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653135"/>
                <a:ext cx="8229300" cy="1503533"/>
              </a:xfrm>
            </p:spPr>
            <p:txBody>
              <a:bodyPr/>
              <a:lstStyle/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each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pass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need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find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minimum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element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d>
                      <m:dPr>
                        <m:ctrlP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</m:e>
                    </m:d>
                  </m:oMath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sz="1800" b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Altogether</a:t>
                </a:r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make</a:t>
                </a:r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</a:t>
                </a:r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many</a:t>
                </a:r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passes</a:t>
                </a:r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</a:t>
                </a:r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there</a:t>
                </a:r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are</a:t>
                </a:r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elements</a:t>
                </a:r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Total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</a:t>
                </a:r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d>
                      <m:dPr>
                        <m:ctrlP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⋅</m:t>
                        </m:r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e>
                    </m:d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𝑂</m:t>
                    </m:r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</m:t>
                    </m:r>
                    <m:sSup>
                      <m:sSupPr>
                        <m:ctrlP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𝑛</m:t>
                        </m:r>
                      </m:e>
                      <m:sup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2</m:t>
                        </m:r>
                      </m:sup>
                    </m:sSup>
                    <m:r>
                      <a:rPr lang="de-AT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53135"/>
                <a:ext cx="8229300" cy="150353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501898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Exercise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882990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Student task</a:t>
            </a:r>
          </a:p>
        </p:txBody>
      </p:sp>
      <p:sp>
        <p:nvSpPr>
          <p:cNvPr id="4" name="Textfeld 2">
            <a:extLst>
              <a:ext uri="{FF2B5EF4-FFF2-40B4-BE49-F238E27FC236}">
                <a16:creationId xmlns:a16="http://schemas.microsoft.com/office/drawing/2014/main" id="{B1AB2DE2-BFB4-403B-9976-58C0812A00AF}"/>
              </a:ext>
            </a:extLst>
          </p:cNvPr>
          <p:cNvSpPr txBox="1"/>
          <p:nvPr/>
        </p:nvSpPr>
        <p:spPr>
          <a:xfrm>
            <a:off x="461938" y="1605600"/>
            <a:ext cx="8229600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Task </a:t>
            </a:r>
            <a:r>
              <a:rPr lang="de-DE" sz="1800" b="1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kumimoji="0" lang="de-DE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: 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Implement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selection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kumimoji="0" lang="de-AT" sz="1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sort</a:t>
            </a:r>
            <a:r>
              <a:rPr kumimoji="0" lang="de-AT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5108843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91C8A42-093C-4664-A394-225128BAD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8400"/>
            <a:ext cx="8229300" cy="1144800"/>
          </a:xfrm>
        </p:spPr>
        <p:txBody>
          <a:bodyPr/>
          <a:lstStyle/>
          <a:p>
            <a:pPr algn="ctr"/>
            <a:r>
              <a:rPr lang="en-US" sz="4400" b="1" dirty="0">
                <a:latin typeface="Calibri" panose="020F0502020204030204" pitchFamily="34" charset="0"/>
                <a:cs typeface="Calibri" panose="020F0502020204030204" pitchFamily="34" charset="0"/>
              </a:rPr>
              <a:t>Merge sort</a:t>
            </a:r>
            <a:endParaRPr lang="de-AT" sz="4400"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spcBef>
                <a:spcPts val="640"/>
              </a:spcBef>
            </a:pPr>
            <a:endParaRPr lang="en-US" sz="18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14412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Merge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1775865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will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divide-and-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conquer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approach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de-AT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will break </a:t>
            </a:r>
            <a:r>
              <a:rPr lang="de-AT" sz="1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</a:t>
            </a:r>
            <a:r>
              <a:rPr lang="de-AT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into</a:t>
            </a:r>
            <a:r>
              <a:rPr lang="de-AT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several</a:t>
            </a:r>
            <a:r>
              <a:rPr lang="de-AT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smaller</a:t>
            </a:r>
            <a:r>
              <a:rPr lang="de-AT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subproblems</a:t>
            </a:r>
            <a:r>
              <a:rPr lang="de-AT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(divide)</a:t>
            </a: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will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solve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subproblems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easier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original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conquer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Finally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will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combine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subproblems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314450" lvl="2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Obtaining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original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previously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will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solve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subproblems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recursively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019963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Merge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5"/>
            <a:ext cx="8229300" cy="2815498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Divide-and-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conquer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sorting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de-AT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</a:t>
            </a:r>
            <a:r>
              <a:rPr lang="de-AT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length</a:t>
            </a:r>
            <a:r>
              <a:rPr lang="de-AT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0 </a:t>
            </a:r>
            <a:r>
              <a:rPr lang="de-AT" sz="1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lang="de-AT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1, </a:t>
            </a:r>
            <a:r>
              <a:rPr lang="de-AT" sz="1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already</a:t>
            </a:r>
            <a:r>
              <a:rPr lang="de-AT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sorted</a:t>
            </a:r>
            <a:r>
              <a:rPr lang="de-AT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(Base </a:t>
            </a:r>
            <a:r>
              <a:rPr lang="de-AT" sz="18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case</a:t>
            </a:r>
            <a:r>
              <a:rPr lang="de-AT" sz="18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more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element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Recursive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1314450" lvl="2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Split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into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lists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314450" lvl="2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sublist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857250" lvl="1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sorted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sublists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314450" lvl="2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Look at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element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sublist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71650" lvl="3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Move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smaller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end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314450" lvl="2" indent="-285750">
              <a:buFont typeface="Wingdings" panose="05000000000000000000" pitchFamily="2" charset="2"/>
              <a:buChar char="v"/>
            </a:pP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empty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just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copy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other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</a:t>
            </a:r>
            <a:endParaRPr lang="de-AT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849517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Merge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6"/>
            <a:ext cx="7981754" cy="477078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Divide-and-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conquer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split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half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until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sublists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have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only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 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element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1228287-3A0E-4AA4-9C5C-5724ABCBF176}"/>
              </a:ext>
            </a:extLst>
          </p:cNvPr>
          <p:cNvSpPr/>
          <p:nvPr/>
        </p:nvSpPr>
        <p:spPr>
          <a:xfrm>
            <a:off x="834887" y="2242268"/>
            <a:ext cx="6520069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643D5E2-E602-4991-8DEA-2B875FA4290C}"/>
              </a:ext>
            </a:extLst>
          </p:cNvPr>
          <p:cNvSpPr/>
          <p:nvPr/>
        </p:nvSpPr>
        <p:spPr>
          <a:xfrm>
            <a:off x="7664385" y="2279212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Divide</a:t>
            </a:r>
            <a:endParaRPr lang="de-AT" sz="1800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A3A702F-2A0C-4585-9249-F70E1208DCB4}"/>
              </a:ext>
            </a:extLst>
          </p:cNvPr>
          <p:cNvSpPr/>
          <p:nvPr/>
        </p:nvSpPr>
        <p:spPr>
          <a:xfrm>
            <a:off x="834887" y="3014870"/>
            <a:ext cx="3188473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9F49C3C-DE33-480D-88F6-8A584920F54C}"/>
              </a:ext>
            </a:extLst>
          </p:cNvPr>
          <p:cNvSpPr/>
          <p:nvPr/>
        </p:nvSpPr>
        <p:spPr>
          <a:xfrm>
            <a:off x="4166483" y="3014870"/>
            <a:ext cx="3188473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1FC5683-B503-4E38-A714-D958D82A3830}"/>
              </a:ext>
            </a:extLst>
          </p:cNvPr>
          <p:cNvSpPr/>
          <p:nvPr/>
        </p:nvSpPr>
        <p:spPr>
          <a:xfrm>
            <a:off x="834887" y="3787472"/>
            <a:ext cx="1518699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257DA9D-FEAF-4E60-A46D-82105C2B8928}"/>
              </a:ext>
            </a:extLst>
          </p:cNvPr>
          <p:cNvSpPr/>
          <p:nvPr/>
        </p:nvSpPr>
        <p:spPr>
          <a:xfrm>
            <a:off x="2504661" y="3787472"/>
            <a:ext cx="1518699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D271B8A-C895-43C2-9EE3-9F77041DC7AB}"/>
              </a:ext>
            </a:extLst>
          </p:cNvPr>
          <p:cNvSpPr/>
          <p:nvPr/>
        </p:nvSpPr>
        <p:spPr>
          <a:xfrm>
            <a:off x="4166483" y="3787472"/>
            <a:ext cx="1518699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9F84C66-186F-4035-8BDA-FB6045D43AA9}"/>
              </a:ext>
            </a:extLst>
          </p:cNvPr>
          <p:cNvSpPr/>
          <p:nvPr/>
        </p:nvSpPr>
        <p:spPr>
          <a:xfrm>
            <a:off x="5836257" y="3787472"/>
            <a:ext cx="1518699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F230310D-C53A-45B3-A4D9-1DD1CEB12E09}"/>
              </a:ext>
            </a:extLst>
          </p:cNvPr>
          <p:cNvSpPr/>
          <p:nvPr/>
        </p:nvSpPr>
        <p:spPr>
          <a:xfrm>
            <a:off x="7664384" y="3068743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Divide</a:t>
            </a:r>
            <a:endParaRPr lang="de-AT" sz="1800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488790D-8014-42F0-B0A8-4FC58F397C04}"/>
              </a:ext>
            </a:extLst>
          </p:cNvPr>
          <p:cNvSpPr/>
          <p:nvPr/>
        </p:nvSpPr>
        <p:spPr>
          <a:xfrm>
            <a:off x="7664384" y="3787472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Divide</a:t>
            </a:r>
            <a:endParaRPr lang="de-AT" sz="1800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EC890B66-293F-4A74-9788-3BC298FB91BC}"/>
              </a:ext>
            </a:extLst>
          </p:cNvPr>
          <p:cNvSpPr/>
          <p:nvPr/>
        </p:nvSpPr>
        <p:spPr>
          <a:xfrm>
            <a:off x="834886" y="4560074"/>
            <a:ext cx="667911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05C5229C-669B-4387-A5E0-362520219CEF}"/>
              </a:ext>
            </a:extLst>
          </p:cNvPr>
          <p:cNvSpPr/>
          <p:nvPr/>
        </p:nvSpPr>
        <p:spPr>
          <a:xfrm>
            <a:off x="1701579" y="4560074"/>
            <a:ext cx="667911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12E9E043-08C1-4C7A-BF86-5471AD8FCAE6}"/>
              </a:ext>
            </a:extLst>
          </p:cNvPr>
          <p:cNvSpPr/>
          <p:nvPr/>
        </p:nvSpPr>
        <p:spPr>
          <a:xfrm>
            <a:off x="2504659" y="4560074"/>
            <a:ext cx="667911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F6255160-FDE6-4C62-8AFC-E26D4B3B28B3}"/>
              </a:ext>
            </a:extLst>
          </p:cNvPr>
          <p:cNvSpPr/>
          <p:nvPr/>
        </p:nvSpPr>
        <p:spPr>
          <a:xfrm>
            <a:off x="3371352" y="4560074"/>
            <a:ext cx="667911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0C69FCC9-FA2C-403E-AE89-EA31BA4E8A3C}"/>
              </a:ext>
            </a:extLst>
          </p:cNvPr>
          <p:cNvSpPr/>
          <p:nvPr/>
        </p:nvSpPr>
        <p:spPr>
          <a:xfrm>
            <a:off x="4166485" y="4560074"/>
            <a:ext cx="667911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2D6314FB-C131-42D1-9F31-E050B2EB8158}"/>
              </a:ext>
            </a:extLst>
          </p:cNvPr>
          <p:cNvSpPr/>
          <p:nvPr/>
        </p:nvSpPr>
        <p:spPr>
          <a:xfrm>
            <a:off x="5033178" y="4560074"/>
            <a:ext cx="667911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5DC38D6-D68C-4661-8CCA-B68AD5E271CE}"/>
              </a:ext>
            </a:extLst>
          </p:cNvPr>
          <p:cNvSpPr/>
          <p:nvPr/>
        </p:nvSpPr>
        <p:spPr>
          <a:xfrm>
            <a:off x="5820352" y="4560074"/>
            <a:ext cx="667911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A4BB3472-2B66-4320-A524-FB6DA1B4F3A1}"/>
              </a:ext>
            </a:extLst>
          </p:cNvPr>
          <p:cNvSpPr/>
          <p:nvPr/>
        </p:nvSpPr>
        <p:spPr>
          <a:xfrm>
            <a:off x="6687045" y="4560074"/>
            <a:ext cx="667911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68707420-8BD1-4AEE-B7D8-21111A13D4F7}"/>
              </a:ext>
            </a:extLst>
          </p:cNvPr>
          <p:cNvSpPr/>
          <p:nvPr/>
        </p:nvSpPr>
        <p:spPr>
          <a:xfrm>
            <a:off x="834885" y="5332676"/>
            <a:ext cx="270347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8398E182-1B6B-42D0-8A8B-F928479A6ACA}"/>
              </a:ext>
            </a:extLst>
          </p:cNvPr>
          <p:cNvSpPr/>
          <p:nvPr/>
        </p:nvSpPr>
        <p:spPr>
          <a:xfrm>
            <a:off x="1232452" y="5332676"/>
            <a:ext cx="270346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770D986E-9C80-4711-BD55-B3FAA79DF5EF}"/>
              </a:ext>
            </a:extLst>
          </p:cNvPr>
          <p:cNvSpPr/>
          <p:nvPr/>
        </p:nvSpPr>
        <p:spPr>
          <a:xfrm>
            <a:off x="1701579" y="5332676"/>
            <a:ext cx="270347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91911188-CF6F-45D7-9F7D-FF0F9C009FED}"/>
              </a:ext>
            </a:extLst>
          </p:cNvPr>
          <p:cNvSpPr/>
          <p:nvPr/>
        </p:nvSpPr>
        <p:spPr>
          <a:xfrm>
            <a:off x="2099146" y="5332676"/>
            <a:ext cx="270346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81B04322-69B0-467F-93C2-2BF507B40FA1}"/>
              </a:ext>
            </a:extLst>
          </p:cNvPr>
          <p:cNvSpPr/>
          <p:nvPr/>
        </p:nvSpPr>
        <p:spPr>
          <a:xfrm>
            <a:off x="2504659" y="5332676"/>
            <a:ext cx="270347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C99C3911-74CF-4344-A25A-5CA863B9E7AF}"/>
              </a:ext>
            </a:extLst>
          </p:cNvPr>
          <p:cNvSpPr/>
          <p:nvPr/>
        </p:nvSpPr>
        <p:spPr>
          <a:xfrm>
            <a:off x="2902226" y="5332676"/>
            <a:ext cx="270346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41A26354-0538-491D-B08D-7ECB11EE4085}"/>
              </a:ext>
            </a:extLst>
          </p:cNvPr>
          <p:cNvSpPr/>
          <p:nvPr/>
        </p:nvSpPr>
        <p:spPr>
          <a:xfrm>
            <a:off x="3371352" y="5332676"/>
            <a:ext cx="270347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F4E7AE6A-65F8-4D90-A442-1288E5250578}"/>
              </a:ext>
            </a:extLst>
          </p:cNvPr>
          <p:cNvSpPr/>
          <p:nvPr/>
        </p:nvSpPr>
        <p:spPr>
          <a:xfrm>
            <a:off x="3768919" y="5332676"/>
            <a:ext cx="270346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0F43C8AD-396A-4310-B3AD-9D761C31C7EF}"/>
              </a:ext>
            </a:extLst>
          </p:cNvPr>
          <p:cNvSpPr/>
          <p:nvPr/>
        </p:nvSpPr>
        <p:spPr>
          <a:xfrm>
            <a:off x="4166483" y="5332676"/>
            <a:ext cx="270347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41DF740B-C424-4A9C-BFFA-DDC0BBF3A2CC}"/>
              </a:ext>
            </a:extLst>
          </p:cNvPr>
          <p:cNvSpPr/>
          <p:nvPr/>
        </p:nvSpPr>
        <p:spPr>
          <a:xfrm>
            <a:off x="4564050" y="5332676"/>
            <a:ext cx="270346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5A2ECCD3-A34D-4C78-ABFA-BFF7A5AA911C}"/>
              </a:ext>
            </a:extLst>
          </p:cNvPr>
          <p:cNvSpPr/>
          <p:nvPr/>
        </p:nvSpPr>
        <p:spPr>
          <a:xfrm>
            <a:off x="5033176" y="5332676"/>
            <a:ext cx="270347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AC8ABD35-0EFF-4BC4-8784-A07DA7A7C187}"/>
              </a:ext>
            </a:extLst>
          </p:cNvPr>
          <p:cNvSpPr/>
          <p:nvPr/>
        </p:nvSpPr>
        <p:spPr>
          <a:xfrm>
            <a:off x="5430743" y="5332676"/>
            <a:ext cx="270346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C8975165-337D-47E7-8F99-873A4C94E53F}"/>
              </a:ext>
            </a:extLst>
          </p:cNvPr>
          <p:cNvSpPr/>
          <p:nvPr/>
        </p:nvSpPr>
        <p:spPr>
          <a:xfrm>
            <a:off x="5836257" y="5332676"/>
            <a:ext cx="270347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E21ADBEC-88FA-4D12-A943-9A312711EE5F}"/>
              </a:ext>
            </a:extLst>
          </p:cNvPr>
          <p:cNvSpPr/>
          <p:nvPr/>
        </p:nvSpPr>
        <p:spPr>
          <a:xfrm>
            <a:off x="6233824" y="5332676"/>
            <a:ext cx="270346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1F87A791-63B8-4163-9397-6F76F955D5B6}"/>
              </a:ext>
            </a:extLst>
          </p:cNvPr>
          <p:cNvSpPr/>
          <p:nvPr/>
        </p:nvSpPr>
        <p:spPr>
          <a:xfrm>
            <a:off x="6687045" y="5332676"/>
            <a:ext cx="270347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23BD02C2-CF48-4AD9-9947-39DA47F35532}"/>
              </a:ext>
            </a:extLst>
          </p:cNvPr>
          <p:cNvSpPr/>
          <p:nvPr/>
        </p:nvSpPr>
        <p:spPr>
          <a:xfrm>
            <a:off x="7084612" y="5332676"/>
            <a:ext cx="270346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Freihandform: Form 40">
            <a:extLst>
              <a:ext uri="{FF2B5EF4-FFF2-40B4-BE49-F238E27FC236}">
                <a16:creationId xmlns:a16="http://schemas.microsoft.com/office/drawing/2014/main" id="{E67AA032-3AF2-4CBD-BBAF-1CC8EF794CBF}"/>
              </a:ext>
            </a:extLst>
          </p:cNvPr>
          <p:cNvSpPr/>
          <p:nvPr/>
        </p:nvSpPr>
        <p:spPr>
          <a:xfrm>
            <a:off x="908217" y="5809754"/>
            <a:ext cx="475310" cy="22528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42" name="Freihandform: Form 41">
            <a:extLst>
              <a:ext uri="{FF2B5EF4-FFF2-40B4-BE49-F238E27FC236}">
                <a16:creationId xmlns:a16="http://schemas.microsoft.com/office/drawing/2014/main" id="{126DB0C4-0E53-4325-937A-5C94955BC526}"/>
              </a:ext>
            </a:extLst>
          </p:cNvPr>
          <p:cNvSpPr/>
          <p:nvPr/>
        </p:nvSpPr>
        <p:spPr>
          <a:xfrm>
            <a:off x="1801857" y="5809754"/>
            <a:ext cx="475310" cy="22528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43" name="Freihandform: Form 42">
            <a:extLst>
              <a:ext uri="{FF2B5EF4-FFF2-40B4-BE49-F238E27FC236}">
                <a16:creationId xmlns:a16="http://schemas.microsoft.com/office/drawing/2014/main" id="{B94ECE3A-3EA8-48B1-AF73-2882FE2A0A85}"/>
              </a:ext>
            </a:extLst>
          </p:cNvPr>
          <p:cNvSpPr/>
          <p:nvPr/>
        </p:nvSpPr>
        <p:spPr>
          <a:xfrm>
            <a:off x="2595664" y="5809754"/>
            <a:ext cx="475310" cy="22528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44" name="Freihandform: Form 43">
            <a:extLst>
              <a:ext uri="{FF2B5EF4-FFF2-40B4-BE49-F238E27FC236}">
                <a16:creationId xmlns:a16="http://schemas.microsoft.com/office/drawing/2014/main" id="{6584435D-23FA-47CA-97E9-9D0743A05933}"/>
              </a:ext>
            </a:extLst>
          </p:cNvPr>
          <p:cNvSpPr/>
          <p:nvPr/>
        </p:nvSpPr>
        <p:spPr>
          <a:xfrm>
            <a:off x="3470967" y="5809754"/>
            <a:ext cx="475310" cy="22528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45" name="Freihandform: Form 44">
            <a:extLst>
              <a:ext uri="{FF2B5EF4-FFF2-40B4-BE49-F238E27FC236}">
                <a16:creationId xmlns:a16="http://schemas.microsoft.com/office/drawing/2014/main" id="{7110B907-8C70-47D7-9D91-8EC2205B209A}"/>
              </a:ext>
            </a:extLst>
          </p:cNvPr>
          <p:cNvSpPr/>
          <p:nvPr/>
        </p:nvSpPr>
        <p:spPr>
          <a:xfrm>
            <a:off x="4255721" y="5809754"/>
            <a:ext cx="475310" cy="22528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46" name="Freihandform: Form 45">
            <a:extLst>
              <a:ext uri="{FF2B5EF4-FFF2-40B4-BE49-F238E27FC236}">
                <a16:creationId xmlns:a16="http://schemas.microsoft.com/office/drawing/2014/main" id="{739E0031-5F08-4C9E-8CDF-6EA9D8B29807}"/>
              </a:ext>
            </a:extLst>
          </p:cNvPr>
          <p:cNvSpPr/>
          <p:nvPr/>
        </p:nvSpPr>
        <p:spPr>
          <a:xfrm>
            <a:off x="5133452" y="5809754"/>
            <a:ext cx="475310" cy="22528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47" name="Freihandform: Form 46">
            <a:extLst>
              <a:ext uri="{FF2B5EF4-FFF2-40B4-BE49-F238E27FC236}">
                <a16:creationId xmlns:a16="http://schemas.microsoft.com/office/drawing/2014/main" id="{838326EE-A7FF-461C-9529-62BA38B9C48F}"/>
              </a:ext>
            </a:extLst>
          </p:cNvPr>
          <p:cNvSpPr/>
          <p:nvPr/>
        </p:nvSpPr>
        <p:spPr>
          <a:xfrm>
            <a:off x="5937420" y="5809754"/>
            <a:ext cx="475310" cy="22528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48" name="Freihandform: Form 47">
            <a:extLst>
              <a:ext uri="{FF2B5EF4-FFF2-40B4-BE49-F238E27FC236}">
                <a16:creationId xmlns:a16="http://schemas.microsoft.com/office/drawing/2014/main" id="{884B5ED7-00EE-45E7-BEA3-B84E4D695F63}"/>
              </a:ext>
            </a:extLst>
          </p:cNvPr>
          <p:cNvSpPr/>
          <p:nvPr/>
        </p:nvSpPr>
        <p:spPr>
          <a:xfrm>
            <a:off x="6807199" y="5809165"/>
            <a:ext cx="475310" cy="225286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C2C37C12-CC23-4E36-BB46-6056A977F660}"/>
              </a:ext>
            </a:extLst>
          </p:cNvPr>
          <p:cNvSpPr/>
          <p:nvPr/>
        </p:nvSpPr>
        <p:spPr>
          <a:xfrm>
            <a:off x="7664383" y="4560074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Divide</a:t>
            </a:r>
            <a:endParaRPr lang="de-AT" sz="1800" dirty="0"/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D26C1E49-1314-4DD4-A1C5-9FADB8F19676}"/>
              </a:ext>
            </a:extLst>
          </p:cNvPr>
          <p:cNvSpPr/>
          <p:nvPr/>
        </p:nvSpPr>
        <p:spPr>
          <a:xfrm>
            <a:off x="7579537" y="5332676"/>
            <a:ext cx="9909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Conquer</a:t>
            </a:r>
            <a:endParaRPr lang="de-AT" sz="1800" dirty="0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115CFBEA-5B9C-46B5-8183-67DD3D566B39}"/>
              </a:ext>
            </a:extLst>
          </p:cNvPr>
          <p:cNvSpPr/>
          <p:nvPr/>
        </p:nvSpPr>
        <p:spPr>
          <a:xfrm>
            <a:off x="768768" y="6065393"/>
            <a:ext cx="801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</a:t>
            </a:r>
            <a:endParaRPr lang="de-AT" sz="1800" dirty="0"/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B201F2E0-0054-4F7C-9D21-0B6107913692}"/>
              </a:ext>
            </a:extLst>
          </p:cNvPr>
          <p:cNvSpPr/>
          <p:nvPr/>
        </p:nvSpPr>
        <p:spPr>
          <a:xfrm>
            <a:off x="1634622" y="6065393"/>
            <a:ext cx="801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</a:t>
            </a:r>
            <a:endParaRPr lang="de-AT" sz="1800" dirty="0"/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5B7001DC-985D-4A73-A799-0EFC7A484214}"/>
              </a:ext>
            </a:extLst>
          </p:cNvPr>
          <p:cNvSpPr/>
          <p:nvPr/>
        </p:nvSpPr>
        <p:spPr>
          <a:xfrm>
            <a:off x="2504451" y="6081629"/>
            <a:ext cx="801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</a:t>
            </a:r>
            <a:endParaRPr lang="de-AT" sz="1800" dirty="0"/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F7290682-CC9F-4D8C-BA18-985EF60D8394}"/>
              </a:ext>
            </a:extLst>
          </p:cNvPr>
          <p:cNvSpPr/>
          <p:nvPr/>
        </p:nvSpPr>
        <p:spPr>
          <a:xfrm>
            <a:off x="3306274" y="6081629"/>
            <a:ext cx="801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</a:t>
            </a:r>
            <a:endParaRPr lang="de-AT" sz="1800" dirty="0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9D11DD54-0627-4C9B-BB87-6EB7B0A9B80B}"/>
              </a:ext>
            </a:extLst>
          </p:cNvPr>
          <p:cNvSpPr/>
          <p:nvPr/>
        </p:nvSpPr>
        <p:spPr>
          <a:xfrm>
            <a:off x="4140121" y="6089581"/>
            <a:ext cx="801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</a:t>
            </a:r>
            <a:endParaRPr lang="de-AT" sz="1800" dirty="0"/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13E688A7-182A-443A-98DE-3A04DB015C3D}"/>
              </a:ext>
            </a:extLst>
          </p:cNvPr>
          <p:cNvSpPr/>
          <p:nvPr/>
        </p:nvSpPr>
        <p:spPr>
          <a:xfrm>
            <a:off x="5010578" y="6089581"/>
            <a:ext cx="801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</a:t>
            </a:r>
            <a:endParaRPr lang="de-AT" sz="1800" dirty="0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A7C0F70D-7FC6-46C1-BF29-90AF25663F23}"/>
              </a:ext>
            </a:extLst>
          </p:cNvPr>
          <p:cNvSpPr/>
          <p:nvPr/>
        </p:nvSpPr>
        <p:spPr>
          <a:xfrm>
            <a:off x="5820352" y="6089581"/>
            <a:ext cx="801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</a:t>
            </a:r>
            <a:endParaRPr lang="de-AT" sz="1800" dirty="0"/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CFE26000-8BDA-4E5C-B08D-FE8A7D6B6901}"/>
              </a:ext>
            </a:extLst>
          </p:cNvPr>
          <p:cNvSpPr/>
          <p:nvPr/>
        </p:nvSpPr>
        <p:spPr>
          <a:xfrm>
            <a:off x="6595606" y="6081629"/>
            <a:ext cx="801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</a:t>
            </a:r>
            <a:endParaRPr lang="de-AT" sz="1800" dirty="0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D0FB97A9-4B2F-435C-A39E-B3F334C4D8C9}"/>
              </a:ext>
            </a:extLst>
          </p:cNvPr>
          <p:cNvSpPr/>
          <p:nvPr/>
        </p:nvSpPr>
        <p:spPr>
          <a:xfrm>
            <a:off x="7664383" y="5332676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Divide</a:t>
            </a:r>
            <a:endParaRPr lang="de-AT" sz="1800" dirty="0"/>
          </a:p>
        </p:txBody>
      </p:sp>
    </p:spTree>
    <p:extLst>
      <p:ext uri="{BB962C8B-B14F-4D97-AF65-F5344CB8AC3E}">
        <p14:creationId xmlns:p14="http://schemas.microsoft.com/office/powerpoint/2010/main" val="579240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/>
      <p:bldP spid="14" grpId="0"/>
      <p:bldP spid="15" grpId="0" animBg="1"/>
      <p:bldP spid="16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59" grpId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Merge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6"/>
            <a:ext cx="7981754" cy="477078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Divide-and-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conquer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1228287-3A0E-4AA4-9C5C-5724ABCBF176}"/>
              </a:ext>
            </a:extLst>
          </p:cNvPr>
          <p:cNvSpPr/>
          <p:nvPr/>
        </p:nvSpPr>
        <p:spPr>
          <a:xfrm>
            <a:off x="834887" y="2242268"/>
            <a:ext cx="6520069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A3A702F-2A0C-4585-9249-F70E1208DCB4}"/>
              </a:ext>
            </a:extLst>
          </p:cNvPr>
          <p:cNvSpPr/>
          <p:nvPr/>
        </p:nvSpPr>
        <p:spPr>
          <a:xfrm>
            <a:off x="834887" y="3014870"/>
            <a:ext cx="3188473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9F49C3C-DE33-480D-88F6-8A584920F54C}"/>
              </a:ext>
            </a:extLst>
          </p:cNvPr>
          <p:cNvSpPr/>
          <p:nvPr/>
        </p:nvSpPr>
        <p:spPr>
          <a:xfrm>
            <a:off x="4166483" y="3014870"/>
            <a:ext cx="3188473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1FC5683-B503-4E38-A714-D958D82A3830}"/>
              </a:ext>
            </a:extLst>
          </p:cNvPr>
          <p:cNvSpPr/>
          <p:nvPr/>
        </p:nvSpPr>
        <p:spPr>
          <a:xfrm>
            <a:off x="834887" y="3787472"/>
            <a:ext cx="1518699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257DA9D-FEAF-4E60-A46D-82105C2B8928}"/>
              </a:ext>
            </a:extLst>
          </p:cNvPr>
          <p:cNvSpPr/>
          <p:nvPr/>
        </p:nvSpPr>
        <p:spPr>
          <a:xfrm>
            <a:off x="2504661" y="3787472"/>
            <a:ext cx="1518699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D271B8A-C895-43C2-9EE3-9F77041DC7AB}"/>
              </a:ext>
            </a:extLst>
          </p:cNvPr>
          <p:cNvSpPr/>
          <p:nvPr/>
        </p:nvSpPr>
        <p:spPr>
          <a:xfrm>
            <a:off x="4166483" y="3787472"/>
            <a:ext cx="1518699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9F84C66-186F-4035-8BDA-FB6045D43AA9}"/>
              </a:ext>
            </a:extLst>
          </p:cNvPr>
          <p:cNvSpPr/>
          <p:nvPr/>
        </p:nvSpPr>
        <p:spPr>
          <a:xfrm>
            <a:off x="5836257" y="3787472"/>
            <a:ext cx="1518699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EC890B66-293F-4A74-9788-3BC298FB91BC}"/>
              </a:ext>
            </a:extLst>
          </p:cNvPr>
          <p:cNvSpPr/>
          <p:nvPr/>
        </p:nvSpPr>
        <p:spPr>
          <a:xfrm>
            <a:off x="834886" y="4560074"/>
            <a:ext cx="667911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05C5229C-669B-4387-A5E0-362520219CEF}"/>
              </a:ext>
            </a:extLst>
          </p:cNvPr>
          <p:cNvSpPr/>
          <p:nvPr/>
        </p:nvSpPr>
        <p:spPr>
          <a:xfrm>
            <a:off x="1701579" y="4560074"/>
            <a:ext cx="667911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12E9E043-08C1-4C7A-BF86-5471AD8FCAE6}"/>
              </a:ext>
            </a:extLst>
          </p:cNvPr>
          <p:cNvSpPr/>
          <p:nvPr/>
        </p:nvSpPr>
        <p:spPr>
          <a:xfrm>
            <a:off x="2504659" y="4560074"/>
            <a:ext cx="667911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F6255160-FDE6-4C62-8AFC-E26D4B3B28B3}"/>
              </a:ext>
            </a:extLst>
          </p:cNvPr>
          <p:cNvSpPr/>
          <p:nvPr/>
        </p:nvSpPr>
        <p:spPr>
          <a:xfrm>
            <a:off x="3371352" y="4560074"/>
            <a:ext cx="667911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0C69FCC9-FA2C-403E-AE89-EA31BA4E8A3C}"/>
              </a:ext>
            </a:extLst>
          </p:cNvPr>
          <p:cNvSpPr/>
          <p:nvPr/>
        </p:nvSpPr>
        <p:spPr>
          <a:xfrm>
            <a:off x="4166485" y="4560074"/>
            <a:ext cx="667911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2D6314FB-C131-42D1-9F31-E050B2EB8158}"/>
              </a:ext>
            </a:extLst>
          </p:cNvPr>
          <p:cNvSpPr/>
          <p:nvPr/>
        </p:nvSpPr>
        <p:spPr>
          <a:xfrm>
            <a:off x="5033178" y="4560074"/>
            <a:ext cx="667911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95DC38D6-D68C-4661-8CCA-B68AD5E271CE}"/>
              </a:ext>
            </a:extLst>
          </p:cNvPr>
          <p:cNvSpPr/>
          <p:nvPr/>
        </p:nvSpPr>
        <p:spPr>
          <a:xfrm>
            <a:off x="5820352" y="4560074"/>
            <a:ext cx="667911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A4BB3472-2B66-4320-A524-FB6DA1B4F3A1}"/>
              </a:ext>
            </a:extLst>
          </p:cNvPr>
          <p:cNvSpPr/>
          <p:nvPr/>
        </p:nvSpPr>
        <p:spPr>
          <a:xfrm>
            <a:off x="6687045" y="4560074"/>
            <a:ext cx="667911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Freihandform: Form 40">
            <a:extLst>
              <a:ext uri="{FF2B5EF4-FFF2-40B4-BE49-F238E27FC236}">
                <a16:creationId xmlns:a16="http://schemas.microsoft.com/office/drawing/2014/main" id="{E67AA032-3AF2-4CBD-BBAF-1CC8EF794CBF}"/>
              </a:ext>
            </a:extLst>
          </p:cNvPr>
          <p:cNvSpPr/>
          <p:nvPr/>
        </p:nvSpPr>
        <p:spPr>
          <a:xfrm>
            <a:off x="1168840" y="5052327"/>
            <a:ext cx="906449" cy="369331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115CFBEA-5B9C-46B5-8183-67DD3D566B39}"/>
              </a:ext>
            </a:extLst>
          </p:cNvPr>
          <p:cNvSpPr/>
          <p:nvPr/>
        </p:nvSpPr>
        <p:spPr>
          <a:xfrm>
            <a:off x="1193324" y="5470381"/>
            <a:ext cx="801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</a:t>
            </a:r>
            <a:endParaRPr lang="de-AT" sz="1800" dirty="0"/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5B7001DC-985D-4A73-A799-0EFC7A484214}"/>
              </a:ext>
            </a:extLst>
          </p:cNvPr>
          <p:cNvSpPr/>
          <p:nvPr/>
        </p:nvSpPr>
        <p:spPr>
          <a:xfrm>
            <a:off x="2863098" y="5470381"/>
            <a:ext cx="801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</a:t>
            </a:r>
            <a:endParaRPr lang="de-AT" sz="1800" dirty="0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9D11DD54-0627-4C9B-BB87-6EB7B0A9B80B}"/>
              </a:ext>
            </a:extLst>
          </p:cNvPr>
          <p:cNvSpPr/>
          <p:nvPr/>
        </p:nvSpPr>
        <p:spPr>
          <a:xfrm>
            <a:off x="4545688" y="5475471"/>
            <a:ext cx="801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</a:t>
            </a:r>
            <a:endParaRPr lang="de-AT" sz="1800" dirty="0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A7C0F70D-7FC6-46C1-BF29-90AF25663F23}"/>
              </a:ext>
            </a:extLst>
          </p:cNvPr>
          <p:cNvSpPr/>
          <p:nvPr/>
        </p:nvSpPr>
        <p:spPr>
          <a:xfrm>
            <a:off x="6186015" y="5470381"/>
            <a:ext cx="801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</a:t>
            </a:r>
            <a:endParaRPr lang="de-AT" sz="1800" dirty="0"/>
          </a:p>
        </p:txBody>
      </p:sp>
      <p:sp>
        <p:nvSpPr>
          <p:cNvPr id="60" name="Freihandform: Form 59">
            <a:extLst>
              <a:ext uri="{FF2B5EF4-FFF2-40B4-BE49-F238E27FC236}">
                <a16:creationId xmlns:a16="http://schemas.microsoft.com/office/drawing/2014/main" id="{EACC537F-C290-4A9C-B62E-7522671C9048}"/>
              </a:ext>
            </a:extLst>
          </p:cNvPr>
          <p:cNvSpPr/>
          <p:nvPr/>
        </p:nvSpPr>
        <p:spPr>
          <a:xfrm>
            <a:off x="2853049" y="5045297"/>
            <a:ext cx="906449" cy="369331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61" name="Freihandform: Form 60">
            <a:extLst>
              <a:ext uri="{FF2B5EF4-FFF2-40B4-BE49-F238E27FC236}">
                <a16:creationId xmlns:a16="http://schemas.microsoft.com/office/drawing/2014/main" id="{07C28BA0-2909-489C-8F1D-00559D2B4CB2}"/>
              </a:ext>
            </a:extLst>
          </p:cNvPr>
          <p:cNvSpPr/>
          <p:nvPr/>
        </p:nvSpPr>
        <p:spPr>
          <a:xfrm>
            <a:off x="4493376" y="5052327"/>
            <a:ext cx="906449" cy="369331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62" name="Freihandform: Form 61">
            <a:extLst>
              <a:ext uri="{FF2B5EF4-FFF2-40B4-BE49-F238E27FC236}">
                <a16:creationId xmlns:a16="http://schemas.microsoft.com/office/drawing/2014/main" id="{B0E1D4FF-E780-4169-9B08-51DB58FF77AF}"/>
              </a:ext>
            </a:extLst>
          </p:cNvPr>
          <p:cNvSpPr/>
          <p:nvPr/>
        </p:nvSpPr>
        <p:spPr>
          <a:xfrm>
            <a:off x="6133703" y="5052327"/>
            <a:ext cx="906449" cy="369331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67150484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Merge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6"/>
            <a:ext cx="7981754" cy="477078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Divide-and-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conquer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1228287-3A0E-4AA4-9C5C-5724ABCBF176}"/>
              </a:ext>
            </a:extLst>
          </p:cNvPr>
          <p:cNvSpPr/>
          <p:nvPr/>
        </p:nvSpPr>
        <p:spPr>
          <a:xfrm>
            <a:off x="834887" y="2242268"/>
            <a:ext cx="6520069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A3A702F-2A0C-4585-9249-F70E1208DCB4}"/>
              </a:ext>
            </a:extLst>
          </p:cNvPr>
          <p:cNvSpPr/>
          <p:nvPr/>
        </p:nvSpPr>
        <p:spPr>
          <a:xfrm>
            <a:off x="834887" y="3014870"/>
            <a:ext cx="3188473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9F49C3C-DE33-480D-88F6-8A584920F54C}"/>
              </a:ext>
            </a:extLst>
          </p:cNvPr>
          <p:cNvSpPr/>
          <p:nvPr/>
        </p:nvSpPr>
        <p:spPr>
          <a:xfrm>
            <a:off x="4166483" y="3014870"/>
            <a:ext cx="3188473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D1FC5683-B503-4E38-A714-D958D82A3830}"/>
              </a:ext>
            </a:extLst>
          </p:cNvPr>
          <p:cNvSpPr/>
          <p:nvPr/>
        </p:nvSpPr>
        <p:spPr>
          <a:xfrm>
            <a:off x="834887" y="3787472"/>
            <a:ext cx="1518699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257DA9D-FEAF-4E60-A46D-82105C2B8928}"/>
              </a:ext>
            </a:extLst>
          </p:cNvPr>
          <p:cNvSpPr/>
          <p:nvPr/>
        </p:nvSpPr>
        <p:spPr>
          <a:xfrm>
            <a:off x="2504661" y="3787472"/>
            <a:ext cx="1518699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ED271B8A-C895-43C2-9EE3-9F77041DC7AB}"/>
              </a:ext>
            </a:extLst>
          </p:cNvPr>
          <p:cNvSpPr/>
          <p:nvPr/>
        </p:nvSpPr>
        <p:spPr>
          <a:xfrm>
            <a:off x="4166483" y="3787472"/>
            <a:ext cx="1518699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9F84C66-186F-4035-8BDA-FB6045D43AA9}"/>
              </a:ext>
            </a:extLst>
          </p:cNvPr>
          <p:cNvSpPr/>
          <p:nvPr/>
        </p:nvSpPr>
        <p:spPr>
          <a:xfrm>
            <a:off x="5836257" y="3787472"/>
            <a:ext cx="1518699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Freihandform: Form 40">
            <a:extLst>
              <a:ext uri="{FF2B5EF4-FFF2-40B4-BE49-F238E27FC236}">
                <a16:creationId xmlns:a16="http://schemas.microsoft.com/office/drawing/2014/main" id="{E67AA032-3AF2-4CBD-BBAF-1CC8EF794CBF}"/>
              </a:ext>
            </a:extLst>
          </p:cNvPr>
          <p:cNvSpPr/>
          <p:nvPr/>
        </p:nvSpPr>
        <p:spPr>
          <a:xfrm>
            <a:off x="1598212" y="4285592"/>
            <a:ext cx="1836751" cy="412187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115CFBEA-5B9C-46B5-8183-67DD3D566B39}"/>
              </a:ext>
            </a:extLst>
          </p:cNvPr>
          <p:cNvSpPr/>
          <p:nvPr/>
        </p:nvSpPr>
        <p:spPr>
          <a:xfrm>
            <a:off x="2028211" y="4734607"/>
            <a:ext cx="801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</a:t>
            </a:r>
            <a:endParaRPr lang="de-AT" sz="1800" dirty="0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A7C0F70D-7FC6-46C1-BF29-90AF25663F23}"/>
              </a:ext>
            </a:extLst>
          </p:cNvPr>
          <p:cNvSpPr/>
          <p:nvPr/>
        </p:nvSpPr>
        <p:spPr>
          <a:xfrm>
            <a:off x="5359807" y="4734607"/>
            <a:ext cx="801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</a:t>
            </a:r>
            <a:endParaRPr lang="de-AT" sz="1800" dirty="0"/>
          </a:p>
        </p:txBody>
      </p:sp>
      <p:sp>
        <p:nvSpPr>
          <p:cNvPr id="27" name="Freihandform: Form 26">
            <a:extLst>
              <a:ext uri="{FF2B5EF4-FFF2-40B4-BE49-F238E27FC236}">
                <a16:creationId xmlns:a16="http://schemas.microsoft.com/office/drawing/2014/main" id="{A943F621-F54C-4A09-82DE-2466CBBDD90A}"/>
              </a:ext>
            </a:extLst>
          </p:cNvPr>
          <p:cNvSpPr/>
          <p:nvPr/>
        </p:nvSpPr>
        <p:spPr>
          <a:xfrm>
            <a:off x="4909929" y="4279725"/>
            <a:ext cx="1836751" cy="412187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87849476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Merge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6"/>
            <a:ext cx="7981754" cy="477078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Divide-and-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conquer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1228287-3A0E-4AA4-9C5C-5724ABCBF176}"/>
              </a:ext>
            </a:extLst>
          </p:cNvPr>
          <p:cNvSpPr/>
          <p:nvPr/>
        </p:nvSpPr>
        <p:spPr>
          <a:xfrm>
            <a:off x="834887" y="2242268"/>
            <a:ext cx="6520069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A3A702F-2A0C-4585-9249-F70E1208DCB4}"/>
              </a:ext>
            </a:extLst>
          </p:cNvPr>
          <p:cNvSpPr/>
          <p:nvPr/>
        </p:nvSpPr>
        <p:spPr>
          <a:xfrm>
            <a:off x="834887" y="3014870"/>
            <a:ext cx="3188473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9F49C3C-DE33-480D-88F6-8A584920F54C}"/>
              </a:ext>
            </a:extLst>
          </p:cNvPr>
          <p:cNvSpPr/>
          <p:nvPr/>
        </p:nvSpPr>
        <p:spPr>
          <a:xfrm>
            <a:off x="4166483" y="3014870"/>
            <a:ext cx="3188473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Freihandform: Form 40">
            <a:extLst>
              <a:ext uri="{FF2B5EF4-FFF2-40B4-BE49-F238E27FC236}">
                <a16:creationId xmlns:a16="http://schemas.microsoft.com/office/drawing/2014/main" id="{E67AA032-3AF2-4CBD-BBAF-1CC8EF794CBF}"/>
              </a:ext>
            </a:extLst>
          </p:cNvPr>
          <p:cNvSpPr/>
          <p:nvPr/>
        </p:nvSpPr>
        <p:spPr>
          <a:xfrm>
            <a:off x="2429122" y="3494997"/>
            <a:ext cx="3407135" cy="643658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115CFBEA-5B9C-46B5-8183-67DD3D566B39}"/>
              </a:ext>
            </a:extLst>
          </p:cNvPr>
          <p:cNvSpPr/>
          <p:nvPr/>
        </p:nvSpPr>
        <p:spPr>
          <a:xfrm>
            <a:off x="3765571" y="4267599"/>
            <a:ext cx="801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Merge</a:t>
            </a:r>
            <a:endParaRPr lang="de-AT" sz="1800" dirty="0"/>
          </a:p>
        </p:txBody>
      </p:sp>
    </p:spTree>
    <p:extLst>
      <p:ext uri="{BB962C8B-B14F-4D97-AF65-F5344CB8AC3E}">
        <p14:creationId xmlns:p14="http://schemas.microsoft.com/office/powerpoint/2010/main" val="264681189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Merge sort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9254B13C-19D7-4861-A881-548D1903C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53136"/>
            <a:ext cx="7981754" cy="477078"/>
          </a:xfrm>
        </p:spPr>
        <p:txBody>
          <a:bodyPr/>
          <a:lstStyle/>
          <a:p>
            <a:pPr marL="400050" indent="-285750">
              <a:buFont typeface="Wingdings" panose="05000000000000000000" pitchFamily="2" charset="2"/>
              <a:buChar char="v"/>
            </a:pP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Divide-and-</a:t>
            </a:r>
            <a:r>
              <a:rPr lang="de-AT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conquer</a:t>
            </a:r>
            <a:r>
              <a:rPr lang="de-AT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1228287-3A0E-4AA4-9C5C-5724ABCBF176}"/>
              </a:ext>
            </a:extLst>
          </p:cNvPr>
          <p:cNvSpPr/>
          <p:nvPr/>
        </p:nvSpPr>
        <p:spPr>
          <a:xfrm>
            <a:off x="834887" y="2242268"/>
            <a:ext cx="6520069" cy="477078"/>
          </a:xfrm>
          <a:prstGeom prst="rect">
            <a:avLst/>
          </a:prstGeom>
          <a:solidFill>
            <a:srgbClr val="BFBFB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de-AT" sz="1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Sorted</a:t>
            </a:r>
            <a:endParaRPr lang="de-AT" sz="1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8027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Merge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967863"/>
              </p:ext>
            </p:extLst>
          </p:nvPr>
        </p:nvGraphicFramePr>
        <p:xfrm>
          <a:off x="1523850" y="1730973"/>
          <a:ext cx="6096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A45AA83B-FE75-4DF4-B073-9D69CAE1E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535207"/>
              </p:ext>
            </p:extLst>
          </p:nvPr>
        </p:nvGraphicFramePr>
        <p:xfrm>
          <a:off x="948124" y="2414386"/>
          <a:ext cx="3048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33498643-FECB-41E1-9AEA-DCC757B793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7140981"/>
              </p:ext>
            </p:extLst>
          </p:nvPr>
        </p:nvGraphicFramePr>
        <p:xfrm>
          <a:off x="5203537" y="2420046"/>
          <a:ext cx="3048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A088DD44-7F30-462B-B882-ADE98D2986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694781"/>
              </p:ext>
            </p:extLst>
          </p:nvPr>
        </p:nvGraphicFramePr>
        <p:xfrm>
          <a:off x="716502" y="3103624"/>
          <a:ext cx="1016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60627CB3-7D66-4822-A753-9682A6588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575492"/>
              </p:ext>
            </p:extLst>
          </p:nvPr>
        </p:nvGraphicFramePr>
        <p:xfrm>
          <a:off x="2169974" y="3103624"/>
          <a:ext cx="2032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14" name="Tabelle 13">
            <a:extLst>
              <a:ext uri="{FF2B5EF4-FFF2-40B4-BE49-F238E27FC236}">
                <a16:creationId xmlns:a16="http://schemas.microsoft.com/office/drawing/2014/main" id="{D332C1DB-5563-4748-A8F2-952E53A762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198703"/>
              </p:ext>
            </p:extLst>
          </p:nvPr>
        </p:nvGraphicFramePr>
        <p:xfrm>
          <a:off x="1964124" y="3784743"/>
          <a:ext cx="1016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15" name="Tabelle 14">
            <a:extLst>
              <a:ext uri="{FF2B5EF4-FFF2-40B4-BE49-F238E27FC236}">
                <a16:creationId xmlns:a16="http://schemas.microsoft.com/office/drawing/2014/main" id="{3D5B8920-2BE5-44C0-B1AE-AC36FB5888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810000"/>
              </p:ext>
            </p:extLst>
          </p:nvPr>
        </p:nvGraphicFramePr>
        <p:xfrm>
          <a:off x="3402427" y="3784743"/>
          <a:ext cx="1016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16" name="Tabelle 15">
            <a:extLst>
              <a:ext uri="{FF2B5EF4-FFF2-40B4-BE49-F238E27FC236}">
                <a16:creationId xmlns:a16="http://schemas.microsoft.com/office/drawing/2014/main" id="{4C5EE6B0-AE9F-438A-874A-141034D093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89812"/>
              </p:ext>
            </p:extLst>
          </p:nvPr>
        </p:nvGraphicFramePr>
        <p:xfrm>
          <a:off x="5060121" y="3061241"/>
          <a:ext cx="1016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17" name="Tabelle 16">
            <a:extLst>
              <a:ext uri="{FF2B5EF4-FFF2-40B4-BE49-F238E27FC236}">
                <a16:creationId xmlns:a16="http://schemas.microsoft.com/office/drawing/2014/main" id="{48565FDF-9E36-4CB6-A4B5-DD847474B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20056"/>
              </p:ext>
            </p:extLst>
          </p:nvPr>
        </p:nvGraphicFramePr>
        <p:xfrm>
          <a:off x="6410226" y="3061241"/>
          <a:ext cx="2032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18" name="Tabelle 17">
            <a:extLst>
              <a:ext uri="{FF2B5EF4-FFF2-40B4-BE49-F238E27FC236}">
                <a16:creationId xmlns:a16="http://schemas.microsoft.com/office/drawing/2014/main" id="{7F3CD9E1-4F5A-4237-84C6-E14ED3CD8D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300684"/>
              </p:ext>
            </p:extLst>
          </p:nvPr>
        </p:nvGraphicFramePr>
        <p:xfrm>
          <a:off x="6219535" y="3696275"/>
          <a:ext cx="1016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19" name="Tabelle 18">
            <a:extLst>
              <a:ext uri="{FF2B5EF4-FFF2-40B4-BE49-F238E27FC236}">
                <a16:creationId xmlns:a16="http://schemas.microsoft.com/office/drawing/2014/main" id="{F83DEA6B-EED3-4BE6-819A-322E9A820E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662871"/>
              </p:ext>
            </p:extLst>
          </p:nvPr>
        </p:nvGraphicFramePr>
        <p:xfrm>
          <a:off x="7743537" y="3696275"/>
          <a:ext cx="1016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8736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Merge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4525690"/>
              </p:ext>
            </p:extLst>
          </p:nvPr>
        </p:nvGraphicFramePr>
        <p:xfrm>
          <a:off x="1523850" y="1730973"/>
          <a:ext cx="6096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A45AA83B-FE75-4DF4-B073-9D69CAE1E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435672"/>
              </p:ext>
            </p:extLst>
          </p:nvPr>
        </p:nvGraphicFramePr>
        <p:xfrm>
          <a:off x="948124" y="2414386"/>
          <a:ext cx="3048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33498643-FECB-41E1-9AEA-DCC757B793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224840"/>
              </p:ext>
            </p:extLst>
          </p:nvPr>
        </p:nvGraphicFramePr>
        <p:xfrm>
          <a:off x="5203537" y="2420046"/>
          <a:ext cx="3048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A088DD44-7F30-462B-B882-ADE98D298693}"/>
              </a:ext>
            </a:extLst>
          </p:cNvPr>
          <p:cNvGraphicFramePr>
            <a:graphicFrameLocks noGrp="1"/>
          </p:cNvGraphicFramePr>
          <p:nvPr/>
        </p:nvGraphicFramePr>
        <p:xfrm>
          <a:off x="716502" y="3103624"/>
          <a:ext cx="1016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60627CB3-7D66-4822-A753-9682A6588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565030"/>
              </p:ext>
            </p:extLst>
          </p:nvPr>
        </p:nvGraphicFramePr>
        <p:xfrm>
          <a:off x="2169974" y="3103624"/>
          <a:ext cx="2032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14" name="Tabelle 13">
            <a:extLst>
              <a:ext uri="{FF2B5EF4-FFF2-40B4-BE49-F238E27FC236}">
                <a16:creationId xmlns:a16="http://schemas.microsoft.com/office/drawing/2014/main" id="{D332C1DB-5563-4748-A8F2-952E53A76270}"/>
              </a:ext>
            </a:extLst>
          </p:cNvPr>
          <p:cNvGraphicFramePr>
            <a:graphicFrameLocks noGrp="1"/>
          </p:cNvGraphicFramePr>
          <p:nvPr/>
        </p:nvGraphicFramePr>
        <p:xfrm>
          <a:off x="1964124" y="3784743"/>
          <a:ext cx="1016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15" name="Tabelle 14">
            <a:extLst>
              <a:ext uri="{FF2B5EF4-FFF2-40B4-BE49-F238E27FC236}">
                <a16:creationId xmlns:a16="http://schemas.microsoft.com/office/drawing/2014/main" id="{3D5B8920-2BE5-44C0-B1AE-AC36FB588852}"/>
              </a:ext>
            </a:extLst>
          </p:cNvPr>
          <p:cNvGraphicFramePr>
            <a:graphicFrameLocks noGrp="1"/>
          </p:cNvGraphicFramePr>
          <p:nvPr/>
        </p:nvGraphicFramePr>
        <p:xfrm>
          <a:off x="3402427" y="3784743"/>
          <a:ext cx="1016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16" name="Tabelle 15">
            <a:extLst>
              <a:ext uri="{FF2B5EF4-FFF2-40B4-BE49-F238E27FC236}">
                <a16:creationId xmlns:a16="http://schemas.microsoft.com/office/drawing/2014/main" id="{4C5EE6B0-AE9F-438A-874A-141034D093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05207"/>
              </p:ext>
            </p:extLst>
          </p:nvPr>
        </p:nvGraphicFramePr>
        <p:xfrm>
          <a:off x="5060121" y="3061241"/>
          <a:ext cx="1016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17" name="Tabelle 16">
            <a:extLst>
              <a:ext uri="{FF2B5EF4-FFF2-40B4-BE49-F238E27FC236}">
                <a16:creationId xmlns:a16="http://schemas.microsoft.com/office/drawing/2014/main" id="{48565FDF-9E36-4CB6-A4B5-DD847474B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2980049"/>
              </p:ext>
            </p:extLst>
          </p:nvPr>
        </p:nvGraphicFramePr>
        <p:xfrm>
          <a:off x="6410226" y="3061241"/>
          <a:ext cx="2032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18" name="Tabelle 17">
            <a:extLst>
              <a:ext uri="{FF2B5EF4-FFF2-40B4-BE49-F238E27FC236}">
                <a16:creationId xmlns:a16="http://schemas.microsoft.com/office/drawing/2014/main" id="{7F3CD9E1-4F5A-4237-84C6-E14ED3CD8D42}"/>
              </a:ext>
            </a:extLst>
          </p:cNvPr>
          <p:cNvGraphicFramePr>
            <a:graphicFrameLocks noGrp="1"/>
          </p:cNvGraphicFramePr>
          <p:nvPr/>
        </p:nvGraphicFramePr>
        <p:xfrm>
          <a:off x="6219535" y="3696275"/>
          <a:ext cx="1016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19" name="Tabelle 18">
            <a:extLst>
              <a:ext uri="{FF2B5EF4-FFF2-40B4-BE49-F238E27FC236}">
                <a16:creationId xmlns:a16="http://schemas.microsoft.com/office/drawing/2014/main" id="{F83DEA6B-EED3-4BE6-819A-322E9A820E81}"/>
              </a:ext>
            </a:extLst>
          </p:cNvPr>
          <p:cNvGraphicFramePr>
            <a:graphicFrameLocks noGrp="1"/>
          </p:cNvGraphicFramePr>
          <p:nvPr/>
        </p:nvGraphicFramePr>
        <p:xfrm>
          <a:off x="7743537" y="3696275"/>
          <a:ext cx="1016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437A4E49-9ADE-4F8D-8FC8-DFB01E920E01}"/>
              </a:ext>
            </a:extLst>
          </p:cNvPr>
          <p:cNvSpPr/>
          <p:nvPr/>
        </p:nvSpPr>
        <p:spPr>
          <a:xfrm>
            <a:off x="2584328" y="4131730"/>
            <a:ext cx="1351567" cy="370840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635662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Merge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/>
        </p:nvGraphicFramePr>
        <p:xfrm>
          <a:off x="1523850" y="1730973"/>
          <a:ext cx="6096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A45AA83B-FE75-4DF4-B073-9D69CAE1EC9E}"/>
              </a:ext>
            </a:extLst>
          </p:cNvPr>
          <p:cNvGraphicFramePr>
            <a:graphicFrameLocks noGrp="1"/>
          </p:cNvGraphicFramePr>
          <p:nvPr/>
        </p:nvGraphicFramePr>
        <p:xfrm>
          <a:off x="948124" y="2414386"/>
          <a:ext cx="3048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33498643-FECB-41E1-9AEA-DCC757B79310}"/>
              </a:ext>
            </a:extLst>
          </p:cNvPr>
          <p:cNvGraphicFramePr>
            <a:graphicFrameLocks noGrp="1"/>
          </p:cNvGraphicFramePr>
          <p:nvPr/>
        </p:nvGraphicFramePr>
        <p:xfrm>
          <a:off x="5203537" y="2420046"/>
          <a:ext cx="3048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A088DD44-7F30-462B-B882-ADE98D298693}"/>
              </a:ext>
            </a:extLst>
          </p:cNvPr>
          <p:cNvGraphicFramePr>
            <a:graphicFrameLocks noGrp="1"/>
          </p:cNvGraphicFramePr>
          <p:nvPr/>
        </p:nvGraphicFramePr>
        <p:xfrm>
          <a:off x="716502" y="3103624"/>
          <a:ext cx="1016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60627CB3-7D66-4822-A753-9682A65886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920949"/>
              </p:ext>
            </p:extLst>
          </p:nvPr>
        </p:nvGraphicFramePr>
        <p:xfrm>
          <a:off x="2169974" y="3103624"/>
          <a:ext cx="2032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16" name="Tabelle 15">
            <a:extLst>
              <a:ext uri="{FF2B5EF4-FFF2-40B4-BE49-F238E27FC236}">
                <a16:creationId xmlns:a16="http://schemas.microsoft.com/office/drawing/2014/main" id="{4C5EE6B0-AE9F-438A-874A-141034D093B7}"/>
              </a:ext>
            </a:extLst>
          </p:cNvPr>
          <p:cNvGraphicFramePr>
            <a:graphicFrameLocks noGrp="1"/>
          </p:cNvGraphicFramePr>
          <p:nvPr/>
        </p:nvGraphicFramePr>
        <p:xfrm>
          <a:off x="5060121" y="3061241"/>
          <a:ext cx="1016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17" name="Tabelle 16">
            <a:extLst>
              <a:ext uri="{FF2B5EF4-FFF2-40B4-BE49-F238E27FC236}">
                <a16:creationId xmlns:a16="http://schemas.microsoft.com/office/drawing/2014/main" id="{48565FDF-9E36-4CB6-A4B5-DD847474B0DF}"/>
              </a:ext>
            </a:extLst>
          </p:cNvPr>
          <p:cNvGraphicFramePr>
            <a:graphicFrameLocks noGrp="1"/>
          </p:cNvGraphicFramePr>
          <p:nvPr/>
        </p:nvGraphicFramePr>
        <p:xfrm>
          <a:off x="6410226" y="3061241"/>
          <a:ext cx="2032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18" name="Tabelle 17">
            <a:extLst>
              <a:ext uri="{FF2B5EF4-FFF2-40B4-BE49-F238E27FC236}">
                <a16:creationId xmlns:a16="http://schemas.microsoft.com/office/drawing/2014/main" id="{7F3CD9E1-4F5A-4237-84C6-E14ED3CD8D42}"/>
              </a:ext>
            </a:extLst>
          </p:cNvPr>
          <p:cNvGraphicFramePr>
            <a:graphicFrameLocks noGrp="1"/>
          </p:cNvGraphicFramePr>
          <p:nvPr/>
        </p:nvGraphicFramePr>
        <p:xfrm>
          <a:off x="6219535" y="3696275"/>
          <a:ext cx="1016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19" name="Tabelle 18">
            <a:extLst>
              <a:ext uri="{FF2B5EF4-FFF2-40B4-BE49-F238E27FC236}">
                <a16:creationId xmlns:a16="http://schemas.microsoft.com/office/drawing/2014/main" id="{F83DEA6B-EED3-4BE6-819A-322E9A820E81}"/>
              </a:ext>
            </a:extLst>
          </p:cNvPr>
          <p:cNvGraphicFramePr>
            <a:graphicFrameLocks noGrp="1"/>
          </p:cNvGraphicFramePr>
          <p:nvPr/>
        </p:nvGraphicFramePr>
        <p:xfrm>
          <a:off x="7743537" y="3696275"/>
          <a:ext cx="1016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21" name="Freihandform: Form 20">
            <a:extLst>
              <a:ext uri="{FF2B5EF4-FFF2-40B4-BE49-F238E27FC236}">
                <a16:creationId xmlns:a16="http://schemas.microsoft.com/office/drawing/2014/main" id="{8AE99149-154D-428A-9F8A-A4A5D47AE3C5}"/>
              </a:ext>
            </a:extLst>
          </p:cNvPr>
          <p:cNvSpPr/>
          <p:nvPr/>
        </p:nvSpPr>
        <p:spPr>
          <a:xfrm>
            <a:off x="6851531" y="4062887"/>
            <a:ext cx="1351567" cy="370840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22805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Merge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/>
        </p:nvGraphicFramePr>
        <p:xfrm>
          <a:off x="1523850" y="1730973"/>
          <a:ext cx="6096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A45AA83B-FE75-4DF4-B073-9D69CAE1EC9E}"/>
              </a:ext>
            </a:extLst>
          </p:cNvPr>
          <p:cNvGraphicFramePr>
            <a:graphicFrameLocks noGrp="1"/>
          </p:cNvGraphicFramePr>
          <p:nvPr/>
        </p:nvGraphicFramePr>
        <p:xfrm>
          <a:off x="948124" y="2414386"/>
          <a:ext cx="3048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33498643-FECB-41E1-9AEA-DCC757B79310}"/>
              </a:ext>
            </a:extLst>
          </p:cNvPr>
          <p:cNvGraphicFramePr>
            <a:graphicFrameLocks noGrp="1"/>
          </p:cNvGraphicFramePr>
          <p:nvPr/>
        </p:nvGraphicFramePr>
        <p:xfrm>
          <a:off x="5203537" y="2420046"/>
          <a:ext cx="3048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12" name="Tabelle 11">
            <a:extLst>
              <a:ext uri="{FF2B5EF4-FFF2-40B4-BE49-F238E27FC236}">
                <a16:creationId xmlns:a16="http://schemas.microsoft.com/office/drawing/2014/main" id="{A088DD44-7F30-462B-B882-ADE98D298693}"/>
              </a:ext>
            </a:extLst>
          </p:cNvPr>
          <p:cNvGraphicFramePr>
            <a:graphicFrameLocks noGrp="1"/>
          </p:cNvGraphicFramePr>
          <p:nvPr/>
        </p:nvGraphicFramePr>
        <p:xfrm>
          <a:off x="716502" y="3103624"/>
          <a:ext cx="1016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60627CB3-7D66-4822-A753-9682A658868B}"/>
              </a:ext>
            </a:extLst>
          </p:cNvPr>
          <p:cNvGraphicFramePr>
            <a:graphicFrameLocks noGrp="1"/>
          </p:cNvGraphicFramePr>
          <p:nvPr/>
        </p:nvGraphicFramePr>
        <p:xfrm>
          <a:off x="2169974" y="3103624"/>
          <a:ext cx="2032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16" name="Tabelle 15">
            <a:extLst>
              <a:ext uri="{FF2B5EF4-FFF2-40B4-BE49-F238E27FC236}">
                <a16:creationId xmlns:a16="http://schemas.microsoft.com/office/drawing/2014/main" id="{4C5EE6B0-AE9F-438A-874A-141034D093B7}"/>
              </a:ext>
            </a:extLst>
          </p:cNvPr>
          <p:cNvGraphicFramePr>
            <a:graphicFrameLocks noGrp="1"/>
          </p:cNvGraphicFramePr>
          <p:nvPr/>
        </p:nvGraphicFramePr>
        <p:xfrm>
          <a:off x="5060121" y="3061241"/>
          <a:ext cx="1016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17" name="Tabelle 16">
            <a:extLst>
              <a:ext uri="{FF2B5EF4-FFF2-40B4-BE49-F238E27FC236}">
                <a16:creationId xmlns:a16="http://schemas.microsoft.com/office/drawing/2014/main" id="{48565FDF-9E36-4CB6-A4B5-DD847474B0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6338282"/>
              </p:ext>
            </p:extLst>
          </p:nvPr>
        </p:nvGraphicFramePr>
        <p:xfrm>
          <a:off x="6410226" y="3061241"/>
          <a:ext cx="2032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20" name="Freihandform: Form 19">
            <a:extLst>
              <a:ext uri="{FF2B5EF4-FFF2-40B4-BE49-F238E27FC236}">
                <a16:creationId xmlns:a16="http://schemas.microsoft.com/office/drawing/2014/main" id="{C2833A3D-4971-40CC-A0FE-0E148A25CB95}"/>
              </a:ext>
            </a:extLst>
          </p:cNvPr>
          <p:cNvSpPr/>
          <p:nvPr/>
        </p:nvSpPr>
        <p:spPr>
          <a:xfrm>
            <a:off x="1120557" y="3458561"/>
            <a:ext cx="2187186" cy="532993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442957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Merge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/>
        </p:nvGraphicFramePr>
        <p:xfrm>
          <a:off x="1523850" y="1730973"/>
          <a:ext cx="6096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A45AA83B-FE75-4DF4-B073-9D69CAE1E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083023"/>
              </p:ext>
            </p:extLst>
          </p:nvPr>
        </p:nvGraphicFramePr>
        <p:xfrm>
          <a:off x="948124" y="2414386"/>
          <a:ext cx="3048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33498643-FECB-41E1-9AEA-DCC757B79310}"/>
              </a:ext>
            </a:extLst>
          </p:cNvPr>
          <p:cNvGraphicFramePr>
            <a:graphicFrameLocks noGrp="1"/>
          </p:cNvGraphicFramePr>
          <p:nvPr/>
        </p:nvGraphicFramePr>
        <p:xfrm>
          <a:off x="5203537" y="2420046"/>
          <a:ext cx="3048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16" name="Tabelle 15">
            <a:extLst>
              <a:ext uri="{FF2B5EF4-FFF2-40B4-BE49-F238E27FC236}">
                <a16:creationId xmlns:a16="http://schemas.microsoft.com/office/drawing/2014/main" id="{4C5EE6B0-AE9F-438A-874A-141034D093B7}"/>
              </a:ext>
            </a:extLst>
          </p:cNvPr>
          <p:cNvGraphicFramePr>
            <a:graphicFrameLocks noGrp="1"/>
          </p:cNvGraphicFramePr>
          <p:nvPr/>
        </p:nvGraphicFramePr>
        <p:xfrm>
          <a:off x="5060121" y="3061241"/>
          <a:ext cx="1016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17" name="Tabelle 16">
            <a:extLst>
              <a:ext uri="{FF2B5EF4-FFF2-40B4-BE49-F238E27FC236}">
                <a16:creationId xmlns:a16="http://schemas.microsoft.com/office/drawing/2014/main" id="{48565FDF-9E36-4CB6-A4B5-DD847474B0DF}"/>
              </a:ext>
            </a:extLst>
          </p:cNvPr>
          <p:cNvGraphicFramePr>
            <a:graphicFrameLocks noGrp="1"/>
          </p:cNvGraphicFramePr>
          <p:nvPr/>
        </p:nvGraphicFramePr>
        <p:xfrm>
          <a:off x="6410226" y="3061241"/>
          <a:ext cx="2032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14" name="Freihandform: Form 13">
            <a:extLst>
              <a:ext uri="{FF2B5EF4-FFF2-40B4-BE49-F238E27FC236}">
                <a16:creationId xmlns:a16="http://schemas.microsoft.com/office/drawing/2014/main" id="{39EDF985-4C3B-4E0C-A514-EF865DCD7E18}"/>
              </a:ext>
            </a:extLst>
          </p:cNvPr>
          <p:cNvSpPr/>
          <p:nvPr/>
        </p:nvSpPr>
        <p:spPr>
          <a:xfrm>
            <a:off x="5432664" y="3429000"/>
            <a:ext cx="2187186" cy="532993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960346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Merge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/>
        </p:nvGraphicFramePr>
        <p:xfrm>
          <a:off x="1523850" y="1730973"/>
          <a:ext cx="6096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de-AT" sz="18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A45AA83B-FE75-4DF4-B073-9D69CAE1E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362971"/>
              </p:ext>
            </p:extLst>
          </p:nvPr>
        </p:nvGraphicFramePr>
        <p:xfrm>
          <a:off x="948124" y="2414386"/>
          <a:ext cx="3048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graphicFrame>
        <p:nvGraphicFramePr>
          <p:cNvPr id="11" name="Tabelle 10">
            <a:extLst>
              <a:ext uri="{FF2B5EF4-FFF2-40B4-BE49-F238E27FC236}">
                <a16:creationId xmlns:a16="http://schemas.microsoft.com/office/drawing/2014/main" id="{33498643-FECB-41E1-9AEA-DCC757B793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904923"/>
              </p:ext>
            </p:extLst>
          </p:nvPr>
        </p:nvGraphicFramePr>
        <p:xfrm>
          <a:off x="5203537" y="2420046"/>
          <a:ext cx="3048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486F986F-51A1-47F1-8D22-3F42623F0C88}"/>
              </a:ext>
            </a:extLst>
          </p:cNvPr>
          <p:cNvSpPr/>
          <p:nvPr/>
        </p:nvSpPr>
        <p:spPr>
          <a:xfrm>
            <a:off x="2472123" y="2785226"/>
            <a:ext cx="4326241" cy="856471"/>
          </a:xfrm>
          <a:custGeom>
            <a:avLst/>
            <a:gdLst/>
            <a:ahLst/>
            <a:cxnLst/>
            <a:rect l="0" t="0" r="r" b="b"/>
            <a:pathLst>
              <a:path w="3810" h="1159" fill="none">
                <a:moveTo>
                  <a:pt x="0" y="0"/>
                </a:moveTo>
                <a:cubicBezTo>
                  <a:pt x="254" y="997"/>
                  <a:pt x="2032" y="2013"/>
                  <a:pt x="3810" y="0"/>
                </a:cubicBezTo>
              </a:path>
            </a:pathLst>
          </a:custGeom>
          <a:solidFill>
            <a:srgbClr val="BFBFBF"/>
          </a:solidFill>
          <a:ln w="36720">
            <a:solidFill>
              <a:srgbClr val="BFBFBF"/>
            </a:solidFill>
            <a:round/>
            <a:tailEnd type="triangle" w="med" len="med"/>
          </a:ln>
        </p:spPr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04429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Merge sort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E54673C-6809-47DF-AAAF-EEB583892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2076991"/>
              </p:ext>
            </p:extLst>
          </p:nvPr>
        </p:nvGraphicFramePr>
        <p:xfrm>
          <a:off x="1523850" y="1730973"/>
          <a:ext cx="6096000" cy="3708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98725812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2062745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81943886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94196404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5279403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2339032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8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F8D7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756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8516310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Example of merging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4DEB560-95B0-4855-93EA-0708EEF34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03774"/>
            <a:ext cx="8515412" cy="4343432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47070BBB-D014-438C-9AEA-89D774B79142}"/>
              </a:ext>
            </a:extLst>
          </p:cNvPr>
          <p:cNvSpPr txBox="1"/>
          <p:nvPr/>
        </p:nvSpPr>
        <p:spPr>
          <a:xfrm>
            <a:off x="1474660" y="5850203"/>
            <a:ext cx="59650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Source: 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Introduction to Computation and Programming using Python</a:t>
            </a:r>
            <a:r>
              <a:rPr lang="de-AT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MIT Open </a:t>
            </a:r>
            <a:r>
              <a:rPr lang="de-AT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Courseware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307125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1EA7F6-CEB4-E947-A101-B48740C76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GB" sz="2800" b="1" dirty="0">
                <a:latin typeface="Calibri" panose="020F0502020204030204" pitchFamily="34" charset="0"/>
                <a:cs typeface="Calibri" panose="020F0502020204030204" pitchFamily="34" charset="0"/>
              </a:rPr>
              <a:t>Merge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57200" y="1653135"/>
                <a:ext cx="8229300" cy="2974524"/>
              </a:xfrm>
            </p:spPr>
            <p:txBody>
              <a:bodyPr/>
              <a:lstStyle/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At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first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recursion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level</a:t>
                </a:r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</m:num>
                      <m:den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elements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each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sublist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d>
                      <m:dPr>
                        <m:ctrlP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/2</m:t>
                        </m:r>
                      </m:e>
                    </m:d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+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d>
                      <m:dPr>
                        <m:ctrlP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/2</m:t>
                        </m:r>
                      </m:e>
                    </m:d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d>
                      <m:dPr>
                        <m:ctrlP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</m:e>
                    </m:d>
                  </m:oMath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At </a:t>
                </a:r>
                <a:r>
                  <a:rPr lang="de-AT" sz="1800" b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second</a:t>
                </a:r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recursion</a:t>
                </a:r>
                <a:r>
                  <a:rPr lang="de-AT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b="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level</a:t>
                </a:r>
                <a:endParaRPr lang="de-AT" sz="18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</m:num>
                      <m:den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elements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in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each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sublist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d>
                      <m:dPr>
                        <m:ctrlP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/4</m:t>
                        </m:r>
                      </m:e>
                    </m:d>
                  </m:oMath>
                </a14:m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+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d>
                      <m:dPr>
                        <m:ctrlP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/4</m:t>
                        </m:r>
                      </m:e>
                    </m:d>
                    <m:r>
                      <m:rPr>
                        <m:nor/>
                      </m:rPr>
                      <a:rPr lang="de-AT" sz="1800" b="0" i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de-AT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+ </m:t>
                    </m:r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d>
                      <m:dPr>
                        <m:ctrlP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/4</m:t>
                        </m:r>
                      </m:e>
                    </m:d>
                    <m:r>
                      <m:rPr>
                        <m:nor/>
                      </m:rPr>
                      <a:rPr lang="de-AT" sz="1800" b="0" i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de-AT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+ </m:t>
                    </m:r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d>
                      <m:dPr>
                        <m:ctrlP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/4</m:t>
                        </m:r>
                      </m:e>
                    </m:d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d>
                      <m:dPr>
                        <m:ctrlP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</m:e>
                    </m:d>
                  </m:oMath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fact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each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recursion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level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d>
                      <m:dPr>
                        <m:ctrlP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</m:e>
                    </m:d>
                  </m:oMath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How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many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recursion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levels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if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we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always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divide in half (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recollect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binary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de-AT" sz="18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search</a:t>
                </a: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):</a:t>
                </a:r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de-AT" sz="1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d>
                      <m:dPr>
                        <m:ctrlP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de-AT" sz="18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de-AT" sz="1800" b="0" i="0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de-AT" sz="18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00050" indent="-285750">
                  <a:buFont typeface="Wingdings" panose="05000000000000000000" pitchFamily="2" charset="2"/>
                  <a:buChar char="v"/>
                </a:pPr>
                <a:r>
                  <a:rPr lang="de-AT" sz="1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Total:</a:t>
                </a:r>
              </a:p>
              <a:p>
                <a:pPr marL="857250" lvl="1" indent="-285750">
                  <a:buFont typeface="Wingdings" panose="05000000000000000000" pitchFamily="2" charset="2"/>
                  <a:buChar char="v"/>
                </a:pPr>
                <a14:m>
                  <m:oMath xmlns:m="http://schemas.openxmlformats.org/officeDocument/2006/math">
                    <m:r>
                      <a:rPr lang="de-AT" sz="1800" i="1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𝑂</m:t>
                    </m:r>
                    <m:d>
                      <m:dPr>
                        <m:ctrlPr>
                          <a:rPr lang="de-AT" sz="18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de-AT" sz="1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</m:t>
                        </m:r>
                        <m:func>
                          <m:funcPr>
                            <m:ctrlPr>
                              <a:rPr lang="de-AT" sz="18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de-AT" sz="180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de-AT" sz="18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de-AT" sz="1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0" name="Textplatzhalter 2">
                <a:extLst>
                  <a:ext uri="{FF2B5EF4-FFF2-40B4-BE49-F238E27FC236}">
                    <a16:creationId xmlns:a16="http://schemas.microsoft.com/office/drawing/2014/main" id="{9254B13C-19D7-4861-A881-548D1903C1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653135"/>
                <a:ext cx="8229300" cy="2974524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A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4280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2479</Words>
  <Application>Microsoft Macintosh PowerPoint</Application>
  <PresentationFormat>On-screen Show (4:3)</PresentationFormat>
  <Paragraphs>1294</Paragraphs>
  <Slides>109</Slides>
  <Notes>109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109</vt:i4>
      </vt:variant>
    </vt:vector>
  </HeadingPairs>
  <TitlesOfParts>
    <vt:vector size="117" baseType="lpstr">
      <vt:lpstr>Wingdings</vt:lpstr>
      <vt:lpstr>Arial</vt:lpstr>
      <vt:lpstr>Blackadder ITC</vt:lpstr>
      <vt:lpstr>Calibri</vt:lpstr>
      <vt:lpstr>Consolas</vt:lpstr>
      <vt:lpstr>Cambria Math</vt:lpstr>
      <vt:lpstr>Office Theme</vt:lpstr>
      <vt:lpstr>1_Office Theme</vt:lpstr>
      <vt:lpstr>Fundamentals of Computer Science and Programming </vt:lpstr>
      <vt:lpstr>Outline</vt:lpstr>
      <vt:lpstr>Searching - recap</vt:lpstr>
      <vt:lpstr>Search algorithms</vt:lpstr>
      <vt:lpstr>Search algorithms</vt:lpstr>
      <vt:lpstr>Linear search</vt:lpstr>
      <vt:lpstr>Binary search</vt:lpstr>
      <vt:lpstr>Sorting - recap</vt:lpstr>
      <vt:lpstr>Sorting</vt:lpstr>
      <vt:lpstr>Insertion sort</vt:lpstr>
      <vt:lpstr>Insertion sort</vt:lpstr>
      <vt:lpstr>Bogosort</vt:lpstr>
      <vt:lpstr>Bogosort</vt:lpstr>
      <vt:lpstr>Bogosort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Bubble sort</vt:lpstr>
      <vt:lpstr>Exercise</vt:lpstr>
      <vt:lpstr>Student task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Selection sort</vt:lpstr>
      <vt:lpstr>Exercise</vt:lpstr>
      <vt:lpstr>Student task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Merge sort</vt:lpstr>
      <vt:lpstr>Example of merging</vt:lpstr>
      <vt:lpstr>Merge sort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 Basics of Computer Programming</dc:title>
  <dc:creator>Lyndon Nixon</dc:creator>
  <cp:lastModifiedBy>Ingo Frommholz</cp:lastModifiedBy>
  <cp:revision>1210</cp:revision>
  <dcterms:modified xsi:type="dcterms:W3CDTF">2026-05-26T13:20:42Z</dcterms:modified>
</cp:coreProperties>
</file>