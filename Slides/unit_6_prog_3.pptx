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408" r:id="rId3"/>
    <p:sldId id="499" r:id="rId4"/>
    <p:sldId id="559" r:id="rId5"/>
    <p:sldId id="553" r:id="rId6"/>
    <p:sldId id="560" r:id="rId7"/>
    <p:sldId id="561" r:id="rId8"/>
    <p:sldId id="562" r:id="rId9"/>
    <p:sldId id="563" r:id="rId10"/>
    <p:sldId id="564" r:id="rId11"/>
    <p:sldId id="552" r:id="rId12"/>
    <p:sldId id="468" r:id="rId13"/>
    <p:sldId id="540" r:id="rId14"/>
    <p:sldId id="541" r:id="rId15"/>
    <p:sldId id="542" r:id="rId16"/>
    <p:sldId id="543" r:id="rId17"/>
    <p:sldId id="544" r:id="rId18"/>
    <p:sldId id="545" r:id="rId19"/>
    <p:sldId id="546" r:id="rId20"/>
    <p:sldId id="547" r:id="rId21"/>
    <p:sldId id="548" r:id="rId22"/>
    <p:sldId id="549" r:id="rId23"/>
    <p:sldId id="550" r:id="rId24"/>
    <p:sldId id="551" r:id="rId25"/>
    <p:sldId id="460" r:id="rId26"/>
    <p:sldId id="566" r:id="rId27"/>
    <p:sldId id="567" r:id="rId28"/>
    <p:sldId id="568" r:id="rId29"/>
    <p:sldId id="569" r:id="rId30"/>
    <p:sldId id="570" r:id="rId31"/>
    <p:sldId id="571" r:id="rId32"/>
    <p:sldId id="572" r:id="rId33"/>
    <p:sldId id="573" r:id="rId34"/>
    <p:sldId id="574" r:id="rId35"/>
    <p:sldId id="555" r:id="rId36"/>
    <p:sldId id="556" r:id="rId37"/>
    <p:sldId id="557" r:id="rId38"/>
    <p:sldId id="558" r:id="rId39"/>
    <p:sldId id="554" r:id="rId40"/>
    <p:sldId id="565" r:id="rId41"/>
    <p:sldId id="523" r:id="rId42"/>
    <p:sldId id="461" r:id="rId43"/>
    <p:sldId id="539" r:id="rId44"/>
  </p:sldIdLst>
  <p:sldSz cx="9144000" cy="6858000" type="screen4x3"/>
  <p:notesSz cx="7099300" cy="10234613"/>
  <p:embeddedFontLst>
    <p:embeddedFont>
      <p:font typeface="Blackadder ITC" pitchFamily="82" charset="77"/>
      <p:regular r:id="rId46"/>
    </p:embeddedFont>
    <p:embeddedFont>
      <p:font typeface="Consolas" panose="020B0609020204030204" pitchFamily="49" charset="0"/>
      <p:regular r:id="rId47"/>
      <p:bold r:id="rId48"/>
      <p:italic r:id="rId49"/>
      <p:boldItalic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83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0" roundtripDataSignature="AMtx7milieXwv5OUJdQk1cj/252aZuXc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CD32"/>
    <a:srgbClr val="1E90FF"/>
    <a:srgbClr val="DAE3F3"/>
    <a:srgbClr val="D3242A"/>
    <a:srgbClr val="EDEDED"/>
    <a:srgbClr val="F8D7CD"/>
    <a:srgbClr val="FCECE8"/>
    <a:srgbClr val="ED7D31"/>
    <a:srgbClr val="E2F0D9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E90922-6980-2D48-AF72-CAB4AE2BC018}" v="5" dt="2025-11-05T23:34:45.0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A107856-5554-42FB-B03E-39F5DBC370BA}" styleName="Mittlere Formatvorlage 4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8898" autoAdjust="0"/>
    <p:restoredTop sz="94707" autoAdjust="0"/>
  </p:normalViewPr>
  <p:slideViewPr>
    <p:cSldViewPr snapToGrid="0">
      <p:cViewPr varScale="1">
        <p:scale>
          <a:sx n="102" d="100"/>
          <a:sy n="102" d="100"/>
        </p:scale>
        <p:origin x="200" y="1096"/>
      </p:cViewPr>
      <p:guideLst>
        <p:guide orient="horz" pos="2183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84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3.fntdata"/><Relationship Id="rId8" Type="http://schemas.openxmlformats.org/officeDocument/2006/relationships/slide" Target="slides/slide7.xml"/><Relationship Id="rId80" Type="http://customschemas.google.com/relationships/presentationmetadata" Target="metadata"/><Relationship Id="rId85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4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81" Type="http://schemas.openxmlformats.org/officeDocument/2006/relationships/presProps" Target="presProps.xml"/><Relationship Id="rId8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go Frommholz" userId="ee3b4549-206f-4e4f-93a1-b7ff676f0af7" providerId="ADAL" clId="{5F8971C4-3D52-5FAB-A951-9912A46CDBB0}"/>
    <pc:docChg chg="custSel modSld">
      <pc:chgData name="Ingo Frommholz" userId="ee3b4549-206f-4e4f-93a1-b7ff676f0af7" providerId="ADAL" clId="{5F8971C4-3D52-5FAB-A951-9912A46CDBB0}" dt="2025-11-05T23:34:46.491" v="368" actId="20577"/>
      <pc:docMkLst>
        <pc:docMk/>
      </pc:docMkLst>
      <pc:sldChg chg="modSp mod">
        <pc:chgData name="Ingo Frommholz" userId="ee3b4549-206f-4e4f-93a1-b7ff676f0af7" providerId="ADAL" clId="{5F8971C4-3D52-5FAB-A951-9912A46CDBB0}" dt="2025-11-05T22:03:26.936" v="0" actId="1038"/>
        <pc:sldMkLst>
          <pc:docMk/>
          <pc:sldMk cId="0" sldId="256"/>
        </pc:sldMkLst>
        <pc:picChg chg="mod">
          <ac:chgData name="Ingo Frommholz" userId="ee3b4549-206f-4e4f-93a1-b7ff676f0af7" providerId="ADAL" clId="{5F8971C4-3D52-5FAB-A951-9912A46CDBB0}" dt="2025-11-05T22:03:26.936" v="0" actId="1038"/>
          <ac:picMkLst>
            <pc:docMk/>
            <pc:sldMk cId="0" sldId="256"/>
            <ac:picMk id="78" creationId="{00000000-0000-0000-0000-000000000000}"/>
          </ac:picMkLst>
        </pc:picChg>
      </pc:sldChg>
      <pc:sldChg chg="modSp mod">
        <pc:chgData name="Ingo Frommholz" userId="ee3b4549-206f-4e4f-93a1-b7ff676f0af7" providerId="ADAL" clId="{5F8971C4-3D52-5FAB-A951-9912A46CDBB0}" dt="2025-11-05T22:14:28.771" v="111" actId="20577"/>
        <pc:sldMkLst>
          <pc:docMk/>
          <pc:sldMk cId="0" sldId="408"/>
        </pc:sldMkLst>
        <pc:spChg chg="mod">
          <ac:chgData name="Ingo Frommholz" userId="ee3b4549-206f-4e4f-93a1-b7ff676f0af7" providerId="ADAL" clId="{5F8971C4-3D52-5FAB-A951-9912A46CDBB0}" dt="2025-11-05T22:14:28.771" v="111" actId="20577"/>
          <ac:spMkLst>
            <pc:docMk/>
            <pc:sldMk cId="0" sldId="408"/>
            <ac:spMk id="6" creationId="{D7707901-CF88-4DD5-92F9-27B080708D9F}"/>
          </ac:spMkLst>
        </pc:spChg>
      </pc:sldChg>
      <pc:sldChg chg="modSp mod">
        <pc:chgData name="Ingo Frommholz" userId="ee3b4549-206f-4e4f-93a1-b7ff676f0af7" providerId="ADAL" clId="{5F8971C4-3D52-5FAB-A951-9912A46CDBB0}" dt="2025-11-05T23:34:24.367" v="364" actId="20577"/>
        <pc:sldMkLst>
          <pc:docMk/>
          <pc:sldMk cId="2688265821" sldId="461"/>
        </pc:sldMkLst>
        <pc:spChg chg="mod">
          <ac:chgData name="Ingo Frommholz" userId="ee3b4549-206f-4e4f-93a1-b7ff676f0af7" providerId="ADAL" clId="{5F8971C4-3D52-5FAB-A951-9912A46CDBB0}" dt="2025-11-05T23:34:24.367" v="364" actId="20577"/>
          <ac:spMkLst>
            <pc:docMk/>
            <pc:sldMk cId="2688265821" sldId="461"/>
            <ac:spMk id="4" creationId="{B1AB2DE2-BFB4-403B-9976-58C0812A00AF}"/>
          </ac:spMkLst>
        </pc:spChg>
      </pc:sldChg>
      <pc:sldChg chg="modSp mod">
        <pc:chgData name="Ingo Frommholz" userId="ee3b4549-206f-4e4f-93a1-b7ff676f0af7" providerId="ADAL" clId="{5F8971C4-3D52-5FAB-A951-9912A46CDBB0}" dt="2025-11-05T23:34:46.491" v="368" actId="20577"/>
        <pc:sldMkLst>
          <pc:docMk/>
          <pc:sldMk cId="409898843" sldId="539"/>
        </pc:sldMkLst>
        <pc:spChg chg="mod">
          <ac:chgData name="Ingo Frommholz" userId="ee3b4549-206f-4e4f-93a1-b7ff676f0af7" providerId="ADAL" clId="{5F8971C4-3D52-5FAB-A951-9912A46CDBB0}" dt="2025-11-05T23:34:46.491" v="368" actId="20577"/>
          <ac:spMkLst>
            <pc:docMk/>
            <pc:sldMk cId="409898843" sldId="539"/>
            <ac:spMk id="4" creationId="{B1AB2DE2-BFB4-403B-9976-58C0812A00AF}"/>
          </ac:spMkLst>
        </pc:spChg>
      </pc:sldChg>
      <pc:sldChg chg="modSp mod">
        <pc:chgData name="Ingo Frommholz" userId="ee3b4549-206f-4e4f-93a1-b7ff676f0af7" providerId="ADAL" clId="{5F8971C4-3D52-5FAB-A951-9912A46CDBB0}" dt="2025-11-05T22:36:40.021" v="198"/>
        <pc:sldMkLst>
          <pc:docMk/>
          <pc:sldMk cId="3466252940" sldId="544"/>
        </pc:sldMkLst>
        <pc:spChg chg="mod">
          <ac:chgData name="Ingo Frommholz" userId="ee3b4549-206f-4e4f-93a1-b7ff676f0af7" providerId="ADAL" clId="{5F8971C4-3D52-5FAB-A951-9912A46CDBB0}" dt="2025-11-05T22:36:40.021" v="198"/>
          <ac:spMkLst>
            <pc:docMk/>
            <pc:sldMk cId="3466252940" sldId="544"/>
            <ac:spMk id="4" creationId="{2EF7CA25-84A0-4821-9D4D-BD17F39439DB}"/>
          </ac:spMkLst>
        </pc:spChg>
      </pc:sldChg>
      <pc:sldChg chg="modSp mod">
        <pc:chgData name="Ingo Frommholz" userId="ee3b4549-206f-4e4f-93a1-b7ff676f0af7" providerId="ADAL" clId="{5F8971C4-3D52-5FAB-A951-9912A46CDBB0}" dt="2025-11-05T22:46:08.800" v="200" actId="5793"/>
        <pc:sldMkLst>
          <pc:docMk/>
          <pc:sldMk cId="3480101231" sldId="551"/>
        </pc:sldMkLst>
        <pc:spChg chg="mod">
          <ac:chgData name="Ingo Frommholz" userId="ee3b4549-206f-4e4f-93a1-b7ff676f0af7" providerId="ADAL" clId="{5F8971C4-3D52-5FAB-A951-9912A46CDBB0}" dt="2025-11-05T22:46:08.800" v="200" actId="5793"/>
          <ac:spMkLst>
            <pc:docMk/>
            <pc:sldMk cId="3480101231" sldId="551"/>
            <ac:spMk id="4" creationId="{2C43D9F7-F150-4BAE-8E02-6FEFC3BF421C}"/>
          </ac:spMkLst>
        </pc:spChg>
      </pc:sldChg>
      <pc:sldChg chg="modSp mod">
        <pc:chgData name="Ingo Frommholz" userId="ee3b4549-206f-4e4f-93a1-b7ff676f0af7" providerId="ADAL" clId="{5F8971C4-3D52-5FAB-A951-9912A46CDBB0}" dt="2025-11-05T22:15:26.831" v="116" actId="404"/>
        <pc:sldMkLst>
          <pc:docMk/>
          <pc:sldMk cId="2869594375" sldId="559"/>
        </pc:sldMkLst>
        <pc:spChg chg="mod">
          <ac:chgData name="Ingo Frommholz" userId="ee3b4549-206f-4e4f-93a1-b7ff676f0af7" providerId="ADAL" clId="{5F8971C4-3D52-5FAB-A951-9912A46CDBB0}" dt="2025-11-05T22:15:26.831" v="116" actId="404"/>
          <ac:spMkLst>
            <pc:docMk/>
            <pc:sldMk cId="2869594375" sldId="559"/>
            <ac:spMk id="4" creationId="{139FE531-0789-4F62-ACBA-68FF1E83033B}"/>
          </ac:spMkLst>
        </pc:spChg>
        <pc:spChg chg="mod">
          <ac:chgData name="Ingo Frommholz" userId="ee3b4549-206f-4e4f-93a1-b7ff676f0af7" providerId="ADAL" clId="{5F8971C4-3D52-5FAB-A951-9912A46CDBB0}" dt="2025-11-05T22:15:18.211" v="115" actId="113"/>
          <ac:spMkLst>
            <pc:docMk/>
            <pc:sldMk cId="2869594375" sldId="559"/>
            <ac:spMk id="8" creationId="{21A8D102-1C16-49D0-9B80-8EAB675A9A7B}"/>
          </ac:spMkLst>
        </pc:spChg>
      </pc:sldChg>
      <pc:sldChg chg="modSp mod">
        <pc:chgData name="Ingo Frommholz" userId="ee3b4549-206f-4e4f-93a1-b7ff676f0af7" providerId="ADAL" clId="{5F8971C4-3D52-5FAB-A951-9912A46CDBB0}" dt="2025-11-05T22:24:58.338" v="127" actId="1038"/>
        <pc:sldMkLst>
          <pc:docMk/>
          <pc:sldMk cId="3771250368" sldId="560"/>
        </pc:sldMkLst>
        <pc:spChg chg="mod">
          <ac:chgData name="Ingo Frommholz" userId="ee3b4549-206f-4e4f-93a1-b7ff676f0af7" providerId="ADAL" clId="{5F8971C4-3D52-5FAB-A951-9912A46CDBB0}" dt="2025-11-05T22:24:58.338" v="127" actId="1038"/>
          <ac:spMkLst>
            <pc:docMk/>
            <pc:sldMk cId="3771250368" sldId="560"/>
            <ac:spMk id="8" creationId="{21A8D102-1C16-49D0-9B80-8EAB675A9A7B}"/>
          </ac:spMkLst>
        </pc:spChg>
      </pc:sldChg>
      <pc:sldChg chg="modSp mod">
        <pc:chgData name="Ingo Frommholz" userId="ee3b4549-206f-4e4f-93a1-b7ff676f0af7" providerId="ADAL" clId="{5F8971C4-3D52-5FAB-A951-9912A46CDBB0}" dt="2025-11-05T22:27:53.633" v="196" actId="13926"/>
        <pc:sldMkLst>
          <pc:docMk/>
          <pc:sldMk cId="616702037" sldId="564"/>
        </pc:sldMkLst>
        <pc:spChg chg="mod">
          <ac:chgData name="Ingo Frommholz" userId="ee3b4549-206f-4e4f-93a1-b7ff676f0af7" providerId="ADAL" clId="{5F8971C4-3D52-5FAB-A951-9912A46CDBB0}" dt="2025-11-05T22:27:53.633" v="196" actId="13926"/>
          <ac:spMkLst>
            <pc:docMk/>
            <pc:sldMk cId="616702037" sldId="564"/>
            <ac:spMk id="8" creationId="{21A8D102-1C16-49D0-9B80-8EAB675A9A7B}"/>
          </ac:spMkLst>
        </pc:spChg>
      </pc:sldChg>
      <pc:sldChg chg="addSp delSp modSp mod">
        <pc:chgData name="Ingo Frommholz" userId="ee3b4549-206f-4e4f-93a1-b7ff676f0af7" providerId="ADAL" clId="{5F8971C4-3D52-5FAB-A951-9912A46CDBB0}" dt="2025-11-05T23:21:55.047" v="334"/>
        <pc:sldMkLst>
          <pc:docMk/>
          <pc:sldMk cId="1270159388" sldId="565"/>
        </pc:sldMkLst>
        <pc:spChg chg="add del mod">
          <ac:chgData name="Ingo Frommholz" userId="ee3b4549-206f-4e4f-93a1-b7ff676f0af7" providerId="ADAL" clId="{5F8971C4-3D52-5FAB-A951-9912A46CDBB0}" dt="2025-11-05T23:16:19.884" v="325"/>
          <ac:spMkLst>
            <pc:docMk/>
            <pc:sldMk cId="1270159388" sldId="565"/>
            <ac:spMk id="2" creationId="{991DB83A-58E0-A1B4-5D66-D061F62F1DE9}"/>
          </ac:spMkLst>
        </pc:spChg>
        <pc:spChg chg="add del mod">
          <ac:chgData name="Ingo Frommholz" userId="ee3b4549-206f-4e4f-93a1-b7ff676f0af7" providerId="ADAL" clId="{5F8971C4-3D52-5FAB-A951-9912A46CDBB0}" dt="2025-11-05T23:21:55.047" v="334"/>
          <ac:spMkLst>
            <pc:docMk/>
            <pc:sldMk cId="1270159388" sldId="565"/>
            <ac:spMk id="3" creationId="{F39563EE-A7B2-92C6-07EA-63F976C108E2}"/>
          </ac:spMkLst>
        </pc:spChg>
        <pc:spChg chg="mod">
          <ac:chgData name="Ingo Frommholz" userId="ee3b4549-206f-4e4f-93a1-b7ff676f0af7" providerId="ADAL" clId="{5F8971C4-3D52-5FAB-A951-9912A46CDBB0}" dt="2025-11-05T23:18:38.672" v="331" actId="20577"/>
          <ac:spMkLst>
            <pc:docMk/>
            <pc:sldMk cId="1270159388" sldId="565"/>
            <ac:spMk id="5" creationId="{32638457-2D9F-4863-99CD-F828C4C1BC3C}"/>
          </ac:spMkLst>
        </pc:spChg>
        <pc:spChg chg="mod">
          <ac:chgData name="Ingo Frommholz" userId="ee3b4549-206f-4e4f-93a1-b7ff676f0af7" providerId="ADAL" clId="{5F8971C4-3D52-5FAB-A951-9912A46CDBB0}" dt="2025-11-05T23:16:15.470" v="323" actId="20577"/>
          <ac:spMkLst>
            <pc:docMk/>
            <pc:sldMk cId="1270159388" sldId="565"/>
            <ac:spMk id="6" creationId="{E702544F-B557-4280-BAC4-9E0BD0616E05}"/>
          </ac:spMkLst>
        </pc:spChg>
      </pc:sldChg>
      <pc:sldChg chg="modSp mod">
        <pc:chgData name="Ingo Frommholz" userId="ee3b4549-206f-4e4f-93a1-b7ff676f0af7" providerId="ADAL" clId="{5F8971C4-3D52-5FAB-A951-9912A46CDBB0}" dt="2025-11-05T22:59:43.002" v="248" actId="20577"/>
        <pc:sldMkLst>
          <pc:docMk/>
          <pc:sldMk cId="1431514371" sldId="569"/>
        </pc:sldMkLst>
        <pc:spChg chg="mod">
          <ac:chgData name="Ingo Frommholz" userId="ee3b4549-206f-4e4f-93a1-b7ff676f0af7" providerId="ADAL" clId="{5F8971C4-3D52-5FAB-A951-9912A46CDBB0}" dt="2025-11-05T22:59:43.002" v="248" actId="20577"/>
          <ac:spMkLst>
            <pc:docMk/>
            <pc:sldMk cId="1431514371" sldId="569"/>
            <ac:spMk id="4" creationId="{2C43D9F7-F150-4BAE-8E02-6FEFC3BF421C}"/>
          </ac:spMkLst>
        </pc:spChg>
      </pc:sldChg>
      <pc:sldChg chg="modSp mod">
        <pc:chgData name="Ingo Frommholz" userId="ee3b4549-206f-4e4f-93a1-b7ff676f0af7" providerId="ADAL" clId="{5F8971C4-3D52-5FAB-A951-9912A46CDBB0}" dt="2025-11-05T23:10:57.714" v="291" actId="20577"/>
        <pc:sldMkLst>
          <pc:docMk/>
          <pc:sldMk cId="2678581083" sldId="574"/>
        </pc:sldMkLst>
        <pc:spChg chg="mod">
          <ac:chgData name="Ingo Frommholz" userId="ee3b4549-206f-4e4f-93a1-b7ff676f0af7" providerId="ADAL" clId="{5F8971C4-3D52-5FAB-A951-9912A46CDBB0}" dt="2025-11-05T23:10:57.714" v="291" actId="20577"/>
          <ac:spMkLst>
            <pc:docMk/>
            <pc:sldMk cId="2678581083" sldId="574"/>
            <ac:spMk id="27" creationId="{AF7F6C8C-CA61-401B-AA06-2F9CB1BC532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932237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030285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4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87411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63103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09777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886750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94181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81070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10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638621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793068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59115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31814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24503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980578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511008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34430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034737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460927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252647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25401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907043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639142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24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073200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7373873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5536674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3790979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835610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134060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795436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1327454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3987544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3365218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34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11365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818547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6329904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2956699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38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27754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356558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40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8825056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244208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3008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42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39.xml"/><Relationship Id="rId3" Type="http://schemas.openxmlformats.org/officeDocument/2006/relationships/slide" Target="slide3.xml"/><Relationship Id="rId7" Type="http://schemas.openxmlformats.org/officeDocument/2006/relationships/slide" Target="slide35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5.xml"/><Relationship Id="rId5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4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python-debugger.html#code=def%20test_scope%28%29%3A%0A%20%20%20%20print%28'y%20in%20the%20function',%20y%29%0A%20%20%20%20z%20%3D%205%0A%20%20%20%20print%28'z%20in%20the%20function',%20z%29%0A%0Ay%20%3D%204%0Az%20%3D%203%0Aprint%28'z%20outside%20of%20the%20function',%20z%29%0Atest_scope%28%29%0Aprint%28'z%20outside%20after%20calling%20the%20function',%20z%29&amp;cumulative=false&amp;heapPrimitives=nevernest&amp;mode=edit&amp;origin=opt-frontend.js&amp;py=3&amp;rawInputLstJSON=%5B%5D&amp;textReferences=false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pythontutor.com/python-debugger.html#code=def%20test_scope%28%29%3A%0A%20%20%20%20print%28'z%20in%20the%20function',%20z%29%0A%20%20%20%20y%20%3D%205%20%2B%20z%0A%20%20%20%20print%28'y%20in%20the%20function%20after%20the%20new%20assignment',%20y%29%0A%20%20%20%20%23%20what%20happens%20if%20we%20define%20z%20here%3F%20%3D%3E%20would%20fail%0A%0Ay%20%3D%205%0Az%20%3D%203%0Aprint%28'z%20outside%20of%20the%20function',%20z%29%0Atest_scope%28%29%0Aprint%28'z%20outside%20after%20calling%20the%20function',%20z%29&amp;cumulative=false&amp;heapPrimitives=nevernest&amp;mode=edit&amp;origin=opt-frontend.js&amp;py=3&amp;rawInputLstJSON=%5B%5D&amp;textReferences=false" TargetMode="Externa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tutor.com/python-debugger.html#code=def%20do_stuff1%28x%29%3A%0A%20%20%20%20x%20%2B%3D%205%0A%20%20%20%20print%28'B',%20x%29%0A%0Aval%20%3D%208%0Aprint%28'A',%20val%29%0Ado_stuff1%28val%29%0Aprint%28'C',%20val%29&amp;cumulative=false&amp;heapPrimitives=nevernest&amp;mode=edit&amp;origin=opt-frontend.js&amp;py=3&amp;rawInputLstJSON=%5B%5D&amp;textReferences=false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ythontutor.com/python-debugger.html#code=def%20do_stuff4%28z%29%3A%0A%20%20%20%20print%28'B',%20z%29%0A%20%20%20%20z%20%3D%20%5B8,%205%5D%0A%20%20%20%20print%28'C',%20z%29%0A%0Az%20%3D%20%5B13%5D%0Aprint%28'A',%20z%29%0Ado_stuff4%28z%29%0Aprint%28'D',%20z%29&amp;cumulative=false&amp;heapPrimitives=nevernest&amp;mode=edit&amp;origin=opt-frontend.js&amp;py=3&amp;rawInputLstJSON=%5B%5D&amp;textReferences=false" TargetMode="External"/><Relationship Id="rId5" Type="http://schemas.openxmlformats.org/officeDocument/2006/relationships/hyperlink" Target="https://pythontutor.com/python-debugger.html#code=def%20do_stuff3%28z%29%3A%0A%20%20%20%20print%28'B',%20z%29%0A%20%20%20%20z%20%3D%2013%0A%20%20%20%20print%28'C',%20z%29%0A%0Az%20%3D%208%0Aprint%28'A',%20z%29%0Ado_stuff3%28z%29%0Aprint%28'D',%20z%29&amp;cumulative=false&amp;heapPrimitives=nevernest&amp;mode=edit&amp;origin=opt-frontend.js&amp;py=3&amp;rawInputLstJSON=%5B%5D&amp;textReferences=false" TargetMode="External"/><Relationship Id="rId4" Type="http://schemas.openxmlformats.org/officeDocument/2006/relationships/hyperlink" Target="https://pythontutor.com/python-debugger.html#code=def%20do_stuff2%28x%29%3A%0A%20%20%20%20x.append%285%29%0A%20%20%20%20print%28'B',%20x%29%0A%0Aval%20%3D%20%5B8%5D%0Aprint%28'A',%20val%29%0Ado_stuff2%28val%29%0Aprint%28'C',%20val%29&amp;cumulative=false&amp;heapPrimitives=nevernest&amp;mode=edit&amp;origin=opt-frontend.js&amp;py=3&amp;rawInputLstJSON=%5B%5D&amp;textReferences=false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stackoverflow.com/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ocs.python.org/3/" TargetMode="Externa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897" y="1905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rPr lang="en-US" sz="4400" b="1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Fundamentals of Computer Science and Programming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lang="en-US" sz="4400" b="1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1841930" y="5268389"/>
            <a:ext cx="5131625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Unit 6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Programming Part III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5EBE914-4CDA-45B5-B72B-D9613B9F4C3F}"/>
              </a:ext>
            </a:extLst>
          </p:cNvPr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7707901-CF88-4DD5-92F9-27B080708D9F}"/>
              </a:ext>
            </a:extLst>
          </p:cNvPr>
          <p:cNvSpPr txBox="1"/>
          <p:nvPr/>
        </p:nvSpPr>
        <p:spPr>
          <a:xfrm>
            <a:off x="457200" y="1701579"/>
            <a:ext cx="753386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List comprehensions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Nested loops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Functions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Variable scope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7" action="ppaction://hlinksldjump"/>
              </a:rPr>
              <a:t>Tips for learning programming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8" action="ppaction://hlinksldjump"/>
              </a:rPr>
              <a:t>Example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9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Please consult this week’s </a:t>
            </a:r>
            <a:r>
              <a:rPr lang="en-US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Jupyter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 Notebook for further examples!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List comprehensions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51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List comprehensions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2074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Typically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rewrite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loops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that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create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into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comprehensions</a:t>
            </a:r>
            <a:endParaRPr lang="de-DE" sz="1800" b="1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Syntax: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600" b="1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resulting_list</a:t>
            </a:r>
            <a:r>
              <a:rPr lang="en-US" sz="1600" b="1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[iterator for iterator in sequence]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can combine comprehensions also with conditions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600" b="1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resulting_list</a:t>
            </a:r>
            <a:r>
              <a:rPr lang="en-US" sz="1600" b="1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= [iterator for iterator in sequence if condition]</a:t>
            </a:r>
            <a:endParaRPr lang="de-DE" sz="1600" b="1" dirty="0">
              <a:highlight>
                <a:srgbClr val="DAE3F3"/>
              </a:highlight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39FE531-0789-4F62-ACBA-68FF1E83033B}"/>
              </a:ext>
            </a:extLst>
          </p:cNvPr>
          <p:cNvSpPr/>
          <p:nvPr/>
        </p:nvSpPr>
        <p:spPr>
          <a:xfrm>
            <a:off x="731185" y="3560956"/>
            <a:ext cx="7623717" cy="2839843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squared_numbers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[1, 4, 9]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numbers = []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x in </a:t>
            </a:r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squared_numbers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numbers.append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(x ** (1 / 2))</a:t>
            </a:r>
          </a:p>
          <a:p>
            <a:endParaRPr lang="en-US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endParaRPr lang="en-US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numbers = [x ** (1 / 2) for x in </a:t>
            </a:r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squared_numbers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]</a:t>
            </a:r>
          </a:p>
          <a:p>
            <a:endParaRPr lang="en-US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squared_numbers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[1, 4, 9, -1]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numbers = [x ** (1 / 2) for x in </a:t>
            </a:r>
            <a:r>
              <a:rPr lang="en-US" sz="16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squared_numbers</a:t>
            </a:r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if x &gt; 0]</a:t>
            </a:r>
          </a:p>
        </p:txBody>
      </p:sp>
    </p:spTree>
    <p:extLst>
      <p:ext uri="{BB962C8B-B14F-4D97-AF65-F5344CB8AC3E}">
        <p14:creationId xmlns:p14="http://schemas.microsoft.com/office/powerpoint/2010/main" val="2869594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Nested loops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3094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Nested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7139" y="1605601"/>
            <a:ext cx="8229600" cy="2074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Nested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loop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loop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inside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another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loop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Nested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loop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also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called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inner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loop,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enclosing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loop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outer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loop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Inner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loop will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executed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many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times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there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iterations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in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outer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loop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Total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number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iterations</a:t>
            </a:r>
            <a:endParaRPr lang="de-AT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iterations_inner_loop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* #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iteration_outer_loop</a:t>
            </a:r>
            <a:endParaRPr lang="de-DE" sz="1800" dirty="0">
              <a:highlight>
                <a:srgbClr val="DAE3F3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39FE531-0789-4F62-ACBA-68FF1E83033B}"/>
              </a:ext>
            </a:extLst>
          </p:cNvPr>
          <p:cNvSpPr/>
          <p:nvPr/>
        </p:nvSpPr>
        <p:spPr>
          <a:xfrm>
            <a:off x="731185" y="3925229"/>
            <a:ext cx="7623717" cy="13271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x in range(1, 11):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for y in range(1, 11):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print(x * y, end=' 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print()</a:t>
            </a:r>
          </a:p>
        </p:txBody>
      </p:sp>
    </p:spTree>
    <p:extLst>
      <p:ext uri="{BB962C8B-B14F-4D97-AF65-F5344CB8AC3E}">
        <p14:creationId xmlns:p14="http://schemas.microsoft.com/office/powerpoint/2010/main" val="3771250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Nested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951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can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combine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different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kinds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loops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each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other</a:t>
            </a:r>
            <a:endParaRPr lang="de-AT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Recollect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our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line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fitting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example</a:t>
            </a:r>
            <a:endParaRPr lang="de-DE" sz="1800" dirty="0">
              <a:highlight>
                <a:srgbClr val="DAE3F3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39FE531-0789-4F62-ACBA-68FF1E83033B}"/>
              </a:ext>
            </a:extLst>
          </p:cNvPr>
          <p:cNvSpPr/>
          <p:nvPr/>
        </p:nvSpPr>
        <p:spPr>
          <a:xfrm>
            <a:off x="760141" y="2745627"/>
            <a:ext cx="7623717" cy="3092605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…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while abs(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error_old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- error) &gt;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tol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a_grad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0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b_grad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0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for point in data: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a_grad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+= (a * point[0] + b - point[1]) * point[0]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b_grad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+= a * point[0] + b - point[1]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a -=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learning_rate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*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a_grad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b -=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learning_rate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*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b_grad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037727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Nested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951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can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use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break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AT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continue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within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nested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loops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well</a:t>
            </a:r>
            <a:endParaRPr lang="de-AT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They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always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associated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loop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where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use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them</a:t>
            </a:r>
            <a:endParaRPr lang="de-DE" sz="1800" dirty="0">
              <a:highlight>
                <a:srgbClr val="DAE3F3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39FE531-0789-4F62-ACBA-68FF1E83033B}"/>
              </a:ext>
            </a:extLst>
          </p:cNvPr>
          <p:cNvSpPr/>
          <p:nvPr/>
        </p:nvSpPr>
        <p:spPr>
          <a:xfrm>
            <a:off x="819615" y="2485432"/>
            <a:ext cx="7623717" cy="3838053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, row in enumerate(list):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for j, e in enumerate(row):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if e &gt;= 0: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[{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}][{j}]: {e}')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else: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break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, row in enumerate(list):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for j, e in enumerate(row):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if e &gt;= 0: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f'list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[{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}][{j}]: {e}')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else: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    continue</a:t>
            </a:r>
          </a:p>
        </p:txBody>
      </p:sp>
    </p:spTree>
    <p:extLst>
      <p:ext uri="{BB962C8B-B14F-4D97-AF65-F5344CB8AC3E}">
        <p14:creationId xmlns:p14="http://schemas.microsoft.com/office/powerpoint/2010/main" val="20885753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Nested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2"/>
            <a:ext cx="8229600" cy="720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can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also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combine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nested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loops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comprehensions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39FE531-0789-4F62-ACBA-68FF1E83033B}"/>
              </a:ext>
            </a:extLst>
          </p:cNvPr>
          <p:cNvSpPr/>
          <p:nvPr/>
        </p:nvSpPr>
        <p:spPr>
          <a:xfrm>
            <a:off x="760141" y="2697950"/>
            <a:ext cx="7623717" cy="2205514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products = []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x in first: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for y in second: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products.append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(x * y)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products = [x * y for x in first for y in second]</a:t>
            </a:r>
          </a:p>
        </p:txBody>
      </p:sp>
    </p:spTree>
    <p:extLst>
      <p:ext uri="{BB962C8B-B14F-4D97-AF65-F5344CB8AC3E}">
        <p14:creationId xmlns:p14="http://schemas.microsoft.com/office/powerpoint/2010/main" val="31051793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Nested loops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2"/>
            <a:ext cx="8229600" cy="2728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Nested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loops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often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used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multi-dimensional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data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structures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See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notebook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example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39FE531-0789-4F62-ACBA-68FF1E83033B}"/>
              </a:ext>
            </a:extLst>
          </p:cNvPr>
          <p:cNvSpPr/>
          <p:nvPr/>
        </p:nvSpPr>
        <p:spPr>
          <a:xfrm>
            <a:off x="760141" y="2326243"/>
            <a:ext cx="7623717" cy="142800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products = [['tv', 'computer'], ['plate', 'glass']]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category in products: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for product in category: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    print(product)</a:t>
            </a:r>
          </a:p>
        </p:txBody>
      </p:sp>
    </p:spTree>
    <p:extLst>
      <p:ext uri="{BB962C8B-B14F-4D97-AF65-F5344CB8AC3E}">
        <p14:creationId xmlns:p14="http://schemas.microsoft.com/office/powerpoint/2010/main" val="616702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27889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Functions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2929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„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Named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“ block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code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solving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specific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task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Reusable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readable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easier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maintain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Examples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Python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len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print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input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… 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Defined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keyword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def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name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parametrs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Code block in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indented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4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spaces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Executed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via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call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After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execution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main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program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continues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its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execution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may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main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program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39FE531-0789-4F62-ACBA-68FF1E83033B}"/>
              </a:ext>
            </a:extLst>
          </p:cNvPr>
          <p:cNvSpPr/>
          <p:nvPr/>
        </p:nvSpPr>
        <p:spPr>
          <a:xfrm>
            <a:off x="1071372" y="4658608"/>
            <a:ext cx="7001256" cy="135561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test_function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(param):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f'You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passed "{param}" to this function')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test_function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(13)</a:t>
            </a:r>
          </a:p>
        </p:txBody>
      </p:sp>
    </p:spTree>
    <p:extLst>
      <p:ext uri="{BB962C8B-B14F-4D97-AF65-F5344CB8AC3E}">
        <p14:creationId xmlns:p14="http://schemas.microsoft.com/office/powerpoint/2010/main" val="2965119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Functions: basic concepts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D0F3B3B-1F09-4C88-9439-6F2654DFBE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13944" y="1748520"/>
            <a:ext cx="3916707" cy="3875340"/>
          </a:xfrm>
          <a:prstGeom prst="rect">
            <a:avLst/>
          </a:prstGeom>
          <a:ln w="0">
            <a:noFill/>
          </a:ln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FB53FF2-0E47-46ED-9763-F3860B8ECA9F}"/>
              </a:ext>
            </a:extLst>
          </p:cNvPr>
          <p:cNvSpPr txBox="1"/>
          <p:nvPr/>
        </p:nvSpPr>
        <p:spPr>
          <a:xfrm>
            <a:off x="283058" y="5529496"/>
            <a:ext cx="4381606" cy="330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200" b="0" strike="noStrike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https://commons.wikimedia.org/wiki/File:Function_machine2.svg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5865C0F-96B3-416B-B95C-7AAB5FCF521D}"/>
              </a:ext>
            </a:extLst>
          </p:cNvPr>
          <p:cNvSpPr txBox="1"/>
          <p:nvPr/>
        </p:nvSpPr>
        <p:spPr>
          <a:xfrm>
            <a:off x="4695550" y="2076300"/>
            <a:ext cx="3722976" cy="3680923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 parameters (arguments)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 logic (code)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00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Return value, 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r>
              <a:rPr lang="en-US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onsole output, 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en-US" sz="1800" b="0" strike="noStrike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arameter updates, ...</a:t>
            </a:r>
            <a:endParaRPr lang="en-US" sz="1800" b="0" strike="noStrike" spc="-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427F5B7C-2605-45E7-9D8D-BEF4A55EE2B7}"/>
              </a:ext>
            </a:extLst>
          </p:cNvPr>
          <p:cNvSpPr>
            <a:spLocks noChangeAspect="1"/>
          </p:cNvSpPr>
          <p:nvPr/>
        </p:nvSpPr>
        <p:spPr>
          <a:xfrm>
            <a:off x="4309038" y="2076300"/>
            <a:ext cx="355627" cy="407255"/>
          </a:xfrm>
          <a:custGeom>
            <a:avLst/>
            <a:gdLst>
              <a:gd name="textAreaLeft" fmla="*/ 0 w 399240"/>
              <a:gd name="textAreaRight" fmla="*/ 144000 w 399240"/>
              <a:gd name="textAreaTop" fmla="*/ 11880 h 457200"/>
              <a:gd name="textAreaBottom" fmla="*/ 445320 h 45720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0" y="0"/>
                </a:moveTo>
                <a:cubicBezTo>
                  <a:pt x="5400" y="0"/>
                  <a:pt x="10800" y="900"/>
                  <a:pt x="10800" y="1800"/>
                </a:cubicBezTo>
                <a:lnTo>
                  <a:pt x="10800" y="9000"/>
                </a:lnTo>
                <a:cubicBezTo>
                  <a:pt x="10800" y="9900"/>
                  <a:pt x="16200" y="10800"/>
                  <a:pt x="21600" y="10800"/>
                </a:cubicBezTo>
                <a:cubicBezTo>
                  <a:pt x="16200" y="10800"/>
                  <a:pt x="10800" y="11700"/>
                  <a:pt x="10800" y="12600"/>
                </a:cubicBezTo>
                <a:lnTo>
                  <a:pt x="10800" y="19800"/>
                </a:lnTo>
                <a:cubicBezTo>
                  <a:pt x="10800" y="20700"/>
                  <a:pt x="5400" y="21600"/>
                  <a:pt x="0" y="21600"/>
                </a:cubicBezTo>
              </a:path>
            </a:pathLst>
          </a:custGeom>
          <a:noFill/>
          <a:ln w="3672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787F7A0D-7415-4956-90C4-2A19D050CF8F}"/>
              </a:ext>
            </a:extLst>
          </p:cNvPr>
          <p:cNvSpPr>
            <a:spLocks noChangeAspect="1"/>
          </p:cNvSpPr>
          <p:nvPr/>
        </p:nvSpPr>
        <p:spPr>
          <a:xfrm>
            <a:off x="4309038" y="2912082"/>
            <a:ext cx="355627" cy="1384668"/>
          </a:xfrm>
          <a:custGeom>
            <a:avLst/>
            <a:gdLst>
              <a:gd name="textAreaLeft" fmla="*/ 0 w 399240"/>
              <a:gd name="textAreaRight" fmla="*/ 144000 w 399240"/>
              <a:gd name="textAreaTop" fmla="*/ 40320 h 1554480"/>
              <a:gd name="textAreaBottom" fmla="*/ 1514160 h 155448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0" y="0"/>
                </a:moveTo>
                <a:cubicBezTo>
                  <a:pt x="5400" y="0"/>
                  <a:pt x="10800" y="900"/>
                  <a:pt x="10800" y="1800"/>
                </a:cubicBezTo>
                <a:lnTo>
                  <a:pt x="10800" y="9000"/>
                </a:lnTo>
                <a:cubicBezTo>
                  <a:pt x="10800" y="9900"/>
                  <a:pt x="16200" y="10800"/>
                  <a:pt x="21600" y="10800"/>
                </a:cubicBezTo>
                <a:cubicBezTo>
                  <a:pt x="16200" y="10800"/>
                  <a:pt x="10800" y="11700"/>
                  <a:pt x="10800" y="12600"/>
                </a:cubicBezTo>
                <a:lnTo>
                  <a:pt x="10800" y="19800"/>
                </a:lnTo>
                <a:cubicBezTo>
                  <a:pt x="10800" y="20700"/>
                  <a:pt x="5400" y="21600"/>
                  <a:pt x="0" y="21600"/>
                </a:cubicBezTo>
              </a:path>
            </a:pathLst>
          </a:custGeom>
          <a:noFill/>
          <a:ln w="3672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28E1816E-0D52-4B14-B649-3172D5782A90}"/>
              </a:ext>
            </a:extLst>
          </p:cNvPr>
          <p:cNvSpPr>
            <a:spLocks noChangeAspect="1"/>
          </p:cNvSpPr>
          <p:nvPr/>
        </p:nvSpPr>
        <p:spPr>
          <a:xfrm>
            <a:off x="4309037" y="4868081"/>
            <a:ext cx="355627" cy="419441"/>
          </a:xfrm>
          <a:custGeom>
            <a:avLst/>
            <a:gdLst>
              <a:gd name="textAreaLeft" fmla="*/ 0 w 399240"/>
              <a:gd name="textAreaRight" fmla="*/ 144000 w 399240"/>
              <a:gd name="textAreaTop" fmla="*/ 12240 h 470880"/>
              <a:gd name="textAreaBottom" fmla="*/ 458640 h 47088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0" y="0"/>
                </a:moveTo>
                <a:cubicBezTo>
                  <a:pt x="5400" y="0"/>
                  <a:pt x="10800" y="900"/>
                  <a:pt x="10800" y="1800"/>
                </a:cubicBezTo>
                <a:lnTo>
                  <a:pt x="10800" y="9000"/>
                </a:lnTo>
                <a:cubicBezTo>
                  <a:pt x="10800" y="9900"/>
                  <a:pt x="16200" y="10800"/>
                  <a:pt x="21600" y="10800"/>
                </a:cubicBezTo>
                <a:cubicBezTo>
                  <a:pt x="16200" y="10800"/>
                  <a:pt x="10800" y="11700"/>
                  <a:pt x="10800" y="12600"/>
                </a:cubicBezTo>
                <a:lnTo>
                  <a:pt x="10800" y="19800"/>
                </a:lnTo>
                <a:cubicBezTo>
                  <a:pt x="10800" y="20700"/>
                  <a:pt x="5400" y="21600"/>
                  <a:pt x="0" y="21600"/>
                </a:cubicBezTo>
              </a:path>
            </a:pathLst>
          </a:custGeom>
          <a:noFill/>
          <a:ln w="3672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1665496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 for basic concepts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D0F3B3B-1F09-4C88-9439-6F2654DFBE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45633" y="2700093"/>
            <a:ext cx="2957513" cy="2926080"/>
          </a:xfrm>
          <a:prstGeom prst="rect">
            <a:avLst/>
          </a:prstGeom>
          <a:ln w="0">
            <a:noFill/>
          </a:ln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1740DAFB-08AB-4CA9-A926-275EAAE2799D}"/>
              </a:ext>
            </a:extLst>
          </p:cNvPr>
          <p:cNvSpPr txBox="1"/>
          <p:nvPr/>
        </p:nvSpPr>
        <p:spPr>
          <a:xfrm>
            <a:off x="2754352" y="1807660"/>
            <a:ext cx="4367561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lvl="1">
              <a:spcBef>
                <a:spcPts val="1134"/>
              </a:spcBef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print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('This',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'a',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')</a:t>
            </a:r>
            <a:endParaRPr lang="en-US" sz="1800" spc="-1" dirty="0">
              <a:latin typeface="Consolas" panose="020B0609020204030204" pitchFamily="49" charset="0"/>
            </a:endParaRPr>
          </a:p>
          <a:p>
            <a:pPr marL="405000" lvl="1" indent="0">
              <a:spcBef>
                <a:spcPts val="1134"/>
              </a:spcBef>
              <a:buNone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7DF7E7FA-1C3A-41C6-A26E-3D4FCDDD9A21}"/>
              </a:ext>
            </a:extLst>
          </p:cNvPr>
          <p:cNvSpPr txBox="1"/>
          <p:nvPr/>
        </p:nvSpPr>
        <p:spPr>
          <a:xfrm>
            <a:off x="2754352" y="2735475"/>
            <a:ext cx="4367561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lvl="1">
              <a:spcBef>
                <a:spcPts val="1134"/>
              </a:spcBef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'This',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is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', 'a',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</a:t>
            </a: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F009E6A-E53B-4413-9453-A4E69E5D9D9D}"/>
              </a:ext>
            </a:extLst>
          </p:cNvPr>
          <p:cNvSpPr txBox="1"/>
          <p:nvPr/>
        </p:nvSpPr>
        <p:spPr>
          <a:xfrm>
            <a:off x="4087207" y="5100987"/>
            <a:ext cx="2007220" cy="430370"/>
          </a:xfrm>
          <a:prstGeom prst="rect">
            <a:avLst/>
          </a:prstGeom>
          <a:solidFill>
            <a:schemeClr val="tx1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spcBef>
                <a:spcPts val="1134"/>
              </a:spcBef>
            </a:pPr>
            <a:r>
              <a:rPr lang="de-AT" sz="1800" spc="-1" dirty="0">
                <a:solidFill>
                  <a:srgbClr val="00B050"/>
                </a:solidFill>
                <a:latin typeface="Consolas" panose="020B0609020204030204" pitchFamily="49" charset="0"/>
                <a:ea typeface="Droid Sans Fallback"/>
              </a:rPr>
              <a:t>This </a:t>
            </a:r>
            <a:r>
              <a:rPr lang="de-AT" sz="1800" spc="-1" dirty="0" err="1">
                <a:solidFill>
                  <a:srgbClr val="00B050"/>
                </a:solidFill>
                <a:latin typeface="Consolas" panose="020B0609020204030204" pitchFamily="49" charset="0"/>
                <a:ea typeface="Droid Sans Fallback"/>
              </a:rPr>
              <a:t>is</a:t>
            </a:r>
            <a:r>
              <a:rPr lang="de-AT" sz="1800" spc="-1" dirty="0">
                <a:solidFill>
                  <a:srgbClr val="00B050"/>
                </a:solidFill>
                <a:latin typeface="Consolas" panose="020B0609020204030204" pitchFamily="49" charset="0"/>
                <a:ea typeface="Droid Sans Fallback"/>
              </a:rPr>
              <a:t> a </a:t>
            </a:r>
            <a:r>
              <a:rPr lang="de-AT" sz="1800" spc="-1" dirty="0" err="1">
                <a:solidFill>
                  <a:srgbClr val="00B050"/>
                </a:solidFill>
                <a:latin typeface="Consolas" panose="020B0609020204030204" pitchFamily="49" charset="0"/>
                <a:ea typeface="Droid Sans Fallback"/>
              </a:rPr>
              <a:t>test</a:t>
            </a:r>
            <a:endParaRPr lang="en-US" sz="1800" spc="-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 marL="405000" lvl="1" indent="0">
              <a:spcBef>
                <a:spcPts val="1134"/>
              </a:spcBef>
              <a:buNone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76F8C08-89A1-4D26-9A47-CB357C5A0626}"/>
              </a:ext>
            </a:extLst>
          </p:cNvPr>
          <p:cNvSpPr txBox="1"/>
          <p:nvPr/>
        </p:nvSpPr>
        <p:spPr>
          <a:xfrm>
            <a:off x="1710476" y="180766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3A80726-EF43-4C88-817D-41D63FF95C6D}"/>
              </a:ext>
            </a:extLst>
          </p:cNvPr>
          <p:cNvSpPr txBox="1"/>
          <p:nvPr/>
        </p:nvSpPr>
        <p:spPr>
          <a:xfrm>
            <a:off x="1425142" y="2735475"/>
            <a:ext cx="13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Parameters: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C8ECFD2B-A6A0-400D-8D5A-9EC6584335FA}"/>
              </a:ext>
            </a:extLst>
          </p:cNvPr>
          <p:cNvSpPr txBox="1"/>
          <p:nvPr/>
        </p:nvSpPr>
        <p:spPr>
          <a:xfrm>
            <a:off x="2398924" y="5119583"/>
            <a:ext cx="1688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Console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output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5969664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 for basic concepts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D0F3B3B-1F09-4C88-9439-6F2654DFBE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45633" y="2700093"/>
            <a:ext cx="2957513" cy="2926080"/>
          </a:xfrm>
          <a:prstGeom prst="rect">
            <a:avLst/>
          </a:prstGeom>
          <a:ln w="0">
            <a:noFill/>
          </a:ln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1740DAFB-08AB-4CA9-A926-275EAAE2799D}"/>
              </a:ext>
            </a:extLst>
          </p:cNvPr>
          <p:cNvSpPr txBox="1"/>
          <p:nvPr/>
        </p:nvSpPr>
        <p:spPr>
          <a:xfrm>
            <a:off x="2754352" y="1807660"/>
            <a:ext cx="4367561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lvl="1">
              <a:spcBef>
                <a:spcPts val="1134"/>
              </a:spcBef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len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([4, 8,'This',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'])</a:t>
            </a:r>
            <a:endParaRPr lang="en-US" sz="1800" spc="-1" dirty="0">
              <a:latin typeface="Consolas" panose="020B0609020204030204" pitchFamily="49" charset="0"/>
            </a:endParaRPr>
          </a:p>
          <a:p>
            <a:pPr marL="405000" lvl="1" indent="0">
              <a:spcBef>
                <a:spcPts val="1134"/>
              </a:spcBef>
              <a:buNone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7DF7E7FA-1C3A-41C6-A26E-3D4FCDDD9A21}"/>
              </a:ext>
            </a:extLst>
          </p:cNvPr>
          <p:cNvSpPr txBox="1"/>
          <p:nvPr/>
        </p:nvSpPr>
        <p:spPr>
          <a:xfrm>
            <a:off x="2754352" y="2735475"/>
            <a:ext cx="4367561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lvl="1">
              <a:spcBef>
                <a:spcPts val="1134"/>
              </a:spcBef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[4, 8,'This', '</a:t>
            </a: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test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']</a:t>
            </a: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F009E6A-E53B-4413-9453-A4E69E5D9D9D}"/>
              </a:ext>
            </a:extLst>
          </p:cNvPr>
          <p:cNvSpPr txBox="1"/>
          <p:nvPr/>
        </p:nvSpPr>
        <p:spPr>
          <a:xfrm>
            <a:off x="5389185" y="5108017"/>
            <a:ext cx="312804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spcBef>
                <a:spcPts val="1134"/>
              </a:spcBef>
            </a:pPr>
            <a:r>
              <a:rPr lang="de-AT" sz="1800" spc="-1" dirty="0">
                <a:solidFill>
                  <a:schemeClr val="tx1"/>
                </a:solidFill>
                <a:latin typeface="Consolas" panose="020B0609020204030204" pitchFamily="49" charset="0"/>
                <a:ea typeface="Droid Sans Fallback"/>
              </a:rPr>
              <a:t>4</a:t>
            </a:r>
            <a:endParaRPr lang="en-US" sz="1800" spc="-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405000" lvl="1" indent="0">
              <a:spcBef>
                <a:spcPts val="1134"/>
              </a:spcBef>
              <a:buNone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76F8C08-89A1-4D26-9A47-CB357C5A0626}"/>
              </a:ext>
            </a:extLst>
          </p:cNvPr>
          <p:cNvSpPr txBox="1"/>
          <p:nvPr/>
        </p:nvSpPr>
        <p:spPr>
          <a:xfrm>
            <a:off x="1710476" y="180766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3A80726-EF43-4C88-817D-41D63FF95C6D}"/>
              </a:ext>
            </a:extLst>
          </p:cNvPr>
          <p:cNvSpPr txBox="1"/>
          <p:nvPr/>
        </p:nvSpPr>
        <p:spPr>
          <a:xfrm>
            <a:off x="1425142" y="2735475"/>
            <a:ext cx="13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Parameters: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C8ECFD2B-A6A0-400D-8D5A-9EC6584335FA}"/>
              </a:ext>
            </a:extLst>
          </p:cNvPr>
          <p:cNvSpPr txBox="1"/>
          <p:nvPr/>
        </p:nvSpPr>
        <p:spPr>
          <a:xfrm>
            <a:off x="3846313" y="5108017"/>
            <a:ext cx="154287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Return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5903285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 for basic concepts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D0F3B3B-1F09-4C88-9439-6F2654DFBE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45633" y="2700093"/>
            <a:ext cx="2957513" cy="2926080"/>
          </a:xfrm>
          <a:prstGeom prst="rect">
            <a:avLst/>
          </a:prstGeom>
          <a:ln w="0">
            <a:noFill/>
          </a:ln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1740DAFB-08AB-4CA9-A926-275EAAE2799D}"/>
              </a:ext>
            </a:extLst>
          </p:cNvPr>
          <p:cNvSpPr txBox="1"/>
          <p:nvPr/>
        </p:nvSpPr>
        <p:spPr>
          <a:xfrm>
            <a:off x="2754352" y="1807660"/>
            <a:ext cx="4367561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lvl="1">
              <a:spcBef>
                <a:spcPts val="1134"/>
              </a:spcBef>
            </a:pPr>
            <a:r>
              <a:rPr lang="de-AT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random.randomint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(1, 100)</a:t>
            </a:r>
            <a:endParaRPr lang="en-US" sz="1800" spc="-1" dirty="0">
              <a:latin typeface="Consolas" panose="020B0609020204030204" pitchFamily="49" charset="0"/>
            </a:endParaRPr>
          </a:p>
          <a:p>
            <a:pPr marL="405000" lvl="1" indent="0">
              <a:spcBef>
                <a:spcPts val="1134"/>
              </a:spcBef>
              <a:buNone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7DF7E7FA-1C3A-41C6-A26E-3D4FCDDD9A21}"/>
              </a:ext>
            </a:extLst>
          </p:cNvPr>
          <p:cNvSpPr txBox="1"/>
          <p:nvPr/>
        </p:nvSpPr>
        <p:spPr>
          <a:xfrm>
            <a:off x="2754352" y="2735475"/>
            <a:ext cx="4367561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 lvl="1">
              <a:spcBef>
                <a:spcPts val="1134"/>
              </a:spcBef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1, 100</a:t>
            </a: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1F009E6A-E53B-4413-9453-A4E69E5D9D9D}"/>
              </a:ext>
            </a:extLst>
          </p:cNvPr>
          <p:cNvSpPr txBox="1"/>
          <p:nvPr/>
        </p:nvSpPr>
        <p:spPr>
          <a:xfrm>
            <a:off x="5389184" y="5108017"/>
            <a:ext cx="513962" cy="430370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txBody>
          <a:bodyPr lIns="90000" tIns="45000" rIns="90000" bIns="45000" anchor="t">
            <a:noAutofit/>
          </a:bodyPr>
          <a:lstStyle/>
          <a:p>
            <a:pPr>
              <a:spcBef>
                <a:spcPts val="1134"/>
              </a:spcBef>
            </a:pPr>
            <a:r>
              <a:rPr lang="en-US" sz="1800" spc="-1" dirty="0">
                <a:solidFill>
                  <a:schemeClr val="tx1"/>
                </a:solidFill>
                <a:latin typeface="Consolas" panose="020B0609020204030204" pitchFamily="49" charset="0"/>
              </a:rPr>
              <a:t>13</a:t>
            </a:r>
          </a:p>
          <a:p>
            <a:pPr marL="405000" lvl="1" indent="0">
              <a:spcBef>
                <a:spcPts val="1134"/>
              </a:spcBef>
              <a:buNone/>
            </a:pPr>
            <a:endParaRPr kumimoji="0" lang="en-US" sz="1800" b="0" i="0" u="none" strike="noStrike" kern="0" cap="none" spc="-1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sym typeface="Arial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76F8C08-89A1-4D26-9A47-CB357C5A0626}"/>
              </a:ext>
            </a:extLst>
          </p:cNvPr>
          <p:cNvSpPr txBox="1"/>
          <p:nvPr/>
        </p:nvSpPr>
        <p:spPr>
          <a:xfrm>
            <a:off x="1710476" y="180766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3A80726-EF43-4C88-817D-41D63FF95C6D}"/>
              </a:ext>
            </a:extLst>
          </p:cNvPr>
          <p:cNvSpPr txBox="1"/>
          <p:nvPr/>
        </p:nvSpPr>
        <p:spPr>
          <a:xfrm>
            <a:off x="1425142" y="2735475"/>
            <a:ext cx="13292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Parameters: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C8ECFD2B-A6A0-400D-8D5A-9EC6584335FA}"/>
              </a:ext>
            </a:extLst>
          </p:cNvPr>
          <p:cNvSpPr txBox="1"/>
          <p:nvPr/>
        </p:nvSpPr>
        <p:spPr>
          <a:xfrm>
            <a:off x="3846313" y="5108017"/>
            <a:ext cx="154287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Return </a:t>
            </a:r>
            <a:r>
              <a:rPr lang="de-AT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AT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21013039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Definition and call of functions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1042416" y="2010251"/>
            <a:ext cx="7001256" cy="2472539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def test_simple():</a:t>
            </a: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    print(f'Hi everyone!') </a:t>
            </a:r>
          </a:p>
          <a:p>
            <a:endParaRPr lang="en-US" sz="1800" spc="-1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def test_param(param):</a:t>
            </a: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    print(f'You passed "{param}" to this function') </a:t>
            </a:r>
          </a:p>
          <a:p>
            <a:endParaRPr lang="en-US" sz="1800" spc="-1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test_simple()</a:t>
            </a:r>
          </a:p>
          <a:p>
            <a:r>
              <a:rPr lang="en-US" sz="1800" spc="-1">
                <a:solidFill>
                  <a:srgbClr val="0F0F0F"/>
                </a:solidFill>
                <a:latin typeface="Consolas" panose="020B0609020204030204" pitchFamily="49" charset="0"/>
              </a:rPr>
              <a:t>test_param('Hello!')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EF7CA25-84A0-4821-9D4D-BD17F39439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13317" y="4631297"/>
            <a:ext cx="8229600" cy="632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See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notebook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example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62529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Function parameters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1042416" y="4329225"/>
            <a:ext cx="7001256" cy="1360449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(first, last, </a:t>
            </a:r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country='Austria'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f'Firstname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is {first}, surname is {last}.')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live in {country}.')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</a:t>
            </a:r>
            <a:r>
              <a:rPr lang="en-US" sz="1800" spc="-1" dirty="0">
                <a:solidFill>
                  <a:srgbClr val="C00000"/>
                </a:solidFill>
                <a:latin typeface="Consolas" panose="020B0609020204030204" pitchFamily="49" charset="0"/>
              </a:rPr>
              <a:t>'Jane'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, </a:t>
            </a:r>
            <a:r>
              <a:rPr lang="en-US" sz="1800" spc="-1" dirty="0">
                <a:solidFill>
                  <a:srgbClr val="00B0F0"/>
                </a:solidFill>
                <a:latin typeface="Consolas" panose="020B0609020204030204" pitchFamily="49" charset="0"/>
              </a:rPr>
              <a:t>last='Doe'</a:t>
            </a:r>
            <a:r>
              <a:rPr lang="en-US" sz="1800" spc="-1" dirty="0">
                <a:solidFill>
                  <a:schemeClr val="tx1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EF7CA25-84A0-4821-9D4D-BD17F39439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28186" y="1687501"/>
            <a:ext cx="8229600" cy="23715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Types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parameters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passing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rgbClr val="C00000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Positional</a:t>
            </a:r>
            <a:r>
              <a:rPr lang="de-DE" sz="1800" dirty="0">
                <a:solidFill>
                  <a:srgbClr val="C00000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rgbClr val="C00000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parameters</a:t>
            </a:r>
            <a:endParaRPr lang="de-DE" sz="1800" dirty="0">
              <a:solidFill>
                <a:srgbClr val="C00000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Identified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through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position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rgbClr val="00B0F0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Keyword </a:t>
            </a:r>
            <a:r>
              <a:rPr lang="de-DE" sz="1800" dirty="0" err="1">
                <a:solidFill>
                  <a:srgbClr val="00B0F0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parameters</a:t>
            </a:r>
            <a:endParaRPr lang="de-DE" sz="1800" dirty="0">
              <a:solidFill>
                <a:srgbClr val="00B0F0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Identified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name</a:t>
            </a:r>
            <a:endParaRPr lang="de-DE" sz="1800" dirty="0">
              <a:solidFill>
                <a:schemeClr val="tx1"/>
              </a:solidFill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accent2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Default </a:t>
            </a:r>
            <a:r>
              <a:rPr lang="de-DE" sz="1800" dirty="0" err="1">
                <a:solidFill>
                  <a:schemeClr val="accent2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values</a:t>
            </a:r>
            <a:r>
              <a:rPr lang="de-DE" sz="1800" dirty="0">
                <a:solidFill>
                  <a:schemeClr val="accent2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are</a:t>
            </a:r>
            <a:r>
              <a:rPr lang="de-DE" sz="1800" dirty="0">
                <a:solidFill>
                  <a:schemeClr val="tx1"/>
                </a:solidFill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possible</a:t>
            </a: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0271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Function parameters: valid calls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825617" y="1556768"/>
            <a:ext cx="7492765" cy="4383115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(first, last, country='Austria'):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f'Firstname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is {first}, surname is {last}.')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f'I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live in {country}.')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Positional parameters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('John', 'Doe')            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('Jane', 'Doe', 'Germany')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Keyword parameters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(first='John', last='Doe')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(country='Germany', first='Jane', last='Doe')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# Mix of both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('Jane', country='Germany', last='Doe')</a:t>
            </a:r>
          </a:p>
        </p:txBody>
      </p:sp>
    </p:spTree>
    <p:extLst>
      <p:ext uri="{BB962C8B-B14F-4D97-AF65-F5344CB8AC3E}">
        <p14:creationId xmlns:p14="http://schemas.microsoft.com/office/powerpoint/2010/main" val="35884353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Function parameters: common mistakes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1"/>
            <a:ext cx="8229600" cy="2371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Confusing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order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Typo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when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assigning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keyword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Wrong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number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(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TypeError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Positional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after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keyword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Wrong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data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types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parameters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...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23988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Function parameters: common mistakes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650701" y="1541900"/>
            <a:ext cx="7842598" cy="419726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def </a:t>
            </a:r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(first, last, country='Austria'):</a:t>
            </a:r>
          </a:p>
          <a:p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f'Firstname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 is {first}, surname is {last}.')</a:t>
            </a:r>
          </a:p>
          <a:p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</a:t>
            </a:r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f'I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 live in {country}.')</a:t>
            </a:r>
          </a:p>
          <a:p>
            <a:endParaRPr lang="en-US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('Max')</a:t>
            </a:r>
          </a:p>
          <a:p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  # </a:t>
            </a:r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TypeError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: </a:t>
            </a:r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() missing 1 required positional argument: '</a:t>
            </a:r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last_name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'</a:t>
            </a:r>
          </a:p>
          <a:p>
            <a:endParaRPr lang="en-US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('Austria', 'Muster', 'Max')</a:t>
            </a:r>
          </a:p>
          <a:p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  # No execution error but a logical mistake</a:t>
            </a:r>
          </a:p>
          <a:p>
            <a:endParaRPr lang="en-US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(fs='Max', last='Muster')</a:t>
            </a:r>
          </a:p>
          <a:p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  # </a:t>
            </a:r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TypeError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: </a:t>
            </a:r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() got an unexpected keyword argument 'fs'</a:t>
            </a:r>
          </a:p>
          <a:p>
            <a:endParaRPr lang="en-US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say_name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(first='Max', 'Muster')</a:t>
            </a:r>
          </a:p>
          <a:p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  # </a:t>
            </a:r>
            <a:r>
              <a:rPr lang="en-US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SyntaxError</a:t>
            </a:r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: positional argument follows keyword argument</a:t>
            </a:r>
          </a:p>
          <a:p>
            <a:endParaRPr lang="en-US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pc="-1" dirty="0">
                <a:solidFill>
                  <a:srgbClr val="0F0F0F"/>
                </a:solidFill>
                <a:latin typeface="Consolas" panose="020B0609020204030204" pitchFamily="49" charset="0"/>
              </a:rPr>
              <a:t># There are many more possibilities for errors :-)</a:t>
            </a:r>
          </a:p>
        </p:txBody>
      </p:sp>
    </p:spTree>
    <p:extLst>
      <p:ext uri="{BB962C8B-B14F-4D97-AF65-F5344CB8AC3E}">
        <p14:creationId xmlns:p14="http://schemas.microsoft.com/office/powerpoint/2010/main" val="23735446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Return values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804E025-6CC7-44C4-AD79-69A4EA4376F3}"/>
              </a:ext>
            </a:extLst>
          </p:cNvPr>
          <p:cNvSpPr/>
          <p:nvPr/>
        </p:nvSpPr>
        <p:spPr>
          <a:xfrm>
            <a:off x="650700" y="4135814"/>
            <a:ext cx="7842598" cy="193548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format_name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(first, last):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full_name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f'{first} {last}'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full_name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full_name.title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return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full_name</a:t>
            </a:r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name 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format_name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('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aRnOlD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', '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sChWaRzEnEgGeR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')</a:t>
            </a: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C43D9F7-F150-4BAE-8E02-6FEFC3BF4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1590733"/>
            <a:ext cx="8036099" cy="23716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Often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compute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some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in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newly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computed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functions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main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program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Returnig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values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Keyword: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return</a:t>
            </a:r>
            <a:endParaRPr lang="de-DE" sz="1800" dirty="0"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Immediate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main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program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Also possible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without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</a:t>
            </a: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B50F95F-A306-4BA1-8ED8-95D658BF3D91}"/>
              </a:ext>
            </a:extLst>
          </p:cNvPr>
          <p:cNvSpPr txBox="1"/>
          <p:nvPr/>
        </p:nvSpPr>
        <p:spPr>
          <a:xfrm>
            <a:off x="2742812" y="4535416"/>
            <a:ext cx="3278848" cy="362580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en-US" sz="1800" b="0" strike="noStrike" spc="-1" dirty="0" err="1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aRnOlD</a:t>
            </a:r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800" b="0" strike="noStrike" spc="-1" dirty="0" err="1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sChWaRzEnEgGeR</a:t>
            </a:r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endParaRPr lang="en-US" sz="1800" b="0" strike="noStrike" spc="-1" dirty="0"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0D843CE-F275-4C72-A2DC-8A626C423753}"/>
              </a:ext>
            </a:extLst>
          </p:cNvPr>
          <p:cNvSpPr txBox="1"/>
          <p:nvPr/>
        </p:nvSpPr>
        <p:spPr>
          <a:xfrm>
            <a:off x="2065095" y="5088263"/>
            <a:ext cx="3232333" cy="284902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'Arnold Schwarzenegger'</a:t>
            </a:r>
            <a:endParaRPr lang="en-US" sz="1800" b="0" strike="noStrike" spc="-1" dirty="0"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C44779CD-3572-43DE-9DD9-18C32FF5C6A8}"/>
              </a:ext>
            </a:extLst>
          </p:cNvPr>
          <p:cNvSpPr txBox="1"/>
          <p:nvPr/>
        </p:nvSpPr>
        <p:spPr>
          <a:xfrm>
            <a:off x="2742812" y="4795653"/>
            <a:ext cx="3133279" cy="297328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'Arnold Schwarzenegger'</a:t>
            </a:r>
            <a:endParaRPr lang="en-US" sz="1800" b="0" strike="noStrike" spc="-1" dirty="0"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C7A55FCA-9CA8-42EB-B9EC-42016FA0B933}"/>
              </a:ext>
            </a:extLst>
          </p:cNvPr>
          <p:cNvSpPr txBox="1"/>
          <p:nvPr/>
        </p:nvSpPr>
        <p:spPr>
          <a:xfrm>
            <a:off x="2744369" y="4232715"/>
            <a:ext cx="3920199" cy="32484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en-US" sz="1800" b="0" strike="noStrike" spc="-1" dirty="0" err="1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aRnOlD</a:t>
            </a:r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' </a:t>
            </a:r>
            <a:r>
              <a:rPr lang="en-US" sz="1800" b="0" strike="noStrike" spc="-1" dirty="0" err="1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sChWaRzEnEgGeR</a:t>
            </a:r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’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):</a:t>
            </a:r>
            <a:endParaRPr lang="en-US" sz="1800" b="0" strike="noStrike" spc="-1" dirty="0"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ADEFD33-8892-4593-BB77-5F06AE13DED4}"/>
              </a:ext>
            </a:extLst>
          </p:cNvPr>
          <p:cNvSpPr txBox="1"/>
          <p:nvPr/>
        </p:nvSpPr>
        <p:spPr>
          <a:xfrm>
            <a:off x="3154757" y="5601016"/>
            <a:ext cx="3771900" cy="324841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en-US" sz="1800" b="0" strike="noStrike" spc="-1" dirty="0" err="1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aRnOlD</a:t>
            </a:r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 ' </a:t>
            </a:r>
            <a:r>
              <a:rPr lang="en-US" sz="1800" b="0" strike="noStrike" spc="-1" dirty="0" err="1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sChWaRzEnEgGeR</a:t>
            </a:r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</a:t>
            </a:r>
            <a:r>
              <a:rPr lang="en-US" sz="1800" b="0" strike="noStrike" spc="-1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US" sz="1800" b="0" strike="noStrike" spc="-1" dirty="0"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F17F9F8-AC5D-415C-A0E1-22E3907632BD}"/>
              </a:ext>
            </a:extLst>
          </p:cNvPr>
          <p:cNvSpPr txBox="1"/>
          <p:nvPr/>
        </p:nvSpPr>
        <p:spPr>
          <a:xfrm>
            <a:off x="1520528" y="5591135"/>
            <a:ext cx="5304018" cy="399527"/>
          </a:xfrm>
          <a:prstGeom prst="rect">
            <a:avLst/>
          </a:prstGeom>
          <a:solidFill>
            <a:srgbClr val="DAE3F3"/>
          </a:solidFill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800" b="0" strike="noStrike" spc="-1" dirty="0">
                <a:solidFill>
                  <a:srgbClr val="C9211E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'Arnold Schwarzenegger'</a:t>
            </a:r>
            <a:endParaRPr lang="en-US" sz="1800" b="0" strike="noStrike" spc="-1" dirty="0">
              <a:latin typeface="Consolas" panose="020B0609020204030204" pitchFamily="49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2048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5" grpId="0" animBg="1"/>
      <p:bldP spid="7" grpId="0" animBg="1"/>
      <p:bldP spid="8" grpId="0" animBg="1"/>
      <p:bldP spid="10" grpId="0" animBg="1"/>
      <p:bldP spid="11" grpId="0" animBg="1"/>
      <p:bldP spid="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Return values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C43D9F7-F150-4BAE-8E02-6FEFC3BF4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1590733"/>
            <a:ext cx="8036099" cy="1724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Complex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possible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Lists,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tuples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, etc.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Returning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more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than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one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value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DE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also possible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return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x, y, z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10FB47D-62C7-4EA8-B7BB-3E7824E806E2}"/>
              </a:ext>
            </a:extLst>
          </p:cNvPr>
          <p:cNvSpPr/>
          <p:nvPr/>
        </p:nvSpPr>
        <p:spPr>
          <a:xfrm>
            <a:off x="825617" y="3542372"/>
            <a:ext cx="7492765" cy="187712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build_person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(forename, surname):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	  person = [forename, surname]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return person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arnie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build_person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('Arnold', 'Schwarzenegger')</a:t>
            </a:r>
          </a:p>
        </p:txBody>
      </p:sp>
    </p:spTree>
    <p:extLst>
      <p:ext uri="{BB962C8B-B14F-4D97-AF65-F5344CB8AC3E}">
        <p14:creationId xmlns:p14="http://schemas.microsoft.com/office/powerpoint/2010/main" val="33454515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Function vs. methods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C43D9F7-F150-4BAE-8E02-6FEFC3BF4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1590732"/>
            <a:ext cx="8036099" cy="3665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Independent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functionality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len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range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Belong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variable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Called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(„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“)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access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object's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string.upper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item_list.append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dictionary.keys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will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learn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discuss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object-orientation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de-DE" sz="1800" dirty="0"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01012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Variable scope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45874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More on function parameters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85B8F69-FEEE-4D55-89EF-A62E0B648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6290" y="1779639"/>
            <a:ext cx="9071420" cy="4453985"/>
          </a:xfrm>
          <a:prstGeom prst="rect">
            <a:avLst/>
          </a:prstGeom>
          <a:ln w="0">
            <a:noFill/>
          </a:ln>
        </p:spPr>
      </p:pic>
      <p:sp>
        <p:nvSpPr>
          <p:cNvPr id="34" name="Rechteck 33">
            <a:extLst>
              <a:ext uri="{FF2B5EF4-FFF2-40B4-BE49-F238E27FC236}">
                <a16:creationId xmlns:a16="http://schemas.microsoft.com/office/drawing/2014/main" id="{42A1C8DB-5FAF-415D-BE65-BE081DB2D732}"/>
              </a:ext>
            </a:extLst>
          </p:cNvPr>
          <p:cNvSpPr/>
          <p:nvPr/>
        </p:nvSpPr>
        <p:spPr>
          <a:xfrm>
            <a:off x="1232572" y="4753369"/>
            <a:ext cx="3430112" cy="347623"/>
          </a:xfrm>
          <a:prstGeom prst="rect">
            <a:avLst/>
          </a:prstGeom>
          <a:noFill/>
          <a:ln w="54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36475D4-650B-46F9-8456-89C9F0B16D13}"/>
              </a:ext>
            </a:extLst>
          </p:cNvPr>
          <p:cNvSpPr/>
          <p:nvPr/>
        </p:nvSpPr>
        <p:spPr>
          <a:xfrm>
            <a:off x="4136064" y="5132687"/>
            <a:ext cx="3430112" cy="330624"/>
          </a:xfrm>
          <a:prstGeom prst="rect">
            <a:avLst/>
          </a:prstGeom>
          <a:noFill/>
          <a:ln w="54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36" name="Pfeil: nach oben 35">
            <a:extLst>
              <a:ext uri="{FF2B5EF4-FFF2-40B4-BE49-F238E27FC236}">
                <a16:creationId xmlns:a16="http://schemas.microsoft.com/office/drawing/2014/main" id="{2DD730DA-91A9-4A87-9EF3-F4C8D18D89E7}"/>
              </a:ext>
            </a:extLst>
          </p:cNvPr>
          <p:cNvSpPr/>
          <p:nvPr/>
        </p:nvSpPr>
        <p:spPr>
          <a:xfrm>
            <a:off x="4747651" y="3181507"/>
            <a:ext cx="457200" cy="1951180"/>
          </a:xfrm>
          <a:prstGeom prst="upArrow">
            <a:avLst>
              <a:gd name="adj1" fmla="val 50000"/>
              <a:gd name="adj2" fmla="val 137283"/>
            </a:avLst>
          </a:prstGeom>
          <a:solidFill>
            <a:srgbClr val="FC5C0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3D256B97-5E40-450A-A1F8-68F498366F44}"/>
              </a:ext>
            </a:extLst>
          </p:cNvPr>
          <p:cNvSpPr txBox="1"/>
          <p:nvPr/>
        </p:nvSpPr>
        <p:spPr>
          <a:xfrm>
            <a:off x="5247089" y="4153659"/>
            <a:ext cx="3818382" cy="347623"/>
          </a:xfrm>
          <a:prstGeom prst="rect">
            <a:avLst/>
          </a:prstGeom>
          <a:noFill/>
          <a:ln w="18360">
            <a:solidFill>
              <a:srgbClr val="FFFFFF"/>
            </a:solidFill>
            <a:round/>
          </a:ln>
        </p:spPr>
        <p:txBody>
          <a:bodyPr lIns="99000" tIns="54000" rIns="99000" bIns="54000" anchor="t">
            <a:noAutofit/>
          </a:bodyPr>
          <a:lstStyle/>
          <a:p>
            <a:r>
              <a:rPr lang="en-US" sz="1800" b="0" strike="noStrike" spc="-1" dirty="0">
                <a:solidFill>
                  <a:srgbClr val="2CEE0E"/>
                </a:solidFill>
                <a:latin typeface="Consolas" panose="020B0609020204030204" pitchFamily="49" charset="0"/>
              </a:rPr>
              <a:t>elements</a:t>
            </a:r>
            <a:r>
              <a:rPr lang="en-US" sz="1800" b="0" strike="noStrike" spc="-1" dirty="0">
                <a:solidFill>
                  <a:srgbClr val="FFFFFF"/>
                </a:solidFill>
                <a:latin typeface="Consolas" panose="020B0609020204030204" pitchFamily="49" charset="0"/>
              </a:rPr>
              <a:t> = </a:t>
            </a:r>
            <a:r>
              <a:rPr lang="en-US" sz="1800" b="0" strike="noStrike" spc="-1" dirty="0" err="1">
                <a:solidFill>
                  <a:srgbClr val="FC5C00"/>
                </a:solidFill>
                <a:latin typeface="Consolas" panose="020B0609020204030204" pitchFamily="49" charset="0"/>
              </a:rPr>
              <a:t>standard_elements</a:t>
            </a:r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06AECA73-E8B6-46D0-A257-AD1426AA4007}"/>
              </a:ext>
            </a:extLst>
          </p:cNvPr>
          <p:cNvSpPr/>
          <p:nvPr/>
        </p:nvSpPr>
        <p:spPr>
          <a:xfrm>
            <a:off x="4136064" y="2901897"/>
            <a:ext cx="1652617" cy="347624"/>
          </a:xfrm>
          <a:prstGeom prst="rect">
            <a:avLst/>
          </a:prstGeom>
          <a:noFill/>
          <a:ln w="54720">
            <a:solidFill>
              <a:srgbClr val="2CEE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39" name="Freihandform: Form 38">
            <a:extLst>
              <a:ext uri="{FF2B5EF4-FFF2-40B4-BE49-F238E27FC236}">
                <a16:creationId xmlns:a16="http://schemas.microsoft.com/office/drawing/2014/main" id="{436AF029-1F1A-4A9D-82EC-851CA11A3A58}"/>
              </a:ext>
            </a:extLst>
          </p:cNvPr>
          <p:cNvSpPr/>
          <p:nvPr/>
        </p:nvSpPr>
        <p:spPr>
          <a:xfrm rot="21351841">
            <a:off x="3134967" y="6007179"/>
            <a:ext cx="479013" cy="45719"/>
          </a:xfrm>
          <a:custGeom>
            <a:avLst/>
            <a:gdLst/>
            <a:ahLst/>
            <a:cxnLst/>
            <a:rect l="0" t="0" r="r" b="b"/>
            <a:pathLst>
              <a:path w="1778" h="31" fill="none">
                <a:moveTo>
                  <a:pt x="0" y="0"/>
                </a:moveTo>
                <a:lnTo>
                  <a:pt x="1778" y="31"/>
                </a:lnTo>
              </a:path>
            </a:pathLst>
          </a:custGeom>
          <a:ln w="73080">
            <a:solidFill>
              <a:srgbClr val="FFFFF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CCCA2265-BB48-46D0-9789-24E11A05B46C}"/>
              </a:ext>
            </a:extLst>
          </p:cNvPr>
          <p:cNvSpPr/>
          <p:nvPr/>
        </p:nvSpPr>
        <p:spPr>
          <a:xfrm>
            <a:off x="4962372" y="3659101"/>
            <a:ext cx="1642329" cy="304394"/>
          </a:xfrm>
          <a:prstGeom prst="rect">
            <a:avLst/>
          </a:prstGeom>
          <a:noFill/>
          <a:ln w="54720">
            <a:solidFill>
              <a:srgbClr val="2CEE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76F3566A-7251-4CF0-B4AC-DA70C4382AB9}"/>
              </a:ext>
            </a:extLst>
          </p:cNvPr>
          <p:cNvSpPr/>
          <p:nvPr/>
        </p:nvSpPr>
        <p:spPr>
          <a:xfrm>
            <a:off x="6669047" y="3300486"/>
            <a:ext cx="1642329" cy="304394"/>
          </a:xfrm>
          <a:prstGeom prst="rect">
            <a:avLst/>
          </a:prstGeom>
          <a:noFill/>
          <a:ln w="54720">
            <a:solidFill>
              <a:srgbClr val="2CEE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C6C97C8C-89C4-44F2-AC08-795148E12370}"/>
              </a:ext>
            </a:extLst>
          </p:cNvPr>
          <p:cNvSpPr txBox="1"/>
          <p:nvPr/>
        </p:nvSpPr>
        <p:spPr>
          <a:xfrm>
            <a:off x="3813969" y="5542267"/>
            <a:ext cx="4854246" cy="656137"/>
          </a:xfrm>
          <a:prstGeom prst="rect">
            <a:avLst/>
          </a:prstGeom>
          <a:noFill/>
          <a:ln w="18360">
            <a:solidFill>
              <a:srgbClr val="FFFFFF"/>
            </a:solidFill>
            <a:round/>
          </a:ln>
        </p:spPr>
        <p:txBody>
          <a:bodyPr lIns="99000" tIns="54000" rIns="99000" bIns="54000" anchor="t">
            <a:noAutofit/>
          </a:bodyPr>
          <a:lstStyle/>
          <a:p>
            <a:r>
              <a:rPr lang="en-US" sz="1800" b="0" strike="noStrike" spc="-1" dirty="0">
                <a:solidFill>
                  <a:srgbClr val="FFFFFF"/>
                </a:solidFill>
                <a:latin typeface="Consolas" panose="020B0609020204030204" pitchFamily="49" charset="0"/>
              </a:rPr>
              <a:t>List Elements are: [3, '3', 'Three']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  <p:sp>
        <p:nvSpPr>
          <p:cNvPr id="49" name="Pfeil: nach oben 48">
            <a:extLst>
              <a:ext uri="{FF2B5EF4-FFF2-40B4-BE49-F238E27FC236}">
                <a16:creationId xmlns:a16="http://schemas.microsoft.com/office/drawing/2014/main" id="{E2E74B15-1EFA-4B02-842F-E23A13E62B4F}"/>
              </a:ext>
            </a:extLst>
          </p:cNvPr>
          <p:cNvSpPr/>
          <p:nvPr/>
        </p:nvSpPr>
        <p:spPr>
          <a:xfrm>
            <a:off x="4924775" y="2143703"/>
            <a:ext cx="457200" cy="1547992"/>
          </a:xfrm>
          <a:prstGeom prst="upArrow">
            <a:avLst>
              <a:gd name="adj1" fmla="val 50000"/>
              <a:gd name="adj2" fmla="val 112717"/>
            </a:avLst>
          </a:prstGeom>
          <a:solidFill>
            <a:srgbClr val="2CEE0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5B18E88-7159-460D-9778-46251B15A6E2}"/>
              </a:ext>
            </a:extLst>
          </p:cNvPr>
          <p:cNvSpPr/>
          <p:nvPr/>
        </p:nvSpPr>
        <p:spPr>
          <a:xfrm>
            <a:off x="3765769" y="1779639"/>
            <a:ext cx="1652618" cy="368138"/>
          </a:xfrm>
          <a:prstGeom prst="rect">
            <a:avLst/>
          </a:prstGeom>
          <a:noFill/>
          <a:ln w="54720">
            <a:solidFill>
              <a:srgbClr val="1C99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AE643BC7-D099-43D5-8F56-CF6B92717676}"/>
              </a:ext>
            </a:extLst>
          </p:cNvPr>
          <p:cNvSpPr/>
          <p:nvPr/>
        </p:nvSpPr>
        <p:spPr>
          <a:xfrm>
            <a:off x="6870911" y="2143703"/>
            <a:ext cx="1652618" cy="368138"/>
          </a:xfrm>
          <a:prstGeom prst="rect">
            <a:avLst/>
          </a:prstGeom>
          <a:noFill/>
          <a:ln w="54720">
            <a:solidFill>
              <a:srgbClr val="1C99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52" name="Textfeld 51">
            <a:extLst>
              <a:ext uri="{FF2B5EF4-FFF2-40B4-BE49-F238E27FC236}">
                <a16:creationId xmlns:a16="http://schemas.microsoft.com/office/drawing/2014/main" id="{B3163EBA-1777-4BA1-AE40-26BBFBAB65C3}"/>
              </a:ext>
            </a:extLst>
          </p:cNvPr>
          <p:cNvSpPr txBox="1"/>
          <p:nvPr/>
        </p:nvSpPr>
        <p:spPr>
          <a:xfrm>
            <a:off x="5490006" y="2524585"/>
            <a:ext cx="2641353" cy="339793"/>
          </a:xfrm>
          <a:prstGeom prst="rect">
            <a:avLst/>
          </a:prstGeom>
          <a:noFill/>
          <a:ln w="18360">
            <a:solidFill>
              <a:srgbClr val="FFFFFF"/>
            </a:solidFill>
            <a:round/>
          </a:ln>
        </p:spPr>
        <p:txBody>
          <a:bodyPr lIns="99000" tIns="54000" rIns="99000" bIns="54000" anchor="t">
            <a:noAutofit/>
          </a:bodyPr>
          <a:lstStyle/>
          <a:p>
            <a:r>
              <a:rPr lang="en-US" sz="1800" b="0" strike="noStrike" spc="-1" dirty="0">
                <a:solidFill>
                  <a:srgbClr val="1C99E0"/>
                </a:solidFill>
                <a:latin typeface="Consolas" panose="020B0609020204030204" pitchFamily="49" charset="0"/>
              </a:rPr>
              <a:t>elements</a:t>
            </a:r>
            <a:r>
              <a:rPr lang="en-US" sz="1800" b="0" strike="noStrike" spc="-1" dirty="0">
                <a:solidFill>
                  <a:srgbClr val="FFFFFF"/>
                </a:solidFill>
                <a:latin typeface="Consolas" panose="020B0609020204030204" pitchFamily="49" charset="0"/>
              </a:rPr>
              <a:t> = </a:t>
            </a:r>
            <a:r>
              <a:rPr lang="en-US" sz="1800" b="0" strike="noStrike" spc="-1" dirty="0">
                <a:solidFill>
                  <a:srgbClr val="2CEE0E"/>
                </a:solidFill>
                <a:latin typeface="Consolas" panose="020B0609020204030204" pitchFamily="49" charset="0"/>
              </a:rPr>
              <a:t>elements</a:t>
            </a:r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  <p:sp>
        <p:nvSpPr>
          <p:cNvPr id="53" name="Textfeld 52">
            <a:extLst>
              <a:ext uri="{FF2B5EF4-FFF2-40B4-BE49-F238E27FC236}">
                <a16:creationId xmlns:a16="http://schemas.microsoft.com/office/drawing/2014/main" id="{72717299-82B2-4BF1-AA70-1C8CB198B0EE}"/>
              </a:ext>
            </a:extLst>
          </p:cNvPr>
          <p:cNvSpPr txBox="1"/>
          <p:nvPr/>
        </p:nvSpPr>
        <p:spPr>
          <a:xfrm>
            <a:off x="3813968" y="5542267"/>
            <a:ext cx="4854245" cy="656137"/>
          </a:xfrm>
          <a:prstGeom prst="rect">
            <a:avLst/>
          </a:prstGeom>
          <a:noFill/>
          <a:ln w="18360">
            <a:solidFill>
              <a:srgbClr val="FFFFFF"/>
            </a:solidFill>
            <a:round/>
          </a:ln>
        </p:spPr>
        <p:txBody>
          <a:bodyPr lIns="99000" tIns="54000" rIns="99000" bIns="54000" anchor="t">
            <a:noAutofit/>
          </a:bodyPr>
          <a:lstStyle/>
          <a:p>
            <a:r>
              <a:rPr lang="en-US" sz="1800" b="0" strike="noStrike" spc="-1" dirty="0">
                <a:solidFill>
                  <a:srgbClr val="FFFFFF"/>
                </a:solidFill>
                <a:latin typeface="Consolas" panose="020B0609020204030204" pitchFamily="49" charset="0"/>
              </a:rPr>
              <a:t>List Elements are: [3, '3', 'Three']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r>
              <a:rPr lang="en-US" sz="1800" b="0" strike="noStrike" spc="-1" dirty="0">
                <a:solidFill>
                  <a:srgbClr val="FFFFFF"/>
                </a:solidFill>
                <a:latin typeface="Consolas" panose="020B0609020204030204" pitchFamily="49" charset="0"/>
              </a:rPr>
              <a:t>List length is 3</a:t>
            </a:r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  <p:grpSp>
        <p:nvGrpSpPr>
          <p:cNvPr id="54" name="Gruppieren 53">
            <a:extLst>
              <a:ext uri="{FF2B5EF4-FFF2-40B4-BE49-F238E27FC236}">
                <a16:creationId xmlns:a16="http://schemas.microsoft.com/office/drawing/2014/main" id="{7EE4272D-A7BC-49DC-9A57-7ED1F0963861}"/>
              </a:ext>
            </a:extLst>
          </p:cNvPr>
          <p:cNvGrpSpPr/>
          <p:nvPr/>
        </p:nvGrpSpPr>
        <p:grpSpPr>
          <a:xfrm>
            <a:off x="519513" y="2281166"/>
            <a:ext cx="781539" cy="1583231"/>
            <a:chOff x="1279080" y="1765080"/>
            <a:chExt cx="743400" cy="2248920"/>
          </a:xfrm>
        </p:grpSpPr>
        <p:sp>
          <p:nvSpPr>
            <p:cNvPr id="55" name="Gerader Verbinder 54">
              <a:extLst>
                <a:ext uri="{FF2B5EF4-FFF2-40B4-BE49-F238E27FC236}">
                  <a16:creationId xmlns:a16="http://schemas.microsoft.com/office/drawing/2014/main" id="{9397783A-83C1-4B4B-AD86-9740A98519EF}"/>
                </a:ext>
              </a:extLst>
            </p:cNvPr>
            <p:cNvSpPr/>
            <p:nvPr/>
          </p:nvSpPr>
          <p:spPr>
            <a:xfrm flipV="1">
              <a:off x="1279080" y="3913560"/>
              <a:ext cx="721440" cy="12240"/>
            </a:xfrm>
            <a:prstGeom prst="line">
              <a:avLst/>
            </a:prstGeom>
            <a:ln w="182880">
              <a:solidFill>
                <a:srgbClr val="1C99E0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AT"/>
            </a:p>
          </p:txBody>
        </p:sp>
        <p:sp>
          <p:nvSpPr>
            <p:cNvPr id="56" name="Gerader Verbinder 55">
              <a:extLst>
                <a:ext uri="{FF2B5EF4-FFF2-40B4-BE49-F238E27FC236}">
                  <a16:creationId xmlns:a16="http://schemas.microsoft.com/office/drawing/2014/main" id="{C8110472-FD43-48B8-A49F-127E8F88446C}"/>
                </a:ext>
              </a:extLst>
            </p:cNvPr>
            <p:cNvSpPr/>
            <p:nvPr/>
          </p:nvSpPr>
          <p:spPr>
            <a:xfrm>
              <a:off x="1360800" y="1765080"/>
              <a:ext cx="0" cy="2248920"/>
            </a:xfrm>
            <a:prstGeom prst="line">
              <a:avLst/>
            </a:prstGeom>
            <a:ln w="182880">
              <a:solidFill>
                <a:srgbClr val="1C99E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AT"/>
            </a:p>
          </p:txBody>
        </p:sp>
        <p:sp>
          <p:nvSpPr>
            <p:cNvPr id="57" name="Gerader Verbinder 56">
              <a:extLst>
                <a:ext uri="{FF2B5EF4-FFF2-40B4-BE49-F238E27FC236}">
                  <a16:creationId xmlns:a16="http://schemas.microsoft.com/office/drawing/2014/main" id="{95BA8025-64CA-430D-A640-1BF356DADBD6}"/>
                </a:ext>
              </a:extLst>
            </p:cNvPr>
            <p:cNvSpPr/>
            <p:nvPr/>
          </p:nvSpPr>
          <p:spPr>
            <a:xfrm flipH="1">
              <a:off x="1301040" y="1846800"/>
              <a:ext cx="721440" cy="12240"/>
            </a:xfrm>
            <a:prstGeom prst="line">
              <a:avLst/>
            </a:prstGeom>
            <a:ln w="182880">
              <a:solidFill>
                <a:srgbClr val="1C99E0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AT"/>
            </a:p>
          </p:txBody>
        </p:sp>
      </p:grpSp>
    </p:spTree>
    <p:extLst>
      <p:ext uri="{BB962C8B-B14F-4D97-AF65-F5344CB8AC3E}">
        <p14:creationId xmlns:p14="http://schemas.microsoft.com/office/powerpoint/2010/main" val="1036996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xit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More on function parameters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112E4ECE-4346-4750-984B-265427EDA4EC}"/>
              </a:ext>
            </a:extLst>
          </p:cNvPr>
          <p:cNvPicPr>
            <a:picLocks/>
          </p:cNvPicPr>
          <p:nvPr/>
        </p:nvPicPr>
        <p:blipFill>
          <a:blip r:embed="rId3"/>
          <a:stretch/>
        </p:blipFill>
        <p:spPr>
          <a:xfrm>
            <a:off x="36000" y="1778399"/>
            <a:ext cx="8935200" cy="4564800"/>
          </a:xfrm>
          <a:prstGeom prst="rect">
            <a:avLst/>
          </a:prstGeom>
          <a:ln w="0">
            <a:noFill/>
          </a:ln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E13B8F6A-F678-4983-AA9D-987BE15FD929}"/>
              </a:ext>
            </a:extLst>
          </p:cNvPr>
          <p:cNvSpPr/>
          <p:nvPr/>
        </p:nvSpPr>
        <p:spPr>
          <a:xfrm>
            <a:off x="1232572" y="4753369"/>
            <a:ext cx="1845165" cy="435665"/>
          </a:xfrm>
          <a:prstGeom prst="rect">
            <a:avLst/>
          </a:prstGeom>
          <a:noFill/>
          <a:ln w="54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97CE0AC6-DA6A-4D37-96DA-63E0C1ED8881}"/>
              </a:ext>
            </a:extLst>
          </p:cNvPr>
          <p:cNvSpPr/>
          <p:nvPr/>
        </p:nvSpPr>
        <p:spPr>
          <a:xfrm>
            <a:off x="4026692" y="5132687"/>
            <a:ext cx="1845165" cy="409580"/>
          </a:xfrm>
          <a:prstGeom prst="rect">
            <a:avLst/>
          </a:prstGeom>
          <a:noFill/>
          <a:ln w="54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B18312B6-1B3C-4EF3-859B-BF25614E8112}"/>
              </a:ext>
            </a:extLst>
          </p:cNvPr>
          <p:cNvSpPr/>
          <p:nvPr/>
        </p:nvSpPr>
        <p:spPr>
          <a:xfrm>
            <a:off x="4052888" y="2901897"/>
            <a:ext cx="1735793" cy="347624"/>
          </a:xfrm>
          <a:prstGeom prst="rect">
            <a:avLst/>
          </a:prstGeom>
          <a:noFill/>
          <a:ln w="54720">
            <a:solidFill>
              <a:srgbClr val="2CEE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29B145E-B2BF-430B-8284-8541DBB3C237}"/>
              </a:ext>
            </a:extLst>
          </p:cNvPr>
          <p:cNvSpPr/>
          <p:nvPr/>
        </p:nvSpPr>
        <p:spPr>
          <a:xfrm>
            <a:off x="4865728" y="3697051"/>
            <a:ext cx="1735794" cy="304394"/>
          </a:xfrm>
          <a:prstGeom prst="rect">
            <a:avLst/>
          </a:prstGeom>
          <a:noFill/>
          <a:ln w="54720">
            <a:solidFill>
              <a:srgbClr val="2CEE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AE4C05A-FE56-42D3-951A-9CC440939285}"/>
              </a:ext>
            </a:extLst>
          </p:cNvPr>
          <p:cNvSpPr/>
          <p:nvPr/>
        </p:nvSpPr>
        <p:spPr>
          <a:xfrm>
            <a:off x="6527798" y="3330980"/>
            <a:ext cx="1735794" cy="304394"/>
          </a:xfrm>
          <a:prstGeom prst="rect">
            <a:avLst/>
          </a:prstGeom>
          <a:noFill/>
          <a:ln w="54720">
            <a:solidFill>
              <a:srgbClr val="2CEE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B2D83CD1-821E-4FD6-88E7-1EDC3427E8D6}"/>
              </a:ext>
            </a:extLst>
          </p:cNvPr>
          <p:cNvSpPr/>
          <p:nvPr/>
        </p:nvSpPr>
        <p:spPr>
          <a:xfrm>
            <a:off x="3682593" y="1779639"/>
            <a:ext cx="1735794" cy="368138"/>
          </a:xfrm>
          <a:prstGeom prst="rect">
            <a:avLst/>
          </a:prstGeom>
          <a:noFill/>
          <a:ln w="54720">
            <a:solidFill>
              <a:srgbClr val="1C99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6AD788DC-9871-43CA-8DA9-C3A03DF75394}"/>
              </a:ext>
            </a:extLst>
          </p:cNvPr>
          <p:cNvSpPr/>
          <p:nvPr/>
        </p:nvSpPr>
        <p:spPr>
          <a:xfrm>
            <a:off x="6739867" y="2147777"/>
            <a:ext cx="1735794" cy="368138"/>
          </a:xfrm>
          <a:prstGeom prst="rect">
            <a:avLst/>
          </a:prstGeom>
          <a:noFill/>
          <a:ln w="54720">
            <a:solidFill>
              <a:srgbClr val="1C99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DEED769A-986F-4164-B84F-A2BA0B50FA62}"/>
              </a:ext>
            </a:extLst>
          </p:cNvPr>
          <p:cNvSpPr txBox="1"/>
          <p:nvPr/>
        </p:nvSpPr>
        <p:spPr>
          <a:xfrm>
            <a:off x="3538904" y="5687062"/>
            <a:ext cx="4854245" cy="656137"/>
          </a:xfrm>
          <a:prstGeom prst="rect">
            <a:avLst/>
          </a:prstGeom>
          <a:noFill/>
          <a:ln w="18360">
            <a:solidFill>
              <a:srgbClr val="FFFFFF"/>
            </a:solidFill>
            <a:round/>
          </a:ln>
        </p:spPr>
        <p:txBody>
          <a:bodyPr lIns="99000" tIns="54000" rIns="99000" bIns="54000" anchor="t">
            <a:noAutofit/>
          </a:bodyPr>
          <a:lstStyle/>
          <a:p>
            <a:r>
              <a:rPr lang="en-US" sz="1800" b="0" strike="noStrike" spc="-1" dirty="0">
                <a:solidFill>
                  <a:srgbClr val="FFFFFF"/>
                </a:solidFill>
                <a:latin typeface="Consolas" panose="020B0609020204030204" pitchFamily="49" charset="0"/>
              </a:rPr>
              <a:t>List Elements are: [3, '3', 'Three']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r>
              <a:rPr lang="en-US" sz="1800" b="0" strike="noStrike" spc="-1" dirty="0">
                <a:solidFill>
                  <a:srgbClr val="FFFFFF"/>
                </a:solidFill>
                <a:latin typeface="Consolas" panose="020B0609020204030204" pitchFamily="49" charset="0"/>
              </a:rPr>
              <a:t>List length is 3</a:t>
            </a:r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73905934-C723-49BD-A28C-D866E664B9F8}"/>
              </a:ext>
            </a:extLst>
          </p:cNvPr>
          <p:cNvSpPr/>
          <p:nvPr/>
        </p:nvSpPr>
        <p:spPr>
          <a:xfrm rot="21351841">
            <a:off x="3001153" y="6088955"/>
            <a:ext cx="479013" cy="45719"/>
          </a:xfrm>
          <a:custGeom>
            <a:avLst/>
            <a:gdLst/>
            <a:ahLst/>
            <a:cxnLst/>
            <a:rect l="0" t="0" r="r" b="b"/>
            <a:pathLst>
              <a:path w="1778" h="31" fill="none">
                <a:moveTo>
                  <a:pt x="0" y="0"/>
                </a:moveTo>
                <a:lnTo>
                  <a:pt x="1778" y="31"/>
                </a:lnTo>
              </a:path>
            </a:pathLst>
          </a:custGeom>
          <a:ln w="73080">
            <a:solidFill>
              <a:srgbClr val="FFFFF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400734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More on function parameters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C508CDC-3010-405E-B2C2-BD06F6043A8B}"/>
              </a:ext>
            </a:extLst>
          </p:cNvPr>
          <p:cNvPicPr>
            <a:picLocks/>
          </p:cNvPicPr>
          <p:nvPr/>
        </p:nvPicPr>
        <p:blipFill>
          <a:blip r:embed="rId3"/>
          <a:stretch/>
        </p:blipFill>
        <p:spPr>
          <a:xfrm>
            <a:off x="36000" y="1778400"/>
            <a:ext cx="8935200" cy="4563588"/>
          </a:xfrm>
          <a:prstGeom prst="rect">
            <a:avLst/>
          </a:prstGeom>
          <a:ln w="0">
            <a:noFill/>
          </a:ln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33FBFF37-F53F-474E-8378-BDFA7A402635}"/>
              </a:ext>
            </a:extLst>
          </p:cNvPr>
          <p:cNvSpPr/>
          <p:nvPr/>
        </p:nvSpPr>
        <p:spPr>
          <a:xfrm>
            <a:off x="1232572" y="4753369"/>
            <a:ext cx="1681613" cy="435665"/>
          </a:xfrm>
          <a:prstGeom prst="rect">
            <a:avLst/>
          </a:prstGeom>
          <a:noFill/>
          <a:ln w="54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14DFD0B-3F98-44F8-8F4E-C218FA6EC4C1}"/>
              </a:ext>
            </a:extLst>
          </p:cNvPr>
          <p:cNvSpPr/>
          <p:nvPr/>
        </p:nvSpPr>
        <p:spPr>
          <a:xfrm>
            <a:off x="4026692" y="5132687"/>
            <a:ext cx="1845165" cy="409580"/>
          </a:xfrm>
          <a:prstGeom prst="rect">
            <a:avLst/>
          </a:prstGeom>
          <a:noFill/>
          <a:ln w="54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4C4102E-4EE2-4911-B575-52299A121FCA}"/>
              </a:ext>
            </a:extLst>
          </p:cNvPr>
          <p:cNvSpPr/>
          <p:nvPr/>
        </p:nvSpPr>
        <p:spPr>
          <a:xfrm>
            <a:off x="4133385" y="2901897"/>
            <a:ext cx="1655296" cy="347624"/>
          </a:xfrm>
          <a:prstGeom prst="rect">
            <a:avLst/>
          </a:prstGeom>
          <a:noFill/>
          <a:ln w="54720">
            <a:solidFill>
              <a:srgbClr val="2CEE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A42B8B6-A85E-4CB8-BE6D-382604C406DA}"/>
              </a:ext>
            </a:extLst>
          </p:cNvPr>
          <p:cNvSpPr/>
          <p:nvPr/>
        </p:nvSpPr>
        <p:spPr>
          <a:xfrm>
            <a:off x="4865728" y="3697051"/>
            <a:ext cx="1735794" cy="304394"/>
          </a:xfrm>
          <a:prstGeom prst="rect">
            <a:avLst/>
          </a:prstGeom>
          <a:noFill/>
          <a:ln w="54720">
            <a:solidFill>
              <a:srgbClr val="2CEE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CA1D52A-257A-403A-A62D-3D897E8C7BB2}"/>
              </a:ext>
            </a:extLst>
          </p:cNvPr>
          <p:cNvSpPr/>
          <p:nvPr/>
        </p:nvSpPr>
        <p:spPr>
          <a:xfrm>
            <a:off x="6527798" y="3330980"/>
            <a:ext cx="1735794" cy="304394"/>
          </a:xfrm>
          <a:prstGeom prst="rect">
            <a:avLst/>
          </a:prstGeom>
          <a:noFill/>
          <a:ln w="54720">
            <a:solidFill>
              <a:srgbClr val="2CEE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8D6CD81-2FFE-420A-908D-92E98CA4A058}"/>
              </a:ext>
            </a:extLst>
          </p:cNvPr>
          <p:cNvSpPr/>
          <p:nvPr/>
        </p:nvSpPr>
        <p:spPr>
          <a:xfrm>
            <a:off x="3682593" y="1779639"/>
            <a:ext cx="1735794" cy="368138"/>
          </a:xfrm>
          <a:prstGeom prst="rect">
            <a:avLst/>
          </a:prstGeom>
          <a:noFill/>
          <a:ln w="54720">
            <a:solidFill>
              <a:srgbClr val="1C99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6187FAA-FAF9-4536-81AE-6DCEE62CE45A}"/>
              </a:ext>
            </a:extLst>
          </p:cNvPr>
          <p:cNvSpPr/>
          <p:nvPr/>
        </p:nvSpPr>
        <p:spPr>
          <a:xfrm>
            <a:off x="6739867" y="2147777"/>
            <a:ext cx="1735794" cy="368138"/>
          </a:xfrm>
          <a:prstGeom prst="rect">
            <a:avLst/>
          </a:prstGeom>
          <a:noFill/>
          <a:ln w="54720">
            <a:solidFill>
              <a:srgbClr val="1C99E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79D3E97-DCE2-4DDE-9137-4E36FEEB67BB}"/>
              </a:ext>
            </a:extLst>
          </p:cNvPr>
          <p:cNvSpPr txBox="1"/>
          <p:nvPr/>
        </p:nvSpPr>
        <p:spPr>
          <a:xfrm>
            <a:off x="3538904" y="5687062"/>
            <a:ext cx="4854245" cy="656137"/>
          </a:xfrm>
          <a:prstGeom prst="rect">
            <a:avLst/>
          </a:prstGeom>
          <a:noFill/>
          <a:ln w="18360">
            <a:solidFill>
              <a:srgbClr val="FFFFFF"/>
            </a:solidFill>
            <a:round/>
          </a:ln>
        </p:spPr>
        <p:txBody>
          <a:bodyPr lIns="99000" tIns="54000" rIns="99000" bIns="54000" anchor="t">
            <a:noAutofit/>
          </a:bodyPr>
          <a:lstStyle/>
          <a:p>
            <a:r>
              <a:rPr lang="en-US" sz="1800" b="0" strike="noStrike" spc="-1" dirty="0">
                <a:solidFill>
                  <a:srgbClr val="FFFFFF"/>
                </a:solidFill>
                <a:latin typeface="Consolas" panose="020B0609020204030204" pitchFamily="49" charset="0"/>
              </a:rPr>
              <a:t>List Elements are: [3, '3', 'Three']</a:t>
            </a:r>
            <a:endParaRPr lang="en-US" sz="1800" b="0" strike="noStrike" spc="-1" dirty="0">
              <a:latin typeface="Consolas" panose="020B0609020204030204" pitchFamily="49" charset="0"/>
            </a:endParaRPr>
          </a:p>
          <a:p>
            <a:r>
              <a:rPr lang="en-US" sz="1800" b="0" strike="noStrike" spc="-1" dirty="0">
                <a:solidFill>
                  <a:srgbClr val="FFFFFF"/>
                </a:solidFill>
                <a:latin typeface="Consolas" panose="020B0609020204030204" pitchFamily="49" charset="0"/>
              </a:rPr>
              <a:t>List length is 3</a:t>
            </a:r>
            <a:endParaRPr lang="en-US" sz="1800" b="0" strike="noStrike" spc="-1" dirty="0">
              <a:latin typeface="Consolas" panose="020B0609020204030204" pitchFamily="49" charset="0"/>
            </a:endParaRPr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917960F1-D47B-40CA-861A-D57121486C39}"/>
              </a:ext>
            </a:extLst>
          </p:cNvPr>
          <p:cNvSpPr/>
          <p:nvPr/>
        </p:nvSpPr>
        <p:spPr>
          <a:xfrm rot="21351841">
            <a:off x="3001153" y="6088955"/>
            <a:ext cx="479013" cy="45719"/>
          </a:xfrm>
          <a:custGeom>
            <a:avLst/>
            <a:gdLst/>
            <a:ahLst/>
            <a:cxnLst/>
            <a:rect l="0" t="0" r="r" b="b"/>
            <a:pathLst>
              <a:path w="1778" h="31" fill="none">
                <a:moveTo>
                  <a:pt x="0" y="0"/>
                </a:moveTo>
                <a:lnTo>
                  <a:pt x="1778" y="31"/>
                </a:lnTo>
              </a:path>
            </a:pathLst>
          </a:custGeom>
          <a:ln w="73080">
            <a:solidFill>
              <a:srgbClr val="FFFFFF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4102287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Global and local variable scope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C43D9F7-F150-4BAE-8E02-6FEFC3BF4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1590732"/>
            <a:ext cx="8168019" cy="4688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solidFill>
                  <a:schemeClr val="accent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Global variables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defined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outside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Readable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inside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Immutable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inside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Usage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typically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not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meaningful</a:t>
            </a:r>
            <a:endParaRPr lang="de-DE" sz="180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Try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avoid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them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solidFill>
                  <a:schemeClr val="accent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Local</a:t>
            </a:r>
            <a:r>
              <a:rPr lang="de-DE" sz="1800" dirty="0">
                <a:solidFill>
                  <a:schemeClr val="accent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variables: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defined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insides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readable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outside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Same global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local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possible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Try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avoid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using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same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names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Reduces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problems</a:t>
            </a:r>
            <a:r>
              <a:rPr lang="de-DE" sz="180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de-DE" sz="1800" b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Visability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variables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called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scope</a:t>
            </a:r>
            <a:endParaRPr lang="de-D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Visible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everywhere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vs. visible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inside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Python Tutor Example 1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Python Tutor Example 2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also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notebook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10FB47D-62C7-4EA8-B7BB-3E7824E806E2}"/>
              </a:ext>
            </a:extLst>
          </p:cNvPr>
          <p:cNvSpPr/>
          <p:nvPr/>
        </p:nvSpPr>
        <p:spPr>
          <a:xfrm>
            <a:off x="5300867" y="2228647"/>
            <a:ext cx="2824948" cy="303862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test_scope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print('in1',</a:t>
            </a:r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y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>
                <a:solidFill>
                  <a:schemeClr val="accent6"/>
                </a:solidFill>
                <a:latin typeface="Consolas" panose="020B0609020204030204" pitchFamily="49" charset="0"/>
              </a:rPr>
              <a:t>z = 5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print('in2',</a:t>
            </a:r>
            <a:r>
              <a:rPr lang="en-US" sz="1800" spc="-1" dirty="0">
                <a:solidFill>
                  <a:schemeClr val="accent6"/>
                </a:solidFill>
                <a:latin typeface="Consolas" panose="020B0609020204030204" pitchFamily="49" charset="0"/>
              </a:rPr>
              <a:t>z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y = 4</a:t>
            </a:r>
          </a:p>
          <a:p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z = 3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print('out1', </a:t>
            </a:r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z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test_scope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print('out2', </a:t>
            </a:r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z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25E18C4-4686-4376-9106-A163794CC1AB}"/>
              </a:ext>
            </a:extLst>
          </p:cNvPr>
          <p:cNvSpPr/>
          <p:nvPr/>
        </p:nvSpPr>
        <p:spPr>
          <a:xfrm>
            <a:off x="5300867" y="1578845"/>
            <a:ext cx="2824948" cy="62166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800" b="1" spc="-1" dirty="0">
                <a:solidFill>
                  <a:srgbClr val="FF0000"/>
                </a:solidFill>
                <a:latin typeface="Consolas" panose="020B0609020204030204" pitchFamily="49" charset="0"/>
              </a:rPr>
              <a:t>ERROR!</a:t>
            </a:r>
          </a:p>
          <a:p>
            <a:pPr algn="ctr"/>
            <a:r>
              <a:rPr lang="en-US" sz="1800" spc="-1" dirty="0">
                <a:solidFill>
                  <a:srgbClr val="FF0000"/>
                </a:solidFill>
                <a:latin typeface="Consolas" panose="020B0609020204030204" pitchFamily="49" charset="0"/>
              </a:rPr>
              <a:t>(</a:t>
            </a:r>
            <a:r>
              <a:rPr lang="en-US" sz="1800" spc="-1" dirty="0" err="1">
                <a:solidFill>
                  <a:srgbClr val="FF0000"/>
                </a:solidFill>
                <a:latin typeface="Consolas" panose="020B0609020204030204" pitchFamily="49" charset="0"/>
              </a:rPr>
              <a:t>UnboundLocalError</a:t>
            </a:r>
            <a:r>
              <a:rPr lang="en-US" sz="1800" spc="-1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AB78F4D0-905C-4F22-8241-B0B6D5880695}"/>
              </a:ext>
            </a:extLst>
          </p:cNvPr>
          <p:cNvSpPr/>
          <p:nvPr/>
        </p:nvSpPr>
        <p:spPr>
          <a:xfrm>
            <a:off x="5302800" y="2228400"/>
            <a:ext cx="2824948" cy="303862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test_scope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>
                <a:solidFill>
                  <a:srgbClr val="FF0000"/>
                </a:solidFill>
                <a:latin typeface="Consolas" panose="020B0609020204030204" pitchFamily="49" charset="0"/>
              </a:rPr>
              <a:t>print('in1',</a:t>
            </a:r>
            <a:r>
              <a:rPr lang="en-US" sz="1800" spc="-1" dirty="0">
                <a:solidFill>
                  <a:schemeClr val="accent6"/>
                </a:solidFill>
                <a:latin typeface="Consolas" panose="020B0609020204030204" pitchFamily="49" charset="0"/>
              </a:rPr>
              <a:t>z</a:t>
            </a:r>
            <a:r>
              <a:rPr lang="en-US" sz="1800" spc="-1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>
                <a:solidFill>
                  <a:schemeClr val="accent6"/>
                </a:solidFill>
                <a:latin typeface="Consolas" panose="020B0609020204030204" pitchFamily="49" charset="0"/>
              </a:rPr>
              <a:t>z = 5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print('in2',</a:t>
            </a:r>
            <a:r>
              <a:rPr lang="en-US" sz="1800" spc="-1" dirty="0">
                <a:solidFill>
                  <a:schemeClr val="accent6"/>
                </a:solidFill>
                <a:latin typeface="Consolas" panose="020B0609020204030204" pitchFamily="49" charset="0"/>
              </a:rPr>
              <a:t>z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y = 4</a:t>
            </a:r>
          </a:p>
          <a:p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z = 3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print('out1', </a:t>
            </a:r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z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test_scope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print('out2', </a:t>
            </a:r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z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F832B8B-AFD7-4561-BCFF-CD1225A8C5CA}"/>
              </a:ext>
            </a:extLst>
          </p:cNvPr>
          <p:cNvSpPr/>
          <p:nvPr/>
        </p:nvSpPr>
        <p:spPr>
          <a:xfrm>
            <a:off x="5302800" y="2228400"/>
            <a:ext cx="2824948" cy="3038621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test_scope1():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</a:t>
            </a:r>
            <a:r>
              <a:rPr lang="en-US" sz="1800" spc="-1" dirty="0">
                <a:solidFill>
                  <a:schemeClr val="accent6"/>
                </a:solidFill>
                <a:latin typeface="Consolas" panose="020B0609020204030204" pitchFamily="49" charset="0"/>
              </a:rPr>
              <a:t>y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= x + </a:t>
            </a:r>
            <a:r>
              <a:rPr lang="en-US" sz="1800" spc="-1" dirty="0">
                <a:solidFill>
                  <a:schemeClr val="accent6"/>
                </a:solidFill>
                <a:latin typeface="Consolas" panose="020B0609020204030204" pitchFamily="49" charset="0"/>
              </a:rPr>
              <a:t>5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print('in1',</a:t>
            </a:r>
            <a:r>
              <a:rPr lang="en-US" sz="1800" spc="-1" dirty="0">
                <a:solidFill>
                  <a:schemeClr val="accent6"/>
                </a:solidFill>
                <a:latin typeface="Consolas" panose="020B0609020204030204" pitchFamily="49" charset="0"/>
              </a:rPr>
              <a:t>y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test_scope2():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print('in2',</a:t>
            </a:r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x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print('in2',</a:t>
            </a:r>
            <a:r>
              <a:rPr lang="en-US" sz="1800" spc="-1" dirty="0">
                <a:solidFill>
                  <a:srgbClr val="C00000"/>
                </a:solidFill>
                <a:latin typeface="Consolas" panose="020B0609020204030204" pitchFamily="49" charset="0"/>
              </a:rPr>
              <a:t>y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)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chemeClr val="accent2"/>
                </a:solidFill>
                <a:latin typeface="Consolas" panose="020B0609020204030204" pitchFamily="49" charset="0"/>
              </a:rPr>
              <a:t>x = 3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test_scope1()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test_scope2()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B7BECF6-94CC-49E7-B16E-D90A0B404687}"/>
              </a:ext>
            </a:extLst>
          </p:cNvPr>
          <p:cNvSpPr/>
          <p:nvPr/>
        </p:nvSpPr>
        <p:spPr>
          <a:xfrm>
            <a:off x="5302800" y="1580400"/>
            <a:ext cx="2824948" cy="62166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ctr"/>
            <a:r>
              <a:rPr lang="en-US" sz="1800" b="1" spc="-1" dirty="0">
                <a:solidFill>
                  <a:srgbClr val="FF0000"/>
                </a:solidFill>
                <a:latin typeface="Consolas" panose="020B0609020204030204" pitchFamily="49" charset="0"/>
              </a:rPr>
              <a:t>ERROR!</a:t>
            </a:r>
          </a:p>
          <a:p>
            <a:pPr algn="ctr"/>
            <a:r>
              <a:rPr lang="en-US" sz="1800" spc="-1" dirty="0">
                <a:solidFill>
                  <a:srgbClr val="FF0000"/>
                </a:solidFill>
                <a:latin typeface="Consolas" panose="020B0609020204030204" pitchFamily="49" charset="0"/>
              </a:rPr>
              <a:t>(</a:t>
            </a:r>
            <a:r>
              <a:rPr lang="en-US" sz="1800" spc="-1" dirty="0" err="1">
                <a:solidFill>
                  <a:srgbClr val="FF0000"/>
                </a:solidFill>
                <a:latin typeface="Consolas" panose="020B0609020204030204" pitchFamily="49" charset="0"/>
              </a:rPr>
              <a:t>NameError</a:t>
            </a:r>
            <a:r>
              <a:rPr lang="en-US" sz="1800" spc="-1" dirty="0">
                <a:solidFill>
                  <a:srgbClr val="FF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31514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5" grpId="0" animBg="1"/>
      <p:bldP spid="5" grpId="1" animBg="1"/>
      <p:bldP spid="6" grpId="0" animBg="1"/>
      <p:bldP spid="6" grpId="1" animBg="1"/>
      <p:bldP spid="7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Value vs. reference</a:t>
            </a:r>
            <a:b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</a:b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Assignment of mutable vs. immutable data types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C43D9F7-F150-4BAE-8E02-6FEFC3BF4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1590732"/>
            <a:ext cx="8036099" cy="3728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ways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assigning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endParaRPr lang="de-D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Immutable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float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bool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tuple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Initially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left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points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right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After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 on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right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changed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1657350" lvl="3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Left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copies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 on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right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657350" lvl="3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Left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points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old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reference</a:t>
            </a:r>
            <a:endParaRPr lang="de-D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Mutable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dictionary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set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Left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references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right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10FB47D-62C7-4EA8-B7BB-3E7824E806E2}"/>
              </a:ext>
            </a:extLst>
          </p:cNvPr>
          <p:cNvSpPr/>
          <p:nvPr/>
        </p:nvSpPr>
        <p:spPr>
          <a:xfrm>
            <a:off x="7636764" y="1857012"/>
            <a:ext cx="1377696" cy="55894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val1 = 5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val2 = val1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417516C9-D528-4F2D-9463-2DDDC6AD67D0}"/>
              </a:ext>
            </a:extLst>
          </p:cNvPr>
          <p:cNvSpPr/>
          <p:nvPr/>
        </p:nvSpPr>
        <p:spPr>
          <a:xfrm>
            <a:off x="7397888" y="4327743"/>
            <a:ext cx="1685152" cy="55894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list1 = [5]</a:t>
            </a:r>
          </a:p>
          <a:p>
            <a:r>
              <a:rPr lang="en-US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list2 = list1</a:t>
            </a:r>
          </a:p>
        </p:txBody>
      </p:sp>
    </p:spTree>
    <p:extLst>
      <p:ext uri="{BB962C8B-B14F-4D97-AF65-F5344CB8AC3E}">
        <p14:creationId xmlns:p14="http://schemas.microsoft.com/office/powerpoint/2010/main" val="30508410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Assignment by value vs. by reference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10FB47D-62C7-4EA8-B7BB-3E7824E806E2}"/>
              </a:ext>
            </a:extLst>
          </p:cNvPr>
          <p:cNvSpPr/>
          <p:nvPr/>
        </p:nvSpPr>
        <p:spPr>
          <a:xfrm>
            <a:off x="1190244" y="1780812"/>
            <a:ext cx="2802636" cy="25016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val1 = 5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val2 = val1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print('V1A', val1)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print('V2A', val2)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val1 += 8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print('V1B', val1)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print('V2B', val2)</a:t>
            </a:r>
            <a:endParaRPr lang="en-US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5189AFD-14B8-4324-92B6-4E645A502115}"/>
              </a:ext>
            </a:extLst>
          </p:cNvPr>
          <p:cNvSpPr/>
          <p:nvPr/>
        </p:nvSpPr>
        <p:spPr>
          <a:xfrm>
            <a:off x="5151122" y="1780812"/>
            <a:ext cx="2802636" cy="25016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list1 = [5]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list2 = list1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print('L1A', list1)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print('L2A', list2)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list1.append(8)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print('L1B', list1)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print('L2B', list2)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2E135CE-FAE9-46A4-A790-7B7A7BB5C1E6}"/>
              </a:ext>
            </a:extLst>
          </p:cNvPr>
          <p:cNvSpPr/>
          <p:nvPr/>
        </p:nvSpPr>
        <p:spPr>
          <a:xfrm>
            <a:off x="1427810" y="1408560"/>
            <a:ext cx="22108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Assignment by value </a:t>
            </a:r>
            <a:endParaRPr lang="de-AT" sz="1800" dirty="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D950A97-63E7-43BF-B165-F5D743F61B8E}"/>
              </a:ext>
            </a:extLst>
          </p:cNvPr>
          <p:cNvSpPr/>
          <p:nvPr/>
        </p:nvSpPr>
        <p:spPr>
          <a:xfrm>
            <a:off x="5246634" y="1408560"/>
            <a:ext cx="26116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Assignment by reference </a:t>
            </a:r>
            <a:endParaRPr lang="de-AT" sz="1800" dirty="0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B30831C-E013-4C20-BB8C-A19B21019614}"/>
              </a:ext>
            </a:extLst>
          </p:cNvPr>
          <p:cNvSpPr/>
          <p:nvPr/>
        </p:nvSpPr>
        <p:spPr>
          <a:xfrm>
            <a:off x="1190244" y="4546872"/>
            <a:ext cx="2802636" cy="12062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V1A 5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V2A 5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V1B 13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V2B 5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C5C10C4-2D7F-480A-A35B-9809E3EA8713}"/>
              </a:ext>
            </a:extLst>
          </p:cNvPr>
          <p:cNvSpPr/>
          <p:nvPr/>
        </p:nvSpPr>
        <p:spPr>
          <a:xfrm>
            <a:off x="5151122" y="4546872"/>
            <a:ext cx="2802636" cy="12062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L1A [5]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L2A [5]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L1B [5,8]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L2B [5,8]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4396D44F-A64A-4D96-AF86-79A8B8E62F81}"/>
              </a:ext>
            </a:extLst>
          </p:cNvPr>
          <p:cNvSpPr/>
          <p:nvPr/>
        </p:nvSpPr>
        <p:spPr>
          <a:xfrm>
            <a:off x="199643" y="4921386"/>
            <a:ext cx="822960" cy="45720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000000"/>
          </a:solidFill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CA695192-DFBE-42EC-B97F-56D4E505E0E8}"/>
              </a:ext>
            </a:extLst>
          </p:cNvPr>
          <p:cNvSpPr/>
          <p:nvPr/>
        </p:nvSpPr>
        <p:spPr>
          <a:xfrm>
            <a:off x="4160521" y="4921386"/>
            <a:ext cx="822960" cy="45720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000000"/>
          </a:solidFill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314439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Call by value vs. call by reference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C43D9F7-F150-4BAE-8E02-6FEFC3BF4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1590733"/>
            <a:ext cx="8036099" cy="2760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Two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ways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passing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  <a:endParaRPr lang="de-D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Immutable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int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float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bool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string</a:t>
            </a:r>
            <a:r>
              <a:rPr lang="de-DE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tuple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Parameters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point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copy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after a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change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reference</a:t>
            </a:r>
            <a:endParaRPr lang="de-D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Mutable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types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dictionary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set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Parameters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reference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variables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passed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functions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de-DE" sz="1800" dirty="0">
              <a:highlight>
                <a:srgbClr val="DAE3F3"/>
              </a:highlight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119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Call by value vs. call by reference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10FB47D-62C7-4EA8-B7BB-3E7824E806E2}"/>
              </a:ext>
            </a:extLst>
          </p:cNvPr>
          <p:cNvSpPr/>
          <p:nvPr/>
        </p:nvSpPr>
        <p:spPr>
          <a:xfrm>
            <a:off x="1190244" y="1780812"/>
            <a:ext cx="2802636" cy="25016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do_stuff1(x):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x += 5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print('B', x)</a:t>
            </a:r>
          </a:p>
          <a:p>
            <a:endParaRPr lang="nn-NO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val = 8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print('A', val)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do_stuff1(val)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print('C', val)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5189AFD-14B8-4324-92B6-4E645A502115}"/>
              </a:ext>
            </a:extLst>
          </p:cNvPr>
          <p:cNvSpPr/>
          <p:nvPr/>
        </p:nvSpPr>
        <p:spPr>
          <a:xfrm>
            <a:off x="5151122" y="1780812"/>
            <a:ext cx="2802636" cy="25016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do_stuff2(x):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x.append(5)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print('B', x)</a:t>
            </a:r>
          </a:p>
          <a:p>
            <a:endParaRPr lang="nn-NO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list1 = [8]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print('A', list1)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do_stuff2(list1)</a:t>
            </a:r>
          </a:p>
          <a:p>
            <a:r>
              <a:rPr lang="nn-NO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print('C', list1)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2E135CE-FAE9-46A4-A790-7B7A7BB5C1E6}"/>
              </a:ext>
            </a:extLst>
          </p:cNvPr>
          <p:cNvSpPr/>
          <p:nvPr/>
        </p:nvSpPr>
        <p:spPr>
          <a:xfrm>
            <a:off x="1870852" y="1408560"/>
            <a:ext cx="14414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800" b="1" dirty="0">
                <a:solidFill>
                  <a:srgbClr val="1E90FF"/>
                </a:solidFill>
                <a:latin typeface="Calibri"/>
                <a:cs typeface="Calibri"/>
                <a:sym typeface="Calibri"/>
              </a:rPr>
              <a:t>Call by value </a:t>
            </a:r>
            <a:endParaRPr lang="de-AT" sz="1800" dirty="0">
              <a:solidFill>
                <a:srgbClr val="1E90FF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D950A97-63E7-43BF-B165-F5D743F61B8E}"/>
              </a:ext>
            </a:extLst>
          </p:cNvPr>
          <p:cNvSpPr/>
          <p:nvPr/>
        </p:nvSpPr>
        <p:spPr>
          <a:xfrm>
            <a:off x="5631354" y="1408560"/>
            <a:ext cx="18421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800" b="1" dirty="0">
                <a:solidFill>
                  <a:srgbClr val="32CD32"/>
                </a:solidFill>
                <a:latin typeface="Calibri"/>
                <a:cs typeface="Calibri"/>
                <a:sym typeface="Calibri"/>
              </a:rPr>
              <a:t>Call by reference </a:t>
            </a:r>
            <a:endParaRPr lang="de-AT" sz="1800" dirty="0">
              <a:solidFill>
                <a:srgbClr val="32CD32"/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B30831C-E013-4C20-BB8C-A19B21019614}"/>
              </a:ext>
            </a:extLst>
          </p:cNvPr>
          <p:cNvSpPr/>
          <p:nvPr/>
        </p:nvSpPr>
        <p:spPr>
          <a:xfrm>
            <a:off x="1190244" y="4546872"/>
            <a:ext cx="2802636" cy="12062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A 8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B 13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C 8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C5C10C4-2D7F-480A-A35B-9809E3EA8713}"/>
              </a:ext>
            </a:extLst>
          </p:cNvPr>
          <p:cNvSpPr/>
          <p:nvPr/>
        </p:nvSpPr>
        <p:spPr>
          <a:xfrm>
            <a:off x="5151122" y="4546872"/>
            <a:ext cx="2802636" cy="12062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A [8]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B [8, 5]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C [8, 5]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4396D44F-A64A-4D96-AF86-79A8B8E62F81}"/>
              </a:ext>
            </a:extLst>
          </p:cNvPr>
          <p:cNvSpPr/>
          <p:nvPr/>
        </p:nvSpPr>
        <p:spPr>
          <a:xfrm>
            <a:off x="199643" y="4921386"/>
            <a:ext cx="822960" cy="45720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000000"/>
          </a:solidFill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CA695192-DFBE-42EC-B97F-56D4E505E0E8}"/>
              </a:ext>
            </a:extLst>
          </p:cNvPr>
          <p:cNvSpPr/>
          <p:nvPr/>
        </p:nvSpPr>
        <p:spPr>
          <a:xfrm>
            <a:off x="4160521" y="4921386"/>
            <a:ext cx="822960" cy="45720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000000"/>
          </a:solidFill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C6F53D63-8E82-4C3A-B9DC-23BFC42136E2}"/>
              </a:ext>
            </a:extLst>
          </p:cNvPr>
          <p:cNvGrpSpPr/>
          <p:nvPr/>
        </p:nvGrpSpPr>
        <p:grpSpPr>
          <a:xfrm>
            <a:off x="2928007" y="2141384"/>
            <a:ext cx="1169280" cy="1567756"/>
            <a:chOff x="4628160" y="2054160"/>
            <a:chExt cx="1169280" cy="2604240"/>
          </a:xfrm>
        </p:grpSpPr>
        <p:sp>
          <p:nvSpPr>
            <p:cNvPr id="17" name="Gerader Verbinder 16">
              <a:extLst>
                <a:ext uri="{FF2B5EF4-FFF2-40B4-BE49-F238E27FC236}">
                  <a16:creationId xmlns:a16="http://schemas.microsoft.com/office/drawing/2014/main" id="{C6237976-5943-4666-84CB-94AAB99B5722}"/>
                </a:ext>
              </a:extLst>
            </p:cNvPr>
            <p:cNvSpPr/>
            <p:nvPr/>
          </p:nvSpPr>
          <p:spPr>
            <a:xfrm flipH="1">
              <a:off x="5061240" y="2143080"/>
              <a:ext cx="721440" cy="12240"/>
            </a:xfrm>
            <a:prstGeom prst="line">
              <a:avLst/>
            </a:prstGeom>
            <a:ln w="182880">
              <a:solidFill>
                <a:srgbClr val="1E90FF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AT"/>
            </a:p>
          </p:txBody>
        </p:sp>
        <p:sp>
          <p:nvSpPr>
            <p:cNvPr id="18" name="Gerader Verbinder 17">
              <a:extLst>
                <a:ext uri="{FF2B5EF4-FFF2-40B4-BE49-F238E27FC236}">
                  <a16:creationId xmlns:a16="http://schemas.microsoft.com/office/drawing/2014/main" id="{F2906F71-4E18-4039-B2CA-BFF7257B888B}"/>
                </a:ext>
              </a:extLst>
            </p:cNvPr>
            <p:cNvSpPr/>
            <p:nvPr/>
          </p:nvSpPr>
          <p:spPr>
            <a:xfrm flipV="1">
              <a:off x="5704560" y="2054160"/>
              <a:ext cx="0" cy="2604240"/>
            </a:xfrm>
            <a:prstGeom prst="line">
              <a:avLst/>
            </a:prstGeom>
            <a:ln w="182880">
              <a:solidFill>
                <a:srgbClr val="1E90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AT"/>
            </a:p>
          </p:txBody>
        </p:sp>
        <p:sp>
          <p:nvSpPr>
            <p:cNvPr id="19" name="Gerader Verbinder 18">
              <a:extLst>
                <a:ext uri="{FF2B5EF4-FFF2-40B4-BE49-F238E27FC236}">
                  <a16:creationId xmlns:a16="http://schemas.microsoft.com/office/drawing/2014/main" id="{50C89F51-F467-4E8A-9DC7-C3BDBCAD9EE3}"/>
                </a:ext>
              </a:extLst>
            </p:cNvPr>
            <p:cNvSpPr/>
            <p:nvPr/>
          </p:nvSpPr>
          <p:spPr>
            <a:xfrm>
              <a:off x="4628160" y="4592880"/>
              <a:ext cx="1169280" cy="0"/>
            </a:xfrm>
            <a:prstGeom prst="line">
              <a:avLst/>
            </a:prstGeom>
            <a:ln w="182880">
              <a:solidFill>
                <a:srgbClr val="1E90FF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AT"/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AFCE2A5E-F694-41F5-B2E8-8F96CDB72DB7}"/>
              </a:ext>
            </a:extLst>
          </p:cNvPr>
          <p:cNvGrpSpPr/>
          <p:nvPr/>
        </p:nvGrpSpPr>
        <p:grpSpPr>
          <a:xfrm>
            <a:off x="7064664" y="2141384"/>
            <a:ext cx="1169280" cy="1567756"/>
            <a:chOff x="10193400" y="2051280"/>
            <a:chExt cx="1169280" cy="2604240"/>
          </a:xfrm>
        </p:grpSpPr>
        <p:sp>
          <p:nvSpPr>
            <p:cNvPr id="21" name="Gerader Verbinder 20">
              <a:extLst>
                <a:ext uri="{FF2B5EF4-FFF2-40B4-BE49-F238E27FC236}">
                  <a16:creationId xmlns:a16="http://schemas.microsoft.com/office/drawing/2014/main" id="{49D0D281-2BAD-4876-A119-A9DE0916A791}"/>
                </a:ext>
              </a:extLst>
            </p:cNvPr>
            <p:cNvSpPr/>
            <p:nvPr/>
          </p:nvSpPr>
          <p:spPr>
            <a:xfrm flipH="1">
              <a:off x="10626480" y="2140200"/>
              <a:ext cx="721440" cy="12240"/>
            </a:xfrm>
            <a:prstGeom prst="line">
              <a:avLst/>
            </a:prstGeom>
            <a:ln w="182880">
              <a:solidFill>
                <a:srgbClr val="32CD32"/>
              </a:solidFill>
              <a:round/>
              <a:tailEnd type="triangl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AT"/>
            </a:p>
          </p:txBody>
        </p:sp>
        <p:sp>
          <p:nvSpPr>
            <p:cNvPr id="22" name="Gerader Verbinder 21">
              <a:extLst>
                <a:ext uri="{FF2B5EF4-FFF2-40B4-BE49-F238E27FC236}">
                  <a16:creationId xmlns:a16="http://schemas.microsoft.com/office/drawing/2014/main" id="{5B214E6D-6076-4E74-B099-50B4D96FD365}"/>
                </a:ext>
              </a:extLst>
            </p:cNvPr>
            <p:cNvSpPr/>
            <p:nvPr/>
          </p:nvSpPr>
          <p:spPr>
            <a:xfrm flipV="1">
              <a:off x="11269800" y="2051280"/>
              <a:ext cx="0" cy="2604240"/>
            </a:xfrm>
            <a:prstGeom prst="line">
              <a:avLst/>
            </a:prstGeom>
            <a:ln w="182880">
              <a:solidFill>
                <a:srgbClr val="32CD32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AT"/>
            </a:p>
          </p:txBody>
        </p:sp>
        <p:sp>
          <p:nvSpPr>
            <p:cNvPr id="23" name="Gerader Verbinder 22">
              <a:extLst>
                <a:ext uri="{FF2B5EF4-FFF2-40B4-BE49-F238E27FC236}">
                  <a16:creationId xmlns:a16="http://schemas.microsoft.com/office/drawing/2014/main" id="{1FB7DCC5-9739-4723-97FE-AE8E78D7C918}"/>
                </a:ext>
              </a:extLst>
            </p:cNvPr>
            <p:cNvSpPr/>
            <p:nvPr/>
          </p:nvSpPr>
          <p:spPr>
            <a:xfrm>
              <a:off x="10193400" y="4590000"/>
              <a:ext cx="1169280" cy="0"/>
            </a:xfrm>
            <a:prstGeom prst="line">
              <a:avLst/>
            </a:prstGeom>
            <a:ln w="182880">
              <a:solidFill>
                <a:srgbClr val="32CD32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AT"/>
            </a:p>
          </p:txBody>
        </p: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74573BC6-D853-42F8-9072-B608E3C70B05}"/>
              </a:ext>
            </a:extLst>
          </p:cNvPr>
          <p:cNvSpPr txBox="1"/>
          <p:nvPr/>
        </p:nvSpPr>
        <p:spPr>
          <a:xfrm>
            <a:off x="3312272" y="3749464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>
                <a:solidFill>
                  <a:srgbClr val="1E9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AC465EED-9D41-4344-B1B9-3663B233F78B}"/>
              </a:ext>
            </a:extLst>
          </p:cNvPr>
          <p:cNvSpPr txBox="1"/>
          <p:nvPr/>
        </p:nvSpPr>
        <p:spPr>
          <a:xfrm>
            <a:off x="1803512" y="4965320"/>
            <a:ext cx="1401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>
                <a:solidFill>
                  <a:srgbClr val="1E9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 </a:t>
            </a:r>
            <a:r>
              <a:rPr lang="de-AT" sz="1800" dirty="0" err="1">
                <a:solidFill>
                  <a:srgbClr val="1E9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copied</a:t>
            </a:r>
            <a:endParaRPr lang="de-AT" sz="1800" dirty="0">
              <a:solidFill>
                <a:srgbClr val="1E90F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F75CF4B1-749C-4A42-9923-B1B951E5C75A}"/>
              </a:ext>
            </a:extLst>
          </p:cNvPr>
          <p:cNvSpPr txBox="1"/>
          <p:nvPr/>
        </p:nvSpPr>
        <p:spPr>
          <a:xfrm>
            <a:off x="7115093" y="3721835"/>
            <a:ext cx="1141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>
                <a:solidFill>
                  <a:srgbClr val="32CD3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Reference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BA558AD8-1BE3-45BA-917A-3C05E6D76C84}"/>
              </a:ext>
            </a:extLst>
          </p:cNvPr>
          <p:cNvSpPr txBox="1"/>
          <p:nvPr/>
        </p:nvSpPr>
        <p:spPr>
          <a:xfrm>
            <a:off x="6254207" y="4998010"/>
            <a:ext cx="184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sz="1800" dirty="0">
                <a:solidFill>
                  <a:srgbClr val="32CD3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Reference </a:t>
            </a:r>
            <a:r>
              <a:rPr lang="de-AT" sz="1800" dirty="0" err="1">
                <a:solidFill>
                  <a:srgbClr val="32CD3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passed</a:t>
            </a:r>
            <a:endParaRPr lang="de-AT" sz="1800" dirty="0">
              <a:solidFill>
                <a:srgbClr val="32CD32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2361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4" grpId="0"/>
      <p:bldP spid="25" grpId="0"/>
      <p:bldP spid="26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Call by value vs. call by reference</a:t>
            </a:r>
            <a:b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</a:b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New assignments in functions 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10FB47D-62C7-4EA8-B7BB-3E7824E806E2}"/>
              </a:ext>
            </a:extLst>
          </p:cNvPr>
          <p:cNvSpPr/>
          <p:nvPr/>
        </p:nvSpPr>
        <p:spPr>
          <a:xfrm>
            <a:off x="1190244" y="1780812"/>
            <a:ext cx="2802636" cy="25016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do_stuff3(z):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print('B', z)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z = 13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print('C', z)</a:t>
            </a:r>
            <a:b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</a:br>
            <a:endParaRPr lang="pl-PL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z = 8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print('A', z)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do_stuff3(z)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print('D', z)</a:t>
            </a:r>
            <a:endParaRPr lang="nn-NO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5189AFD-14B8-4324-92B6-4E645A502115}"/>
              </a:ext>
            </a:extLst>
          </p:cNvPr>
          <p:cNvSpPr/>
          <p:nvPr/>
        </p:nvSpPr>
        <p:spPr>
          <a:xfrm>
            <a:off x="5151122" y="1780812"/>
            <a:ext cx="2802636" cy="25016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def do_stuff4(z):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print('B', z)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z = [8, 5]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print('C', z)</a:t>
            </a:r>
            <a:b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</a:br>
            <a:endParaRPr lang="pl-PL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z = [13]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print('A', z)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do_stuff4(z)</a:t>
            </a:r>
          </a:p>
          <a:p>
            <a:r>
              <a:rPr lang="pl-PL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print('D', z)</a:t>
            </a:r>
            <a:endParaRPr lang="nn-NO" sz="16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2E135CE-FAE9-46A4-A790-7B7A7BB5C1E6}"/>
              </a:ext>
            </a:extLst>
          </p:cNvPr>
          <p:cNvSpPr/>
          <p:nvPr/>
        </p:nvSpPr>
        <p:spPr>
          <a:xfrm>
            <a:off x="1870852" y="1408560"/>
            <a:ext cx="14414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800" b="1" dirty="0">
                <a:solidFill>
                  <a:srgbClr val="1E90FF"/>
                </a:solidFill>
                <a:latin typeface="Calibri"/>
                <a:cs typeface="Calibri"/>
                <a:sym typeface="Calibri"/>
              </a:rPr>
              <a:t>Call by value </a:t>
            </a:r>
            <a:endParaRPr lang="de-AT" sz="1800" dirty="0">
              <a:solidFill>
                <a:srgbClr val="1E90FF"/>
              </a:solidFill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ED950A97-63E7-43BF-B165-F5D743F61B8E}"/>
              </a:ext>
            </a:extLst>
          </p:cNvPr>
          <p:cNvSpPr/>
          <p:nvPr/>
        </p:nvSpPr>
        <p:spPr>
          <a:xfrm>
            <a:off x="5631354" y="1408560"/>
            <a:ext cx="18421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800" b="1" dirty="0">
                <a:solidFill>
                  <a:srgbClr val="32CD32"/>
                </a:solidFill>
                <a:latin typeface="Calibri"/>
                <a:cs typeface="Calibri"/>
                <a:sym typeface="Calibri"/>
              </a:rPr>
              <a:t>Call by reference </a:t>
            </a:r>
            <a:endParaRPr lang="de-AT" sz="1800" dirty="0">
              <a:solidFill>
                <a:srgbClr val="32CD32"/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5B30831C-E013-4C20-BB8C-A19B21019614}"/>
              </a:ext>
            </a:extLst>
          </p:cNvPr>
          <p:cNvSpPr/>
          <p:nvPr/>
        </p:nvSpPr>
        <p:spPr>
          <a:xfrm>
            <a:off x="1190244" y="4546872"/>
            <a:ext cx="2802636" cy="12062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A 8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B 8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C 13 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 8 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0C5C10C4-2D7F-480A-A35B-9809E3EA8713}"/>
              </a:ext>
            </a:extLst>
          </p:cNvPr>
          <p:cNvSpPr/>
          <p:nvPr/>
        </p:nvSpPr>
        <p:spPr>
          <a:xfrm>
            <a:off x="5151122" y="4546872"/>
            <a:ext cx="2802636" cy="120622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A [13]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B [13]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C [8, 5]</a:t>
            </a:r>
          </a:p>
          <a:p>
            <a:r>
              <a:rPr lang="pt-BR" sz="1600" spc="-1" dirty="0">
                <a:solidFill>
                  <a:srgbClr val="0F0F0F"/>
                </a:solidFill>
                <a:latin typeface="Consolas" panose="020B0609020204030204" pitchFamily="49" charset="0"/>
              </a:rPr>
              <a:t>D [13]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4396D44F-A64A-4D96-AF86-79A8B8E62F81}"/>
              </a:ext>
            </a:extLst>
          </p:cNvPr>
          <p:cNvSpPr/>
          <p:nvPr/>
        </p:nvSpPr>
        <p:spPr>
          <a:xfrm>
            <a:off x="199643" y="4921386"/>
            <a:ext cx="822960" cy="45720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000000"/>
          </a:solidFill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CA695192-DFBE-42EC-B97F-56D4E505E0E8}"/>
              </a:ext>
            </a:extLst>
          </p:cNvPr>
          <p:cNvSpPr/>
          <p:nvPr/>
        </p:nvSpPr>
        <p:spPr>
          <a:xfrm>
            <a:off x="4160521" y="4921386"/>
            <a:ext cx="822960" cy="457200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000000"/>
          </a:solidFill>
          <a:ln w="0">
            <a:solidFill>
              <a:srgbClr val="00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27" name="Google Shape;87;p2">
            <a:extLst>
              <a:ext uri="{FF2B5EF4-FFF2-40B4-BE49-F238E27FC236}">
                <a16:creationId xmlns:a16="http://schemas.microsoft.com/office/drawing/2014/main" id="{AF7F6C8C-CA61-401B-AA06-2F9CB1BC53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5812213"/>
            <a:ext cx="8036099" cy="550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Tutor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3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4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5"/>
              </a:rPr>
              <a:t>5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6"/>
              </a:rPr>
              <a:t>6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Also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notebook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78581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Tips for learning programming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88760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How do I learn to program?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C43D9F7-F150-4BAE-8E02-6FEFC3BF4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1590733"/>
            <a:ext cx="8036099" cy="3352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Start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smaller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snippets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Homework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explanations</a:t>
            </a:r>
            <a:r>
              <a:rPr lang="de-DE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Homeworks</a:t>
            </a:r>
            <a:endParaRPr lang="de-DE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Online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resources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...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Experiment,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experiment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experiment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…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Debug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Visualize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intermediate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program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flow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Text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books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41629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How to deal with problems?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C43D9F7-F150-4BAE-8E02-6FEFC3BF4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1590733"/>
            <a:ext cx="8036099" cy="3352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Start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these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three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questions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yourself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am I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trying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do/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achieve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did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try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out so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were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my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so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necessary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once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beginning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Take a break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Larger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sketch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paper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before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start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Pseudocode,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diagram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42154293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How to deal with problems?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C43D9F7-F150-4BAE-8E02-6FEFC3BF42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53950" y="1590732"/>
            <a:ext cx="8036099" cy="3843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Debug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Using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print</a:t>
            </a:r>
            <a:r>
              <a:rPr lang="de-DE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 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Write a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a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paper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Where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know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implementation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those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small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More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tests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always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better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Online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search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e.g.,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messages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  <a:r>
              <a:rPr lang="de-DE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descriptions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StackOverflow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3"/>
              </a:rPr>
              <a:t>https://stackoverflow.com/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Python Docs (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https://docs.python.org/3/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2076076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Example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7903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Tic-tac-toe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2638457-2D9F-4863-99CD-F828C4C1BC3C}"/>
              </a:ext>
            </a:extLst>
          </p:cNvPr>
          <p:cNvSpPr/>
          <p:nvPr/>
        </p:nvSpPr>
        <p:spPr>
          <a:xfrm>
            <a:off x="825617" y="1551879"/>
            <a:ext cx="7492765" cy="4388004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 the game of tic-tac-toe a player (X or O) wins if there are three same 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characters in a row, column, or any of the two diagonals. The game is played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 a 3x3 board.</a:t>
            </a:r>
          </a:p>
          <a:p>
            <a:pPr algn="just"/>
            <a:endParaRPr lang="en-US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will represent the board in tic-tac-toe as a list of strings. For example: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['OOX', 'OXX', 'OOO']</a:t>
            </a:r>
          </a:p>
          <a:p>
            <a:pPr algn="just"/>
            <a:endParaRPr lang="en-US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 want to write a  function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check_win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(board),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which returns the winner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 the provided game,  and the way how the game was won, i.e., 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horizontal, vertical, or diagonal. </a:t>
            </a:r>
          </a:p>
          <a:p>
            <a:pPr algn="just"/>
            <a:endParaRPr lang="en-US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Hence, if player X won, the function should return the string X, and if player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 won,  the function should return the string O. In addition, the function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returns H, V, D for horizontal, vertical, and diagonal win respectively. 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 there is a draw, then the function should return 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None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6" name="Google Shape;87;p2">
            <a:extLst>
              <a:ext uri="{FF2B5EF4-FFF2-40B4-BE49-F238E27FC236}">
                <a16:creationId xmlns:a16="http://schemas.microsoft.com/office/drawing/2014/main" id="{E702544F-B557-4280-BAC4-9E0BD0616E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24994" y="5889673"/>
            <a:ext cx="8036099" cy="585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notebook</a:t>
            </a:r>
          </a:p>
        </p:txBody>
      </p:sp>
    </p:spTree>
    <p:extLst>
      <p:ext uri="{BB962C8B-B14F-4D97-AF65-F5344CB8AC3E}">
        <p14:creationId xmlns:p14="http://schemas.microsoft.com/office/powerpoint/2010/main" val="12701593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80495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605600"/>
            <a:ext cx="8229600" cy="258532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Task 1: 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Text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statistics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lvl="0">
              <a:defRPr/>
            </a:pPr>
            <a:endParaRPr lang="de-DE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Write a function </a:t>
            </a:r>
            <a:r>
              <a:rPr lang="en-US" sz="1800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count_letter</a:t>
            </a:r>
            <a:r>
              <a:rPr lang="en-US" sz="1800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(text, letter)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It counts and returns how often some letter occurs in a text (both are str). Let the function be case-insensitive and don't use any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builtin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-functionality for counting! Using your function, count the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occurences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 letters from the ABC string below in a text defined below. Output each letter and its count on a separate line.</a:t>
            </a: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unit6_exercise.ipynb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826582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605600"/>
            <a:ext cx="8229600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r>
              <a:rPr kumimoji="0" lang="de-DE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Task 2: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Subset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list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lvl="0">
              <a:defRPr/>
            </a:pPr>
            <a:endParaRPr lang="de-DE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Write a function, which checks whether a list is a subset of another list. The function returns </a:t>
            </a: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True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 if that is the case and </a:t>
            </a:r>
            <a:r>
              <a:rPr lang="en-US" sz="1800" dirty="0">
                <a:latin typeface="Consolas" panose="020B0609020204030204" pitchFamily="49" charset="0"/>
                <a:cs typeface="Calibri" panose="020F0502020204030204" pitchFamily="34" charset="0"/>
              </a:rPr>
              <a:t>False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 otherwise.</a:t>
            </a: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unit6_exercise.ipynb</a:t>
            </a:r>
            <a:endParaRPr lang="de-DE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898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1247</TotalTime>
  <Words>2835</Words>
  <Application>Microsoft Macintosh PowerPoint</Application>
  <PresentationFormat>On-screen Show (4:3)</PresentationFormat>
  <Paragraphs>511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Blackadder ITC</vt:lpstr>
      <vt:lpstr>Wingdings</vt:lpstr>
      <vt:lpstr>Consolas</vt:lpstr>
      <vt:lpstr>Arial</vt:lpstr>
      <vt:lpstr>Calibri</vt:lpstr>
      <vt:lpstr>Office Theme</vt:lpstr>
      <vt:lpstr>Fundamentals of Computer Science and Programming </vt:lpstr>
      <vt:lpstr>Outline</vt:lpstr>
      <vt:lpstr>List comprehensions</vt:lpstr>
      <vt:lpstr>List comprehensions</vt:lpstr>
      <vt:lpstr>Nested loops</vt:lpstr>
      <vt:lpstr>Nested loops</vt:lpstr>
      <vt:lpstr>Nested loops</vt:lpstr>
      <vt:lpstr>Nested loops</vt:lpstr>
      <vt:lpstr>Nested loops</vt:lpstr>
      <vt:lpstr>Nested loops</vt:lpstr>
      <vt:lpstr>Functions</vt:lpstr>
      <vt:lpstr>Functions</vt:lpstr>
      <vt:lpstr>Functions: basic concepts</vt:lpstr>
      <vt:lpstr>Example for basic concepts</vt:lpstr>
      <vt:lpstr>Example for basic concepts</vt:lpstr>
      <vt:lpstr>Example for basic concepts</vt:lpstr>
      <vt:lpstr>Definition and call of functions</vt:lpstr>
      <vt:lpstr>Function parameters</vt:lpstr>
      <vt:lpstr>Function parameters: valid calls</vt:lpstr>
      <vt:lpstr>Function parameters: common mistakes</vt:lpstr>
      <vt:lpstr>Function parameters: common mistakes</vt:lpstr>
      <vt:lpstr>Return values</vt:lpstr>
      <vt:lpstr>Return values</vt:lpstr>
      <vt:lpstr>Function vs. methods</vt:lpstr>
      <vt:lpstr>Variable scope</vt:lpstr>
      <vt:lpstr>More on function parameters</vt:lpstr>
      <vt:lpstr>More on function parameters</vt:lpstr>
      <vt:lpstr>More on function parameters</vt:lpstr>
      <vt:lpstr>Global and local variable scope</vt:lpstr>
      <vt:lpstr>Value vs. reference Assignment of mutable vs. immutable data types</vt:lpstr>
      <vt:lpstr>Assignment by value vs. by reference</vt:lpstr>
      <vt:lpstr>Call by value vs. call by reference</vt:lpstr>
      <vt:lpstr>Call by value vs. call by reference</vt:lpstr>
      <vt:lpstr>Call by value vs. call by reference New assignments in functions </vt:lpstr>
      <vt:lpstr>Tips for learning programming</vt:lpstr>
      <vt:lpstr>How do I learn to program?</vt:lpstr>
      <vt:lpstr>How to deal with problems?</vt:lpstr>
      <vt:lpstr>How to deal with problems?</vt:lpstr>
      <vt:lpstr>Example</vt:lpstr>
      <vt:lpstr>Tic-tac-toe</vt:lpstr>
      <vt:lpstr>Exercise</vt:lpstr>
      <vt:lpstr>Student task</vt:lpstr>
      <vt:lpstr>Student task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Ingo Frommholz</cp:lastModifiedBy>
  <cp:revision>1008</cp:revision>
  <dcterms:modified xsi:type="dcterms:W3CDTF">2026-04-07T08:40:08Z</dcterms:modified>
</cp:coreProperties>
</file>