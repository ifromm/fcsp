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408" r:id="rId5"/>
    <p:sldId id="553" r:id="rId6"/>
    <p:sldId id="560" r:id="rId7"/>
    <p:sldId id="561" r:id="rId8"/>
    <p:sldId id="562" r:id="rId9"/>
    <p:sldId id="563" r:id="rId10"/>
    <p:sldId id="564" r:id="rId11"/>
    <p:sldId id="499" r:id="rId12"/>
    <p:sldId id="559" r:id="rId13"/>
    <p:sldId id="552" r:id="rId14"/>
    <p:sldId id="468" r:id="rId15"/>
    <p:sldId id="540" r:id="rId16"/>
    <p:sldId id="541" r:id="rId17"/>
    <p:sldId id="542" r:id="rId18"/>
    <p:sldId id="543" r:id="rId19"/>
    <p:sldId id="544" r:id="rId20"/>
    <p:sldId id="545" r:id="rId21"/>
    <p:sldId id="546" r:id="rId22"/>
    <p:sldId id="547" r:id="rId23"/>
    <p:sldId id="548" r:id="rId24"/>
    <p:sldId id="549" r:id="rId25"/>
    <p:sldId id="550" r:id="rId26"/>
    <p:sldId id="551" r:id="rId27"/>
    <p:sldId id="460" r:id="rId28"/>
    <p:sldId id="566" r:id="rId29"/>
    <p:sldId id="567" r:id="rId30"/>
    <p:sldId id="568" r:id="rId31"/>
    <p:sldId id="569" r:id="rId32"/>
    <p:sldId id="570" r:id="rId33"/>
    <p:sldId id="571" r:id="rId34"/>
    <p:sldId id="572" r:id="rId35"/>
    <p:sldId id="573" r:id="rId36"/>
    <p:sldId id="574" r:id="rId37"/>
    <p:sldId id="555" r:id="rId38"/>
    <p:sldId id="556" r:id="rId39"/>
    <p:sldId id="557" r:id="rId40"/>
    <p:sldId id="558" r:id="rId41"/>
    <p:sldId id="554" r:id="rId42"/>
    <p:sldId id="565" r:id="rId43"/>
    <p:sldId id="523" r:id="rId44"/>
    <p:sldId id="461" r:id="rId45"/>
    <p:sldId id="539" r:id="rId46"/>
  </p:sldIdLst>
  <p:sldSz cx="9144000" cy="6858000" type="screen4x3"/>
  <p:notesSz cx="7099300" cy="10234295"/>
  <p:embeddedFontLst>
    <p:embeddedFont>
      <p:font typeface="Calibri" panose="020F0502020204030204"/>
      <p:regular r:id="rId50"/>
    </p:embeddedFon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Blackadder ITC" panose="04020505050007020D02" pitchFamily="82" charset="0"/>
      <p:regular r:id="rId55"/>
    </p:embeddedFont>
    <p:embeddedFont>
      <p:font typeface="Cambria Math" panose="02040503050406030204" pitchFamily="18" charset="0"/>
      <p:regular r:id="rId56"/>
    </p:embeddedFont>
    <p:embeddedFont>
      <p:font typeface="Consolas" panose="020B0609020204030204" pitchFamily="49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CD32"/>
    <a:srgbClr val="1E90FF"/>
    <a:srgbClr val="DAE3F3"/>
    <a:srgbClr val="D3242A"/>
    <a:srgbClr val="EDEDED"/>
    <a:srgbClr val="F8D7CD"/>
    <a:srgbClr val="FCECE8"/>
    <a:srgbClr val="ED7D31"/>
    <a:srgbClr val="E2F0D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98" autoAdjust="0"/>
    <p:restoredTop sz="94707" autoAdjust="0"/>
  </p:normalViewPr>
  <p:slideViewPr>
    <p:cSldViewPr snapToGrid="0" showGuides="1">
      <p:cViewPr varScale="1">
        <p:scale>
          <a:sx n="102" d="100"/>
          <a:sy n="102" d="100"/>
        </p:scale>
        <p:origin x="200" y="1096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font" Target="fonts/font11.fntdata"/><Relationship Id="rId6" Type="http://schemas.openxmlformats.org/officeDocument/2006/relationships/slide" Target="slides/slide3.xml"/><Relationship Id="rId59" Type="http://schemas.openxmlformats.org/officeDocument/2006/relationships/font" Target="fonts/font10.fntdata"/><Relationship Id="rId58" Type="http://schemas.openxmlformats.org/officeDocument/2006/relationships/font" Target="fonts/font9.fntdata"/><Relationship Id="rId57" Type="http://schemas.openxmlformats.org/officeDocument/2006/relationships/font" Target="fonts/font8.fntdata"/><Relationship Id="rId56" Type="http://schemas.openxmlformats.org/officeDocument/2006/relationships/font" Target="fonts/font7.fntdata"/><Relationship Id="rId55" Type="http://schemas.openxmlformats.org/officeDocument/2006/relationships/font" Target="fonts/font6.fntdata"/><Relationship Id="rId54" Type="http://schemas.openxmlformats.org/officeDocument/2006/relationships/font" Target="fonts/font5.fntdata"/><Relationship Id="rId53" Type="http://schemas.openxmlformats.org/officeDocument/2006/relationships/font" Target="fonts/font4.fntdata"/><Relationship Id="rId52" Type="http://schemas.openxmlformats.org/officeDocument/2006/relationships/font" Target="fonts/font3.fntdata"/><Relationship Id="rId51" Type="http://schemas.openxmlformats.org/officeDocument/2006/relationships/font" Target="fonts/font2.fntdata"/><Relationship Id="rId50" Type="http://schemas.openxmlformats.org/officeDocument/2006/relationships/font" Target="fonts/font1.fntdata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/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</a:fld>
            <a:r>
              <a:rPr lang="de-AT" dirty="0">
                <a:solidFill>
                  <a:schemeClr val="bg1"/>
                </a:solidFill>
              </a:rPr>
              <a:t> / 42</a:t>
            </a:r>
            <a:endParaRPr lang="de-AT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slide" Target="slide41.xml"/><Relationship Id="rId6" Type="http://schemas.openxmlformats.org/officeDocument/2006/relationships/slide" Target="slide39.xml"/><Relationship Id="rId5" Type="http://schemas.openxmlformats.org/officeDocument/2006/relationships/slide" Target="slide35.xml"/><Relationship Id="rId4" Type="http://schemas.openxmlformats.org/officeDocument/2006/relationships/slide" Target="slide25.xml"/><Relationship Id="rId3" Type="http://schemas.openxmlformats.org/officeDocument/2006/relationships/slide" Target="slide11.xml"/><Relationship Id="rId2" Type="http://schemas.openxmlformats.org/officeDocument/2006/relationships/slide" Target="slide9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pythontutor.com/python-debugger.html#code=def%20test_scope%28%29%3A%0A%20%20%20%20print%28'z%20in%20the%20function',%20z%29%0A%20%20%20%20y%20%3D%205%20%2B%20z%0A%20%20%20%20print%28'y%20in%20the%20function%20after%20the%20new%20assignment',%20y%29%0A%20%20%20%20%23%20what%20happens%20if%20we%20define%20z%20here%3F%20%3D%3E%20would%20fail%0A%0Ay%20%3D%205%0Az%20%3D%203%0Aprint%28'z%20outside%20of%20the%20function',%20z%29%0Atest_scope%28%29%0Aprint%28'z%20outside%20after%20calling%20the%20function',%20z%29&amp;cumulative=false&amp;heapPrimitives=nevernest&amp;mode=edit&amp;origin=opt-frontend.js&amp;py=3&amp;rawInputLstJSON=%5B%5D&amp;textReferences=false" TargetMode="External"/><Relationship Id="rId1" Type="http://schemas.openxmlformats.org/officeDocument/2006/relationships/hyperlink" Target="https://pythontutor.com/python-debugger.html#code=def%20test_scope%28%29%3A%0A%20%20%20%20print%28'y%20in%20the%20function',%20y%29%0A%20%20%20%20z%20%3D%205%0A%20%20%20%20print%28'z%20in%20the%20function',%20z%29%0A%0Ay%20%3D%204%0Az%20%3D%203%0Aprint%28'z%20outside%20of%20the%20function',%20z%29%0Atest_scope%28%29%0Aprint%28'z%20outside%20after%20calling%20the%20function',%20z%29&amp;cumulative=false&amp;heapPrimitives=nevernest&amp;mode=edit&amp;origin=opt-frontend.js&amp;py=3&amp;rawInputLstJSON=%5B%5D&amp;textReferences=false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pythontutor.com/python-debugger.html#code=def%20do_stuff4%28z%29%3A%0A%20%20%20%20print%28'B',%20z%29%0A%20%20%20%20z%20%3D%20%5B8,%205%5D%0A%20%20%20%20print%28'C',%20z%29%0A%0Az%20%3D%20%5B13%5D%0Aprint%28'A',%20z%29%0Ado_stuff4%28z%29%0Aprint%28'D',%20z%29&amp;cumulative=false&amp;heapPrimitives=nevernest&amp;mode=edit&amp;origin=opt-frontend.js&amp;py=3&amp;rawInputLstJSON=%5B%5D&amp;textReferences=false" TargetMode="External"/><Relationship Id="rId3" Type="http://schemas.openxmlformats.org/officeDocument/2006/relationships/hyperlink" Target="https://pythontutor.com/python-debugger.html#code=def%20do_stuff3%28z%29%3A%0A%20%20%20%20print%28'B',%20z%29%0A%20%20%20%20z%20%3D%2013%0A%20%20%20%20print%28'C',%20z%29%0A%0Az%20%3D%208%0Aprint%28'A',%20z%29%0Ado_stuff3%28z%29%0Aprint%28'D',%20z%29&amp;cumulative=false&amp;heapPrimitives=nevernest&amp;mode=edit&amp;origin=opt-frontend.js&amp;py=3&amp;rawInputLstJSON=%5B%5D&amp;textReferences=false" TargetMode="External"/><Relationship Id="rId2" Type="http://schemas.openxmlformats.org/officeDocument/2006/relationships/hyperlink" Target="https://pythontutor.com/python-debugger.html#code=def%20do_stuff2%28x%29%3A%0A%20%20%20%20x.append%285%29%0A%20%20%20%20print%28'B',%20x%29%0A%0Aval%20%3D%20%5B8%5D%0Aprint%28'A',%20val%29%0Ado_stuff2%28val%29%0Aprint%28'C',%20val%29&amp;cumulative=false&amp;heapPrimitives=nevernest&amp;mode=edit&amp;origin=opt-frontend.js&amp;py=3&amp;rawInputLstJSON=%5B%5D&amp;textReferences=false" TargetMode="External"/><Relationship Id="rId1" Type="http://schemas.openxmlformats.org/officeDocument/2006/relationships/hyperlink" Target="https://pythontutor.com/python-debugger.html#code=def%20do_stuff1%28x%29%3A%0A%20%20%20%20x%20%2B%3D%205%0A%20%20%20%20print%28'B',%20x%29%0A%0Aval%20%3D%208%0Aprint%28'A',%20val%29%0Ado_stuff1%28val%29%0Aprint%28'C',%20val%29&amp;cumulative=false&amp;heapPrimitives=nevernest&amp;mode=edit&amp;origin=opt-frontend.js&amp;py=3&amp;rawInputLstJSON=%5B%5D&amp;textReferences=false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docs.python.org/3/" TargetMode="External"/><Relationship Id="rId1" Type="http://schemas.openxmlformats.org/officeDocument/2006/relationships/hyperlink" Target="https://stackoverflow.com/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897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Fundamentals of Computer Science and Programming</a:t>
            </a:r>
            <a:endParaRPr lang="en-US" sz="4400" b="1" noProof="0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lang="en-US" sz="4400" b="1" noProof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841930" y="5268389"/>
            <a:ext cx="5131625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Unit 6</a:t>
            </a:r>
            <a:r>
              <a:rPr lang="en-US" sz="3200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Programming Part III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457200" y="1701579"/>
            <a:ext cx="7533861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  <a:hlinkClick r:id="rId1" action="ppaction://hlinksldjump"/>
              </a:rPr>
              <a:t>Nested loops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2" action="ppaction://hlinksldjump"/>
              </a:rPr>
              <a:t>List comprehensions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Functions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Variable scope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Tips for learning programming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Example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Please consult this week’s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Notebook for further examples!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Nested loops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Nested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67139" y="1605601"/>
            <a:ext cx="8229600" cy="207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Nested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loop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inside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another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Nested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called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inner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loop,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enclosing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outer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Inner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 will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executed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many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times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there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iterations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outer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Total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iterations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iterations_inner_loop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* #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iteration_outer_loop</a:t>
            </a:r>
            <a:endParaRPr lang="de-DE" sz="1800" dirty="0">
              <a:highlight>
                <a:srgbClr val="DAE3F3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731185" y="3925229"/>
            <a:ext cx="7623717" cy="13271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x in range(1, 11):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y in range(1, 11):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print(x * y, end=' 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Nested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95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combine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different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kinds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loops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each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other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Recollect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our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line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fitting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</a:t>
            </a:r>
            <a:endParaRPr lang="de-DE" sz="1800" dirty="0">
              <a:highlight>
                <a:srgbClr val="DAE3F3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760141" y="2745627"/>
            <a:ext cx="7623717" cy="3092605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…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while abs(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error_old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- error) &gt;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tol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a_grad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0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b_grad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0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point in data: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a_grad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+= (a * point[0] + b - point[1]) * point[0]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b_grad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+= a * point[0] + b - point[1]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a -=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learning_rate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*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a_grad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b -=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learning_rate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*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b_grad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…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Nested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951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use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break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AT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continue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within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nested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loops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well</a:t>
            </a:r>
            <a:endParaRPr lang="de-AT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They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always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associated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loop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where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use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them</a:t>
            </a:r>
            <a:endParaRPr lang="de-DE" sz="1800" dirty="0">
              <a:highlight>
                <a:srgbClr val="DAE3F3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819615" y="2485432"/>
            <a:ext cx="7623717" cy="3838053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, row in enumerate(list):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j, e in enumerate(row):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if e &gt;= 0: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[{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}][{j}]: {e}')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else: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break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, row in enumerate(list):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j, e in enumerate(row):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if e &gt;= 0: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f'list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[{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}][{j}]: {e}')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else: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    continue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Nested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2"/>
            <a:ext cx="8229600" cy="720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combine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nested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loops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comprehensions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760141" y="2697950"/>
            <a:ext cx="7623717" cy="220551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products = []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x in first: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y in second: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products.append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(x * y)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products = [x * y for x in first for y in second]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Nested loops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2"/>
            <a:ext cx="8229600" cy="2728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Nested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loops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often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used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multi-dimensional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data</a:t>
            </a:r>
            <a:r>
              <a:rPr lang="de-AT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structures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notebook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760141" y="2326243"/>
            <a:ext cx="7623717" cy="142800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products = [['tv', 'computer'], ['plate', 'glass']]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category in products: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for product in category: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print(product)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List comprehensions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List comprehensions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2074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Typically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rewrite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loops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create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into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comprehensions</a:t>
            </a:r>
            <a:endParaRPr lang="de-DE" sz="1800" b="1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Syntax: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600" b="1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resulting_list</a:t>
            </a:r>
            <a:r>
              <a:rPr lang="en-US" sz="1600" b="1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= [iterator for iterator in sequence]</a:t>
            </a:r>
            <a:endParaRPr lang="en-US" sz="1600" b="1" dirty="0"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combine comprehensions also with conditions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600" b="1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resulting_list</a:t>
            </a:r>
            <a:r>
              <a:rPr lang="en-US" sz="1600" b="1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[iterator for iterator in sequence if condition]</a:t>
            </a:r>
            <a:endParaRPr lang="de-DE" sz="1600" b="1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731185" y="3560956"/>
            <a:ext cx="7623717" cy="2839843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squared_numbers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[1, 4, 9]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numbers = []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for x in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squared_numbers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numbers.append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(x ** (1 / 2))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numbers = [x ** (1 / 2) for x in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squared_numbers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]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squared_numbers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[1, 4, 9, -1]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numbers = [x ** (1 / 2) for x in </a:t>
            </a:r>
            <a:r>
              <a:rPr lang="en-US" sz="16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squared_numbers</a:t>
            </a:r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if x &gt; 0]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Functions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292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„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Named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“ block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code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solving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specific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task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Reusable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readable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easier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maintain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Python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len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print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input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… 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Defined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keyword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name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parametrs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Code block in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indented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4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spaces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Executed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via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call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After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execution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main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program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continues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its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execution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main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program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1071372" y="4658608"/>
            <a:ext cx="7001256" cy="135561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test_function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(param):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f'You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passed "{param}" to this function')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test_function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(13)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Functions: basic concepts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944" y="1748520"/>
            <a:ext cx="3916707" cy="3875340"/>
          </a:xfrm>
          <a:prstGeom prst="rect">
            <a:avLst/>
          </a:prstGeom>
          <a:ln w="0">
            <a:noFill/>
          </a:ln>
        </p:spPr>
      </p:pic>
      <p:sp>
        <p:nvSpPr>
          <p:cNvPr id="9" name="Textfeld 8"/>
          <p:cNvSpPr txBox="1"/>
          <p:nvPr/>
        </p:nvSpPr>
        <p:spPr>
          <a:xfrm>
            <a:off x="283058" y="5529496"/>
            <a:ext cx="4381606" cy="33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https://commons.wikimedia.org/wiki/File:Function_machine2.svg</a:t>
            </a:r>
            <a:endParaRPr lang="en-US" sz="12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4695550" y="2076300"/>
            <a:ext cx="3722976" cy="368092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parameters (arguments)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logic (code)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value, 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onsole output, </a:t>
            </a:r>
            <a:endParaRPr lang="en-US" sz="1800" b="0" strike="noStrike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800" b="0" strike="noStrike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arameter updates, ...</a:t>
            </a:r>
            <a:endParaRPr lang="en-US" sz="18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ihandform: Form 10"/>
          <p:cNvSpPr>
            <a:spLocks noChangeAspect="1"/>
          </p:cNvSpPr>
          <p:nvPr/>
        </p:nvSpPr>
        <p:spPr>
          <a:xfrm>
            <a:off x="4309038" y="2076300"/>
            <a:ext cx="355627" cy="407255"/>
          </a:xfrm>
          <a:custGeom>
            <a:avLst/>
            <a:gdLst>
              <a:gd name="textAreaLeft" fmla="*/ 0 w 399240"/>
              <a:gd name="textAreaRight" fmla="*/ 144000 w 399240"/>
              <a:gd name="textAreaTop" fmla="*/ 11880 h 457200"/>
              <a:gd name="textAreaBottom" fmla="*/ 445320 h 457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367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Freihandform: Form 11"/>
          <p:cNvSpPr>
            <a:spLocks noChangeAspect="1"/>
          </p:cNvSpPr>
          <p:nvPr/>
        </p:nvSpPr>
        <p:spPr>
          <a:xfrm>
            <a:off x="4309038" y="2912082"/>
            <a:ext cx="355627" cy="1384668"/>
          </a:xfrm>
          <a:custGeom>
            <a:avLst/>
            <a:gdLst>
              <a:gd name="textAreaLeft" fmla="*/ 0 w 399240"/>
              <a:gd name="textAreaRight" fmla="*/ 144000 w 399240"/>
              <a:gd name="textAreaTop" fmla="*/ 40320 h 1554480"/>
              <a:gd name="textAreaBottom" fmla="*/ 1514160 h 15544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367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Freihandform: Form 12"/>
          <p:cNvSpPr>
            <a:spLocks noChangeAspect="1"/>
          </p:cNvSpPr>
          <p:nvPr/>
        </p:nvSpPr>
        <p:spPr>
          <a:xfrm>
            <a:off x="4309037" y="4868081"/>
            <a:ext cx="355627" cy="419441"/>
          </a:xfrm>
          <a:custGeom>
            <a:avLst/>
            <a:gdLst>
              <a:gd name="textAreaLeft" fmla="*/ 0 w 399240"/>
              <a:gd name="textAreaRight" fmla="*/ 144000 w 399240"/>
              <a:gd name="textAreaTop" fmla="*/ 12240 h 470880"/>
              <a:gd name="textAreaBottom" fmla="*/ 458640 h 470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3672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Example for basic concepts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633" y="2700093"/>
            <a:ext cx="2957513" cy="2926080"/>
          </a:xfrm>
          <a:prstGeom prst="rect">
            <a:avLst/>
          </a:prstGeom>
          <a:ln w="0">
            <a:noFill/>
          </a:ln>
        </p:spPr>
      </p:pic>
      <p:sp>
        <p:nvSpPr>
          <p:cNvPr id="14" name="Textfeld 13"/>
          <p:cNvSpPr txBox="1"/>
          <p:nvPr/>
        </p:nvSpPr>
        <p:spPr>
          <a:xfrm>
            <a:off x="2754352" y="1807660"/>
            <a:ext cx="4367561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('This',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 'a',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')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5130" lvl="1" indent="0">
              <a:spcBef>
                <a:spcPts val="1135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754352" y="2735475"/>
            <a:ext cx="4367561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spcBef>
                <a:spcPts val="1135"/>
              </a:spcBef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'This',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', 'a',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087207" y="5100987"/>
            <a:ext cx="2007220" cy="430370"/>
          </a:xfrm>
          <a:prstGeom prst="rect">
            <a:avLst/>
          </a:prstGeom>
          <a:solidFill>
            <a:schemeClr val="tx1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spcBef>
                <a:spcPts val="1135"/>
              </a:spcBef>
            </a:pPr>
            <a:r>
              <a:rPr lang="de-AT" sz="1800" spc="-1" dirty="0">
                <a:solidFill>
                  <a:srgbClr val="00B050"/>
                </a:solidFill>
                <a:latin typeface="Consolas" panose="020B0609020204030204" pitchFamily="49" charset="0"/>
                <a:ea typeface="Droid Sans Fallback"/>
              </a:rPr>
              <a:t>This </a:t>
            </a:r>
            <a:r>
              <a:rPr lang="de-AT" sz="1800" spc="-1" dirty="0" err="1">
                <a:solidFill>
                  <a:srgbClr val="00B050"/>
                </a:solidFill>
                <a:latin typeface="Consolas" panose="020B0609020204030204" pitchFamily="49" charset="0"/>
                <a:ea typeface="Droid Sans Fallback"/>
              </a:rPr>
              <a:t>is</a:t>
            </a:r>
            <a:r>
              <a:rPr lang="de-AT" sz="1800" spc="-1" dirty="0">
                <a:solidFill>
                  <a:srgbClr val="00B050"/>
                </a:solidFill>
                <a:latin typeface="Consolas" panose="020B0609020204030204" pitchFamily="49" charset="0"/>
                <a:ea typeface="Droid Sans Fallback"/>
              </a:rPr>
              <a:t> a </a:t>
            </a:r>
            <a:r>
              <a:rPr lang="de-AT" sz="1800" spc="-1" dirty="0" err="1">
                <a:solidFill>
                  <a:srgbClr val="00B050"/>
                </a:solidFill>
                <a:latin typeface="Consolas" panose="020B0609020204030204" pitchFamily="49" charset="0"/>
                <a:ea typeface="Droid Sans Fallback"/>
              </a:rPr>
              <a:t>test</a:t>
            </a:r>
            <a:endParaRPr lang="en-US" sz="1800" spc="-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405130" lvl="1" indent="0">
              <a:spcBef>
                <a:spcPts val="1135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1710476" y="180766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1425142" y="273547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2398924" y="5119583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Example for basic concepts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633" y="2700093"/>
            <a:ext cx="2957513" cy="2926080"/>
          </a:xfrm>
          <a:prstGeom prst="rect">
            <a:avLst/>
          </a:prstGeom>
          <a:ln w="0">
            <a:noFill/>
          </a:ln>
        </p:spPr>
      </p:pic>
      <p:sp>
        <p:nvSpPr>
          <p:cNvPr id="14" name="Textfeld 13"/>
          <p:cNvSpPr txBox="1"/>
          <p:nvPr/>
        </p:nvSpPr>
        <p:spPr>
          <a:xfrm>
            <a:off x="2754352" y="1807660"/>
            <a:ext cx="4367561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len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([4, 8,'This',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'])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5130" lvl="1" indent="0">
              <a:spcBef>
                <a:spcPts val="1135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754352" y="2735475"/>
            <a:ext cx="4367561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spcBef>
                <a:spcPts val="1135"/>
              </a:spcBef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[4, 8,'This', '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test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']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5389185" y="5108017"/>
            <a:ext cx="312804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spcBef>
                <a:spcPts val="1135"/>
              </a:spcBef>
            </a:pPr>
            <a:r>
              <a:rPr lang="de-AT" sz="1800" spc="-1" dirty="0">
                <a:solidFill>
                  <a:schemeClr val="tx1"/>
                </a:solidFill>
                <a:latin typeface="Consolas" panose="020B0609020204030204" pitchFamily="49" charset="0"/>
                <a:ea typeface="Droid Sans Fallback"/>
              </a:rPr>
              <a:t>4</a:t>
            </a:r>
            <a:endParaRPr lang="en-US" sz="1800" spc="-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405130" lvl="1" indent="0">
              <a:spcBef>
                <a:spcPts val="1135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1710476" y="180766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1425142" y="273547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3846313" y="5108017"/>
            <a:ext cx="1542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Example for basic concepts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633" y="2700093"/>
            <a:ext cx="2957513" cy="2926080"/>
          </a:xfrm>
          <a:prstGeom prst="rect">
            <a:avLst/>
          </a:prstGeom>
          <a:ln w="0">
            <a:noFill/>
          </a:ln>
        </p:spPr>
      </p:pic>
      <p:sp>
        <p:nvSpPr>
          <p:cNvPr id="14" name="Textfeld 13"/>
          <p:cNvSpPr txBox="1"/>
          <p:nvPr/>
        </p:nvSpPr>
        <p:spPr>
          <a:xfrm>
            <a:off x="2754352" y="1807660"/>
            <a:ext cx="4367561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random.randomint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(1, 100)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5130" lvl="1" indent="0">
              <a:spcBef>
                <a:spcPts val="1135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754352" y="2735475"/>
            <a:ext cx="4367561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lvl="1">
              <a:spcBef>
                <a:spcPts val="1135"/>
              </a:spcBef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1, 100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5389184" y="5108017"/>
            <a:ext cx="513962" cy="43037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spcBef>
                <a:spcPts val="1135"/>
              </a:spcBef>
            </a:pPr>
            <a:r>
              <a:rPr lang="en-US" sz="1800" spc="-1" dirty="0">
                <a:solidFill>
                  <a:schemeClr val="tx1"/>
                </a:solidFill>
                <a:latin typeface="Consolas" panose="020B0609020204030204" pitchFamily="49" charset="0"/>
              </a:rPr>
              <a:t>13</a:t>
            </a:r>
            <a:endParaRPr lang="en-US" sz="1800" spc="-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405130" lvl="1" indent="0">
              <a:spcBef>
                <a:spcPts val="1135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1710476" y="180766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1425142" y="2735475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3846313" y="5108017"/>
            <a:ext cx="15428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Definition and call of functions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1042416" y="2010251"/>
            <a:ext cx="7001256" cy="2472539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def test_simple():</a:t>
            </a:r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print(f'Hi everyone!') </a:t>
            </a:r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def test_param(param):</a:t>
            </a:r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    print(f'You passed "{param}" to this function') </a:t>
            </a:r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test_simple()</a:t>
            </a:r>
            <a:endParaRPr lang="en-US" sz="1800" spc="-1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>
                <a:solidFill>
                  <a:srgbClr val="0F0F0F"/>
                </a:solidFill>
                <a:latin typeface="Consolas" panose="020B0609020204030204" pitchFamily="49" charset="0"/>
              </a:rPr>
              <a:t>test_param('Hello!')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613317" y="4631297"/>
            <a:ext cx="8229600" cy="63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notebook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Function parameters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1042416" y="4329225"/>
            <a:ext cx="7001256" cy="1360449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(first, last, </a:t>
            </a:r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country='Austria'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f'Firstname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is {first}, surname is {last}.')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live in {country}.')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</a:t>
            </a:r>
            <a:r>
              <a:rPr lang="en-US" sz="1800" spc="-1" dirty="0">
                <a:solidFill>
                  <a:srgbClr val="C00000"/>
                </a:solidFill>
                <a:latin typeface="Consolas" panose="020B0609020204030204" pitchFamily="49" charset="0"/>
              </a:rPr>
              <a:t>'Jane'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, </a:t>
            </a:r>
            <a:r>
              <a:rPr lang="en-US" sz="1800" spc="-1" dirty="0">
                <a:solidFill>
                  <a:srgbClr val="00B0F0"/>
                </a:solidFill>
                <a:latin typeface="Consolas" panose="020B0609020204030204" pitchFamily="49" charset="0"/>
              </a:rPr>
              <a:t>last='Doe'</a:t>
            </a:r>
            <a:r>
              <a:rPr lang="en-US" sz="1800" spc="-1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628186" y="1687501"/>
            <a:ext cx="8229600" cy="237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Types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passing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Positional</a:t>
            </a:r>
            <a:r>
              <a:rPr lang="de-DE" sz="1800" dirty="0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</a:t>
            </a:r>
            <a:endParaRPr lang="de-DE" sz="1800" dirty="0">
              <a:solidFill>
                <a:srgbClr val="C0000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Identified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through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position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Keyword </a:t>
            </a:r>
            <a:r>
              <a:rPr lang="de-DE" sz="1800" dirty="0" err="1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</a:t>
            </a:r>
            <a:endParaRPr lang="de-DE" sz="1800" dirty="0">
              <a:solidFill>
                <a:srgbClr val="00B0F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Identified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name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accent2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Default </a:t>
            </a:r>
            <a:r>
              <a:rPr lang="de-DE" sz="1800" dirty="0" err="1">
                <a:solidFill>
                  <a:schemeClr val="accent2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solidFill>
                  <a:schemeClr val="accent2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possible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Function parameters: valid calls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825617" y="1556768"/>
            <a:ext cx="7492765" cy="4383115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(first, last, country='Austria'):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f'Firstname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is {first}, surname is {last}.')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f'I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live in {country}.')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Positional parameters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('John', 'Doe')            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('Jane', 'Doe', 'Germany')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Keyword parameters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(first='John', last='Doe')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(country='Germany', first='Jane', last='Doe')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Mix of both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('Jane', country='Germany', last='Doe')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Function parameters: common mistakes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2371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Confusing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order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Typo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assigning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keyword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Wrong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number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TypeError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Positional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after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keyword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Wrong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data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types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parameters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...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Function parameters: common mistakes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650701" y="1541900"/>
            <a:ext cx="7842598" cy="419726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(first, last, country='Austria'):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f'Firstname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is {first}, surname is {last}.')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f'I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live in {country}.')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('Max')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 # 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TypeError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: 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() missing 1 required positional argument: '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last_name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'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('Austria', 'Muster', 'Max')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 # No execution error but a logical mistake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(fs='Max', last='Muster')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 # 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TypeError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: 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() got an unexpected keyword argument 'fs'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say_name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(first='Max', 'Muster')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  # </a:t>
            </a:r>
            <a:r>
              <a:rPr lang="en-US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SyntaxError</a:t>
            </a:r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: positional argument follows keyword argument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pc="-1" dirty="0">
                <a:solidFill>
                  <a:srgbClr val="0F0F0F"/>
                </a:solidFill>
                <a:latin typeface="Consolas" panose="020B0609020204030204" pitchFamily="49" charset="0"/>
              </a:rPr>
              <a:t># There are many more possibilities for errors :-)</a:t>
            </a:r>
            <a:endParaRPr lang="en-US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Return values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650700" y="4135814"/>
            <a:ext cx="7842598" cy="193548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format_name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(first, last):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full_name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f'{first} {last}'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full_name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full_name.title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return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full_name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name 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format_name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('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aRnOlD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', '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sChWaRzEnEgGeR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3"/>
            <a:ext cx="8036099" cy="2371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Often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compute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some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in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newly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computed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functions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main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program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Returnig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Keyword: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Immediate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main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program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Also possible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without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2742812" y="4535416"/>
            <a:ext cx="3278848" cy="36258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800" b="0" strike="noStrike" spc="-1" dirty="0" err="1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aRnOlD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strike="noStrike" spc="-1" dirty="0" err="1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sChWaRzEnEgGeR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endParaRPr lang="en-US" sz="1800" b="0" strike="noStrike" spc="-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065095" y="5088263"/>
            <a:ext cx="3232333" cy="284902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'Arnold Schwarzenegger'</a:t>
            </a:r>
            <a:endParaRPr lang="en-US" sz="1800" b="0" strike="noStrike" spc="-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2742812" y="4795653"/>
            <a:ext cx="3133279" cy="297328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'Arnold Schwarzenegger'</a:t>
            </a:r>
            <a:endParaRPr lang="en-US" sz="1800" b="0" strike="noStrike" spc="-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2744369" y="4232715"/>
            <a:ext cx="3920199" cy="32484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800" b="0" strike="noStrike" spc="-1" dirty="0" err="1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aRnOlD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' </a:t>
            </a:r>
            <a:r>
              <a:rPr lang="en-US" sz="1800" b="0" strike="noStrike" spc="-1" dirty="0" err="1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sChWaRzEnEgGeR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  <a:endParaRPr lang="en-US" sz="1800" b="0" strike="noStrike" spc="-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3154757" y="5601016"/>
            <a:ext cx="3771900" cy="32484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800" b="0" strike="noStrike" spc="-1" dirty="0" err="1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aRnOlD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' </a:t>
            </a:r>
            <a:r>
              <a:rPr lang="en-US" sz="1800" b="0" strike="noStrike" spc="-1" dirty="0" err="1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sChWaRzEnEgGeR</a:t>
            </a:r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</a:t>
            </a:r>
            <a:r>
              <a:rPr lang="en-US" sz="1800" b="0" strike="noStrike" spc="-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800" b="0" strike="noStrike" spc="-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1520528" y="5591135"/>
            <a:ext cx="5304018" cy="399527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C9211E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'Arnold Schwarzenegger'</a:t>
            </a:r>
            <a:endParaRPr lang="en-US" sz="1800" b="0" strike="noStrike" spc="-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8" grpId="0" animBg="1"/>
      <p:bldP spid="10" grpId="0" animBg="1"/>
      <p:bldP spid="11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Return values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3"/>
            <a:ext cx="8036099" cy="17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Complex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possible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Lists,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tuples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etc.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Returning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more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one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possible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return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x, y, z</a:t>
            </a: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825617" y="3542372"/>
            <a:ext cx="7492765" cy="187712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build_person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(forename, surname):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	  person = [forename, surname]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return person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arnie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build_person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('Arnold', 'Schwarzenegger')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Function vs. methods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2"/>
            <a:ext cx="8036099" cy="366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Independent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functionality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variable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(„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“)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object's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string.upper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item_list.append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dictionary.keys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object-orientation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Variable scope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More on function parameters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90" y="1779639"/>
            <a:ext cx="9071420" cy="4453985"/>
          </a:xfrm>
          <a:prstGeom prst="rect">
            <a:avLst/>
          </a:prstGeom>
          <a:ln w="0">
            <a:noFill/>
          </a:ln>
        </p:spPr>
      </p:pic>
      <p:sp>
        <p:nvSpPr>
          <p:cNvPr id="34" name="Rechteck 33"/>
          <p:cNvSpPr/>
          <p:nvPr/>
        </p:nvSpPr>
        <p:spPr>
          <a:xfrm>
            <a:off x="1232572" y="4753369"/>
            <a:ext cx="3430112" cy="347623"/>
          </a:xfrm>
          <a:prstGeom prst="rect">
            <a:avLst/>
          </a:prstGeom>
          <a:noFill/>
          <a:ln w="54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" name="Rechteck 34"/>
          <p:cNvSpPr/>
          <p:nvPr/>
        </p:nvSpPr>
        <p:spPr>
          <a:xfrm>
            <a:off x="4136064" y="5132687"/>
            <a:ext cx="3430112" cy="330624"/>
          </a:xfrm>
          <a:prstGeom prst="rect">
            <a:avLst/>
          </a:prstGeom>
          <a:noFill/>
          <a:ln w="54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" name="Pfeil: nach oben 35"/>
          <p:cNvSpPr/>
          <p:nvPr/>
        </p:nvSpPr>
        <p:spPr>
          <a:xfrm>
            <a:off x="4747651" y="3181507"/>
            <a:ext cx="457200" cy="1951180"/>
          </a:xfrm>
          <a:prstGeom prst="upArrow">
            <a:avLst>
              <a:gd name="adj1" fmla="val 50000"/>
              <a:gd name="adj2" fmla="val 137283"/>
            </a:avLst>
          </a:prstGeom>
          <a:solidFill>
            <a:srgbClr val="FC5C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" name="Textfeld 36"/>
          <p:cNvSpPr txBox="1"/>
          <p:nvPr/>
        </p:nvSpPr>
        <p:spPr>
          <a:xfrm>
            <a:off x="5247089" y="4153659"/>
            <a:ext cx="3818382" cy="347623"/>
          </a:xfrm>
          <a:prstGeom prst="rect">
            <a:avLst/>
          </a:prstGeom>
          <a:noFill/>
          <a:ln w="18360">
            <a:solidFill>
              <a:srgbClr val="FFFFFF"/>
            </a:solidFill>
            <a:round/>
          </a:ln>
        </p:spPr>
        <p:txBody>
          <a:bodyPr lIns="99000" tIns="54000" rIns="99000" bIns="54000" anchor="t">
            <a:noAutofit/>
          </a:bodyPr>
          <a:lstStyle/>
          <a:p>
            <a:r>
              <a:rPr lang="en-US" sz="1800" b="0" strike="noStrike" spc="-1" dirty="0">
                <a:solidFill>
                  <a:srgbClr val="2CEE0E"/>
                </a:solidFill>
                <a:latin typeface="Consolas" panose="020B0609020204030204" pitchFamily="49" charset="0"/>
              </a:rPr>
              <a:t>elements</a:t>
            </a:r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sz="1800" b="0" strike="noStrike" spc="-1" dirty="0" err="1">
                <a:solidFill>
                  <a:srgbClr val="FC5C00"/>
                </a:solidFill>
                <a:latin typeface="Consolas" panose="020B0609020204030204" pitchFamily="49" charset="0"/>
              </a:rPr>
              <a:t>standard_elements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38" name="Rechteck 37"/>
          <p:cNvSpPr/>
          <p:nvPr/>
        </p:nvSpPr>
        <p:spPr>
          <a:xfrm>
            <a:off x="4136064" y="2901897"/>
            <a:ext cx="1652617" cy="34762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Freihandform: Form 38"/>
          <p:cNvSpPr/>
          <p:nvPr/>
        </p:nvSpPr>
        <p:spPr>
          <a:xfrm rot="21351841">
            <a:off x="3134967" y="6007179"/>
            <a:ext cx="479013" cy="45719"/>
          </a:xfrm>
          <a:custGeom>
            <a:avLst/>
            <a:gdLst/>
            <a:ahLst/>
            <a:cxnLst/>
            <a:rect l="0" t="0" r="r" b="b"/>
            <a:pathLst>
              <a:path w="1778" h="31" fill="none">
                <a:moveTo>
                  <a:pt x="0" y="0"/>
                </a:moveTo>
                <a:lnTo>
                  <a:pt x="1778" y="31"/>
                </a:lnTo>
              </a:path>
            </a:pathLst>
          </a:custGeom>
          <a:ln w="73080">
            <a:solidFill>
              <a:srgbClr val="FFFFF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hteck 39"/>
          <p:cNvSpPr/>
          <p:nvPr/>
        </p:nvSpPr>
        <p:spPr>
          <a:xfrm>
            <a:off x="4962372" y="3659101"/>
            <a:ext cx="1642329" cy="30439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" name="Rechteck 40"/>
          <p:cNvSpPr/>
          <p:nvPr/>
        </p:nvSpPr>
        <p:spPr>
          <a:xfrm>
            <a:off x="6669047" y="3300486"/>
            <a:ext cx="1642329" cy="30439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" name="Textfeld 41"/>
          <p:cNvSpPr txBox="1"/>
          <p:nvPr/>
        </p:nvSpPr>
        <p:spPr>
          <a:xfrm>
            <a:off x="3813969" y="5542267"/>
            <a:ext cx="4854246" cy="656137"/>
          </a:xfrm>
          <a:prstGeom prst="rect">
            <a:avLst/>
          </a:prstGeom>
          <a:noFill/>
          <a:ln w="18360">
            <a:solidFill>
              <a:srgbClr val="FFFFFF"/>
            </a:solidFill>
            <a:round/>
          </a:ln>
        </p:spPr>
        <p:txBody>
          <a:bodyPr lIns="99000" tIns="54000" rIns="99000" bIns="54000" anchor="t">
            <a:noAutofit/>
          </a:bodyPr>
          <a:lstStyle/>
          <a:p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List Elements are: [3, '3', 'Three']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49" name="Pfeil: nach oben 48"/>
          <p:cNvSpPr/>
          <p:nvPr/>
        </p:nvSpPr>
        <p:spPr>
          <a:xfrm>
            <a:off x="4924775" y="2143703"/>
            <a:ext cx="457200" cy="1547992"/>
          </a:xfrm>
          <a:prstGeom prst="upArrow">
            <a:avLst>
              <a:gd name="adj1" fmla="val 50000"/>
              <a:gd name="adj2" fmla="val 112717"/>
            </a:avLst>
          </a:prstGeom>
          <a:solidFill>
            <a:srgbClr val="2CEE0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" name="Rechteck 49"/>
          <p:cNvSpPr/>
          <p:nvPr/>
        </p:nvSpPr>
        <p:spPr>
          <a:xfrm>
            <a:off x="3765769" y="1779639"/>
            <a:ext cx="1652618" cy="368138"/>
          </a:xfrm>
          <a:prstGeom prst="rect">
            <a:avLst/>
          </a:prstGeom>
          <a:noFill/>
          <a:ln w="54720">
            <a:solidFill>
              <a:srgbClr val="1C99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" name="Rechteck 50"/>
          <p:cNvSpPr/>
          <p:nvPr/>
        </p:nvSpPr>
        <p:spPr>
          <a:xfrm>
            <a:off x="6870911" y="2143703"/>
            <a:ext cx="1652618" cy="368138"/>
          </a:xfrm>
          <a:prstGeom prst="rect">
            <a:avLst/>
          </a:prstGeom>
          <a:noFill/>
          <a:ln w="54720">
            <a:solidFill>
              <a:srgbClr val="1C99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2" name="Textfeld 51"/>
          <p:cNvSpPr txBox="1"/>
          <p:nvPr/>
        </p:nvSpPr>
        <p:spPr>
          <a:xfrm>
            <a:off x="5490006" y="2524585"/>
            <a:ext cx="2641353" cy="339793"/>
          </a:xfrm>
          <a:prstGeom prst="rect">
            <a:avLst/>
          </a:prstGeom>
          <a:noFill/>
          <a:ln w="18360">
            <a:solidFill>
              <a:srgbClr val="FFFFFF"/>
            </a:solidFill>
            <a:round/>
          </a:ln>
        </p:spPr>
        <p:txBody>
          <a:bodyPr lIns="99000" tIns="54000" rIns="99000" bIns="54000" anchor="t">
            <a:noAutofit/>
          </a:bodyPr>
          <a:lstStyle/>
          <a:p>
            <a:r>
              <a:rPr lang="en-US" sz="1800" b="0" strike="noStrike" spc="-1" dirty="0">
                <a:solidFill>
                  <a:srgbClr val="1C99E0"/>
                </a:solidFill>
                <a:latin typeface="Consolas" panose="020B0609020204030204" pitchFamily="49" charset="0"/>
              </a:rPr>
              <a:t>elements</a:t>
            </a:r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sz="1800" b="0" strike="noStrike" spc="-1" dirty="0">
                <a:solidFill>
                  <a:srgbClr val="2CEE0E"/>
                </a:solidFill>
                <a:latin typeface="Consolas" panose="020B0609020204030204" pitchFamily="49" charset="0"/>
              </a:rPr>
              <a:t>elements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53" name="Textfeld 52"/>
          <p:cNvSpPr txBox="1"/>
          <p:nvPr/>
        </p:nvSpPr>
        <p:spPr>
          <a:xfrm>
            <a:off x="3813968" y="5542267"/>
            <a:ext cx="4854245" cy="656137"/>
          </a:xfrm>
          <a:prstGeom prst="rect">
            <a:avLst/>
          </a:prstGeom>
          <a:noFill/>
          <a:ln w="18360">
            <a:solidFill>
              <a:srgbClr val="FFFFFF"/>
            </a:solidFill>
            <a:round/>
          </a:ln>
        </p:spPr>
        <p:txBody>
          <a:bodyPr lIns="99000" tIns="54000" rIns="99000" bIns="54000" anchor="t">
            <a:noAutofit/>
          </a:bodyPr>
          <a:lstStyle/>
          <a:p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List Elements are: [3, '3', 'Three']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List length is 3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grpSp>
        <p:nvGrpSpPr>
          <p:cNvPr id="54" name="Gruppieren 53"/>
          <p:cNvGrpSpPr/>
          <p:nvPr/>
        </p:nvGrpSpPr>
        <p:grpSpPr>
          <a:xfrm>
            <a:off x="519513" y="2281166"/>
            <a:ext cx="781539" cy="1583231"/>
            <a:chOff x="1279080" y="1765080"/>
            <a:chExt cx="743400" cy="2248920"/>
          </a:xfrm>
        </p:grpSpPr>
        <p:sp>
          <p:nvSpPr>
            <p:cNvPr id="55" name="Gerader Verbinder 54"/>
            <p:cNvSpPr/>
            <p:nvPr/>
          </p:nvSpPr>
          <p:spPr>
            <a:xfrm flipV="1">
              <a:off x="1279080" y="3913560"/>
              <a:ext cx="721440" cy="12240"/>
            </a:xfrm>
            <a:prstGeom prst="line">
              <a:avLst/>
            </a:prstGeom>
            <a:ln w="182880">
              <a:solidFill>
                <a:srgbClr val="1C99E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Gerader Verbinder 55"/>
            <p:cNvSpPr/>
            <p:nvPr/>
          </p:nvSpPr>
          <p:spPr>
            <a:xfrm>
              <a:off x="1360800" y="1765080"/>
              <a:ext cx="0" cy="2248920"/>
            </a:xfrm>
            <a:prstGeom prst="line">
              <a:avLst/>
            </a:prstGeom>
            <a:ln w="182880">
              <a:solidFill>
                <a:srgbClr val="1C99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Gerader Verbinder 56"/>
            <p:cNvSpPr/>
            <p:nvPr/>
          </p:nvSpPr>
          <p:spPr>
            <a:xfrm flipH="1">
              <a:off x="1301040" y="1846800"/>
              <a:ext cx="721440" cy="12240"/>
            </a:xfrm>
            <a:prstGeom prst="line">
              <a:avLst/>
            </a:prstGeom>
            <a:ln w="182880">
              <a:solidFill>
                <a:srgbClr val="1C99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More on function parameters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22" name="Grafik 21"/>
          <p:cNvPicPr/>
          <p:nvPr/>
        </p:nvPicPr>
        <p:blipFill>
          <a:blip r:embed="rId1"/>
          <a:stretch>
            <a:fillRect/>
          </a:stretch>
        </p:blipFill>
        <p:spPr>
          <a:xfrm>
            <a:off x="36000" y="1778399"/>
            <a:ext cx="8935200" cy="4564800"/>
          </a:xfrm>
          <a:prstGeom prst="rect">
            <a:avLst/>
          </a:prstGeom>
          <a:ln w="0">
            <a:noFill/>
          </a:ln>
        </p:spPr>
      </p:pic>
      <p:sp>
        <p:nvSpPr>
          <p:cNvPr id="23" name="Rechteck 22"/>
          <p:cNvSpPr/>
          <p:nvPr/>
        </p:nvSpPr>
        <p:spPr>
          <a:xfrm>
            <a:off x="1232572" y="4753369"/>
            <a:ext cx="1845165" cy="435665"/>
          </a:xfrm>
          <a:prstGeom prst="rect">
            <a:avLst/>
          </a:prstGeom>
          <a:noFill/>
          <a:ln w="54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4" name="Rechteck 23"/>
          <p:cNvSpPr/>
          <p:nvPr/>
        </p:nvSpPr>
        <p:spPr>
          <a:xfrm>
            <a:off x="4026692" y="5132687"/>
            <a:ext cx="1845165" cy="409580"/>
          </a:xfrm>
          <a:prstGeom prst="rect">
            <a:avLst/>
          </a:prstGeom>
          <a:noFill/>
          <a:ln w="54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" name="Rechteck 24"/>
          <p:cNvSpPr/>
          <p:nvPr/>
        </p:nvSpPr>
        <p:spPr>
          <a:xfrm>
            <a:off x="4052888" y="2901897"/>
            <a:ext cx="1735793" cy="34762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" name="Rechteck 25"/>
          <p:cNvSpPr/>
          <p:nvPr/>
        </p:nvSpPr>
        <p:spPr>
          <a:xfrm>
            <a:off x="4865728" y="3697051"/>
            <a:ext cx="1735794" cy="30439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Rechteck 26"/>
          <p:cNvSpPr/>
          <p:nvPr/>
        </p:nvSpPr>
        <p:spPr>
          <a:xfrm>
            <a:off x="6527798" y="3330980"/>
            <a:ext cx="1735794" cy="30439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" name="Rechteck 27"/>
          <p:cNvSpPr/>
          <p:nvPr/>
        </p:nvSpPr>
        <p:spPr>
          <a:xfrm>
            <a:off x="3682593" y="1779639"/>
            <a:ext cx="1735794" cy="368138"/>
          </a:xfrm>
          <a:prstGeom prst="rect">
            <a:avLst/>
          </a:prstGeom>
          <a:noFill/>
          <a:ln w="54720">
            <a:solidFill>
              <a:srgbClr val="1C99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" name="Rechteck 28"/>
          <p:cNvSpPr/>
          <p:nvPr/>
        </p:nvSpPr>
        <p:spPr>
          <a:xfrm>
            <a:off x="6739867" y="2147777"/>
            <a:ext cx="1735794" cy="368138"/>
          </a:xfrm>
          <a:prstGeom prst="rect">
            <a:avLst/>
          </a:prstGeom>
          <a:noFill/>
          <a:ln w="54720">
            <a:solidFill>
              <a:srgbClr val="1C99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" name="Textfeld 29"/>
          <p:cNvSpPr txBox="1"/>
          <p:nvPr/>
        </p:nvSpPr>
        <p:spPr>
          <a:xfrm>
            <a:off x="3538904" y="5687062"/>
            <a:ext cx="4854245" cy="656137"/>
          </a:xfrm>
          <a:prstGeom prst="rect">
            <a:avLst/>
          </a:prstGeom>
          <a:noFill/>
          <a:ln w="18360">
            <a:solidFill>
              <a:srgbClr val="FFFFFF"/>
            </a:solidFill>
            <a:round/>
          </a:ln>
        </p:spPr>
        <p:txBody>
          <a:bodyPr lIns="99000" tIns="54000" rIns="99000" bIns="54000" anchor="t">
            <a:noAutofit/>
          </a:bodyPr>
          <a:lstStyle/>
          <a:p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List Elements are: [3, '3', 'Three']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List length is 3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31" name="Freihandform: Form 30"/>
          <p:cNvSpPr/>
          <p:nvPr/>
        </p:nvSpPr>
        <p:spPr>
          <a:xfrm rot="21351841">
            <a:off x="3001153" y="6088955"/>
            <a:ext cx="479013" cy="45719"/>
          </a:xfrm>
          <a:custGeom>
            <a:avLst/>
            <a:gdLst/>
            <a:ahLst/>
            <a:cxnLst/>
            <a:rect l="0" t="0" r="r" b="b"/>
            <a:pathLst>
              <a:path w="1778" h="31" fill="none">
                <a:moveTo>
                  <a:pt x="0" y="0"/>
                </a:moveTo>
                <a:lnTo>
                  <a:pt x="1778" y="31"/>
                </a:lnTo>
              </a:path>
            </a:pathLst>
          </a:custGeom>
          <a:ln w="73080">
            <a:solidFill>
              <a:srgbClr val="FFFFF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More on function parameters</a:t>
            </a:r>
            <a:endParaRPr lang="en-US" noProof="0" dirty="0">
              <a:solidFill>
                <a:schemeClr val="dk1"/>
              </a:solidFill>
            </a:endParaRPr>
          </a:p>
        </p:txBody>
      </p:sp>
      <p:pic>
        <p:nvPicPr>
          <p:cNvPr id="4" name="Grafik 3"/>
          <p:cNvPicPr/>
          <p:nvPr/>
        </p:nvPicPr>
        <p:blipFill>
          <a:blip r:embed="rId1"/>
          <a:stretch>
            <a:fillRect/>
          </a:stretch>
        </p:blipFill>
        <p:spPr>
          <a:xfrm>
            <a:off x="36000" y="1778400"/>
            <a:ext cx="8935200" cy="4563588"/>
          </a:xfrm>
          <a:prstGeom prst="rect">
            <a:avLst/>
          </a:prstGeom>
          <a:ln w="0">
            <a:noFill/>
          </a:ln>
        </p:spPr>
      </p:pic>
      <p:sp>
        <p:nvSpPr>
          <p:cNvPr id="5" name="Rechteck 4"/>
          <p:cNvSpPr/>
          <p:nvPr/>
        </p:nvSpPr>
        <p:spPr>
          <a:xfrm>
            <a:off x="1232572" y="4753369"/>
            <a:ext cx="1681613" cy="435665"/>
          </a:xfrm>
          <a:prstGeom prst="rect">
            <a:avLst/>
          </a:prstGeom>
          <a:noFill/>
          <a:ln w="54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Rechteck 5"/>
          <p:cNvSpPr/>
          <p:nvPr/>
        </p:nvSpPr>
        <p:spPr>
          <a:xfrm>
            <a:off x="4026692" y="5132687"/>
            <a:ext cx="1845165" cy="409580"/>
          </a:xfrm>
          <a:prstGeom prst="rect">
            <a:avLst/>
          </a:prstGeom>
          <a:noFill/>
          <a:ln w="54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Rechteck 6"/>
          <p:cNvSpPr/>
          <p:nvPr/>
        </p:nvSpPr>
        <p:spPr>
          <a:xfrm>
            <a:off x="4133385" y="2901897"/>
            <a:ext cx="1655296" cy="34762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Rechteck 7"/>
          <p:cNvSpPr/>
          <p:nvPr/>
        </p:nvSpPr>
        <p:spPr>
          <a:xfrm>
            <a:off x="4865728" y="3697051"/>
            <a:ext cx="1735794" cy="30439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Rechteck 8"/>
          <p:cNvSpPr/>
          <p:nvPr/>
        </p:nvSpPr>
        <p:spPr>
          <a:xfrm>
            <a:off x="6527798" y="3330980"/>
            <a:ext cx="1735794" cy="304394"/>
          </a:xfrm>
          <a:prstGeom prst="rect">
            <a:avLst/>
          </a:prstGeom>
          <a:noFill/>
          <a:ln w="54720">
            <a:solidFill>
              <a:srgbClr val="2CEE0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Rechteck 9"/>
          <p:cNvSpPr/>
          <p:nvPr/>
        </p:nvSpPr>
        <p:spPr>
          <a:xfrm>
            <a:off x="3682593" y="1779639"/>
            <a:ext cx="1735794" cy="368138"/>
          </a:xfrm>
          <a:prstGeom prst="rect">
            <a:avLst/>
          </a:prstGeom>
          <a:noFill/>
          <a:ln w="54720">
            <a:solidFill>
              <a:srgbClr val="1C99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Rechteck 10"/>
          <p:cNvSpPr/>
          <p:nvPr/>
        </p:nvSpPr>
        <p:spPr>
          <a:xfrm>
            <a:off x="6739867" y="2147777"/>
            <a:ext cx="1735794" cy="368138"/>
          </a:xfrm>
          <a:prstGeom prst="rect">
            <a:avLst/>
          </a:prstGeom>
          <a:noFill/>
          <a:ln w="54720">
            <a:solidFill>
              <a:srgbClr val="1C99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Textfeld 11"/>
          <p:cNvSpPr txBox="1"/>
          <p:nvPr/>
        </p:nvSpPr>
        <p:spPr>
          <a:xfrm>
            <a:off x="3538904" y="5687062"/>
            <a:ext cx="4854245" cy="656137"/>
          </a:xfrm>
          <a:prstGeom prst="rect">
            <a:avLst/>
          </a:prstGeom>
          <a:noFill/>
          <a:ln w="18360">
            <a:solidFill>
              <a:srgbClr val="FFFFFF"/>
            </a:solidFill>
            <a:round/>
          </a:ln>
        </p:spPr>
        <p:txBody>
          <a:bodyPr lIns="99000" tIns="54000" rIns="99000" bIns="54000" anchor="t">
            <a:noAutofit/>
          </a:bodyPr>
          <a:lstStyle/>
          <a:p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List Elements are: [3, '3', 'Three']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FFFFFF"/>
                </a:solidFill>
                <a:latin typeface="Consolas" panose="020B0609020204030204" pitchFamily="49" charset="0"/>
              </a:rPr>
              <a:t>List length is 3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13" name="Freihandform: Form 12"/>
          <p:cNvSpPr/>
          <p:nvPr/>
        </p:nvSpPr>
        <p:spPr>
          <a:xfrm rot="21351841">
            <a:off x="3001153" y="6088955"/>
            <a:ext cx="479013" cy="45719"/>
          </a:xfrm>
          <a:custGeom>
            <a:avLst/>
            <a:gdLst/>
            <a:ahLst/>
            <a:cxnLst/>
            <a:rect l="0" t="0" r="r" b="b"/>
            <a:pathLst>
              <a:path w="1778" h="31" fill="none">
                <a:moveTo>
                  <a:pt x="0" y="0"/>
                </a:moveTo>
                <a:lnTo>
                  <a:pt x="1778" y="31"/>
                </a:lnTo>
              </a:path>
            </a:pathLst>
          </a:custGeom>
          <a:ln w="73080">
            <a:solidFill>
              <a:srgbClr val="FFFFFF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Global and local variable scope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2"/>
            <a:ext cx="8168019" cy="468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outside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Readable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Immutable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typically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meaningful</a:t>
            </a:r>
            <a:endParaRPr lang="de-DE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them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de-DE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r>
              <a:rPr lang="de-DE" sz="18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variables: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insides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readable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outside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global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possible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same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de-DE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lang="de-DE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de-DE" sz="1800" b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Visability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  <a:endParaRPr lang="de-D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Visible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everywhere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vs. visible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inside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"/>
              </a:rPr>
              <a:t>Python Tutor Example 1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Python Tutor Example 2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5300867" y="2228647"/>
            <a:ext cx="2824948" cy="303862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test_scope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print('in1',</a:t>
            </a:r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y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z = 5</a:t>
            </a:r>
            <a:endParaRPr lang="en-US" sz="1800" spc="-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print('in2',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z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y = 4</a:t>
            </a:r>
            <a:endParaRPr lang="en-US" sz="1800" spc="-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z = 3</a:t>
            </a:r>
            <a:endParaRPr lang="en-US" sz="1800" spc="-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print('out1', </a:t>
            </a:r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z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test_scope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print('out2', </a:t>
            </a:r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z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5300867" y="1578845"/>
            <a:ext cx="2824948" cy="62166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ERROR!</a:t>
            </a:r>
            <a:endParaRPr lang="en-US" sz="1800" b="1" spc="-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800" spc="-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1800" spc="-1" dirty="0" err="1">
                <a:solidFill>
                  <a:srgbClr val="FF0000"/>
                </a:solidFill>
                <a:latin typeface="Consolas" panose="020B0609020204030204" pitchFamily="49" charset="0"/>
              </a:rPr>
              <a:t>UnboundLocalError</a:t>
            </a:r>
            <a:r>
              <a:rPr lang="en-US" sz="1800" spc="-1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5302800" y="2228400"/>
            <a:ext cx="2824948" cy="303862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test_scope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>
                <a:solidFill>
                  <a:srgbClr val="FF0000"/>
                </a:solidFill>
                <a:latin typeface="Consolas" panose="020B0609020204030204" pitchFamily="49" charset="0"/>
              </a:rPr>
              <a:t>print('in1',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z</a:t>
            </a:r>
            <a:r>
              <a:rPr lang="en-US" sz="1800" spc="-1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z = 5</a:t>
            </a:r>
            <a:endParaRPr lang="en-US" sz="1800" spc="-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print('in2',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z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y = 4</a:t>
            </a:r>
            <a:endParaRPr lang="en-US" sz="1800" spc="-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z = 3</a:t>
            </a:r>
            <a:endParaRPr lang="en-US" sz="1800" spc="-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print('out1', </a:t>
            </a:r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z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test_scope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print('out2', </a:t>
            </a:r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z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5302800" y="2228400"/>
            <a:ext cx="2824948" cy="303862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test_scope1():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y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x + 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5</a:t>
            </a:r>
            <a:endParaRPr lang="en-US" sz="1800" spc="-1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print('in1',</a:t>
            </a:r>
            <a:r>
              <a:rPr lang="en-US" sz="1800" spc="-1" dirty="0">
                <a:solidFill>
                  <a:schemeClr val="accent6"/>
                </a:solidFill>
                <a:latin typeface="Consolas" panose="020B0609020204030204" pitchFamily="49" charset="0"/>
              </a:rPr>
              <a:t>y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test_scope2():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print('in2',</a:t>
            </a:r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x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print('in2',</a:t>
            </a:r>
            <a:r>
              <a:rPr lang="en-US" sz="1800" spc="-1" dirty="0">
                <a:solidFill>
                  <a:srgbClr val="C00000"/>
                </a:solidFill>
                <a:latin typeface="Consolas" panose="020B0609020204030204" pitchFamily="49" charset="0"/>
              </a:rPr>
              <a:t>y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chemeClr val="accent2"/>
                </a:solidFill>
                <a:latin typeface="Consolas" panose="020B0609020204030204" pitchFamily="49" charset="0"/>
              </a:rPr>
              <a:t>x = 3</a:t>
            </a:r>
            <a:endParaRPr lang="en-US" sz="1800" spc="-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test_scope1()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test_scope2()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5302800" y="1580400"/>
            <a:ext cx="2824948" cy="62166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/>
            <a:r>
              <a:rPr lang="en-US" sz="1800" b="1" spc="-1" dirty="0">
                <a:solidFill>
                  <a:srgbClr val="FF0000"/>
                </a:solidFill>
                <a:latin typeface="Consolas" panose="020B0609020204030204" pitchFamily="49" charset="0"/>
              </a:rPr>
              <a:t>ERROR!</a:t>
            </a:r>
            <a:endParaRPr lang="en-US" sz="1800" b="1" spc="-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800" spc="-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1800" spc="-1" dirty="0" err="1">
                <a:solidFill>
                  <a:srgbClr val="FF0000"/>
                </a:solidFill>
                <a:latin typeface="Consolas" panose="020B0609020204030204" pitchFamily="49" charset="0"/>
              </a:rPr>
              <a:t>NameError</a:t>
            </a:r>
            <a:r>
              <a:rPr lang="en-US" sz="1800" spc="-1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sz="1800" spc="-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Value vs. reference</a:t>
            </a:r>
            <a:b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Assignment of mutable vs. immutable data types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2"/>
            <a:ext cx="8036099" cy="372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de-D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Immutable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float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bool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tuple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Initially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on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657350" lvl="3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copies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on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657350" lvl="3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lang="de-D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Mutable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dictionary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7636764" y="1857012"/>
            <a:ext cx="1377696" cy="55894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val1 = 5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val2 = val1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7397888" y="4327743"/>
            <a:ext cx="1685152" cy="558946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list1 = [5]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en-US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list2 = list1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Assignment by value vs. by reference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190244" y="1780812"/>
            <a:ext cx="2802636" cy="25016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val1 = 5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val2 = val1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print('V1A', val1)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print('V2A', val2)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val1 += 8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print('V1B', val1)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print('V2B', val2)</a:t>
            </a:r>
            <a:endParaRPr lang="en-US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5151122" y="1780812"/>
            <a:ext cx="2802636" cy="25016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list1 = [5]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list2 = list1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print('L1A', list1)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print('L2A', list2)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list1.append(8)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print('L1B', list1)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print('L2B', list2)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1427810" y="1408560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Assignment by value </a:t>
            </a:r>
            <a:endParaRPr lang="de-AT" sz="1800" dirty="0"/>
          </a:p>
        </p:txBody>
      </p:sp>
      <p:sp>
        <p:nvSpPr>
          <p:cNvPr id="13" name="Rechteck 12"/>
          <p:cNvSpPr/>
          <p:nvPr/>
        </p:nvSpPr>
        <p:spPr>
          <a:xfrm>
            <a:off x="5246634" y="1408560"/>
            <a:ext cx="2611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Assignment by reference </a:t>
            </a:r>
            <a:endParaRPr lang="de-AT" sz="1800" dirty="0"/>
          </a:p>
        </p:txBody>
      </p:sp>
      <p:sp>
        <p:nvSpPr>
          <p:cNvPr id="14" name="Rechteck 13"/>
          <p:cNvSpPr/>
          <p:nvPr/>
        </p:nvSpPr>
        <p:spPr>
          <a:xfrm>
            <a:off x="1190244" y="4546872"/>
            <a:ext cx="2802636" cy="12062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V1A 5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V2A 5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V1B 13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V2B 5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151122" y="4546872"/>
            <a:ext cx="2802636" cy="12062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L1A [5]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L2A [5]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L1B [5,8]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L2B [5,8]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Pfeil: nach rechts 8"/>
          <p:cNvSpPr/>
          <p:nvPr/>
        </p:nvSpPr>
        <p:spPr>
          <a:xfrm>
            <a:off x="199643" y="4921386"/>
            <a:ext cx="822960" cy="457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Pfeil: nach rechts 9"/>
          <p:cNvSpPr/>
          <p:nvPr/>
        </p:nvSpPr>
        <p:spPr>
          <a:xfrm>
            <a:off x="4160521" y="4921386"/>
            <a:ext cx="822960" cy="457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Call by value vs. call by reference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3"/>
            <a:ext cx="8036099" cy="276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de-D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Immutable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float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bool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de-DE" sz="1800" dirty="0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solidFill>
                  <a:schemeClr val="tx1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tuple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after a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lang="de-D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Mutable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dictionary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variables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passed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Call by value vs. call by reference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190244" y="1780812"/>
            <a:ext cx="2802636" cy="25016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do_stuff1(x):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x += 5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print('B', x)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val = 8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print('A', val)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do_stuff1(val)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print('C', val)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5151122" y="1780812"/>
            <a:ext cx="2802636" cy="25016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do_stuff2(x):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x.append(5)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print('B', x)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list1 = [8]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print('A', list1)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do_stuff2(list1)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nn-NO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print('C', list1)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1870852" y="1408560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1E90FF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Call by value </a:t>
            </a:r>
            <a:endParaRPr lang="de-AT" sz="1800" dirty="0">
              <a:solidFill>
                <a:srgbClr val="1E90FF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5631354" y="1408560"/>
            <a:ext cx="1842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32CD32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Call by reference </a:t>
            </a:r>
            <a:endParaRPr lang="de-AT" sz="1800" dirty="0">
              <a:solidFill>
                <a:srgbClr val="32CD32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1190244" y="4546872"/>
            <a:ext cx="2802636" cy="12062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A 8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B 13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C 8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151122" y="4546872"/>
            <a:ext cx="2802636" cy="12062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A [8]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B [8, 5]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C [8, 5]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Pfeil: nach rechts 8"/>
          <p:cNvSpPr/>
          <p:nvPr/>
        </p:nvSpPr>
        <p:spPr>
          <a:xfrm>
            <a:off x="199643" y="4921386"/>
            <a:ext cx="822960" cy="457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Pfeil: nach rechts 9"/>
          <p:cNvSpPr/>
          <p:nvPr/>
        </p:nvSpPr>
        <p:spPr>
          <a:xfrm>
            <a:off x="4160521" y="4921386"/>
            <a:ext cx="822960" cy="457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16" name="Gruppieren 15"/>
          <p:cNvGrpSpPr/>
          <p:nvPr/>
        </p:nvGrpSpPr>
        <p:grpSpPr>
          <a:xfrm>
            <a:off x="2928007" y="2141384"/>
            <a:ext cx="1169280" cy="1567756"/>
            <a:chOff x="4628160" y="2054160"/>
            <a:chExt cx="1169280" cy="2604240"/>
          </a:xfrm>
        </p:grpSpPr>
        <p:sp>
          <p:nvSpPr>
            <p:cNvPr id="17" name="Gerader Verbinder 16"/>
            <p:cNvSpPr/>
            <p:nvPr/>
          </p:nvSpPr>
          <p:spPr>
            <a:xfrm flipH="1">
              <a:off x="5061240" y="2143080"/>
              <a:ext cx="721440" cy="12240"/>
            </a:xfrm>
            <a:prstGeom prst="line">
              <a:avLst/>
            </a:prstGeom>
            <a:ln w="182880">
              <a:solidFill>
                <a:srgbClr val="1E90FF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Gerader Verbinder 17"/>
            <p:cNvSpPr/>
            <p:nvPr/>
          </p:nvSpPr>
          <p:spPr>
            <a:xfrm flipV="1">
              <a:off x="5704560" y="2054160"/>
              <a:ext cx="0" cy="2604240"/>
            </a:xfrm>
            <a:prstGeom prst="line">
              <a:avLst/>
            </a:prstGeom>
            <a:ln w="182880">
              <a:solidFill>
                <a:srgbClr val="1E90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Gerader Verbinder 18"/>
            <p:cNvSpPr/>
            <p:nvPr/>
          </p:nvSpPr>
          <p:spPr>
            <a:xfrm>
              <a:off x="4628160" y="4592880"/>
              <a:ext cx="1169280" cy="0"/>
            </a:xfrm>
            <a:prstGeom prst="line">
              <a:avLst/>
            </a:prstGeom>
            <a:ln w="182880">
              <a:solidFill>
                <a:srgbClr val="1E90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7064664" y="2141384"/>
            <a:ext cx="1169280" cy="1567756"/>
            <a:chOff x="10193400" y="2051280"/>
            <a:chExt cx="1169280" cy="2604240"/>
          </a:xfrm>
        </p:grpSpPr>
        <p:sp>
          <p:nvSpPr>
            <p:cNvPr id="21" name="Gerader Verbinder 20"/>
            <p:cNvSpPr/>
            <p:nvPr/>
          </p:nvSpPr>
          <p:spPr>
            <a:xfrm flipH="1">
              <a:off x="10626480" y="2140200"/>
              <a:ext cx="721440" cy="12240"/>
            </a:xfrm>
            <a:prstGeom prst="line">
              <a:avLst/>
            </a:prstGeom>
            <a:ln w="182880">
              <a:solidFill>
                <a:srgbClr val="32CD32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Gerader Verbinder 21"/>
            <p:cNvSpPr/>
            <p:nvPr/>
          </p:nvSpPr>
          <p:spPr>
            <a:xfrm flipV="1">
              <a:off x="11269800" y="2051280"/>
              <a:ext cx="0" cy="2604240"/>
            </a:xfrm>
            <a:prstGeom prst="line">
              <a:avLst/>
            </a:prstGeom>
            <a:ln w="182880">
              <a:solidFill>
                <a:srgbClr val="32CD3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Gerader Verbinder 22"/>
            <p:cNvSpPr/>
            <p:nvPr/>
          </p:nvSpPr>
          <p:spPr>
            <a:xfrm>
              <a:off x="10193400" y="4590000"/>
              <a:ext cx="1169280" cy="0"/>
            </a:xfrm>
            <a:prstGeom prst="line">
              <a:avLst/>
            </a:prstGeom>
            <a:ln w="182880">
              <a:solidFill>
                <a:srgbClr val="32CD3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extfeld 1"/>
          <p:cNvSpPr txBox="1"/>
          <p:nvPr/>
        </p:nvSpPr>
        <p:spPr>
          <a:xfrm>
            <a:off x="3312272" y="3749464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solidFill>
                  <a:srgbClr val="1E9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de-AT" sz="1800" dirty="0">
              <a:solidFill>
                <a:srgbClr val="1E9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1803512" y="49653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solidFill>
                  <a:srgbClr val="1E9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</a:t>
            </a:r>
            <a:r>
              <a:rPr lang="de-AT" sz="1800" dirty="0" err="1">
                <a:solidFill>
                  <a:srgbClr val="1E9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copied</a:t>
            </a:r>
            <a:endParaRPr lang="de-AT" sz="1800" dirty="0">
              <a:solidFill>
                <a:srgbClr val="1E9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feld 24"/>
          <p:cNvSpPr txBox="1"/>
          <p:nvPr/>
        </p:nvSpPr>
        <p:spPr>
          <a:xfrm>
            <a:off x="7115093" y="3721835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solidFill>
                  <a:srgbClr val="32C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lang="de-AT" sz="1800" dirty="0">
              <a:solidFill>
                <a:srgbClr val="32CD3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6254207" y="4998010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800" dirty="0">
                <a:solidFill>
                  <a:srgbClr val="32C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</a:t>
            </a:r>
            <a:r>
              <a:rPr lang="de-AT" sz="1800" dirty="0" err="1">
                <a:solidFill>
                  <a:srgbClr val="32CD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passed</a:t>
            </a:r>
            <a:endParaRPr lang="de-AT" sz="1800" dirty="0">
              <a:solidFill>
                <a:srgbClr val="32CD3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  <p:bldP spid="25" grpId="0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Call by value vs. call by reference</a:t>
            </a:r>
            <a:b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New assignments in functions 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190244" y="1780812"/>
            <a:ext cx="2802636" cy="25016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do_stuff3(z):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print('B', z)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z = 13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print('C', z)</a:t>
            </a:r>
            <a:b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</a:b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z = 8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print('A', z)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do_stuff3(z)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print('D', z)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5151122" y="1780812"/>
            <a:ext cx="2802636" cy="25016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def do_stuff4(z):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print('B', z)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z = [8, 5]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print('C', z)</a:t>
            </a:r>
            <a:b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</a:b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z = [13]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print('A', z)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do_stuff4(z)</a:t>
            </a:r>
            <a:endParaRPr lang="pl-PL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l-PL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print('D', z)</a:t>
            </a:r>
            <a:endParaRPr lang="nn-NO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1870852" y="1408560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1E90FF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Call by value </a:t>
            </a:r>
            <a:endParaRPr lang="de-AT" sz="1800" dirty="0">
              <a:solidFill>
                <a:srgbClr val="1E90FF"/>
              </a:solidFill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5631354" y="1408560"/>
            <a:ext cx="1842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32CD32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Call by reference </a:t>
            </a:r>
            <a:endParaRPr lang="de-AT" sz="1800" dirty="0">
              <a:solidFill>
                <a:srgbClr val="32CD32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1190244" y="4546872"/>
            <a:ext cx="2802636" cy="12062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A 8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B 8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C 13 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 8 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151122" y="4546872"/>
            <a:ext cx="2802636" cy="12062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A [13]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B [13]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C [8, 5]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r>
              <a:rPr lang="pt-BR" sz="1600" spc="-1" dirty="0">
                <a:solidFill>
                  <a:srgbClr val="0F0F0F"/>
                </a:solidFill>
                <a:latin typeface="Consolas" panose="020B0609020204030204" pitchFamily="49" charset="0"/>
              </a:rPr>
              <a:t>D [13]</a:t>
            </a:r>
            <a:endParaRPr lang="pt-BR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Pfeil: nach rechts 8"/>
          <p:cNvSpPr/>
          <p:nvPr/>
        </p:nvSpPr>
        <p:spPr>
          <a:xfrm>
            <a:off x="199643" y="4921386"/>
            <a:ext cx="822960" cy="457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Pfeil: nach rechts 9"/>
          <p:cNvSpPr/>
          <p:nvPr/>
        </p:nvSpPr>
        <p:spPr>
          <a:xfrm>
            <a:off x="4160521" y="4921386"/>
            <a:ext cx="822960" cy="457200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5812213"/>
            <a:ext cx="8036099" cy="55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Tutor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"/>
              </a:rPr>
              <a:t>3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4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5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6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Also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notebook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Tips for learning programming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How do I learn to program?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3"/>
            <a:ext cx="8036099" cy="335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snippets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Homework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explanations</a:t>
            </a:r>
            <a:r>
              <a:rPr lang="de-D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de-D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Homeworks</a:t>
            </a:r>
            <a:endParaRPr lang="de-D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…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Debug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intermediate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How to deal with problems?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3"/>
            <a:ext cx="8036099" cy="3352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yourself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 I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do/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 so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necessary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beginning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a break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sketch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Pseudocode,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diagram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…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How to deal with problems?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4" name="Google Shape;87;p2"/>
          <p:cNvSpPr txBox="1">
            <a:spLocks noGrp="1"/>
          </p:cNvSpPr>
          <p:nvPr>
            <p:ph type="body" idx="1"/>
          </p:nvPr>
        </p:nvSpPr>
        <p:spPr>
          <a:xfrm>
            <a:off x="553950" y="1590732"/>
            <a:ext cx="8036099" cy="3843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Debug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print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  <a:endParaRPr lang="de-DE" sz="1800" dirty="0">
              <a:highlight>
                <a:srgbClr val="DAE3F3"/>
              </a:highlight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a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paper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better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e.g.,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messages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de-D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descriptions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StackOverflow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"/>
              </a:rPr>
              <a:t>https://stackoverflow.com/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Docs (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https://docs.python.org/3/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altLang="zh-C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tools: support your learning, not replace you (assistant)</a:t>
            </a:r>
            <a:endParaRPr lang="en-US" altLang="zh-C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Tic-tac-toe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825617" y="1551879"/>
            <a:ext cx="7492765" cy="438800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game of tic-tac-toe a player (X or O) wins if there are three same 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characters in a row, column, or any of the two diagonals. The game is played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 3x3 board.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will represent the board in tic-tac-toe as a list of strings. For example: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['OOX', 'OXX', 'OOO']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want to write a  function </a:t>
            </a: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check_win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(board),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returns the winner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the provided game,  and the way how the game was won, i.e., 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horizontal, vertical, or diagonal. 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Hence, if player X won, the function should return the string X, and if player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won,  the function should return the string O. In addition, the function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returns H, V, D for horizontal, vertical, and diagonal win respectively. 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there is a draw, then the function should return 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None</a:t>
            </a:r>
            <a:r>
              <a:rPr lang="en-US" sz="1800" spc="-1" dirty="0">
                <a:solidFill>
                  <a:srgbClr val="0F0F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spc="-1" dirty="0">
              <a:solidFill>
                <a:srgbClr val="0F0F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87;p2"/>
          <p:cNvSpPr txBox="1">
            <a:spLocks noGrp="1"/>
          </p:cNvSpPr>
          <p:nvPr>
            <p:ph type="body" idx="1"/>
          </p:nvPr>
        </p:nvSpPr>
        <p:spPr>
          <a:xfrm>
            <a:off x="524994" y="5889673"/>
            <a:ext cx="8036099" cy="58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notebook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feld 2"/>
          <p:cNvSpPr txBox="1"/>
          <p:nvPr/>
        </p:nvSpPr>
        <p:spPr>
          <a:xfrm>
            <a:off x="461938" y="1605600"/>
            <a:ext cx="8229600" cy="25853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1: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Text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statistics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</a:t>
            </a:r>
            <a:r>
              <a:rPr lang="en-US" sz="18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count_letter</a:t>
            </a: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(text, letter)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It counts and returns how often some letter occurs in a text (both are str). Let the function be case-insensitive and don't use any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builtin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-functionality for counting! Using your function, count the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occurences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letters from the ABC string below in a text defined below. Output each letter and its count on a separate line.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unit6_exercise.ipynb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feld 2"/>
          <p:cNvSpPr txBox="1"/>
          <p:nvPr/>
        </p:nvSpPr>
        <p:spPr>
          <a:xfrm>
            <a:off x="461938" y="1605600"/>
            <a:ext cx="8229600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Task 2: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Subset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Write a function, which checks whether a list is a subset of another list. The function returns </a:t>
            </a: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True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if that is the case and </a:t>
            </a: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False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otherwise.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unit6_exercise.ipynb</a:t>
            </a:r>
            <a:endParaRPr lang="de-D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11791</Words>
  <Application>WPS 演示</Application>
  <PresentationFormat>On-screen Show (4:3)</PresentationFormat>
  <Paragraphs>650</Paragraphs>
  <Slides>43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Arial</vt:lpstr>
      <vt:lpstr>宋体</vt:lpstr>
      <vt:lpstr>Wingdings</vt:lpstr>
      <vt:lpstr>Arial</vt:lpstr>
      <vt:lpstr>Calibri</vt:lpstr>
      <vt:lpstr>Calibri</vt:lpstr>
      <vt:lpstr>Blackadder ITC</vt:lpstr>
      <vt:lpstr>Cambria Math</vt:lpstr>
      <vt:lpstr>Consolas</vt:lpstr>
      <vt:lpstr>微软雅黑</vt:lpstr>
      <vt:lpstr>Arial Unicode MS</vt:lpstr>
      <vt:lpstr>Droid Sans Fallback</vt:lpstr>
      <vt:lpstr>Segoe Print</vt:lpstr>
      <vt:lpstr>Droid Sans Fallback</vt:lpstr>
      <vt:lpstr>Wingdings</vt:lpstr>
      <vt:lpstr>Saturday Sans Regular</vt:lpstr>
      <vt:lpstr>Office Theme</vt:lpstr>
      <vt:lpstr>Fundamentals of Computer Science and Programming</vt:lpstr>
      <vt:lpstr>Outline</vt:lpstr>
      <vt:lpstr>Nested loops</vt:lpstr>
      <vt:lpstr>Nested loops</vt:lpstr>
      <vt:lpstr>Nested loops</vt:lpstr>
      <vt:lpstr>Nested loops</vt:lpstr>
      <vt:lpstr>Nested loops</vt:lpstr>
      <vt:lpstr>Nested loops</vt:lpstr>
      <vt:lpstr>List comprehensions</vt:lpstr>
      <vt:lpstr>List comprehensions</vt:lpstr>
      <vt:lpstr>Functions</vt:lpstr>
      <vt:lpstr>Functions</vt:lpstr>
      <vt:lpstr>Functions: basic concepts</vt:lpstr>
      <vt:lpstr>Example for basic concepts</vt:lpstr>
      <vt:lpstr>Example for basic concepts</vt:lpstr>
      <vt:lpstr>Example for basic concepts</vt:lpstr>
      <vt:lpstr>Definition and call of functions</vt:lpstr>
      <vt:lpstr>Function parameters</vt:lpstr>
      <vt:lpstr>Function parameters: valid calls</vt:lpstr>
      <vt:lpstr>Function parameters: common mistakes</vt:lpstr>
      <vt:lpstr>Function parameters: common mistakes</vt:lpstr>
      <vt:lpstr>Return values</vt:lpstr>
      <vt:lpstr>Return values</vt:lpstr>
      <vt:lpstr>Function vs. methods</vt:lpstr>
      <vt:lpstr>Variable scope</vt:lpstr>
      <vt:lpstr>More on function parameters</vt:lpstr>
      <vt:lpstr>More on function parameters</vt:lpstr>
      <vt:lpstr>More on function parameters</vt:lpstr>
      <vt:lpstr>Global and local variable scope</vt:lpstr>
      <vt:lpstr>Value vs. reference Assignment of mutable vs. immutable data types</vt:lpstr>
      <vt:lpstr>Assignment by value vs. by reference</vt:lpstr>
      <vt:lpstr>Call by value vs. call by reference</vt:lpstr>
      <vt:lpstr>Call by value vs. call by reference</vt:lpstr>
      <vt:lpstr>Call by value vs. call by reference New assignments in functions </vt:lpstr>
      <vt:lpstr>Tips for learning programming</vt:lpstr>
      <vt:lpstr>How do I learn to program?</vt:lpstr>
      <vt:lpstr>How to deal with problems?</vt:lpstr>
      <vt:lpstr>How to deal with problems?</vt:lpstr>
      <vt:lpstr>Example</vt:lpstr>
      <vt:lpstr>Tic-tac-toe</vt:lpstr>
      <vt:lpstr>Exercise</vt:lpstr>
      <vt:lpstr>Student task</vt:lpstr>
      <vt:lpstr>Student task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WPS_1220891040</cp:lastModifiedBy>
  <cp:revision>1011</cp:revision>
  <dcterms:created xsi:type="dcterms:W3CDTF">2026-04-13T17:39:53Z</dcterms:created>
  <dcterms:modified xsi:type="dcterms:W3CDTF">2026-04-13T18:21:01Z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EFAE141BDD9E4857AA09382502AFB6E4_13</vt:lpwstr>
  </property>
  <property fmtid="{D5CDD505-2E9C-101B-9397-08002B2CF9AE}" pid="3" name="KSOProductBuildVer">
    <vt:lpwstr>2052-12.1.0.25225</vt:lpwstr>
  </property>
</Properties>
</file>