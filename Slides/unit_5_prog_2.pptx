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408" r:id="rId3"/>
    <p:sldId id="499" r:id="rId4"/>
    <p:sldId id="468" r:id="rId5"/>
    <p:sldId id="469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2" r:id="rId14"/>
    <p:sldId id="472" r:id="rId15"/>
    <p:sldId id="464" r:id="rId16"/>
    <p:sldId id="476" r:id="rId17"/>
    <p:sldId id="507" r:id="rId18"/>
    <p:sldId id="508" r:id="rId19"/>
    <p:sldId id="509" r:id="rId20"/>
    <p:sldId id="510" r:id="rId21"/>
    <p:sldId id="511" r:id="rId22"/>
    <p:sldId id="467" r:id="rId23"/>
    <p:sldId id="516" r:id="rId24"/>
    <p:sldId id="513" r:id="rId25"/>
    <p:sldId id="515" r:id="rId26"/>
    <p:sldId id="517" r:id="rId27"/>
    <p:sldId id="514" r:id="rId28"/>
    <p:sldId id="512" r:id="rId29"/>
    <p:sldId id="518" r:id="rId30"/>
    <p:sldId id="519" r:id="rId31"/>
    <p:sldId id="466" r:id="rId32"/>
    <p:sldId id="520" r:id="rId33"/>
    <p:sldId id="521" r:id="rId34"/>
    <p:sldId id="522" r:id="rId35"/>
    <p:sldId id="460" r:id="rId36"/>
    <p:sldId id="525" r:id="rId37"/>
    <p:sldId id="526" r:id="rId38"/>
    <p:sldId id="527" r:id="rId39"/>
    <p:sldId id="528" r:id="rId40"/>
    <p:sldId id="532" r:id="rId41"/>
    <p:sldId id="530" r:id="rId42"/>
    <p:sldId id="533" r:id="rId43"/>
    <p:sldId id="536" r:id="rId44"/>
    <p:sldId id="537" r:id="rId45"/>
    <p:sldId id="538" r:id="rId46"/>
    <p:sldId id="534" r:id="rId47"/>
    <p:sldId id="524" r:id="rId48"/>
    <p:sldId id="535" r:id="rId49"/>
    <p:sldId id="523" r:id="rId50"/>
    <p:sldId id="461" r:id="rId51"/>
    <p:sldId id="539" r:id="rId52"/>
  </p:sldIdLst>
  <p:sldSz cx="9144000" cy="6858000" type="screen4x3"/>
  <p:notesSz cx="7099300" cy="10234613"/>
  <p:embeddedFontLst>
    <p:embeddedFont>
      <p:font typeface="Blackadder ITC" pitchFamily="82" charset="77"/>
      <p:regular r:id="rId54"/>
    </p:embeddedFont>
    <p:embeddedFont>
      <p:font typeface="Cambria Math" panose="02040503050406030204" pitchFamily="18" charset="0"/>
      <p:regular r:id="rId55"/>
    </p:embeddedFont>
    <p:embeddedFont>
      <p:font typeface="Consolas" panose="020B0609020204030204" pitchFamily="49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0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513" autoAdjust="0"/>
    <p:restoredTop sz="94708" autoAdjust="0"/>
  </p:normalViewPr>
  <p:slideViewPr>
    <p:cSldViewPr snapToGrid="0" showGuides="1">
      <p:cViewPr varScale="1">
        <p:scale>
          <a:sx n="114" d="100"/>
          <a:sy n="114" d="100"/>
        </p:scale>
        <p:origin x="184" y="976"/>
      </p:cViewPr>
      <p:guideLst>
        <p:guide orient="horz" pos="220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48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50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2.xml"/><Relationship Id="rId5" Type="http://schemas.openxmlformats.org/officeDocument/2006/relationships/slide" Target="slide15.xml"/><Relationship Id="rId4" Type="http://schemas.openxmlformats.org/officeDocument/2006/relationships/slide" Target="slide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.13/library/functions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5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II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Lists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Tuples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for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Some common mistakes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Input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while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Putting it all together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03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Array (sequence) of elements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 and mutable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data types for elements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creates a list, elements are separated with commas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 = ['blue', 'red', 'green']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empty_list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 access with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index – 0 based!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colors[1] =&gt; 'red’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Reverse indexing: negative index (-1 is the index of the last element)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8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Replacing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[0] =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end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('orange‘)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an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(1,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yellow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91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del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[2]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without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Length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Indexing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45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including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 !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[1, 13, 42]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[3])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[-1]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IndexError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empty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hint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[‘red’, ‘green’, ‘blue’</a:t>
            </a:r>
            <a:b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0         1            2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3574737" y="2433161"/>
            <a:ext cx="5197407" cy="36718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=&gt; „</a:t>
            </a:r>
            <a:r>
              <a:rPr lang="en-US" sz="1800" b="0" strike="noStrike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IndexError</a:t>
            </a: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list index out of range“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ist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slicing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016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same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Selected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(check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slides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previous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[i]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i-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start:end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]   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inclusive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till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(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Membership operators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6" name="Tabelle 5"/>
          <p:cNvGraphicFramePr/>
          <p:nvPr/>
        </p:nvGraphicFramePr>
        <p:xfrm>
          <a:off x="352173" y="1585159"/>
          <a:ext cx="8439654" cy="23036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964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484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Description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Example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</a:t>
                      </a:r>
                    </a:p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belongs to the object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[1, 2]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in string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not 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 </a:t>
                      </a:r>
                    </a:p>
                    <a:p>
                      <a:r>
                        <a:rPr lang="en-US" sz="1800" b="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does not belong to the object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'A'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]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letter_list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not in 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'Hello World'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Sorting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4187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Permanent (in-place)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Temporary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/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before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alphabetically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reverse()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colors.reverse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Equivalent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[::-1]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Numerical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66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these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similar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(optional,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default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0), end,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step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size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(optional)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inclusive, end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(4)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(1,4)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(1, 10, 3)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3611880" y="3481088"/>
            <a:ext cx="2053114" cy="1055193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0,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4, 7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 statistics with 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2524288"/>
            <a:ext cx="8229600" cy="1330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Minimum: 	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Maximum: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	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)/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457200" y="1755619"/>
            <a:ext cx="4443413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130" lvl="1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num_list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range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(3))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130" lvl="1" indent="0">
              <a:spcBef>
                <a:spcPts val="1135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 panose="020B0604020202020204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5779824" y="1755619"/>
            <a:ext cx="2056870" cy="2099150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5"/>
              </a:spcBef>
              <a:spcAft>
                <a:spcPts val="900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[0, 1, 2]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2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Tuples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Tuples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2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immutable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separated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commas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[1]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Less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internal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overhead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(due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immutablility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Associated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stays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constant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1804688" y="5692411"/>
            <a:ext cx="5476712" cy="4601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base_colors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('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blue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green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for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Basics of for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144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Iterating (traversing) sequences (e. g., lists)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each element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sequence: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 item in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list_of_items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print('This will be repeated.')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 (iterating) variables can have arbitrary names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of a for loop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1417320"/>
            <a:ext cx="7001256" cy="149719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lectures = ['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Maths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', 'English', 'Computer Science']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lecture in lectures: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love {lecture}')</a:t>
            </a:r>
          </a:p>
        </p:txBody>
      </p:sp>
      <p:sp>
        <p:nvSpPr>
          <p:cNvPr id="7" name="PlaceHolder 1"/>
          <p:cNvSpPr txBox="1"/>
          <p:nvPr/>
        </p:nvSpPr>
        <p:spPr>
          <a:xfrm>
            <a:off x="734256" y="3034196"/>
            <a:ext cx="7443741" cy="2166447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560"/>
              </a:spcBef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['Maths', 'English', 'Computer Science']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0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1130"/>
              </a:spcBef>
              <a:spcAft>
                <a:spcPts val="565"/>
              </a:spcAft>
            </a:pP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1130"/>
              </a:spcBef>
              <a:spcAft>
                <a:spcPts val="56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f'I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0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5047608" y="3785350"/>
            <a:ext cx="3130390" cy="226540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1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Legend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Iterated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</a:t>
            </a:r>
            <a:r>
              <a:rPr lang="de-AT" sz="1800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., a 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oop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efinition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yntax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ode block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(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loop) </a:t>
            </a: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ariable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042416" y="3034196"/>
            <a:ext cx="6887147" cy="51624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Rechteck 10"/>
          <p:cNvSpPr/>
          <p:nvPr/>
        </p:nvSpPr>
        <p:spPr>
          <a:xfrm>
            <a:off x="1042416" y="3899289"/>
            <a:ext cx="3915347" cy="407193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Rechteck 11"/>
          <p:cNvSpPr/>
          <p:nvPr/>
        </p:nvSpPr>
        <p:spPr>
          <a:xfrm>
            <a:off x="1042416" y="4374529"/>
            <a:ext cx="3915347" cy="407193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5047607" y="4877712"/>
            <a:ext cx="2878356" cy="319320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Rechteck 13"/>
          <p:cNvSpPr/>
          <p:nvPr/>
        </p:nvSpPr>
        <p:spPr>
          <a:xfrm>
            <a:off x="5047607" y="5260752"/>
            <a:ext cx="2878356" cy="299520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Rechteck 14"/>
          <p:cNvSpPr/>
          <p:nvPr/>
        </p:nvSpPr>
        <p:spPr>
          <a:xfrm>
            <a:off x="5047607" y="4531392"/>
            <a:ext cx="2878356" cy="27432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counting with range()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0186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print('Count from one to ten!')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number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print(number)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elements and indices with enumerate()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4758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lectures = ['Maths', 'English', 'Computer Science']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for index, lecture in enumerate(lectures):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print(f'Lecture {index}: {lecture}')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iterating over strings (spelling)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26158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string = 'Fundamentals of CS and programming'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char in string: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print(char)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Keywords for flow control in 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339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pass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nothing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Break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and 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after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continue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Some common mistakes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Syntax of for loops (also if and while)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    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SyntaxError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invalid syntax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Wrong indentation with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6689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print(item)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2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expected an indented block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Indentation errors again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unexpected indent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Logical indentation errors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799"/>
            <a:ext cx="7001256" cy="32318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comes the next item… {item}')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print('These were all items!')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13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42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Wrong use of the loop variable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94608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print('Here comes the next item…')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it is: {item}')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it is: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U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182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keyboard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4" name="Rechteck 3"/>
          <p:cNvSpPr/>
          <p:nvPr/>
        </p:nvSpPr>
        <p:spPr>
          <a:xfrm>
            <a:off x="1042416" y="3429000"/>
            <a:ext cx="7001256" cy="72096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f'Oh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hi {name}!')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Correcting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238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Frequently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needs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corrected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Trimming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whitespaces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g.,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strip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Casting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appropriate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Upper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upper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title()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1071372" y="4174125"/>
            <a:ext cx="7001256" cy="108633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 ')</a:t>
            </a:r>
            <a:b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name.strip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corrected_name.title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while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Basics of 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25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Executing instruction while condition is satisfied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 in other words: as long as condition is satisfied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LONG AS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condition satisfied: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condition:</a:t>
            </a: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print('Running')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explicit loop (iterating) variable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</a:p>
        </p:txBody>
      </p:sp>
      <p:sp>
        <p:nvSpPr>
          <p:cNvPr id="4" name="Rechteck 3"/>
          <p:cNvSpPr/>
          <p:nvPr/>
        </p:nvSpPr>
        <p:spPr>
          <a:xfrm>
            <a:off x="3472668" y="4931508"/>
            <a:ext cx="2140751" cy="146389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x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x &lt; 3: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print(x)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 = x + 1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print(x)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Combination of 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loops with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Ask user for input as long as the user enters a specific input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Controlling through flags, which are typically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1071372" y="2748600"/>
            <a:ext cx="7001256" cy="13608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''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!= 'quit':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Infinite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360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 runs forever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True: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quit the loop use a termination condition and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notebook</a:t>
            </a:r>
          </a:p>
        </p:txBody>
      </p:sp>
      <p:sp>
        <p:nvSpPr>
          <p:cNvPr id="5" name="Rechteck 4"/>
          <p:cNvSpPr/>
          <p:nvPr/>
        </p:nvSpPr>
        <p:spPr>
          <a:xfrm>
            <a:off x="1071372" y="3135925"/>
            <a:ext cx="7001256" cy="156893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True: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== 'quit':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break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Putting it all together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0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Suppose we collect some experimental data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Measurements of temperature, air pressure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data of e.g., video games, music, movies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Prices of houses, apartments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many such cases we have associations between variables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Temperature is associated with the air pressure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Music sales are associated with the movie sales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House price is associated with the area of the house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716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Typically we will plot the data first to explore the associations</a:t>
            </a:r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we can fit a curve to data to represent the association, e.g., we can fit a line</a:t>
            </a:r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are approximating the data with a line and need to measure the approx. error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 are multiple ways of how to measure error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But, we can start with a basic approach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 line represents prediction of house prices as a function of the area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True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points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both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positive and negative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  <m:r>
                      <a:rPr lang="de-AT" sz="1800" b="0" i="1" baseline="30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J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blipFill rotWithShape="1">
                <a:blip r:embed="rId3"/>
                <a:stretch>
                  <a:fillRect t="-7" b="-6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Lines have a slope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and an intercept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Hence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 are: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sSub>
                      <m:sSub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expressed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would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like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select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estimate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such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way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known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least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method</a:t>
                </a:r>
                <a:endParaRPr lang="de-AT" sz="18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called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descent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blipFill rotWithShape="1">
                <a:blip r:embed="rId3"/>
                <a:stretch>
                  <a:fillRect t="-8" b="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466" y="1234434"/>
            <a:ext cx="5852172" cy="4389129"/>
          </a:xfrm>
          <a:prstGeom prst="rect">
            <a:avLst/>
          </a:prstGeom>
        </p:spPr>
      </p:pic>
      <p:cxnSp>
        <p:nvCxnSpPr>
          <p:cNvPr id="9" name="Gerade Verbindung mit Pfeil 8"/>
          <p:cNvCxnSpPr/>
          <p:nvPr/>
        </p:nvCxnSpPr>
        <p:spPr>
          <a:xfrm flipV="1">
            <a:off x="6246074" y="1658203"/>
            <a:ext cx="605102" cy="1428149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/>
          <p:cNvCxnSpPr/>
          <p:nvPr/>
        </p:nvCxnSpPr>
        <p:spPr>
          <a:xfrm flipH="1">
            <a:off x="2378467" y="4984653"/>
            <a:ext cx="2164577" cy="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/>
          <p:cNvCxnSpPr/>
          <p:nvPr/>
        </p:nvCxnSpPr>
        <p:spPr>
          <a:xfrm flipV="1">
            <a:off x="4515503" y="4991477"/>
            <a:ext cx="1" cy="14400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/>
              <p:cNvSpPr txBox="1"/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</m:oMath>
                  </m:oMathPara>
                </a14:m>
                <a:endParaRPr lang="de-AT" b="1" dirty="0"/>
              </a:p>
            </p:txBody>
          </p:sp>
        </mc:Choice>
        <mc:Fallback xmlns="">
          <p:sp>
            <p:nvSpPr>
              <p:cNvPr id="15" name="Textfeld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blipFill rotWithShape="1">
                <a:blip r:embed="rId4"/>
                <a:stretch>
                  <a:fillRect l="-4" t="-23" r="31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/>
              <p:cNvSpPr txBox="1"/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AT" b="1" dirty="0"/>
              </a:p>
            </p:txBody>
          </p:sp>
        </mc:Choice>
        <mc:Fallback xmlns="">
          <p:sp>
            <p:nvSpPr>
              <p:cNvPr id="17" name="Textfeld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blipFill rotWithShape="1">
                <a:blip r:embed="rId5"/>
                <a:stretch>
                  <a:fillRect l="-3" t="-140" r="43" b="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/>
          <p:cNvSpPr txBox="1"/>
          <p:nvPr/>
        </p:nvSpPr>
        <p:spPr>
          <a:xfrm>
            <a:off x="5557723" y="2862432"/>
            <a:ext cx="6591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Verbinder: gekrümmt 20"/>
          <p:cNvCxnSpPr/>
          <p:nvPr/>
        </p:nvCxnSpPr>
        <p:spPr>
          <a:xfrm rot="9360000" flipV="1">
            <a:off x="5956401" y="3257045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Gerade Verbindung mit Pfeil 42"/>
          <p:cNvCxnSpPr/>
          <p:nvPr/>
        </p:nvCxnSpPr>
        <p:spPr>
          <a:xfrm flipV="1">
            <a:off x="5973417" y="36570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/>
          <p:cNvSpPr txBox="1"/>
          <p:nvPr/>
        </p:nvSpPr>
        <p:spPr>
          <a:xfrm>
            <a:off x="4808324" y="3428999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9" name="Gerade Verbindung mit Pfeil 48"/>
          <p:cNvCxnSpPr/>
          <p:nvPr/>
        </p:nvCxnSpPr>
        <p:spPr>
          <a:xfrm flipV="1">
            <a:off x="5964913" y="2754573"/>
            <a:ext cx="501633" cy="902442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/>
          <p:cNvSpPr txBox="1"/>
          <p:nvPr/>
        </p:nvSpPr>
        <p:spPr>
          <a:xfrm>
            <a:off x="6515476" y="256139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feld 52"/>
          <p:cNvSpPr txBox="1"/>
          <p:nvPr/>
        </p:nvSpPr>
        <p:spPr>
          <a:xfrm>
            <a:off x="6838527" y="1601968"/>
            <a:ext cx="901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4" name="Verbinder: gekrümmt 53"/>
          <p:cNvCxnSpPr/>
          <p:nvPr/>
        </p:nvCxnSpPr>
        <p:spPr>
          <a:xfrm rot="9360000" flipV="1">
            <a:off x="5601456" y="3832377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/>
          <p:nvPr/>
        </p:nvCxnSpPr>
        <p:spPr>
          <a:xfrm flipV="1">
            <a:off x="5674726" y="3319801"/>
            <a:ext cx="598506" cy="854055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4515503" y="3964081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feld 57"/>
          <p:cNvSpPr txBox="1"/>
          <p:nvPr/>
        </p:nvSpPr>
        <p:spPr>
          <a:xfrm>
            <a:off x="6246072" y="315052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9" name="Gerade Verbindung mit Pfeil 58"/>
          <p:cNvCxnSpPr/>
          <p:nvPr/>
        </p:nvCxnSpPr>
        <p:spPr>
          <a:xfrm flipV="1">
            <a:off x="4744057" y="49574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/>
          <p:cNvCxnSpPr/>
          <p:nvPr/>
        </p:nvCxnSpPr>
        <p:spPr>
          <a:xfrm flipV="1">
            <a:off x="5191097" y="46933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/>
          <p:cNvCxnSpPr/>
          <p:nvPr/>
        </p:nvCxnSpPr>
        <p:spPr>
          <a:xfrm flipV="1">
            <a:off x="4566257" y="49778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/>
          <p:cNvCxnSpPr/>
          <p:nvPr/>
        </p:nvCxnSpPr>
        <p:spPr>
          <a:xfrm flipV="1">
            <a:off x="4942177" y="48812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/>
          <p:cNvCxnSpPr/>
          <p:nvPr/>
        </p:nvCxnSpPr>
        <p:spPr>
          <a:xfrm flipV="1">
            <a:off x="5440017" y="44647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Verbinder: gekrümmt 64"/>
          <p:cNvCxnSpPr>
            <a:cxnSpLocks noChangeAspect="1"/>
          </p:cNvCxnSpPr>
          <p:nvPr/>
        </p:nvCxnSpPr>
        <p:spPr>
          <a:xfrm rot="9900000" flipV="1">
            <a:off x="5472716" y="4310930"/>
            <a:ext cx="318638" cy="162194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Verbinder: gekrümmt 65"/>
          <p:cNvCxnSpPr>
            <a:cxnSpLocks noChangeAspect="1"/>
          </p:cNvCxnSpPr>
          <p:nvPr/>
        </p:nvCxnSpPr>
        <p:spPr>
          <a:xfrm rot="10200000" flipV="1">
            <a:off x="5227224" y="4565188"/>
            <a:ext cx="254910" cy="129755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Verbinder: gekrümmt 66"/>
          <p:cNvCxnSpPr>
            <a:cxnSpLocks noChangeAspect="1"/>
          </p:cNvCxnSpPr>
          <p:nvPr/>
        </p:nvCxnSpPr>
        <p:spPr>
          <a:xfrm rot="10260000" flipV="1">
            <a:off x="5026279" y="4791647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Verbinder: gekrümmt 67"/>
          <p:cNvCxnSpPr>
            <a:cxnSpLocks noChangeAspect="1"/>
          </p:cNvCxnSpPr>
          <p:nvPr/>
        </p:nvCxnSpPr>
        <p:spPr>
          <a:xfrm rot="11280000" flipV="1">
            <a:off x="4783814" y="4927761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Verbinder: gekrümmt 69"/>
          <p:cNvCxnSpPr>
            <a:cxnSpLocks noChangeAspect="1"/>
          </p:cNvCxnSpPr>
          <p:nvPr/>
        </p:nvCxnSpPr>
        <p:spPr>
          <a:xfrm rot="12780000" flipV="1">
            <a:off x="4552585" y="5001336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1" name="Textfeld 70"/>
          <p:cNvSpPr txBox="1"/>
          <p:nvPr/>
        </p:nvSpPr>
        <p:spPr>
          <a:xfrm>
            <a:off x="4318821" y="4587066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endParaRPr lang="de-AT" sz="16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  <p:bldP spid="48" grpId="0"/>
      <p:bldP spid="52" grpId="0"/>
      <p:bldP spid="52" grpId="1"/>
      <p:bldP spid="53" grpId="0"/>
      <p:bldP spid="53" grpId="1"/>
      <p:bldP spid="57" grpId="0"/>
      <p:bldP spid="58" grpId="0"/>
      <p:bldP spid="58" grpId="1"/>
      <p:bldP spid="7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(partial) derivatives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𝐽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respect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en-US" altLang="de-AT" sz="180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den>
                    </m:f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</m:t>
                    </m:r>
                    <m:nary>
                      <m:naryPr>
                        <m:chr m:val="∑"/>
                        <m:ctrlP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naryPr>
                      <m:sub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=0</m:t>
                        </m:r>
                      </m:sub>
                      <m:sup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 </m:t>
                                </m:r>
                              </m:sub>
                            </m:sSub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+</m:t>
                            </m:r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𝑏</m:t>
                            </m:r>
                            <m: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− 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alt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；</m:t>
                        </m:r>
                      </m:e>
                    </m:nary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 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= 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− 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𝑙𝑒𝑎𝑟𝑛𝑖𝑛𝑔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𝑟𝑎𝑡𝑒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zh-CN" altLang="en-US" sz="1800" b="0" i="1" smtClean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×</m:t>
                    </m:r>
                    <m:r>
                      <a:rPr lang="en-US" altLang="zh-CN" sz="1800" b="0" i="1" smtClean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den>
                    </m:f>
                  </m:oMath>
                </a14:m>
                <a:endParaRPr lang="de-AT" sz="1800" b="0" i="1">
                  <a:latin typeface="Cambria Math" panose="02040503050406030204" pitchFamily="18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  <a:buFont typeface="Wingdings" panose="05000000000000000000" pitchFamily="2" charset="2"/>
                </a:pPr>
                <a:r>
                  <a:rPr lang="en-US" altLang="de-AT" sz="180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altLang="de-AT" sz="18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  </m:t>
                    </m:r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𝑏</m:t>
                        </m:r>
                      </m:den>
                    </m:f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</m:t>
                    </m:r>
                    <m:nary>
                      <m:naryPr>
                        <m:chr m:val="∑"/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naryPr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=0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 </m:t>
                                </m:r>
                              </m:sub>
                            </m:sSub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+</m:t>
                            </m:r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𝑏</m:t>
                            </m:r>
                            <m: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− 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en-US" alt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；</m:t>
                        </m:r>
                        <m:r>
                          <a:rPr lang="en-US" alt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 </m:t>
                        </m:r>
                      </m:e>
                    </m:nary>
                  </m:oMath>
                </a14:m>
                <a:r>
                  <a:rPr lang="en-US" alt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b = b - learning rate </a:t>
                </a:r>
                <a:r>
                  <a:rPr lang="zh-CN" alt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×</a:t>
                </a:r>
                <a:r>
                  <a:rPr lang="en-US" alt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𝑏</m:t>
                        </m:r>
                      </m:den>
                    </m:f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„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check“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update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going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opposite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new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whether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repeat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1,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done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!</a:t>
                </a:r>
              </a:p>
              <a:p>
                <a:pPr marL="342900" indent="-34290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See unit5.ipynb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notebook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blipFill rotWithShape="1">
                <a:blip r:embed="rId3"/>
                <a:stretch>
                  <a:fillRect t="-7" b="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323165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 panose="020B0604020202020204"/>
              </a:rPr>
              <a:t>Task 1: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Calculate the sum of a list or a tuple and print the resulting sum. Solve this problem:</a:t>
            </a: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without using sum() for lists or tuples,</a:t>
            </a: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 using sum(). 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Ad 2) There are for a lot of simple tasks already built in functions in python: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https://docs.python.org/3.13/library/functions.html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Example: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[1,2,3] -&gt; 6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(6, 90, 10, 15, 114, 25, 18, 91, 51) -&gt; 420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[63, 100, 48, 79, 4, 85, 26, 84, 16, 73, 58, 78, 87, 198, 321, 17] -&gt; 1337</a:t>
            </a:r>
            <a:endParaRPr lang="de-DE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/>
              <p:cNvSpPr txBox="1"/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lvl="0">
                  <a:defRPr/>
                </a:pPr>
                <a:r>
                  <a:rPr kumimoji="0" lang="de-DE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Task 2: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Compute </a:t>
                </a:r>
                <a:r>
                  <a:rPr lang="en-US" sz="1800" dirty="0" err="1">
                    <a:latin typeface="Consolas" panose="020B0609020204030204" pitchFamily="49" charset="0"/>
                    <a:cs typeface="Calibri" panose="020F0502020204030204" pitchFamily="34" charset="0"/>
                  </a:rPr>
                  <a:t>nested_sum</a:t>
                </a:r>
                <a:r>
                  <a:rPr lang="en-US" sz="1800" dirty="0">
                    <a:latin typeface="Consolas" panose="020B0609020204030204" pitchFamily="49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that works on a list of lists of integers and adds up the elements from all of the nested lists. Test your code by initializing at least three integer lists.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3: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Implement the exhaustive enumeration algorithm for finding the cube root of a number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entered by the user. Use the error tolerance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10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and a step size appropriate for that error tolerance. Output the solution and the number of steps that the algorithm needed to find the solution.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feld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blipFill rotWithShape="1">
                <a:blip r:embed="rId3"/>
                <a:stretch>
                  <a:fillRect l="-4" t="-13" r="4" b="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1450</TotalTime>
  <Words>2498</Words>
  <Application>Microsoft Macintosh PowerPoint</Application>
  <PresentationFormat>On-screen Show (4:3)</PresentationFormat>
  <Paragraphs>423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8" baseType="lpstr">
      <vt:lpstr>Blackadder ITC</vt:lpstr>
      <vt:lpstr>Wingdings</vt:lpstr>
      <vt:lpstr>Consolas</vt:lpstr>
      <vt:lpstr>Arial</vt:lpstr>
      <vt:lpstr>Calibri</vt:lpstr>
      <vt:lpstr>Cambria Math</vt:lpstr>
      <vt:lpstr>Office Theme</vt:lpstr>
      <vt:lpstr>Fundamentals of Computer Science and Programming </vt:lpstr>
      <vt:lpstr>Outline</vt:lpstr>
      <vt:lpstr>Lists</vt:lpstr>
      <vt:lpstr>Lists</vt:lpstr>
      <vt:lpstr>Lists</vt:lpstr>
      <vt:lpstr>Lists</vt:lpstr>
      <vt:lpstr>Indexing of lists</vt:lpstr>
      <vt:lpstr>List slicing</vt:lpstr>
      <vt:lpstr>Membership operators</vt:lpstr>
      <vt:lpstr>Sorting of lists</vt:lpstr>
      <vt:lpstr>Numerical lists</vt:lpstr>
      <vt:lpstr>Basic statistics with lists</vt:lpstr>
      <vt:lpstr>Tuples</vt:lpstr>
      <vt:lpstr>Tuples</vt:lpstr>
      <vt:lpstr>for loops</vt:lpstr>
      <vt:lpstr>Basics of for loops</vt:lpstr>
      <vt:lpstr>Example of a for loop</vt:lpstr>
      <vt:lpstr>for loops: counting with range()</vt:lpstr>
      <vt:lpstr>for loops: elements and indices with enumerate()</vt:lpstr>
      <vt:lpstr>for loops: iterating over strings (spelling)</vt:lpstr>
      <vt:lpstr>Keywords for flow control in loops</vt:lpstr>
      <vt:lpstr>Some common mistakes</vt:lpstr>
      <vt:lpstr>Syntax of for loops (also if and while)</vt:lpstr>
      <vt:lpstr>Wrong indentation with loops</vt:lpstr>
      <vt:lpstr>Indentation errors again</vt:lpstr>
      <vt:lpstr>Logical indentation errors</vt:lpstr>
      <vt:lpstr>Wrong use of the loop variable</vt:lpstr>
      <vt:lpstr>Input</vt:lpstr>
      <vt:lpstr>User input</vt:lpstr>
      <vt:lpstr>Correcting user input</vt:lpstr>
      <vt:lpstr>while loops</vt:lpstr>
      <vt:lpstr>Basics of while loops</vt:lpstr>
      <vt:lpstr>Combination of while loops with user input</vt:lpstr>
      <vt:lpstr>Infinite loops</vt:lpstr>
      <vt:lpstr>Putting it all together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Gradient descent</vt:lpstr>
      <vt:lpstr>Gradient descent</vt:lpstr>
      <vt:lpstr>Exercise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964</cp:revision>
  <dcterms:created xsi:type="dcterms:W3CDTF">2026-03-23T18:04:42Z</dcterms:created>
  <dcterms:modified xsi:type="dcterms:W3CDTF">2026-04-08T11:11:41Z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45DA761A6B9B45EBB51434F06ED954B5_12</vt:lpwstr>
  </property>
</Properties>
</file>