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408" r:id="rId3"/>
    <p:sldId id="499" r:id="rId4"/>
    <p:sldId id="468" r:id="rId5"/>
    <p:sldId id="469" r:id="rId6"/>
    <p:sldId id="500" r:id="rId7"/>
    <p:sldId id="501" r:id="rId8"/>
    <p:sldId id="502" r:id="rId9"/>
    <p:sldId id="503" r:id="rId10"/>
    <p:sldId id="504" r:id="rId11"/>
    <p:sldId id="505" r:id="rId12"/>
    <p:sldId id="506" r:id="rId13"/>
    <p:sldId id="462" r:id="rId14"/>
    <p:sldId id="472" r:id="rId15"/>
    <p:sldId id="464" r:id="rId16"/>
    <p:sldId id="476" r:id="rId17"/>
    <p:sldId id="507" r:id="rId18"/>
    <p:sldId id="508" r:id="rId19"/>
    <p:sldId id="509" r:id="rId20"/>
    <p:sldId id="510" r:id="rId21"/>
    <p:sldId id="511" r:id="rId22"/>
    <p:sldId id="467" r:id="rId23"/>
    <p:sldId id="516" r:id="rId24"/>
    <p:sldId id="513" r:id="rId25"/>
    <p:sldId id="515" r:id="rId26"/>
    <p:sldId id="517" r:id="rId27"/>
    <p:sldId id="514" r:id="rId28"/>
    <p:sldId id="512" r:id="rId29"/>
    <p:sldId id="518" r:id="rId30"/>
    <p:sldId id="519" r:id="rId31"/>
    <p:sldId id="466" r:id="rId32"/>
    <p:sldId id="520" r:id="rId33"/>
    <p:sldId id="521" r:id="rId34"/>
    <p:sldId id="522" r:id="rId35"/>
    <p:sldId id="460" r:id="rId36"/>
    <p:sldId id="525" r:id="rId37"/>
    <p:sldId id="526" r:id="rId38"/>
    <p:sldId id="527" r:id="rId39"/>
    <p:sldId id="528" r:id="rId40"/>
    <p:sldId id="532" r:id="rId41"/>
    <p:sldId id="530" r:id="rId42"/>
    <p:sldId id="533" r:id="rId43"/>
    <p:sldId id="536" r:id="rId44"/>
    <p:sldId id="537" r:id="rId45"/>
    <p:sldId id="538" r:id="rId46"/>
    <p:sldId id="534" r:id="rId47"/>
    <p:sldId id="524" r:id="rId48"/>
    <p:sldId id="535" r:id="rId49"/>
    <p:sldId id="523" r:id="rId50"/>
    <p:sldId id="461" r:id="rId51"/>
    <p:sldId id="539" r:id="rId52"/>
  </p:sldIdLst>
  <p:sldSz cx="9144000" cy="6858000" type="screen4x3"/>
  <p:notesSz cx="7099300" cy="10234613"/>
  <p:embeddedFontLst>
    <p:embeddedFont>
      <p:font typeface="Blackadder ITC" pitchFamily="82" charset="77"/>
      <p:regular r:id="rId54"/>
    </p:embeddedFont>
    <p:embeddedFont>
      <p:font typeface="Cambria Math" panose="02040503050406030204" pitchFamily="18" charset="0"/>
      <p:regular r:id="rId55"/>
    </p:embeddedFont>
    <p:embeddedFont>
      <p:font typeface="Consolas" panose="020B0609020204030204" pitchFamily="49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D3242A"/>
    <a:srgbClr val="EDEDED"/>
    <a:srgbClr val="F8D7CD"/>
    <a:srgbClr val="FCECE8"/>
    <a:srgbClr val="ED7D31"/>
    <a:srgbClr val="E2F0D9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0F01B-7B24-6643-B66F-DE0DB9E8D753}" v="11" dt="2025-10-29T15:04:43.6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65" autoAdjust="0"/>
    <p:restoredTop sz="94710" autoAdjust="0"/>
  </p:normalViewPr>
  <p:slideViewPr>
    <p:cSldViewPr snapToGrid="0">
      <p:cViewPr varScale="1">
        <p:scale>
          <a:sx n="101" d="100"/>
          <a:sy n="101" d="100"/>
        </p:scale>
        <p:origin x="208" y="776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5" Type="http://schemas.openxmlformats.org/officeDocument/2006/relationships/slide" Target="slides/slide4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0" Type="http://customschemas.google.com/relationships/presentationmetadata" Target="metadata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5F8971C4-3D52-5FAB-A951-9912A46CDBB0}"/>
    <pc:docChg chg="undo custSel modSld">
      <pc:chgData name="Ingo Frommholz" userId="ee3b4549-206f-4e4f-93a1-b7ff676f0af7" providerId="ADAL" clId="{5F8971C4-3D52-5FAB-A951-9912A46CDBB0}" dt="2025-10-30T16:47:18.318" v="325" actId="20577"/>
      <pc:docMkLst>
        <pc:docMk/>
      </pc:docMkLst>
      <pc:sldChg chg="addSp delSp modSp mod">
        <pc:chgData name="Ingo Frommholz" userId="ee3b4549-206f-4e4f-93a1-b7ff676f0af7" providerId="ADAL" clId="{5F8971C4-3D52-5FAB-A951-9912A46CDBB0}" dt="2025-10-29T15:04:46.856" v="221"/>
        <pc:sldMkLst>
          <pc:docMk/>
          <pc:sldMk cId="2688265821" sldId="461"/>
        </pc:sldMkLst>
        <pc:spChg chg="add del mod">
          <ac:chgData name="Ingo Frommholz" userId="ee3b4549-206f-4e4f-93a1-b7ff676f0af7" providerId="ADAL" clId="{5F8971C4-3D52-5FAB-A951-9912A46CDBB0}" dt="2025-10-29T15:04:46.856" v="221"/>
          <ac:spMkLst>
            <pc:docMk/>
            <pc:sldMk cId="2688265821" sldId="461"/>
            <ac:spMk id="3" creationId="{13A39BB6-C530-5630-B4E1-3939CA8BA345}"/>
          </ac:spMkLst>
        </pc:spChg>
      </pc:sldChg>
      <pc:sldChg chg="modSp mod">
        <pc:chgData name="Ingo Frommholz" userId="ee3b4549-206f-4e4f-93a1-b7ff676f0af7" providerId="ADAL" clId="{5F8971C4-3D52-5FAB-A951-9912A46CDBB0}" dt="2025-10-30T16:47:18.318" v="325" actId="20577"/>
        <pc:sldMkLst>
          <pc:docMk/>
          <pc:sldMk cId="2965119385" sldId="468"/>
        </pc:sldMkLst>
        <pc:spChg chg="mod">
          <ac:chgData name="Ingo Frommholz" userId="ee3b4549-206f-4e4f-93a1-b7ff676f0af7" providerId="ADAL" clId="{5F8971C4-3D52-5FAB-A951-9912A46CDBB0}" dt="2025-10-30T16:47:18.318" v="325" actId="20577"/>
          <ac:spMkLst>
            <pc:docMk/>
            <pc:sldMk cId="2965119385" sldId="468"/>
            <ac:spMk id="8" creationId="{21A8D102-1C16-49D0-9B80-8EAB675A9A7B}"/>
          </ac:spMkLst>
        </pc:spChg>
      </pc:sldChg>
      <pc:sldChg chg="modSp mod">
        <pc:chgData name="Ingo Frommholz" userId="ee3b4549-206f-4e4f-93a1-b7ff676f0af7" providerId="ADAL" clId="{5F8971C4-3D52-5FAB-A951-9912A46CDBB0}" dt="2025-10-29T09:41:42.435" v="1" actId="20577"/>
        <pc:sldMkLst>
          <pc:docMk/>
          <pc:sldMk cId="1780598022" sldId="469"/>
        </pc:sldMkLst>
        <pc:spChg chg="mod">
          <ac:chgData name="Ingo Frommholz" userId="ee3b4549-206f-4e4f-93a1-b7ff676f0af7" providerId="ADAL" clId="{5F8971C4-3D52-5FAB-A951-9912A46CDBB0}" dt="2025-10-29T09:41:42.435" v="1" actId="20577"/>
          <ac:spMkLst>
            <pc:docMk/>
            <pc:sldMk cId="1780598022" sldId="469"/>
            <ac:spMk id="8" creationId="{21A8D102-1C16-49D0-9B80-8EAB675A9A7B}"/>
          </ac:spMkLst>
        </pc:spChg>
      </pc:sldChg>
      <pc:sldChg chg="modSp mod">
        <pc:chgData name="Ingo Frommholz" userId="ee3b4549-206f-4e4f-93a1-b7ff676f0af7" providerId="ADAL" clId="{5F8971C4-3D52-5FAB-A951-9912A46CDBB0}" dt="2025-10-29T10:29:28.885" v="141" actId="20577"/>
        <pc:sldMkLst>
          <pc:docMk/>
          <pc:sldMk cId="2635778816" sldId="472"/>
        </pc:sldMkLst>
        <pc:spChg chg="mod">
          <ac:chgData name="Ingo Frommholz" userId="ee3b4549-206f-4e4f-93a1-b7ff676f0af7" providerId="ADAL" clId="{5F8971C4-3D52-5FAB-A951-9912A46CDBB0}" dt="2025-10-29T10:29:28.885" v="141" actId="20577"/>
          <ac:spMkLst>
            <pc:docMk/>
            <pc:sldMk cId="2635778816" sldId="472"/>
            <ac:spMk id="8" creationId="{21A8D102-1C16-49D0-9B80-8EAB675A9A7B}"/>
          </ac:spMkLst>
        </pc:spChg>
      </pc:sldChg>
      <pc:sldChg chg="modSp mod">
        <pc:chgData name="Ingo Frommholz" userId="ee3b4549-206f-4e4f-93a1-b7ff676f0af7" providerId="ADAL" clId="{5F8971C4-3D52-5FAB-A951-9912A46CDBB0}" dt="2025-10-30T14:27:48.334" v="309" actId="20577"/>
        <pc:sldMkLst>
          <pc:docMk/>
          <pc:sldMk cId="255500345" sldId="501"/>
        </pc:sldMkLst>
        <pc:spChg chg="mod">
          <ac:chgData name="Ingo Frommholz" userId="ee3b4549-206f-4e4f-93a1-b7ff676f0af7" providerId="ADAL" clId="{5F8971C4-3D52-5FAB-A951-9912A46CDBB0}" dt="2025-10-30T14:27:48.334" v="309" actId="20577"/>
          <ac:spMkLst>
            <pc:docMk/>
            <pc:sldMk cId="255500345" sldId="501"/>
            <ac:spMk id="8" creationId="{21A8D102-1C16-49D0-9B80-8EAB675A9A7B}"/>
          </ac:spMkLst>
        </pc:spChg>
      </pc:sldChg>
      <pc:sldChg chg="modSp mod">
        <pc:chgData name="Ingo Frommholz" userId="ee3b4549-206f-4e4f-93a1-b7ff676f0af7" providerId="ADAL" clId="{5F8971C4-3D52-5FAB-A951-9912A46CDBB0}" dt="2025-10-29T09:46:57.707" v="3" actId="20577"/>
        <pc:sldMkLst>
          <pc:docMk/>
          <pc:sldMk cId="3153159043" sldId="502"/>
        </pc:sldMkLst>
        <pc:spChg chg="mod">
          <ac:chgData name="Ingo Frommholz" userId="ee3b4549-206f-4e4f-93a1-b7ff676f0af7" providerId="ADAL" clId="{5F8971C4-3D52-5FAB-A951-9912A46CDBB0}" dt="2025-10-29T09:46:57.707" v="3" actId="20577"/>
          <ac:spMkLst>
            <pc:docMk/>
            <pc:sldMk cId="3153159043" sldId="502"/>
            <ac:spMk id="8" creationId="{21A8D102-1C16-49D0-9B80-8EAB675A9A7B}"/>
          </ac:spMkLst>
        </pc:spChg>
      </pc:sldChg>
      <pc:sldChg chg="addSp delSp modSp mod">
        <pc:chgData name="Ingo Frommholz" userId="ee3b4549-206f-4e4f-93a1-b7ff676f0af7" providerId="ADAL" clId="{5F8971C4-3D52-5FAB-A951-9912A46CDBB0}" dt="2025-10-29T09:59:02.815" v="8" actId="20577"/>
        <pc:sldMkLst>
          <pc:docMk/>
          <pc:sldMk cId="183097626" sldId="506"/>
        </pc:sldMkLst>
        <pc:spChg chg="add del mod">
          <ac:chgData name="Ingo Frommholz" userId="ee3b4549-206f-4e4f-93a1-b7ff676f0af7" providerId="ADAL" clId="{5F8971C4-3D52-5FAB-A951-9912A46CDBB0}" dt="2025-10-29T09:58:50.618" v="6"/>
          <ac:spMkLst>
            <pc:docMk/>
            <pc:sldMk cId="183097626" sldId="506"/>
            <ac:spMk id="2" creationId="{C12658B2-9B75-3EF9-A2F3-88F1C1157EDE}"/>
          </ac:spMkLst>
        </pc:spChg>
        <pc:spChg chg="mod">
          <ac:chgData name="Ingo Frommholz" userId="ee3b4549-206f-4e4f-93a1-b7ff676f0af7" providerId="ADAL" clId="{5F8971C4-3D52-5FAB-A951-9912A46CDBB0}" dt="2025-10-29T09:59:02.815" v="8" actId="20577"/>
          <ac:spMkLst>
            <pc:docMk/>
            <pc:sldMk cId="183097626" sldId="506"/>
            <ac:spMk id="8" creationId="{21A8D102-1C16-49D0-9B80-8EAB675A9A7B}"/>
          </ac:spMkLst>
        </pc:spChg>
      </pc:sldChg>
      <pc:sldChg chg="addSp delSp modSp mod">
        <pc:chgData name="Ingo Frommholz" userId="ee3b4549-206f-4e4f-93a1-b7ff676f0af7" providerId="ADAL" clId="{5F8971C4-3D52-5FAB-A951-9912A46CDBB0}" dt="2025-10-29T10:43:08.491" v="144"/>
        <pc:sldMkLst>
          <pc:docMk/>
          <pc:sldMk cId="2321275284" sldId="507"/>
        </pc:sldMkLst>
        <pc:spChg chg="add del mod">
          <ac:chgData name="Ingo Frommholz" userId="ee3b4549-206f-4e4f-93a1-b7ff676f0af7" providerId="ADAL" clId="{5F8971C4-3D52-5FAB-A951-9912A46CDBB0}" dt="2025-10-29T10:43:08.491" v="144"/>
          <ac:spMkLst>
            <pc:docMk/>
            <pc:sldMk cId="2321275284" sldId="507"/>
            <ac:spMk id="2" creationId="{96715BA4-9DBB-6833-DE58-2BAB1CBB3C4C}"/>
          </ac:spMkLst>
        </pc:spChg>
      </pc:sldChg>
      <pc:sldChg chg="modSp mod">
        <pc:chgData name="Ingo Frommholz" userId="ee3b4549-206f-4e4f-93a1-b7ff676f0af7" providerId="ADAL" clId="{5F8971C4-3D52-5FAB-A951-9912A46CDBB0}" dt="2025-10-29T11:55:31.915" v="162"/>
        <pc:sldMkLst>
          <pc:docMk/>
          <pc:sldMk cId="1991990786" sldId="511"/>
        </pc:sldMkLst>
        <pc:spChg chg="mod">
          <ac:chgData name="Ingo Frommholz" userId="ee3b4549-206f-4e4f-93a1-b7ff676f0af7" providerId="ADAL" clId="{5F8971C4-3D52-5FAB-A951-9912A46CDBB0}" dt="2025-10-29T11:55:31.915" v="162"/>
          <ac:spMkLst>
            <pc:docMk/>
            <pc:sldMk cId="1991990786" sldId="511"/>
            <ac:spMk id="8" creationId="{21A8D102-1C16-49D0-9B80-8EAB675A9A7B}"/>
          </ac:spMkLst>
        </pc:spChg>
      </pc:sldChg>
      <pc:sldChg chg="modSp mod">
        <pc:chgData name="Ingo Frommholz" userId="ee3b4549-206f-4e4f-93a1-b7ff676f0af7" providerId="ADAL" clId="{5F8971C4-3D52-5FAB-A951-9912A46CDBB0}" dt="2025-10-30T15:33:18.903" v="323" actId="20577"/>
        <pc:sldMkLst>
          <pc:docMk/>
          <pc:sldMk cId="2361308640" sldId="513"/>
        </pc:sldMkLst>
        <pc:spChg chg="mod">
          <ac:chgData name="Ingo Frommholz" userId="ee3b4549-206f-4e4f-93a1-b7ff676f0af7" providerId="ADAL" clId="{5F8971C4-3D52-5FAB-A951-9912A46CDBB0}" dt="2025-10-30T15:33:18.903" v="323" actId="20577"/>
          <ac:spMkLst>
            <pc:docMk/>
            <pc:sldMk cId="2361308640" sldId="513"/>
            <ac:spMk id="6" creationId="{0804E025-6CC7-44C4-AD79-69A4EA4376F3}"/>
          </ac:spMkLst>
        </pc:spChg>
      </pc:sldChg>
      <pc:sldChg chg="modSp mod">
        <pc:chgData name="Ingo Frommholz" userId="ee3b4549-206f-4e4f-93a1-b7ff676f0af7" providerId="ADAL" clId="{5F8971C4-3D52-5FAB-A951-9912A46CDBB0}" dt="2025-10-29T12:26:53.159" v="182" actId="1076"/>
        <pc:sldMkLst>
          <pc:docMk/>
          <pc:sldMk cId="2788699760" sldId="519"/>
        </pc:sldMkLst>
        <pc:spChg chg="mod">
          <ac:chgData name="Ingo Frommholz" userId="ee3b4549-206f-4e4f-93a1-b7ff676f0af7" providerId="ADAL" clId="{5F8971C4-3D52-5FAB-A951-9912A46CDBB0}" dt="2025-10-29T12:26:53.159" v="182" actId="1076"/>
          <ac:spMkLst>
            <pc:docMk/>
            <pc:sldMk cId="2788699760" sldId="519"/>
            <ac:spMk id="4" creationId="{17DB317F-4D39-4F2E-8849-9AFEFF108ABD}"/>
          </ac:spMkLst>
        </pc:spChg>
        <pc:spChg chg="mod">
          <ac:chgData name="Ingo Frommholz" userId="ee3b4549-206f-4e4f-93a1-b7ff676f0af7" providerId="ADAL" clId="{5F8971C4-3D52-5FAB-A951-9912A46CDBB0}" dt="2025-10-29T12:26:23.480" v="180"/>
          <ac:spMkLst>
            <pc:docMk/>
            <pc:sldMk cId="2788699760" sldId="519"/>
            <ac:spMk id="8" creationId="{21A8D102-1C16-49D0-9B80-8EAB675A9A7B}"/>
          </ac:spMkLst>
        </pc:spChg>
      </pc:sldChg>
      <pc:sldChg chg="modSp mod">
        <pc:chgData name="Ingo Frommholz" userId="ee3b4549-206f-4e4f-93a1-b7ff676f0af7" providerId="ADAL" clId="{5F8971C4-3D52-5FAB-A951-9912A46CDBB0}" dt="2025-10-29T12:31:01.013" v="200"/>
        <pc:sldMkLst>
          <pc:docMk/>
          <pc:sldMk cId="834931280" sldId="522"/>
        </pc:sldMkLst>
        <pc:spChg chg="mod">
          <ac:chgData name="Ingo Frommholz" userId="ee3b4549-206f-4e4f-93a1-b7ff676f0af7" providerId="ADAL" clId="{5F8971C4-3D52-5FAB-A951-9912A46CDBB0}" dt="2025-10-29T12:31:01.013" v="200"/>
          <ac:spMkLst>
            <pc:docMk/>
            <pc:sldMk cId="834931280" sldId="522"/>
            <ac:spMk id="8" creationId="{21A8D102-1C16-49D0-9B80-8EAB675A9A7B}"/>
          </ac:spMkLst>
        </pc:spChg>
      </pc:sldChg>
      <pc:sldChg chg="modSp mod">
        <pc:chgData name="Ingo Frommholz" userId="ee3b4549-206f-4e4f-93a1-b7ff676f0af7" providerId="ADAL" clId="{5F8971C4-3D52-5FAB-A951-9912A46CDBB0}" dt="2025-10-29T12:32:51.690" v="201" actId="113"/>
        <pc:sldMkLst>
          <pc:docMk/>
          <pc:sldMk cId="4234670050" sldId="534"/>
        </pc:sldMkLst>
        <pc:spChg chg="mod">
          <ac:chgData name="Ingo Frommholz" userId="ee3b4549-206f-4e4f-93a1-b7ff676f0af7" providerId="ADAL" clId="{5F8971C4-3D52-5FAB-A951-9912A46CDBB0}" dt="2025-10-29T12:32:51.690" v="201" actId="113"/>
          <ac:spMkLst>
            <pc:docMk/>
            <pc:sldMk cId="4234670050" sldId="534"/>
            <ac:spMk id="8" creationId="{21A8D102-1C16-49D0-9B80-8EAB675A9A7B}"/>
          </ac:spMkLst>
        </pc:spChg>
      </pc:sldChg>
      <pc:sldChg chg="modSp mod">
        <pc:chgData name="Ingo Frommholz" userId="ee3b4549-206f-4e4f-93a1-b7ff676f0af7" providerId="ADAL" clId="{5F8971C4-3D52-5FAB-A951-9912A46CDBB0}" dt="2025-10-29T13:32:54.223" v="218"/>
        <pc:sldMkLst>
          <pc:docMk/>
          <pc:sldMk cId="3966810098" sldId="535"/>
        </pc:sldMkLst>
        <pc:spChg chg="mod">
          <ac:chgData name="Ingo Frommholz" userId="ee3b4549-206f-4e4f-93a1-b7ff676f0af7" providerId="ADAL" clId="{5F8971C4-3D52-5FAB-A951-9912A46CDBB0}" dt="2025-10-29T13:32:54.223" v="218"/>
          <ac:spMkLst>
            <pc:docMk/>
            <pc:sldMk cId="3966810098" sldId="535"/>
            <ac:spMk id="8" creationId="{21A8D102-1C16-49D0-9B80-8EAB675A9A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3223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9306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8731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0291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826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0148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4098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6838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610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9686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4797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9568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0440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7381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3700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0401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3471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363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68607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66523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6766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69279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59806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27195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56474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58567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73584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00591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38401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69136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63846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27394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34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73200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51893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13865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20130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99068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73815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55662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32496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75623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00419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19762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70188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8850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13889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48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82505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420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008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50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5.xml"/><Relationship Id="rId3" Type="http://schemas.openxmlformats.org/officeDocument/2006/relationships/slide" Target="slide3.xml"/><Relationship Id="rId7" Type="http://schemas.openxmlformats.org/officeDocument/2006/relationships/slide" Target="slide3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2.xml"/><Relationship Id="rId5" Type="http://schemas.openxmlformats.org/officeDocument/2006/relationships/slide" Target="slide15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.9/library/functions.html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" y="1905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Fundamentals of Computer Science and Programming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1841930" y="5268389"/>
            <a:ext cx="5131625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5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Programming Part II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707901-CF88-4DD5-92F9-27B080708D9F}"/>
              </a:ext>
            </a:extLst>
          </p:cNvPr>
          <p:cNvSpPr txBox="1"/>
          <p:nvPr/>
        </p:nvSpPr>
        <p:spPr>
          <a:xfrm>
            <a:off x="457200" y="1701579"/>
            <a:ext cx="75338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Lists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Tuples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for loops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Some common mistakes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Input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while loops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8" action="ppaction://hlinksldjump"/>
              </a:rPr>
              <a:t>Putting it all together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8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Lists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List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30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Array (sequence) of elements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Ordered and mutable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Arbitrary data types for elements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[]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creates a list, elements are separated with commas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 = ['blue', 'red', 'green']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empty_list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= []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 access with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[]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index – 0 based!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colors[1] =&gt; 'red’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Reverse indexing: negative index (-1 is the index of the last element)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unit5.ipynb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119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Lists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298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Replacing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elements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Accesing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assigning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new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[0] = '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grey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'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Inserting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new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elements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At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end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append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colors.append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('orange‘)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At an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arbitrary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position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insert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colors.insert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(1, '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yellow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') </a:t>
            </a:r>
            <a:endParaRPr lang="de-DE" sz="1800" dirty="0">
              <a:solidFill>
                <a:schemeClr val="tx1"/>
              </a:solidFill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59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Lists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91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Deleting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elements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Basic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operation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del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index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del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[2]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Deleting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retrieving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pop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(last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removed_color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=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colors.pop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removed_color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=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colors.pop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(1)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Deleting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remove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colors.remove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('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grey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') 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Length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len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1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Indexing of lists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245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Python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sequences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including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start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0 ! (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recollect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also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numbers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= [1, 13, 42]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print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numbers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[3])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Indexing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[-1] 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returns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always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last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recollect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slicing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!)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IndexError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also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empty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General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hint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always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careful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indexing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!</a:t>
            </a: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[‘red’, ‘green’, ‘blue’</a:t>
            </a:r>
            <a:b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</a:b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0         1            2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A3832-D222-4D6B-A1C9-FF1BBDE35C5F}"/>
              </a:ext>
            </a:extLst>
          </p:cNvPr>
          <p:cNvSpPr txBox="1"/>
          <p:nvPr/>
        </p:nvSpPr>
        <p:spPr>
          <a:xfrm>
            <a:off x="3574737" y="2433161"/>
            <a:ext cx="5197407" cy="36718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=&gt; „</a:t>
            </a:r>
            <a:r>
              <a:rPr lang="en-US" sz="1800" b="0" strike="noStrike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IndexError</a:t>
            </a:r>
            <a:r>
              <a:rPr lang="en-US" sz="1800" b="0" strike="noStrike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 list index out of range“</a:t>
            </a:r>
            <a:endParaRPr lang="en-US" sz="1800" b="0" strike="noStrike" spc="-1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0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</a:t>
            </a:r>
            <a:r>
              <a:rPr lang="en-US" sz="2800" b="1" noProof="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ist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slicing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016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Recollect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slicing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slicing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uses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same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syntax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Strings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can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also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seen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!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Selected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slicing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operations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(check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slides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previous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unit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!):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items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[i]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i-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items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[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start:end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]    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Elements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start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(inclusive)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till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end (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exclusive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etc.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15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Membership operators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71576D60-D39F-4584-97E5-9EE0B8EF85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9275112"/>
              </p:ext>
            </p:extLst>
          </p:nvPr>
        </p:nvGraphicFramePr>
        <p:xfrm>
          <a:off x="352173" y="1585159"/>
          <a:ext cx="8439654" cy="2303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9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84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Operator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Description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Example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in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True, if element (or subsequence)</a:t>
                      </a:r>
                    </a:p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belongs to the object</a:t>
                      </a: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1 in </a:t>
                      </a:r>
                      <a:r>
                        <a:rPr lang="en-US" sz="1800" strike="noStrike" spc="-1" dirty="0" err="1">
                          <a:latin typeface="Consolas" panose="020B0609020204030204" pitchFamily="49" charset="0"/>
                        </a:rPr>
                        <a:t>number_list</a:t>
                      </a:r>
                      <a:endParaRPr lang="en-US" sz="1800" strike="noStrike" spc="-1" dirty="0"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[1, 2] in </a:t>
                      </a:r>
                      <a:r>
                        <a:rPr lang="en-US" sz="1800" strike="noStrike" spc="-1" dirty="0" err="1">
                          <a:latin typeface="Consolas" panose="020B0609020204030204" pitchFamily="49" charset="0"/>
                        </a:rPr>
                        <a:t>number_list</a:t>
                      </a:r>
                      <a:endParaRPr lang="en-US" sz="1800" strike="noStrike" spc="-1" dirty="0"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de-AT" sz="1800" strike="noStrike" spc="-1" dirty="0"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HELP</a:t>
                      </a:r>
                      <a:r>
                        <a:rPr lang="de-AT" sz="1800" strike="noStrike" spc="-1" dirty="0"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 in string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not in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True, if element (or subsequence) </a:t>
                      </a:r>
                    </a:p>
                    <a:p>
                      <a:r>
                        <a:rPr lang="en-US" sz="18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does not belong to the object</a:t>
                      </a: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1 not in </a:t>
                      </a:r>
                      <a:r>
                        <a:rPr lang="en-US" sz="1800" strike="noStrike" spc="-1" dirty="0" err="1">
                          <a:latin typeface="Consolas" panose="020B0609020204030204" pitchFamily="49" charset="0"/>
                        </a:rPr>
                        <a:t>number_list</a:t>
                      </a:r>
                      <a:endParaRPr lang="en-US" sz="1800" strike="noStrike" spc="-1" dirty="0"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de-AT" sz="1800" strike="noStrike" spc="-1" dirty="0">
                          <a:latin typeface="Consolas" panose="020B0609020204030204" pitchFamily="49" charset="0"/>
                        </a:rPr>
                        <a:t>'A'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de-AT" sz="1800" strike="noStrike" spc="-1" dirty="0"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de-AT" sz="1800" strike="noStrike" spc="-1" dirty="0"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] not in </a:t>
                      </a:r>
                      <a:r>
                        <a:rPr lang="en-US" sz="1800" strike="noStrike" spc="-1" dirty="0" err="1">
                          <a:latin typeface="Consolas" panose="020B0609020204030204" pitchFamily="49" charset="0"/>
                        </a:rPr>
                        <a:t>letter_list</a:t>
                      </a:r>
                      <a:endParaRPr lang="en-US" sz="1800" strike="noStrike" spc="-1" dirty="0">
                        <a:latin typeface="Consolas" panose="020B0609020204030204" pitchFamily="49" charset="0"/>
                      </a:endParaRPr>
                    </a:p>
                    <a:p>
                      <a:pPr algn="l"/>
                      <a:r>
                        <a:rPr lang="de-AT" sz="1800" strike="noStrike" spc="-1" dirty="0"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HELP</a:t>
                      </a:r>
                      <a:r>
                        <a:rPr lang="de-AT" sz="1800" strike="noStrike" spc="-1" dirty="0"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 not in </a:t>
                      </a:r>
                      <a:r>
                        <a:rPr lang="de-AT" sz="1800" strike="noStrike" spc="-1" dirty="0">
                          <a:latin typeface="Consolas" panose="020B0609020204030204" pitchFamily="49" charset="0"/>
                        </a:rPr>
                        <a:t>'Hello World'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113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Sorting of lists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599"/>
            <a:ext cx="8229600" cy="4187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Sorting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Permanent (in-place)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sorting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methode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sort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colors.sort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Temporary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returns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sorted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):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sorted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sorted_colors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=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sorted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Strings: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careful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capital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/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small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letters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Capital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letters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before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small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letters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alphabetically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Reversing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method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reverse() 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und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reversed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colors.reverse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reversed_colors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=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reversed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))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Equivalent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[::-1]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00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Numerical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lists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46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Generating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number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sequences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de-DE" sz="1800" b="1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these</a:t>
            </a:r>
            <a:r>
              <a:rPr lang="de-DE" sz="1800" b="1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</a:t>
            </a:r>
            <a:r>
              <a:rPr lang="de-DE" sz="1800" b="1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not </a:t>
            </a:r>
            <a:r>
              <a:rPr lang="de-DE" sz="1800" b="1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lists</a:t>
            </a:r>
            <a:r>
              <a:rPr lang="de-DE" sz="1800" b="1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!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):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range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Parameters (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similar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slicing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): 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Start (optional,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default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0), end,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step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size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(optional)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Start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inclusive, end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exclusive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Examples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range</a:t>
            </a:r>
            <a:r>
              <a:rPr lang="de-DE" sz="1800" dirty="0">
                <a:solidFill>
                  <a:schemeClr val="tx1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(4)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range</a:t>
            </a:r>
            <a:r>
              <a:rPr lang="de-DE" sz="1800" dirty="0">
                <a:solidFill>
                  <a:schemeClr val="tx1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(1,4)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range</a:t>
            </a:r>
            <a:r>
              <a:rPr lang="de-DE" sz="1800" dirty="0">
                <a:solidFill>
                  <a:schemeClr val="tx1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(1, 10, 3)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Generating a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range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object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range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())</a:t>
            </a: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86ED2E-381C-4ED5-8553-B1D0A4EA8D04}"/>
              </a:ext>
            </a:extLst>
          </p:cNvPr>
          <p:cNvSpPr txBox="1"/>
          <p:nvPr/>
        </p:nvSpPr>
        <p:spPr>
          <a:xfrm>
            <a:off x="3611880" y="3481088"/>
            <a:ext cx="2053114" cy="1055193"/>
          </a:xfrm>
          <a:prstGeom prst="rect">
            <a:avLst/>
          </a:prstGeom>
          <a:noFill/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ts val="1900"/>
              </a:lnSpc>
              <a:spcBef>
                <a:spcPts val="467"/>
              </a:spcBef>
              <a:spcAft>
                <a:spcPts val="467"/>
              </a:spcAft>
            </a:pPr>
            <a:r>
              <a:rPr lang="en-US" sz="1800" b="0" strike="noStrike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=&gt; 0, 1, 2, 3</a:t>
            </a:r>
            <a:endParaRPr lang="en-US" sz="1800" b="0" strike="noStrike" spc="-1" dirty="0"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spcBef>
                <a:spcPts val="467"/>
              </a:spcBef>
              <a:spcAft>
                <a:spcPts val="467"/>
              </a:spcAft>
            </a:pPr>
            <a:r>
              <a:rPr lang="en-US" sz="1800" b="0" strike="noStrike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=&gt; 1, 2, 3</a:t>
            </a:r>
            <a:endParaRPr lang="en-US" sz="1800" b="0" strike="noStrike" spc="-1" dirty="0"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spcBef>
                <a:spcPts val="467"/>
              </a:spcBef>
              <a:spcAft>
                <a:spcPts val="467"/>
              </a:spcAft>
            </a:pPr>
            <a:r>
              <a:rPr lang="en-US" sz="1800" b="0" strike="noStrike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=&gt; 1, 4, 7</a:t>
            </a:r>
            <a:endParaRPr lang="en-US" sz="1800" b="0" strike="noStrike" spc="-1" dirty="0">
              <a:highlight>
                <a:srgbClr val="DAE3F3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15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Basic statistics with 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lists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524288"/>
            <a:ext cx="8229600" cy="1330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Minimum: 	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min(</a:t>
            </a:r>
            <a:r>
              <a:rPr lang="de-AT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num_list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Maximum: 	</a:t>
            </a:r>
            <a:r>
              <a:rPr lang="de-AT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num_list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	 	</a:t>
            </a:r>
            <a:r>
              <a:rPr lang="de-AT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num_list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Average: 	</a:t>
            </a:r>
            <a:r>
              <a:rPr lang="de-AT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num_list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)/</a:t>
            </a:r>
            <a:r>
              <a:rPr lang="de-AT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AT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num_list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878F6A1-F982-469A-B335-1A62B07F58EE}"/>
              </a:ext>
            </a:extLst>
          </p:cNvPr>
          <p:cNvSpPr txBox="1"/>
          <p:nvPr/>
        </p:nvSpPr>
        <p:spPr>
          <a:xfrm>
            <a:off x="457200" y="1755619"/>
            <a:ext cx="4443413" cy="43037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05000" lvl="1">
              <a:spcBef>
                <a:spcPts val="1134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num_list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list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range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(3))</a:t>
            </a:r>
            <a:endParaRPr lang="en-US" sz="1800" spc="-1" dirty="0">
              <a:latin typeface="Consolas" panose="020B0609020204030204" pitchFamily="49" charset="0"/>
            </a:endParaRPr>
          </a:p>
          <a:p>
            <a:pPr marL="405000" lvl="1" indent="0">
              <a:spcBef>
                <a:spcPts val="1134"/>
              </a:spcBef>
              <a:buNone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02AC28B-2893-4AE8-BA77-77E9638D98AF}"/>
              </a:ext>
            </a:extLst>
          </p:cNvPr>
          <p:cNvSpPr txBox="1"/>
          <p:nvPr/>
        </p:nvSpPr>
        <p:spPr>
          <a:xfrm>
            <a:off x="5779824" y="1755619"/>
            <a:ext cx="2056870" cy="2099150"/>
          </a:xfrm>
          <a:prstGeom prst="rect">
            <a:avLst/>
          </a:prstGeom>
          <a:noFill/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900"/>
              </a:spcAft>
            </a:pPr>
            <a:r>
              <a:rPr lang="de-AT" sz="1800" b="0" strike="noStrike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=&gt; [0, 1, 2]</a:t>
            </a:r>
            <a:endParaRPr lang="en-US" sz="1800" spc="-1" dirty="0">
              <a:highlight>
                <a:srgbClr val="DAE3F3"/>
              </a:highlight>
              <a:latin typeface="Consolas" panose="020B0609020204030204" pitchFamily="49" charset="0"/>
              <a:ea typeface="Droid Sans Fallback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en-US" sz="1800" b="0" strike="noStrike" spc="-1" dirty="0"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spcBef>
                <a:spcPts val="283"/>
              </a:spcBef>
              <a:spcAft>
                <a:spcPts val="283"/>
              </a:spcAft>
            </a:pPr>
            <a:r>
              <a:rPr lang="de-AT" sz="1800" b="0" strike="noStrike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=&gt; 0</a:t>
            </a:r>
            <a:endParaRPr lang="en-US" sz="1800" b="0" strike="noStrike" spc="-1" dirty="0"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spcBef>
                <a:spcPts val="283"/>
              </a:spcBef>
              <a:spcAft>
                <a:spcPts val="283"/>
              </a:spcAft>
            </a:pPr>
            <a:r>
              <a:rPr lang="de-AT" sz="1800" b="0" strike="noStrike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=&gt; 2</a:t>
            </a:r>
            <a:endParaRPr lang="en-US" sz="1800" b="0" strike="noStrike" spc="-1" dirty="0"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spcBef>
                <a:spcPts val="283"/>
              </a:spcBef>
              <a:spcAft>
                <a:spcPts val="283"/>
              </a:spcAft>
            </a:pPr>
            <a:r>
              <a:rPr lang="de-AT" sz="1800" b="0" strike="noStrike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=&gt; 3</a:t>
            </a:r>
            <a:endParaRPr lang="en-US" sz="1800" b="0" strike="noStrike" spc="-1" dirty="0"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spcBef>
                <a:spcPts val="283"/>
              </a:spcBef>
              <a:spcAft>
                <a:spcPts val="283"/>
              </a:spcAft>
            </a:pPr>
            <a:r>
              <a:rPr lang="de-AT" sz="1800" b="0" strike="noStrike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=&gt; 1</a:t>
            </a:r>
            <a:endParaRPr lang="en-US" sz="1800" b="0" strike="noStrike" spc="-1" dirty="0">
              <a:highlight>
                <a:srgbClr val="DAE3F3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9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Tuples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605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Tuples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80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Ordered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immutable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Definition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separated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commas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Elements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accessed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index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[1]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Less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internal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overhead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than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(due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immutablility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Usage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examples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Associated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Fixed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sequences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When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data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stays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constant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len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unit5.ipynb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A7A8D3-4349-4ACD-AD60-A2CBF815969F}"/>
              </a:ext>
            </a:extLst>
          </p:cNvPr>
          <p:cNvSpPr txBox="1"/>
          <p:nvPr/>
        </p:nvSpPr>
        <p:spPr>
          <a:xfrm>
            <a:off x="1804688" y="5692411"/>
            <a:ext cx="5476712" cy="46010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base_colors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('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red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blue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green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')</a:t>
            </a:r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77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for loops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070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Basics of for loops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14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Iterating (traversing) sequences (e. g., lists)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each element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sequence: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 instructions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syntax for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loops:</a:t>
            </a:r>
          </a:p>
          <a:p>
            <a:pPr marL="457200" lvl="1" indent="0">
              <a:spcBef>
                <a:spcPts val="640"/>
              </a:spcBef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for item in </a:t>
            </a: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list_of_items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914400" lvl="2" indent="0">
              <a:spcBef>
                <a:spcPts val="640"/>
              </a:spcBef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print('This will be repeated.')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 (iterating) variables can have arbitrary names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Repeated code block with arbitrary number of instructions</a:t>
            </a:r>
          </a:p>
        </p:txBody>
      </p:sp>
    </p:spTree>
    <p:extLst>
      <p:ext uri="{BB962C8B-B14F-4D97-AF65-F5344CB8AC3E}">
        <p14:creationId xmlns:p14="http://schemas.microsoft.com/office/powerpoint/2010/main" val="2603200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 of a for loop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04E025-6CC7-44C4-AD79-69A4EA4376F3}"/>
              </a:ext>
            </a:extLst>
          </p:cNvPr>
          <p:cNvSpPr/>
          <p:nvPr/>
        </p:nvSpPr>
        <p:spPr>
          <a:xfrm>
            <a:off x="1042416" y="1417320"/>
            <a:ext cx="7001256" cy="1497196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lectures = ['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Maths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', 'English', 'Computer Science']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lecture in lectures: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love {lecture}')</a:t>
            </a:r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4326E094-0330-49EE-8C91-D471FA10F423}"/>
              </a:ext>
            </a:extLst>
          </p:cNvPr>
          <p:cNvSpPr txBox="1">
            <a:spLocks/>
          </p:cNvSpPr>
          <p:nvPr/>
        </p:nvSpPr>
        <p:spPr>
          <a:xfrm>
            <a:off x="734256" y="3034196"/>
            <a:ext cx="7443741" cy="2166447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5000" lvl="1">
              <a:spcBef>
                <a:spcPts val="561"/>
              </a:spcBef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AADCF7"/>
                </a:highlight>
                <a:latin typeface="Consolas" panose="020B0609020204030204" pitchFamily="49" charset="0"/>
                <a:ea typeface="Droid Sans Fallback"/>
              </a:rPr>
              <a:t>lectures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['Maths', 'English', 'Computer Science']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000" lvl="1">
              <a:spcBef>
                <a:spcPts val="561"/>
              </a:spcBef>
            </a:pP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000" lvl="1">
              <a:spcBef>
                <a:spcPts val="1128"/>
              </a:spcBef>
              <a:spcAft>
                <a:spcPts val="567"/>
              </a:spcAft>
            </a:pPr>
            <a:r>
              <a:rPr lang="de-AT" sz="1800" b="1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92E285"/>
                </a:highlight>
                <a:latin typeface="Consolas" panose="020B0609020204030204" pitchFamily="49" charset="0"/>
                <a:ea typeface="Droid Sans Fallback"/>
              </a:rPr>
              <a:t>lecture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in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AADCF7"/>
                </a:highlight>
                <a:latin typeface="Consolas" panose="020B0609020204030204" pitchFamily="49" charset="0"/>
                <a:ea typeface="Droid Sans Fallback"/>
              </a:rPr>
              <a:t>lectures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000" lvl="1">
              <a:spcBef>
                <a:spcPts val="1128"/>
              </a:spcBef>
              <a:spcAft>
                <a:spcPts val="567"/>
              </a:spcAft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de-AT" sz="1800" b="1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</a:t>
            </a:r>
            <a:r>
              <a:rPr lang="de-AT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f'I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love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{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92E285"/>
                </a:highlight>
                <a:latin typeface="Consolas" panose="020B0609020204030204" pitchFamily="49" charset="0"/>
                <a:ea typeface="Droid Sans Fallback"/>
              </a:rPr>
              <a:t>lecture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}'</a:t>
            </a:r>
            <a:r>
              <a:rPr lang="de-AT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)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000" lvl="1">
              <a:spcBef>
                <a:spcPts val="561"/>
              </a:spcBef>
            </a:pP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759536C-F9B7-4358-BCE5-D7318B68D81F}"/>
              </a:ext>
            </a:extLst>
          </p:cNvPr>
          <p:cNvSpPr txBox="1"/>
          <p:nvPr/>
        </p:nvSpPr>
        <p:spPr>
          <a:xfrm>
            <a:off x="5047608" y="3785350"/>
            <a:ext cx="3130390" cy="226540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de-AT" sz="1800" b="1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Legend</a:t>
            </a:r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de-AT" sz="1800" b="0" strike="noStrike" spc="-1" dirty="0" err="1">
                <a:solidFill>
                  <a:srgbClr val="0F0F0F"/>
                </a:solidFill>
                <a:highlight>
                  <a:srgbClr val="AADCF7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Iterated</a:t>
            </a:r>
            <a:r>
              <a:rPr lang="de-AT" sz="1800" b="0" strike="noStrike" spc="-1" dirty="0">
                <a:solidFill>
                  <a:srgbClr val="0F0F0F"/>
                </a:solidFill>
                <a:highlight>
                  <a:srgbClr val="AADCF7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AADCF7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de-AT" sz="1800" b="0" strike="noStrike" spc="-1" dirty="0" err="1">
                <a:solidFill>
                  <a:srgbClr val="0F0F0F"/>
                </a:solidFill>
                <a:highlight>
                  <a:srgbClr val="AADCF7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equence</a:t>
            </a:r>
            <a:r>
              <a:rPr lang="de-AT" sz="1800" b="0" strike="noStrike" spc="-1" dirty="0">
                <a:solidFill>
                  <a:srgbClr val="0F0F0F"/>
                </a:solidFill>
                <a:highlight>
                  <a:srgbClr val="AADCF7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 </a:t>
            </a:r>
            <a:r>
              <a:rPr lang="de-AT" sz="1800" spc="-1" dirty="0">
                <a:solidFill>
                  <a:srgbClr val="0F0F0F"/>
                </a:solidFill>
                <a:highlight>
                  <a:srgbClr val="AADCF7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de-AT" sz="1800" b="0" strike="noStrike" spc="-1" dirty="0">
                <a:solidFill>
                  <a:srgbClr val="0F0F0F"/>
                </a:solidFill>
                <a:highlight>
                  <a:srgbClr val="AADCF7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., a </a:t>
            </a:r>
            <a:r>
              <a:rPr lang="de-AT" sz="1800" b="0" strike="noStrike" spc="-1" dirty="0" err="1">
                <a:solidFill>
                  <a:srgbClr val="0F0F0F"/>
                </a:solidFill>
                <a:highlight>
                  <a:srgbClr val="AADCF7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b="0" strike="noStrike" spc="-1" dirty="0">
                <a:solidFill>
                  <a:srgbClr val="0F0F0F"/>
                </a:solidFill>
                <a:highlight>
                  <a:srgbClr val="AADCF7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de-AT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 </a:t>
            </a:r>
            <a:r>
              <a:rPr lang="de-AT" sz="1800" b="0" strike="noStrike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strike="noStrike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de-AT" sz="1800" b="0" strike="noStrike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equence</a:t>
            </a:r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de-AT" sz="1800" b="0" strike="noStrike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</a:t>
            </a:r>
            <a:r>
              <a:rPr lang="de-AT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de-AT" sz="1800" b="0" strike="noStrike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efinition</a:t>
            </a:r>
            <a:r>
              <a:rPr lang="de-AT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de-AT" sz="1800" b="0" strike="noStrike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yntax</a:t>
            </a:r>
            <a:r>
              <a:rPr lang="de-AT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Repeated</a:t>
            </a:r>
            <a:r>
              <a:rPr lang="de-AT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de-AT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ode block</a:t>
            </a:r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de-AT" sz="1800" spc="-1" dirty="0">
                <a:solidFill>
                  <a:srgbClr val="0F0F0F"/>
                </a:solidFill>
                <a:highlight>
                  <a:srgbClr val="92E285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Running (</a:t>
            </a:r>
            <a:r>
              <a:rPr lang="de-AT" sz="1800" b="0" strike="noStrike" spc="-1" dirty="0">
                <a:solidFill>
                  <a:srgbClr val="0F0F0F"/>
                </a:solidFill>
                <a:highlight>
                  <a:srgbClr val="92E285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loop) </a:t>
            </a:r>
            <a:r>
              <a:rPr lang="de-AT" sz="1800" spc="-1" dirty="0">
                <a:solidFill>
                  <a:srgbClr val="0F0F0F"/>
                </a:solidFill>
                <a:highlight>
                  <a:srgbClr val="92E285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de-AT" sz="1800" b="0" strike="noStrike" spc="-1" dirty="0">
                <a:solidFill>
                  <a:srgbClr val="0F0F0F"/>
                </a:solidFill>
                <a:highlight>
                  <a:srgbClr val="92E285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ariable</a:t>
            </a:r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422CF5F-E741-486A-B0DD-1A5A74CADDCC}"/>
              </a:ext>
            </a:extLst>
          </p:cNvPr>
          <p:cNvSpPr/>
          <p:nvPr/>
        </p:nvSpPr>
        <p:spPr>
          <a:xfrm>
            <a:off x="1042416" y="3034196"/>
            <a:ext cx="6887147" cy="5162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80F7B81-9C70-448F-9CD2-A8B43EB5707E}"/>
              </a:ext>
            </a:extLst>
          </p:cNvPr>
          <p:cNvSpPr/>
          <p:nvPr/>
        </p:nvSpPr>
        <p:spPr>
          <a:xfrm>
            <a:off x="1042416" y="3899289"/>
            <a:ext cx="3915347" cy="407193"/>
          </a:xfrm>
          <a:prstGeom prst="rect">
            <a:avLst/>
          </a:prstGeom>
          <a:noFill/>
          <a:ln w="54720">
            <a:solidFill>
              <a:srgbClr val="FF1A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9E82B52-F1B7-432E-AD11-8405EC905592}"/>
              </a:ext>
            </a:extLst>
          </p:cNvPr>
          <p:cNvSpPr/>
          <p:nvPr/>
        </p:nvSpPr>
        <p:spPr>
          <a:xfrm>
            <a:off x="1042416" y="4374529"/>
            <a:ext cx="3915347" cy="407193"/>
          </a:xfrm>
          <a:prstGeom prst="rect">
            <a:avLst/>
          </a:prstGeom>
          <a:noFill/>
          <a:ln w="54720">
            <a:solidFill>
              <a:srgbClr val="18B2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237A551-CEFE-4953-B220-DC80BCCBF23D}"/>
              </a:ext>
            </a:extLst>
          </p:cNvPr>
          <p:cNvSpPr/>
          <p:nvPr/>
        </p:nvSpPr>
        <p:spPr>
          <a:xfrm>
            <a:off x="5047607" y="4877712"/>
            <a:ext cx="2878356" cy="319320"/>
          </a:xfrm>
          <a:prstGeom prst="rect">
            <a:avLst/>
          </a:prstGeom>
          <a:noFill/>
          <a:ln w="54720">
            <a:solidFill>
              <a:srgbClr val="FF1A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36AF0C4-2B5F-4129-8BD4-85C9C70AAD65}"/>
              </a:ext>
            </a:extLst>
          </p:cNvPr>
          <p:cNvSpPr/>
          <p:nvPr/>
        </p:nvSpPr>
        <p:spPr>
          <a:xfrm>
            <a:off x="5047607" y="5260752"/>
            <a:ext cx="2878356" cy="299520"/>
          </a:xfrm>
          <a:prstGeom prst="rect">
            <a:avLst/>
          </a:prstGeom>
          <a:noFill/>
          <a:ln w="54720">
            <a:solidFill>
              <a:srgbClr val="18B2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EF664F3-C82E-4003-A955-C5D0DB124E04}"/>
              </a:ext>
            </a:extLst>
          </p:cNvPr>
          <p:cNvSpPr/>
          <p:nvPr/>
        </p:nvSpPr>
        <p:spPr>
          <a:xfrm>
            <a:off x="5047607" y="4531392"/>
            <a:ext cx="2878356" cy="27432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2127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for loops: counting with range()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04E025-6CC7-44C4-AD79-69A4EA4376F3}"/>
              </a:ext>
            </a:extLst>
          </p:cNvPr>
          <p:cNvSpPr/>
          <p:nvPr/>
        </p:nvSpPr>
        <p:spPr>
          <a:xfrm>
            <a:off x="1042416" y="2010252"/>
            <a:ext cx="7001256" cy="101869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print('Count from one to ten!')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number in range(1, 11):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print(number)</a:t>
            </a:r>
          </a:p>
        </p:txBody>
      </p:sp>
    </p:spTree>
    <p:extLst>
      <p:ext uri="{BB962C8B-B14F-4D97-AF65-F5344CB8AC3E}">
        <p14:creationId xmlns:p14="http://schemas.microsoft.com/office/powerpoint/2010/main" val="2617719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for loops: elements and indices with enumerate()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04E025-6CC7-44C4-AD79-69A4EA4376F3}"/>
              </a:ext>
            </a:extLst>
          </p:cNvPr>
          <p:cNvSpPr/>
          <p:nvPr/>
        </p:nvSpPr>
        <p:spPr>
          <a:xfrm>
            <a:off x="1042416" y="2010252"/>
            <a:ext cx="7001256" cy="147589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lectures = ['Maths', 'English', 'Computer Science']</a:t>
            </a:r>
          </a:p>
          <a:p>
            <a:endParaRPr lang="en-US" sz="1800" spc="-1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for index, lecture in enumerate(lectures):</a:t>
            </a: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    print(f'Lecture {index}: {lecture}')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372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for loops: iterating over strings (spelling)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04E025-6CC7-44C4-AD79-69A4EA4376F3}"/>
              </a:ext>
            </a:extLst>
          </p:cNvPr>
          <p:cNvSpPr/>
          <p:nvPr/>
        </p:nvSpPr>
        <p:spPr>
          <a:xfrm>
            <a:off x="1042416" y="2010252"/>
            <a:ext cx="7001256" cy="1261586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string = 'Fundamentals of CS and programming'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char in string: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print(char)</a:t>
            </a:r>
          </a:p>
        </p:txBody>
      </p:sp>
    </p:spTree>
    <p:extLst>
      <p:ext uri="{BB962C8B-B14F-4D97-AF65-F5344CB8AC3E}">
        <p14:creationId xmlns:p14="http://schemas.microsoft.com/office/powerpoint/2010/main" val="2439604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Keywords for flow control in 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loops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599"/>
            <a:ext cx="8229600" cy="339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pass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Empty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doing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nothing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break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loop and jump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after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loop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Immediate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termination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loop 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continue</a:t>
            </a:r>
            <a:endParaRPr lang="de-DE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Jump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Immediate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termination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unit5.ipynb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990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Some common mistakes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822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Syntax of for loops (also if and while)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04E025-6CC7-44C4-AD79-69A4EA4376F3}"/>
              </a:ext>
            </a:extLst>
          </p:cNvPr>
          <p:cNvSpPr/>
          <p:nvPr/>
        </p:nvSpPr>
        <p:spPr>
          <a:xfrm>
            <a:off x="1071372" y="1818800"/>
            <a:ext cx="7001256" cy="2360294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[1, 13, 42]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item in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print(item)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File "&lt;stdin&gt;", line 1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for item in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            ^</a:t>
            </a: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SyntaxError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 invalid syntax</a:t>
            </a:r>
          </a:p>
        </p:txBody>
      </p:sp>
    </p:spTree>
    <p:extLst>
      <p:ext uri="{BB962C8B-B14F-4D97-AF65-F5344CB8AC3E}">
        <p14:creationId xmlns:p14="http://schemas.microsoft.com/office/powerpoint/2010/main" val="1849017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Wrong indentation with loops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04E025-6CC7-44C4-AD79-69A4EA4376F3}"/>
              </a:ext>
            </a:extLst>
          </p:cNvPr>
          <p:cNvSpPr/>
          <p:nvPr/>
        </p:nvSpPr>
        <p:spPr>
          <a:xfrm>
            <a:off x="1071372" y="1818800"/>
            <a:ext cx="7001256" cy="2668904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[1, 13, 42]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item in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print(item)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File "&lt;stdin&gt;", line 2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print(item)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^</a:t>
            </a: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IndentationError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 expected an indented block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308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Indentation errors again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04E025-6CC7-44C4-AD79-69A4EA4376F3}"/>
              </a:ext>
            </a:extLst>
          </p:cNvPr>
          <p:cNvSpPr/>
          <p:nvPr/>
        </p:nvSpPr>
        <p:spPr>
          <a:xfrm>
            <a:off x="1071372" y="1818800"/>
            <a:ext cx="7001256" cy="2360294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[1, 13, 42]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f'Here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is index 0: {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[0]}')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File "&lt;stdin&gt;", line 1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f'Here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is index 0: {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[0]}')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^</a:t>
            </a: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IndentationError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 unexpected indent</a:t>
            </a:r>
          </a:p>
        </p:txBody>
      </p:sp>
    </p:spTree>
    <p:extLst>
      <p:ext uri="{BB962C8B-B14F-4D97-AF65-F5344CB8AC3E}">
        <p14:creationId xmlns:p14="http://schemas.microsoft.com/office/powerpoint/2010/main" val="2104892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Logical indentation errors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04E025-6CC7-44C4-AD79-69A4EA4376F3}"/>
              </a:ext>
            </a:extLst>
          </p:cNvPr>
          <p:cNvSpPr/>
          <p:nvPr/>
        </p:nvSpPr>
        <p:spPr>
          <a:xfrm>
            <a:off x="1071372" y="1818799"/>
            <a:ext cx="7001256" cy="323183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[13, 42]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item in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f'Here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comes the next item… {item}')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print('These were all items!')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Here comes the next item… 13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These were all items!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Here comes the next item… 42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These were all items!</a:t>
            </a:r>
          </a:p>
        </p:txBody>
      </p:sp>
    </p:spTree>
    <p:extLst>
      <p:ext uri="{BB962C8B-B14F-4D97-AF65-F5344CB8AC3E}">
        <p14:creationId xmlns:p14="http://schemas.microsoft.com/office/powerpoint/2010/main" val="2852230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Wrong use of the loop variable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04E025-6CC7-44C4-AD79-69A4EA4376F3}"/>
              </a:ext>
            </a:extLst>
          </p:cNvPr>
          <p:cNvSpPr/>
          <p:nvPr/>
        </p:nvSpPr>
        <p:spPr>
          <a:xfrm>
            <a:off x="1071372" y="1818800"/>
            <a:ext cx="7001256" cy="2946082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[1, 13, 42]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item in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item_list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print('Here comes the next item…')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f'Here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it is: {item}'}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Here comes the next item…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Here comes the next item…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Here comes the next item…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Here it is: 42</a:t>
            </a:r>
          </a:p>
        </p:txBody>
      </p:sp>
    </p:spTree>
    <p:extLst>
      <p:ext uri="{BB962C8B-B14F-4D97-AF65-F5344CB8AC3E}">
        <p14:creationId xmlns:p14="http://schemas.microsoft.com/office/powerpoint/2010/main" val="3706776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1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ser input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599"/>
            <a:ext cx="8229600" cy="1823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Rading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keyboard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7DB317F-4D39-4F2E-8849-9AFEFF108ABD}"/>
              </a:ext>
            </a:extLst>
          </p:cNvPr>
          <p:cNvSpPr/>
          <p:nvPr/>
        </p:nvSpPr>
        <p:spPr>
          <a:xfrm>
            <a:off x="1042416" y="3429000"/>
            <a:ext cx="7001256" cy="720969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name = input('Tell me your name!')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f'Oh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, hi {name}!')</a:t>
            </a:r>
          </a:p>
        </p:txBody>
      </p:sp>
    </p:spTree>
    <p:extLst>
      <p:ext uri="{BB962C8B-B14F-4D97-AF65-F5344CB8AC3E}">
        <p14:creationId xmlns:p14="http://schemas.microsoft.com/office/powerpoint/2010/main" val="2168681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Correcting user input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599"/>
            <a:ext cx="8229600" cy="238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Frequently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corrected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Trimming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whitespaces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 g.,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strip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Casting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appropriate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type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 and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lower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upper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(), title()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etc.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unit5.ipynb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7DB317F-4D39-4F2E-8849-9AFEFF108ABD}"/>
              </a:ext>
            </a:extLst>
          </p:cNvPr>
          <p:cNvSpPr/>
          <p:nvPr/>
        </p:nvSpPr>
        <p:spPr>
          <a:xfrm>
            <a:off x="1071372" y="4174125"/>
            <a:ext cx="7001256" cy="1086339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name = input('Tell me your name! ')</a:t>
            </a:r>
            <a:b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</a:b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corrected_name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name.strip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corrected_name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corrected_name.title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88699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while loops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852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Basics of </a:t>
            </a: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while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loops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325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Executing instruction while condition is satisfied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in other words: as long as condition is satisfied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LONG AS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condition satisfied: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 instructions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syntax for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loops:</a:t>
            </a:r>
          </a:p>
          <a:p>
            <a:pPr marL="457200" lvl="1" indent="0">
              <a:spcBef>
                <a:spcPts val="640"/>
              </a:spcBef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while condition:</a:t>
            </a:r>
          </a:p>
          <a:p>
            <a:pPr marL="914400" lvl="2" indent="0">
              <a:spcBef>
                <a:spcPts val="640"/>
              </a:spcBef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print('Running')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explicit loop (iterating) variable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Repeated code block with arbitrary number of instructions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02B2802-A57B-4E50-AC08-C59CD2FB5FCF}"/>
              </a:ext>
            </a:extLst>
          </p:cNvPr>
          <p:cNvSpPr/>
          <p:nvPr/>
        </p:nvSpPr>
        <p:spPr>
          <a:xfrm>
            <a:off x="3472668" y="4931508"/>
            <a:ext cx="2140751" cy="1463892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x = 0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while x &lt; 3: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print(x)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x = x + 1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print(x)</a:t>
            </a:r>
          </a:p>
        </p:txBody>
      </p:sp>
    </p:spTree>
    <p:extLst>
      <p:ext uri="{BB962C8B-B14F-4D97-AF65-F5344CB8AC3E}">
        <p14:creationId xmlns:p14="http://schemas.microsoft.com/office/powerpoint/2010/main" val="2941859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Combination of </a:t>
            </a: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while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loops with user input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user for input as long as the user enters a specific input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Controlling through flags, which are typically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9A69FF9-0194-4302-BF6D-E1625E8F1DA6}"/>
              </a:ext>
            </a:extLst>
          </p:cNvPr>
          <p:cNvSpPr/>
          <p:nvPr/>
        </p:nvSpPr>
        <p:spPr>
          <a:xfrm>
            <a:off x="1071372" y="2748600"/>
            <a:ext cx="7001256" cy="136080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user_input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''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while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user_input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!= 'quit':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user_input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input('What are you saying?') 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user_input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0668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Infinite loops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1360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runs forever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while True: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quit the loop use a termination condition and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break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unit5.ipynb notebook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9A69FF9-0194-4302-BF6D-E1625E8F1DA6}"/>
              </a:ext>
            </a:extLst>
          </p:cNvPr>
          <p:cNvSpPr/>
          <p:nvPr/>
        </p:nvSpPr>
        <p:spPr>
          <a:xfrm>
            <a:off x="1071372" y="3135925"/>
            <a:ext cx="7001256" cy="156893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while True: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user_input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input('What are you saying?') 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user_input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if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user_input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== 'quit':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break</a:t>
            </a:r>
          </a:p>
        </p:txBody>
      </p:sp>
    </p:spTree>
    <p:extLst>
      <p:ext uri="{BB962C8B-B14F-4D97-AF65-F5344CB8AC3E}">
        <p14:creationId xmlns:p14="http://schemas.microsoft.com/office/powerpoint/2010/main" val="834931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Putting it all together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587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80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Suppose we collect some experimental data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Measurements of temperature, air pressure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data of e.g., video games, music, movies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Prices of houses, apartments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etc.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many such cases we have associations between variables</a:t>
            </a:r>
            <a:endParaRPr lang="en-US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is associated with the air pressure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Music sales are associated with the movie sales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 price is associated with the area of the house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288066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716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Typically we will plot the data first to explore the associations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2B7CFD7-A48A-45AC-97EF-725BB3188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0" y="2160000"/>
            <a:ext cx="5266955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05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6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Next, we can fit a curve to data to represent the association, e.g., we can fit a line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A8005D-1DC5-4217-AF49-FE7C79BF2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0" y="2160000"/>
            <a:ext cx="5266955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62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6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But, what is the “best” line to fit?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8A4DAD2-5554-4EC5-B0F6-879ECA024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0" y="2160000"/>
            <a:ext cx="5266955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1573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6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But, what is the “best” line to fit?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69D8656-3A51-4D7D-9915-471D925EB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0" y="2160000"/>
            <a:ext cx="5266955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557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6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But, what is the “best” line to fit?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ADC72F7-F9D4-438B-AA8C-68E22F054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0" y="2160000"/>
            <a:ext cx="5266955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0679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599"/>
                <a:ext cx="8229600" cy="4722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are approximating the data with a line and need to measure the approx. error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There are multiple ways of how to measure error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But, we can start with a basic approach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line represents prediction of house prices as a function of the area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True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Predictions: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acc>
                    <m:r>
                      <a:rPr lang="de-AT" sz="1800" b="0" i="1" baseline="-250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de-AT" sz="1800" b="0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endParaRPr lang="de-AT" sz="18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acc>
                    <m:r>
                      <a:rPr lang="de-AT" sz="1800" i="1" baseline="-2500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sum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data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points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both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positive and negative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will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sum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squares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Squared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AT" sz="18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acc>
                    <m:r>
                      <a:rPr lang="de-AT" sz="1800" i="1" baseline="-2500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  <m:r>
                      <a:rPr lang="de-AT" sz="1800" b="0" i="1" baseline="300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2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Total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2286000" lvl="5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sz="18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J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de-AT" sz="18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de-AT" sz="1800" i="1" baseline="-250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de-AT" sz="18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  <m:r>
                            <a:rPr lang="de-AT" sz="1800" i="1" baseline="300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599"/>
                <a:ext cx="8229600" cy="4722630"/>
              </a:xfrm>
              <a:prstGeom prst="rect">
                <a:avLst/>
              </a:prstGeom>
              <a:blipFill>
                <a:blip r:embed="rId3"/>
                <a:stretch>
                  <a:fillRect l="-1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4130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6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 of squared errors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84728BF-F29D-4649-B894-2AC8AD024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0" y="2160000"/>
            <a:ext cx="5266955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334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6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 of squared errors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97491A2-371B-48AE-B4EB-AEDDBE257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0" y="2160000"/>
            <a:ext cx="5266955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602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6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 of squared errors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6878F8-B83F-471E-9703-2DF817BC4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0" y="2160000"/>
            <a:ext cx="5266955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589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Example: fitting a line to data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599"/>
                <a:ext cx="8229600" cy="3837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Lines have a slope (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and an intercept (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Hence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predictions are: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acc>
                    <m:r>
                      <a:rPr lang="de-AT" sz="1800" b="0" i="1" baseline="-250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sSub>
                      <m:sSub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</m:sub>
                    </m:sSub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Total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expressed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2286000" lvl="5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 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𝑏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)= </m:t>
                      </m:r>
                      <m:nary>
                        <m:naryPr>
                          <m:chr m:val="∑"/>
                          <m:ctrlP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de-AT" sz="18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de-AT" sz="1800" i="1" baseline="-250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de-AT" sz="18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  <m:r>
                            <a:rPr lang="de-AT" sz="1800" i="1" baseline="300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286000" lvl="5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 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𝑏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)= </m:t>
                      </m:r>
                      <m:nary>
                        <m:naryPr>
                          <m:chr m:val="∑"/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de-AT" sz="18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+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𝑏</m:t>
                          </m:r>
                          <m:r>
                            <a:rPr lang="de-AT" sz="18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  <m:r>
                            <a:rPr lang="de-AT" sz="1800" i="1" baseline="300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would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like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select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estimate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such a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way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minimal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known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least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square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method</a:t>
                </a:r>
                <a:endParaRPr lang="de-AT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algorithm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called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gradient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descent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minimize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endParaRPr lang="de-AT" sz="18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599"/>
                <a:ext cx="8229600" cy="3837258"/>
              </a:xfrm>
              <a:prstGeom prst="rect">
                <a:avLst/>
              </a:prstGeom>
              <a:blipFill>
                <a:blip r:embed="rId3"/>
                <a:stretch>
                  <a:fillRect l="-154" b="-49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670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Gradient descent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827DB8D-C0A7-42A4-83E7-CD08CDDBC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66" y="1234434"/>
            <a:ext cx="5852172" cy="4389129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8EA7388-B97A-4141-964F-94477EAC3E87}"/>
              </a:ext>
            </a:extLst>
          </p:cNvPr>
          <p:cNvCxnSpPr>
            <a:cxnSpLocks/>
          </p:cNvCxnSpPr>
          <p:nvPr/>
        </p:nvCxnSpPr>
        <p:spPr>
          <a:xfrm flipV="1">
            <a:off x="6246074" y="1658203"/>
            <a:ext cx="605102" cy="1428149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96610F17-8A21-46E0-B4DC-322C3DEE53E8}"/>
              </a:ext>
            </a:extLst>
          </p:cNvPr>
          <p:cNvCxnSpPr/>
          <p:nvPr/>
        </p:nvCxnSpPr>
        <p:spPr>
          <a:xfrm flipH="1">
            <a:off x="2378467" y="4984653"/>
            <a:ext cx="2164577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632CD02-AFFE-4B76-ACBF-0369CF8FADE8}"/>
              </a:ext>
            </a:extLst>
          </p:cNvPr>
          <p:cNvCxnSpPr>
            <a:cxnSpLocks/>
          </p:cNvCxnSpPr>
          <p:nvPr/>
        </p:nvCxnSpPr>
        <p:spPr>
          <a:xfrm flipV="1">
            <a:off x="4515503" y="4991477"/>
            <a:ext cx="1" cy="14400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B9F0995-1109-43D4-8935-2DFE9453A5D4}"/>
                  </a:ext>
                </a:extLst>
              </p:cNvPr>
              <p:cNvSpPr txBox="1"/>
              <p:nvPr/>
            </p:nvSpPr>
            <p:spPr>
              <a:xfrm>
                <a:off x="4276117" y="5142300"/>
                <a:ext cx="6008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</m:oMath>
                  </m:oMathPara>
                </a14:m>
                <a:endParaRPr lang="de-AT" b="1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B9F0995-1109-43D4-8935-2DFE9453A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117" y="5142300"/>
                <a:ext cx="60087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1D02353E-E461-476F-936A-01C22C58E66E}"/>
                  </a:ext>
                </a:extLst>
              </p:cNvPr>
              <p:cNvSpPr txBox="1"/>
              <p:nvPr/>
            </p:nvSpPr>
            <p:spPr>
              <a:xfrm>
                <a:off x="1587523" y="4827700"/>
                <a:ext cx="84933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AT" b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1D02353E-E461-476F-936A-01C22C58E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523" y="4827700"/>
                <a:ext cx="849335" cy="307777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881BA078-1737-4A36-85D1-F2484E2FCA71}"/>
              </a:ext>
            </a:extLst>
          </p:cNvPr>
          <p:cNvSpPr txBox="1"/>
          <p:nvPr/>
        </p:nvSpPr>
        <p:spPr>
          <a:xfrm>
            <a:off x="5557723" y="2862432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guess</a:t>
            </a:r>
            <a:endParaRPr lang="de-AT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Verbinder: gekrümmt 20">
            <a:extLst>
              <a:ext uri="{FF2B5EF4-FFF2-40B4-BE49-F238E27FC236}">
                <a16:creationId xmlns:a16="http://schemas.microsoft.com/office/drawing/2014/main" id="{CCDD2D51-413B-46A0-BCBF-2CB064765477}"/>
              </a:ext>
            </a:extLst>
          </p:cNvPr>
          <p:cNvCxnSpPr>
            <a:cxnSpLocks/>
          </p:cNvCxnSpPr>
          <p:nvPr/>
        </p:nvCxnSpPr>
        <p:spPr>
          <a:xfrm rot="9360000" flipV="1">
            <a:off x="5956401" y="3257045"/>
            <a:ext cx="579343" cy="294898"/>
          </a:xfrm>
          <a:prstGeom prst="curvedConnector3">
            <a:avLst>
              <a:gd name="adj1" fmla="val -20339"/>
            </a:avLst>
          </a:prstGeom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0C7B279-107F-4BD8-AB62-203F5041045E}"/>
              </a:ext>
            </a:extLst>
          </p:cNvPr>
          <p:cNvCxnSpPr>
            <a:cxnSpLocks/>
          </p:cNvCxnSpPr>
          <p:nvPr/>
        </p:nvCxnSpPr>
        <p:spPr>
          <a:xfrm flipV="1">
            <a:off x="5973417" y="3657016"/>
            <a:ext cx="0" cy="1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83B9D1D3-C63D-4257-A0C3-9A51A10E0C1C}"/>
              </a:ext>
            </a:extLst>
          </p:cNvPr>
          <p:cNvSpPr txBox="1"/>
          <p:nvPr/>
        </p:nvSpPr>
        <p:spPr>
          <a:xfrm>
            <a:off x="4808324" y="3428999"/>
            <a:ext cx="10839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</a:t>
            </a:r>
            <a:r>
              <a:rPr lang="de-DE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guess</a:t>
            </a:r>
            <a:endParaRPr lang="de-AT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6B30AEDF-8876-4FC2-9C98-892A05AB0320}"/>
              </a:ext>
            </a:extLst>
          </p:cNvPr>
          <p:cNvCxnSpPr>
            <a:cxnSpLocks/>
          </p:cNvCxnSpPr>
          <p:nvPr/>
        </p:nvCxnSpPr>
        <p:spPr>
          <a:xfrm flipV="1">
            <a:off x="5964913" y="2754573"/>
            <a:ext cx="501633" cy="902442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387A8B8B-43FE-4922-921E-8F71C26463C9}"/>
              </a:ext>
            </a:extLst>
          </p:cNvPr>
          <p:cNvSpPr txBox="1"/>
          <p:nvPr/>
        </p:nvSpPr>
        <p:spPr>
          <a:xfrm>
            <a:off x="6515476" y="2561394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DE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</a:t>
            </a:r>
            <a:endParaRPr lang="de-AT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B5D290BC-4F1C-4360-A5A5-E4E893C4908A}"/>
              </a:ext>
            </a:extLst>
          </p:cNvPr>
          <p:cNvSpPr txBox="1"/>
          <p:nvPr/>
        </p:nvSpPr>
        <p:spPr>
          <a:xfrm>
            <a:off x="6838527" y="1601968"/>
            <a:ext cx="901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</a:t>
            </a:r>
            <a:endParaRPr lang="de-AT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" name="Verbinder: gekrümmt 53">
            <a:extLst>
              <a:ext uri="{FF2B5EF4-FFF2-40B4-BE49-F238E27FC236}">
                <a16:creationId xmlns:a16="http://schemas.microsoft.com/office/drawing/2014/main" id="{33EFD6AA-4C97-4043-9DB5-6ED29CE6363F}"/>
              </a:ext>
            </a:extLst>
          </p:cNvPr>
          <p:cNvCxnSpPr>
            <a:cxnSpLocks/>
          </p:cNvCxnSpPr>
          <p:nvPr/>
        </p:nvCxnSpPr>
        <p:spPr>
          <a:xfrm rot="9360000" flipV="1">
            <a:off x="5601456" y="3832377"/>
            <a:ext cx="579343" cy="294898"/>
          </a:xfrm>
          <a:prstGeom prst="curvedConnector3">
            <a:avLst>
              <a:gd name="adj1" fmla="val -20339"/>
            </a:avLst>
          </a:prstGeom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673D33F1-6BF7-4C29-A8BC-8D7FFC290634}"/>
              </a:ext>
            </a:extLst>
          </p:cNvPr>
          <p:cNvCxnSpPr>
            <a:cxnSpLocks/>
          </p:cNvCxnSpPr>
          <p:nvPr/>
        </p:nvCxnSpPr>
        <p:spPr>
          <a:xfrm flipV="1">
            <a:off x="5674726" y="3319801"/>
            <a:ext cx="598506" cy="854055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0AD520DF-0321-4E5B-9E68-2389AA3D67EF}"/>
              </a:ext>
            </a:extLst>
          </p:cNvPr>
          <p:cNvSpPr txBox="1"/>
          <p:nvPr/>
        </p:nvSpPr>
        <p:spPr>
          <a:xfrm>
            <a:off x="4515503" y="3964081"/>
            <a:ext cx="10839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</a:t>
            </a:r>
            <a:r>
              <a:rPr lang="de-DE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guess</a:t>
            </a:r>
            <a:endParaRPr lang="de-AT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B156F6E6-EE83-4E9E-8C59-17BA3F483FB1}"/>
              </a:ext>
            </a:extLst>
          </p:cNvPr>
          <p:cNvSpPr txBox="1"/>
          <p:nvPr/>
        </p:nvSpPr>
        <p:spPr>
          <a:xfrm>
            <a:off x="6246072" y="3150524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DE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</a:t>
            </a:r>
            <a:endParaRPr lang="de-AT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ADF2DBAF-10AC-43E4-BA55-7354BE059493}"/>
              </a:ext>
            </a:extLst>
          </p:cNvPr>
          <p:cNvCxnSpPr>
            <a:cxnSpLocks/>
          </p:cNvCxnSpPr>
          <p:nvPr/>
        </p:nvCxnSpPr>
        <p:spPr>
          <a:xfrm flipV="1">
            <a:off x="4744057" y="4957496"/>
            <a:ext cx="0" cy="1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3CF288E9-9C02-4C82-A949-3C91862BD5E1}"/>
              </a:ext>
            </a:extLst>
          </p:cNvPr>
          <p:cNvCxnSpPr>
            <a:cxnSpLocks/>
          </p:cNvCxnSpPr>
          <p:nvPr/>
        </p:nvCxnSpPr>
        <p:spPr>
          <a:xfrm flipV="1">
            <a:off x="5191097" y="4693336"/>
            <a:ext cx="0" cy="1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29A55663-0EEF-4BB5-B040-269AF894BB89}"/>
              </a:ext>
            </a:extLst>
          </p:cNvPr>
          <p:cNvCxnSpPr>
            <a:cxnSpLocks/>
          </p:cNvCxnSpPr>
          <p:nvPr/>
        </p:nvCxnSpPr>
        <p:spPr>
          <a:xfrm flipV="1">
            <a:off x="4566257" y="4977816"/>
            <a:ext cx="0" cy="1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BB19F8C3-CEDE-4903-A0D0-FBC7F3431A41}"/>
              </a:ext>
            </a:extLst>
          </p:cNvPr>
          <p:cNvCxnSpPr>
            <a:cxnSpLocks/>
          </p:cNvCxnSpPr>
          <p:nvPr/>
        </p:nvCxnSpPr>
        <p:spPr>
          <a:xfrm flipV="1">
            <a:off x="4942177" y="4881296"/>
            <a:ext cx="0" cy="1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FDD3063B-DBA9-41D3-83EB-85C5DA674303}"/>
              </a:ext>
            </a:extLst>
          </p:cNvPr>
          <p:cNvCxnSpPr>
            <a:cxnSpLocks/>
          </p:cNvCxnSpPr>
          <p:nvPr/>
        </p:nvCxnSpPr>
        <p:spPr>
          <a:xfrm flipV="1">
            <a:off x="5440017" y="4464736"/>
            <a:ext cx="0" cy="1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Verbinder: gekrümmt 64">
            <a:extLst>
              <a:ext uri="{FF2B5EF4-FFF2-40B4-BE49-F238E27FC236}">
                <a16:creationId xmlns:a16="http://schemas.microsoft.com/office/drawing/2014/main" id="{B104B2C9-BA41-436D-8AC1-03847814A21C}"/>
              </a:ext>
            </a:extLst>
          </p:cNvPr>
          <p:cNvCxnSpPr>
            <a:cxnSpLocks noChangeAspect="1"/>
          </p:cNvCxnSpPr>
          <p:nvPr/>
        </p:nvCxnSpPr>
        <p:spPr>
          <a:xfrm rot="9900000" flipV="1">
            <a:off x="5472716" y="4310930"/>
            <a:ext cx="318638" cy="162194"/>
          </a:xfrm>
          <a:prstGeom prst="curvedConnector3">
            <a:avLst>
              <a:gd name="adj1" fmla="val -20339"/>
            </a:avLst>
          </a:prstGeom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Verbinder: gekrümmt 65">
            <a:extLst>
              <a:ext uri="{FF2B5EF4-FFF2-40B4-BE49-F238E27FC236}">
                <a16:creationId xmlns:a16="http://schemas.microsoft.com/office/drawing/2014/main" id="{D4F277F2-5659-4C9D-A88D-6EE7E2C9C889}"/>
              </a:ext>
            </a:extLst>
          </p:cNvPr>
          <p:cNvCxnSpPr>
            <a:cxnSpLocks noChangeAspect="1"/>
          </p:cNvCxnSpPr>
          <p:nvPr/>
        </p:nvCxnSpPr>
        <p:spPr>
          <a:xfrm rot="10200000" flipV="1">
            <a:off x="5227224" y="4565188"/>
            <a:ext cx="254910" cy="129755"/>
          </a:xfrm>
          <a:prstGeom prst="curvedConnector3">
            <a:avLst>
              <a:gd name="adj1" fmla="val -20339"/>
            </a:avLst>
          </a:prstGeom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Verbinder: gekrümmt 66">
            <a:extLst>
              <a:ext uri="{FF2B5EF4-FFF2-40B4-BE49-F238E27FC236}">
                <a16:creationId xmlns:a16="http://schemas.microsoft.com/office/drawing/2014/main" id="{A9A8D51C-72BF-492D-B611-8D168398AA80}"/>
              </a:ext>
            </a:extLst>
          </p:cNvPr>
          <p:cNvCxnSpPr>
            <a:cxnSpLocks noChangeAspect="1"/>
          </p:cNvCxnSpPr>
          <p:nvPr/>
        </p:nvCxnSpPr>
        <p:spPr>
          <a:xfrm rot="10260000" flipV="1">
            <a:off x="5026279" y="4791647"/>
            <a:ext cx="191183" cy="97316"/>
          </a:xfrm>
          <a:prstGeom prst="curvedConnector3">
            <a:avLst>
              <a:gd name="adj1" fmla="val -20339"/>
            </a:avLst>
          </a:prstGeom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Verbinder: gekrümmt 67">
            <a:extLst>
              <a:ext uri="{FF2B5EF4-FFF2-40B4-BE49-F238E27FC236}">
                <a16:creationId xmlns:a16="http://schemas.microsoft.com/office/drawing/2014/main" id="{58A1E248-0B53-4F42-9B0D-C14A43B6C083}"/>
              </a:ext>
            </a:extLst>
          </p:cNvPr>
          <p:cNvCxnSpPr>
            <a:cxnSpLocks noChangeAspect="1"/>
          </p:cNvCxnSpPr>
          <p:nvPr/>
        </p:nvCxnSpPr>
        <p:spPr>
          <a:xfrm rot="11280000" flipV="1">
            <a:off x="4783814" y="4927761"/>
            <a:ext cx="191183" cy="97316"/>
          </a:xfrm>
          <a:prstGeom prst="curvedConnector3">
            <a:avLst>
              <a:gd name="adj1" fmla="val -20339"/>
            </a:avLst>
          </a:prstGeom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Verbinder: gekrümmt 69">
            <a:extLst>
              <a:ext uri="{FF2B5EF4-FFF2-40B4-BE49-F238E27FC236}">
                <a16:creationId xmlns:a16="http://schemas.microsoft.com/office/drawing/2014/main" id="{584E1F86-3F9C-4068-AA18-BC81DBA8F2C8}"/>
              </a:ext>
            </a:extLst>
          </p:cNvPr>
          <p:cNvCxnSpPr>
            <a:cxnSpLocks noChangeAspect="1"/>
          </p:cNvCxnSpPr>
          <p:nvPr/>
        </p:nvCxnSpPr>
        <p:spPr>
          <a:xfrm rot="12780000" flipV="1">
            <a:off x="4552585" y="5001336"/>
            <a:ext cx="191183" cy="97316"/>
          </a:xfrm>
          <a:prstGeom prst="curvedConnector3">
            <a:avLst>
              <a:gd name="adj1" fmla="val -20339"/>
            </a:avLst>
          </a:prstGeom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1" name="Textfeld 70">
            <a:extLst>
              <a:ext uri="{FF2B5EF4-FFF2-40B4-BE49-F238E27FC236}">
                <a16:creationId xmlns:a16="http://schemas.microsoft.com/office/drawing/2014/main" id="{E42E55FC-AD9B-4B6B-AF2B-A79616248804}"/>
              </a:ext>
            </a:extLst>
          </p:cNvPr>
          <p:cNvSpPr txBox="1"/>
          <p:nvPr/>
        </p:nvSpPr>
        <p:spPr>
          <a:xfrm>
            <a:off x="4318821" y="4587066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</a:t>
            </a:r>
            <a:endParaRPr lang="de-AT" sz="16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6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6" grpId="0"/>
      <p:bldP spid="48" grpId="0"/>
      <p:bldP spid="52" grpId="0"/>
      <p:bldP spid="52" grpId="1"/>
      <p:bldP spid="53" grpId="0"/>
      <p:bldP spid="53" grpId="1"/>
      <p:bldP spid="57" grpId="0"/>
      <p:bldP spid="58" grpId="0"/>
      <p:bldP spid="58" grpId="1"/>
      <p:bldP spid="7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Gradient descent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598"/>
                <a:ext cx="8229600" cy="44686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compute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gradient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(partial) derivatives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𝐽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respect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286000" lvl="5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𝜕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𝐽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𝑎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 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𝑏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𝜕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𝑎</m:t>
                          </m:r>
                        </m:den>
                      </m:f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𝑏</m:t>
                              </m:r>
                              <m:r>
                                <a:rPr lang="de-AT" sz="18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de-AT" sz="18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286000" lvl="5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𝜕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𝐽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𝑎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 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𝑏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𝜕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𝑏</m:t>
                          </m:r>
                        </m:den>
                      </m:f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𝑏</m:t>
                              </m:r>
                              <m:r>
                                <a:rPr lang="de-AT" sz="18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„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guess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check“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algorithm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minimize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800100" lvl="1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gues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compute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00100" lvl="1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update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going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direction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opposite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gradient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00100" lvl="1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compute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new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check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whether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reduced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00100" lvl="1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reduced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repeat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1,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otherwise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done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!</a:t>
                </a:r>
              </a:p>
              <a:p>
                <a:pPr marL="342900" indent="-34290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See unit5.ipynb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notebook</a:t>
                </a:r>
                <a:endParaRPr lang="de-AT" sz="18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598"/>
                <a:ext cx="8229600" cy="4468631"/>
              </a:xfrm>
              <a:prstGeom prst="rect">
                <a:avLst/>
              </a:prstGeom>
              <a:blipFill>
                <a:blip r:embed="rId3"/>
                <a:stretch>
                  <a:fillRect l="-154" t="-2550" b="-14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8100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0495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605600"/>
            <a:ext cx="8229600" cy="32316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Task 1: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Calculate the sum of a list or a tuple and print the resulting sum. Solve this problem:</a:t>
            </a: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without using sum() for lists or tuples,</a:t>
            </a: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with using sum(). </a:t>
            </a:r>
          </a:p>
          <a:p>
            <a:pPr lvl="0">
              <a:defRPr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Ad 2) There are for a lot of simple tasks already built in functions in python: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https://docs.python.org/3.9/library/functions.html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defRPr/>
            </a:pP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[1,2,3] -&gt; 6</a:t>
            </a:r>
          </a:p>
          <a:p>
            <a:pPr lvl="0">
              <a:defRPr/>
            </a:pP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(6, 90, 10, 15, 114, 25, 18, 91, 51) -&gt; 420</a:t>
            </a:r>
          </a:p>
          <a:p>
            <a:pPr lvl="0">
              <a:defRPr/>
            </a:pP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[63, 100, 48, 79, 4, 85, 26, 84, 16, 73, 58, 78, 87, 198, 321, 17] -&gt; 1337</a:t>
            </a:r>
            <a:endParaRPr lang="de-DE" dirty="0"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658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61938" y="1605600"/>
                <a:ext cx="8229600" cy="237513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Task 2: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Compute </a:t>
                </a:r>
                <a:r>
                  <a:rPr lang="en-US" sz="18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nested_sum</a:t>
                </a:r>
                <a:r>
                  <a:rPr lang="en-US" sz="18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that works on a list of lists of integers and adds up the elements from all of the nested lists. Test your code by initializing at least three integer lists.</a:t>
                </a:r>
              </a:p>
              <a:p>
                <a:pPr lvl="0">
                  <a:defRPr/>
                </a:pP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lvl="0"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3: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Implement the exhaustive enumeration algorithm for finding the cube root of a number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x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entered by the user. Use the error tolerance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and a step size appropriate for that error tolerance. Output the solution and the number of steps that the algorithm needed to find the solution.</a:t>
                </a:r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8" y="1605600"/>
                <a:ext cx="8229600" cy="2375137"/>
              </a:xfrm>
              <a:prstGeom prst="rect">
                <a:avLst/>
              </a:prstGeom>
              <a:blipFill>
                <a:blip r:embed="rId3"/>
                <a:stretch>
                  <a:fillRect l="-667" t="-1282" r="-1111" b="-256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98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2481</Words>
  <Application>Microsoft Macintosh PowerPoint</Application>
  <PresentationFormat>On-screen Show (4:3)</PresentationFormat>
  <Paragraphs>424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Calibri</vt:lpstr>
      <vt:lpstr>Cambria Math</vt:lpstr>
      <vt:lpstr>Wingdings</vt:lpstr>
      <vt:lpstr>Blackadder ITC</vt:lpstr>
      <vt:lpstr>Consolas</vt:lpstr>
      <vt:lpstr>Arial</vt:lpstr>
      <vt:lpstr>Office Theme</vt:lpstr>
      <vt:lpstr>Fundamentals of Computer Science and Programming </vt:lpstr>
      <vt:lpstr>Outline</vt:lpstr>
      <vt:lpstr>Lists</vt:lpstr>
      <vt:lpstr>Lists</vt:lpstr>
      <vt:lpstr>Lists</vt:lpstr>
      <vt:lpstr>Lists</vt:lpstr>
      <vt:lpstr>Indexing of lists</vt:lpstr>
      <vt:lpstr>List slicing</vt:lpstr>
      <vt:lpstr>Membership operators</vt:lpstr>
      <vt:lpstr>Sorting of lists</vt:lpstr>
      <vt:lpstr>Numerical lists</vt:lpstr>
      <vt:lpstr>Basic statistics with lists</vt:lpstr>
      <vt:lpstr>Tuples</vt:lpstr>
      <vt:lpstr>Tuples</vt:lpstr>
      <vt:lpstr>for loops</vt:lpstr>
      <vt:lpstr>Basics of for loops</vt:lpstr>
      <vt:lpstr>Example of a for loop</vt:lpstr>
      <vt:lpstr>for loops: counting with range()</vt:lpstr>
      <vt:lpstr>for loops: elements and indices with enumerate()</vt:lpstr>
      <vt:lpstr>for loops: iterating over strings (spelling)</vt:lpstr>
      <vt:lpstr>Keywords for flow control in loops</vt:lpstr>
      <vt:lpstr>Some common mistakes</vt:lpstr>
      <vt:lpstr>Syntax of for loops (also if and while)</vt:lpstr>
      <vt:lpstr>Wrong indentation with loops</vt:lpstr>
      <vt:lpstr>Indentation errors again</vt:lpstr>
      <vt:lpstr>Logical indentation errors</vt:lpstr>
      <vt:lpstr>Wrong use of the loop variable</vt:lpstr>
      <vt:lpstr>Input</vt:lpstr>
      <vt:lpstr>User input</vt:lpstr>
      <vt:lpstr>Correcting user input</vt:lpstr>
      <vt:lpstr>while loops</vt:lpstr>
      <vt:lpstr>Basics of while loops</vt:lpstr>
      <vt:lpstr>Combination of while loops with user input</vt:lpstr>
      <vt:lpstr>Infinite loops</vt:lpstr>
      <vt:lpstr>Putting it all together</vt:lpstr>
      <vt:lpstr>Example: fitting a line to data</vt:lpstr>
      <vt:lpstr>Example: fitting a line to data</vt:lpstr>
      <vt:lpstr>Example: fitting a line to data</vt:lpstr>
      <vt:lpstr>Example: fitting a line to data</vt:lpstr>
      <vt:lpstr>Example: fitting a line to data</vt:lpstr>
      <vt:lpstr>Example: fitting a line to data</vt:lpstr>
      <vt:lpstr>Example: fitting a line to data</vt:lpstr>
      <vt:lpstr>Example: fitting a line to data</vt:lpstr>
      <vt:lpstr>Example: fitting a line to data</vt:lpstr>
      <vt:lpstr>Example: fitting a line to data</vt:lpstr>
      <vt:lpstr>Example: fitting a line to data</vt:lpstr>
      <vt:lpstr>Gradient descent</vt:lpstr>
      <vt:lpstr>Gradient descent</vt:lpstr>
      <vt:lpstr>Exercise</vt:lpstr>
      <vt:lpstr>Student task</vt:lpstr>
      <vt:lpstr>Student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957</cp:revision>
  <dcterms:modified xsi:type="dcterms:W3CDTF">2025-10-30T16:47:28Z</dcterms:modified>
</cp:coreProperties>
</file>