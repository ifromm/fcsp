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embedTrueTypeFonts="1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408" r:id="rId3"/>
    <p:sldId id="499" r:id="rId4"/>
    <p:sldId id="559" r:id="rId5"/>
    <p:sldId id="575" r:id="rId6"/>
    <p:sldId id="576" r:id="rId7"/>
    <p:sldId id="553" r:id="rId8"/>
    <p:sldId id="577" r:id="rId9"/>
    <p:sldId id="578" r:id="rId10"/>
    <p:sldId id="579" r:id="rId11"/>
    <p:sldId id="580" r:id="rId12"/>
    <p:sldId id="581" r:id="rId13"/>
    <p:sldId id="552" r:id="rId14"/>
    <p:sldId id="468" r:id="rId15"/>
    <p:sldId id="547" r:id="rId16"/>
    <p:sldId id="582" r:id="rId17"/>
    <p:sldId id="583" r:id="rId18"/>
    <p:sldId id="584" r:id="rId19"/>
    <p:sldId id="585" r:id="rId20"/>
    <p:sldId id="586" r:id="rId21"/>
    <p:sldId id="587" r:id="rId22"/>
    <p:sldId id="588" r:id="rId23"/>
    <p:sldId id="589" r:id="rId24"/>
    <p:sldId id="590" r:id="rId25"/>
    <p:sldId id="591" r:id="rId26"/>
    <p:sldId id="592" r:id="rId27"/>
    <p:sldId id="593" r:id="rId28"/>
    <p:sldId id="594" r:id="rId29"/>
    <p:sldId id="554" r:id="rId30"/>
    <p:sldId id="565" r:id="rId31"/>
    <p:sldId id="523" r:id="rId32"/>
    <p:sldId id="461" r:id="rId33"/>
  </p:sldIdLst>
  <p:sldSz cx="9144000" cy="6858000" type="screen4x3"/>
  <p:notesSz cx="7099300" cy="10234613"/>
  <p:embeddedFontLst>
    <p:embeddedFont>
      <p:font typeface="Blackadder ITC" pitchFamily="82" charset="77"/>
      <p:regular r:id="rId35"/>
    </p:embeddedFont>
    <p:embeddedFont>
      <p:font typeface="Cambria Math" panose="02040503050406030204" pitchFamily="18" charset="0"/>
      <p:regular r:id="rId36"/>
    </p:embeddedFont>
    <p:embeddedFont>
      <p:font typeface="Consolas" panose="020B0609020204030204" pitchFamily="49" charset="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83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80" roundtripDataSignature="AMtx7milieXwv5OUJdQk1cj/252aZuXcI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E3F3"/>
    <a:srgbClr val="32CD32"/>
    <a:srgbClr val="1E90FF"/>
    <a:srgbClr val="D3242A"/>
    <a:srgbClr val="EDEDED"/>
    <a:srgbClr val="F8D7CD"/>
    <a:srgbClr val="FCECE8"/>
    <a:srgbClr val="ED7D31"/>
    <a:srgbClr val="E2F0D9"/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F2046C9-5CA7-6749-A58F-6F62A7ACF621}" v="38" dt="2025-11-11T20:28:27.25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A107856-5554-42FB-B03E-39F5DBC370BA}" styleName="Mittlere Formatvorlage 4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 autoAdjust="0"/>
    <p:restoredTop sz="94670" autoAdjust="0"/>
  </p:normalViewPr>
  <p:slideViewPr>
    <p:cSldViewPr snapToGrid="0">
      <p:cViewPr varScale="1">
        <p:scale>
          <a:sx n="107" d="100"/>
          <a:sy n="107" d="100"/>
        </p:scale>
        <p:origin x="184" y="384"/>
      </p:cViewPr>
      <p:guideLst>
        <p:guide orient="horz" pos="2183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84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82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81" Type="http://schemas.openxmlformats.org/officeDocument/2006/relationships/presProps" Target="presProps.xml"/><Relationship Id="rId86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8" Type="http://schemas.openxmlformats.org/officeDocument/2006/relationships/slide" Target="slides/slide7.xml"/><Relationship Id="rId80" Type="http://customschemas.google.com/relationships/presentationmetadata" Target="metadata"/><Relationship Id="rId85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Relationship Id="rId20" Type="http://schemas.openxmlformats.org/officeDocument/2006/relationships/slide" Target="slides/slide19.xml"/><Relationship Id="rId83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go Frommholz" userId="ee3b4549-206f-4e4f-93a1-b7ff676f0af7" providerId="ADAL" clId="{5F8971C4-3D52-5FAB-A951-9912A46CDBB0}"/>
    <pc:docChg chg="modSld">
      <pc:chgData name="Ingo Frommholz" userId="ee3b4549-206f-4e4f-93a1-b7ff676f0af7" providerId="ADAL" clId="{5F8971C4-3D52-5FAB-A951-9912A46CDBB0}" dt="2025-11-11T20:28:27.254" v="74"/>
      <pc:docMkLst>
        <pc:docMk/>
      </pc:docMkLst>
      <pc:sldChg chg="modSp mod">
        <pc:chgData name="Ingo Frommholz" userId="ee3b4549-206f-4e4f-93a1-b7ff676f0af7" providerId="ADAL" clId="{5F8971C4-3D52-5FAB-A951-9912A46CDBB0}" dt="2025-11-11T20:28:02.199" v="73" actId="1076"/>
        <pc:sldMkLst>
          <pc:docMk/>
          <pc:sldMk cId="2688265821" sldId="461"/>
        </pc:sldMkLst>
        <pc:spChg chg="mod">
          <ac:chgData name="Ingo Frommholz" userId="ee3b4549-206f-4e4f-93a1-b7ff676f0af7" providerId="ADAL" clId="{5F8971C4-3D52-5FAB-A951-9912A46CDBB0}" dt="2025-11-11T20:27:51.269" v="71" actId="1035"/>
          <ac:spMkLst>
            <pc:docMk/>
            <pc:sldMk cId="2688265821" sldId="461"/>
            <ac:spMk id="4" creationId="{B1AB2DE2-BFB4-403B-9976-58C0812A00AF}"/>
          </ac:spMkLst>
        </pc:spChg>
        <pc:picChg chg="mod">
          <ac:chgData name="Ingo Frommholz" userId="ee3b4549-206f-4e4f-93a1-b7ff676f0af7" providerId="ADAL" clId="{5F8971C4-3D52-5FAB-A951-9912A46CDBB0}" dt="2025-11-11T20:28:02.199" v="73" actId="1076"/>
          <ac:picMkLst>
            <pc:docMk/>
            <pc:sldMk cId="2688265821" sldId="461"/>
            <ac:picMk id="5" creationId="{28473CBD-85AF-4157-A662-59704A522582}"/>
          </ac:picMkLst>
        </pc:picChg>
      </pc:sldChg>
      <pc:sldChg chg="modSp">
        <pc:chgData name="Ingo Frommholz" userId="ee3b4549-206f-4e4f-93a1-b7ff676f0af7" providerId="ADAL" clId="{5F8971C4-3D52-5FAB-A951-9912A46CDBB0}" dt="2025-11-11T20:26:05.241" v="35"/>
        <pc:sldMkLst>
          <pc:docMk/>
          <pc:sldMk cId="1270159388" sldId="565"/>
        </pc:sldMkLst>
        <pc:spChg chg="mod">
          <ac:chgData name="Ingo Frommholz" userId="ee3b4549-206f-4e4f-93a1-b7ff676f0af7" providerId="ADAL" clId="{5F8971C4-3D52-5FAB-A951-9912A46CDBB0}" dt="2025-11-11T20:26:05.241" v="35"/>
          <ac:spMkLst>
            <pc:docMk/>
            <pc:sldMk cId="1270159388" sldId="565"/>
            <ac:spMk id="6" creationId="{E702544F-B557-4280-BAC4-9E0BD0616E05}"/>
          </ac:spMkLst>
        </pc:spChg>
      </pc:sldChg>
      <pc:sldChg chg="modSp">
        <pc:chgData name="Ingo Frommholz" userId="ee3b4549-206f-4e4f-93a1-b7ff676f0af7" providerId="ADAL" clId="{5F8971C4-3D52-5FAB-A951-9912A46CDBB0}" dt="2025-11-11T20:28:27.254" v="74"/>
        <pc:sldMkLst>
          <pc:docMk/>
          <pc:sldMk cId="3429029213" sldId="581"/>
        </pc:sldMkLst>
        <pc:spChg chg="mod">
          <ac:chgData name="Ingo Frommholz" userId="ee3b4549-206f-4e4f-93a1-b7ff676f0af7" providerId="ADAL" clId="{5F8971C4-3D52-5FAB-A951-9912A46CDBB0}" dt="2025-11-11T20:28:27.254" v="74"/>
          <ac:spMkLst>
            <pc:docMk/>
            <pc:sldMk cId="3429029213" sldId="581"/>
            <ac:spMk id="4" creationId="{22DB4709-7D3A-4C1D-8995-5771CCF24D43}"/>
          </ac:spMkLst>
        </pc:spChg>
      </pc:sldChg>
      <pc:sldChg chg="modSp">
        <pc:chgData name="Ingo Frommholz" userId="ee3b4549-206f-4e4f-93a1-b7ff676f0af7" providerId="ADAL" clId="{5F8971C4-3D52-5FAB-A951-9912A46CDBB0}" dt="2025-11-11T20:25:20.659" v="1" actId="20577"/>
        <pc:sldMkLst>
          <pc:docMk/>
          <pc:sldMk cId="372976994" sldId="588"/>
        </pc:sldMkLst>
        <pc:spChg chg="mod">
          <ac:chgData name="Ingo Frommholz" userId="ee3b4549-206f-4e4f-93a1-b7ff676f0af7" providerId="ADAL" clId="{5F8971C4-3D52-5FAB-A951-9912A46CDBB0}" dt="2025-11-11T20:25:20.659" v="1" actId="20577"/>
          <ac:spMkLst>
            <pc:docMk/>
            <pc:sldMk cId="372976994" sldId="588"/>
            <ac:spMk id="10" creationId="{B415F276-B698-4ECF-99BC-B038EFE2C743}"/>
          </ac:spMkLst>
        </pc:spChg>
      </pc:sldChg>
      <pc:sldChg chg="modSp modAnim">
        <pc:chgData name="Ingo Frommholz" userId="ee3b4549-206f-4e4f-93a1-b7ff676f0af7" providerId="ADAL" clId="{5F8971C4-3D52-5FAB-A951-9912A46CDBB0}" dt="2025-11-11T20:25:50.273" v="34" actId="20577"/>
        <pc:sldMkLst>
          <pc:docMk/>
          <pc:sldMk cId="7853090" sldId="593"/>
        </pc:sldMkLst>
        <pc:spChg chg="mod">
          <ac:chgData name="Ingo Frommholz" userId="ee3b4549-206f-4e4f-93a1-b7ff676f0af7" providerId="ADAL" clId="{5F8971C4-3D52-5FAB-A951-9912A46CDBB0}" dt="2025-11-11T20:25:50.273" v="34" actId="20577"/>
          <ac:spMkLst>
            <pc:docMk/>
            <pc:sldMk cId="7853090" sldId="593"/>
            <ac:spMk id="8" creationId="{21A8D102-1C16-49D0-9B80-8EAB675A9A7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932237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030285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544336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71348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6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087411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772174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213919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799283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168347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477775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12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638621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793068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460927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987122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928192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678096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5377878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7305406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4990852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074374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6333248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349018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5364969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896056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3927071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5542655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28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6277549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356558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30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8825056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24420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2286000" y="338760"/>
            <a:ext cx="6399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AB9558B-27C5-4CC8-9685-151D67DE7720}"/>
              </a:ext>
            </a:extLst>
          </p:cNvPr>
          <p:cNvSpPr txBox="1"/>
          <p:nvPr userDrawn="1"/>
        </p:nvSpPr>
        <p:spPr>
          <a:xfrm>
            <a:off x="8180614" y="6470198"/>
            <a:ext cx="1232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  <a:t>‹#›</a:t>
            </a:fld>
            <a:r>
              <a:rPr lang="de-AT" dirty="0">
                <a:solidFill>
                  <a:schemeClr val="bg1"/>
                </a:solidFill>
              </a:rPr>
              <a:t> / 31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g61e8dd047e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g61e8dd047e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61e8dd047e_0_0"/>
          <p:cNvSpPr/>
          <p:nvPr/>
        </p:nvSpPr>
        <p:spPr>
          <a:xfrm>
            <a:off x="3657600" y="1481760"/>
            <a:ext cx="1842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7" Type="http://schemas.openxmlformats.org/officeDocument/2006/relationships/slide" Target="slide3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9.xml"/><Relationship Id="rId5" Type="http://schemas.openxmlformats.org/officeDocument/2006/relationships/slide" Target="slide13.xml"/><Relationship Id="rId4" Type="http://schemas.openxmlformats.org/officeDocument/2006/relationships/slide" Target="slide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#set-types-set-frozenset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eg"/><Relationship Id="rId3" Type="http://schemas.openxmlformats.org/officeDocument/2006/relationships/hyperlink" Target="https://en.wikipedia.org/wiki/Fibonacci_number" TargetMode="External"/><Relationship Id="rId7" Type="http://schemas.openxmlformats.org/officeDocument/2006/relationships/image" Target="../media/image2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helic/focsp/blob/main/notebooks/unit7_exercise.ipynb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" y="19050"/>
            <a:ext cx="9144000" cy="6858046"/>
          </a:xfrm>
          <a:prstGeom prst="rect">
            <a:avLst/>
          </a:prstGeom>
          <a:solidFill>
            <a:srgbClr val="D3242A"/>
          </a:solidFill>
          <a:ln>
            <a:noFill/>
          </a:ln>
        </p:spPr>
      </p:pic>
      <p:sp>
        <p:nvSpPr>
          <p:cNvPr id="79" name="Google Shape;79;p1"/>
          <p:cNvSpPr txBox="1">
            <a:spLocks noGrp="1"/>
          </p:cNvSpPr>
          <p:nvPr>
            <p:ph type="title"/>
          </p:nvPr>
        </p:nvSpPr>
        <p:spPr>
          <a:xfrm>
            <a:off x="353192" y="4030874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rPr lang="en-US" sz="4400" b="1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Fundamentals of Computer Science and Programming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 lang="en-US" sz="4400" b="1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"/>
          <p:cNvSpPr txBox="1">
            <a:spLocks noGrp="1"/>
          </p:cNvSpPr>
          <p:nvPr>
            <p:ph type="body" idx="1"/>
          </p:nvPr>
        </p:nvSpPr>
        <p:spPr>
          <a:xfrm>
            <a:off x="1841930" y="5268389"/>
            <a:ext cx="5131625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spcBef>
                <a:spcPts val="0"/>
              </a:spcBef>
              <a:buSzPts val="800"/>
            </a:pP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Unit 7</a:t>
            </a:r>
            <a:r>
              <a:rPr lang="en-US" sz="3200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lang="en-US" sz="3200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Programming Part IV</a:t>
            </a:r>
            <a:endParaRPr lang="en-US" sz="3200" b="0" i="0" u="none" strike="noStrike" cap="none" noProof="0" dirty="0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5EBE914-4CDA-45B5-B72B-D9613B9F4C3F}"/>
              </a:ext>
            </a:extLst>
          </p:cNvPr>
          <p:cNvSpPr/>
          <p:nvPr/>
        </p:nvSpPr>
        <p:spPr>
          <a:xfrm>
            <a:off x="8147261" y="6409467"/>
            <a:ext cx="702051" cy="316357"/>
          </a:xfrm>
          <a:prstGeom prst="rect">
            <a:avLst/>
          </a:prstGeom>
          <a:solidFill>
            <a:srgbClr val="D324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Outline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7707901-CF88-4DD5-92F9-27B080708D9F}"/>
              </a:ext>
            </a:extLst>
          </p:cNvPr>
          <p:cNvSpPr txBox="1"/>
          <p:nvPr/>
        </p:nvSpPr>
        <p:spPr>
          <a:xfrm>
            <a:off x="457200" y="1701579"/>
            <a:ext cx="75338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3" action="ppaction://hlinksldjump"/>
              </a:rPr>
              <a:t>Sets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4" action="ppaction://hlinksldjump"/>
              </a:rPr>
              <a:t>Dictionaries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5" action="ppaction://hlinksldjump"/>
              </a:rPr>
              <a:t>Recursions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6" action="ppaction://hlinksldjump"/>
              </a:rPr>
              <a:t>Examples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7" action="ppaction://hlinksldjump"/>
              </a:rPr>
              <a:t>Exercise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Sets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518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Basics of sets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438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Unordered collection of </a:t>
            </a:r>
            <a:r>
              <a:rPr lang="en-US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unique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elements 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Equivalent to mathematical sets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 duplicates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Definition with </a:t>
            </a:r>
            <a:r>
              <a:rPr lang="en-US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{}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or </a:t>
            </a:r>
            <a:r>
              <a:rPr lang="en-US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set()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Empty set: </a:t>
            </a:r>
            <a:r>
              <a:rPr lang="en-US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empty = set()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When to use sets?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Quick checks for element membership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Removing of duplicates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Mathematical set operations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...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 direct access to elements via indexing (sets are unordered)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Number of elements: </a:t>
            </a: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len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39FE531-0789-4F62-ACBA-68FF1E83033B}"/>
              </a:ext>
            </a:extLst>
          </p:cNvPr>
          <p:cNvSpPr/>
          <p:nvPr/>
        </p:nvSpPr>
        <p:spPr>
          <a:xfrm>
            <a:off x="4475220" y="2829967"/>
            <a:ext cx="4211580" cy="719173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colors     = {'blue', 'red'}    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characters = set('Hello, World')</a:t>
            </a:r>
          </a:p>
        </p:txBody>
      </p:sp>
    </p:spTree>
    <p:extLst>
      <p:ext uri="{BB962C8B-B14F-4D97-AF65-F5344CB8AC3E}">
        <p14:creationId xmlns:p14="http://schemas.microsoft.com/office/powerpoint/2010/main" val="28695943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Basics of sets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767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Adding elements to sets	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Individual elements: 	</a:t>
            </a: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colors.add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('red')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Multiple elements: 	</a:t>
            </a: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colors.update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(['orange', 'black'])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Deleting elements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 membership check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colors.remove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('blue')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Without membership check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colors.discard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('blue')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Deleting all elements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colors.clear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679471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Set operations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466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Intersection (AND)	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x.intersection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(y) 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or 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x &amp; y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Union (OR)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x.union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(y) 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or 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x | y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Membership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'b' in y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Difference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x – y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Further operations: 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hlinkClick r:id="rId3"/>
              </a:rPr>
              <a:t>Python-Doc</a:t>
            </a: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39FE531-0789-4F62-ACBA-68FF1E83033B}"/>
              </a:ext>
            </a:extLst>
          </p:cNvPr>
          <p:cNvSpPr/>
          <p:nvPr/>
        </p:nvSpPr>
        <p:spPr>
          <a:xfrm>
            <a:off x="6647754" y="5267811"/>
            <a:ext cx="2039046" cy="719173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x = {'a', 'b'}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y = {'b', 'd'}</a:t>
            </a:r>
          </a:p>
        </p:txBody>
      </p:sp>
      <p:sp>
        <p:nvSpPr>
          <p:cNvPr id="5" name="PlaceHolder 6">
            <a:extLst>
              <a:ext uri="{FF2B5EF4-FFF2-40B4-BE49-F238E27FC236}">
                <a16:creationId xmlns:a16="http://schemas.microsoft.com/office/drawing/2014/main" id="{4CD8A0C4-7A05-42F0-9137-0DA892A4A4FB}"/>
              </a:ext>
            </a:extLst>
          </p:cNvPr>
          <p:cNvSpPr txBox="1">
            <a:spLocks/>
          </p:cNvSpPr>
          <p:nvPr/>
        </p:nvSpPr>
        <p:spPr>
          <a:xfrm>
            <a:off x="4692140" y="1722009"/>
            <a:ext cx="2916736" cy="3183714"/>
          </a:xfrm>
          <a:prstGeom prst="rect">
            <a:avLst/>
          </a:prstGeom>
          <a:noFill/>
          <a:ln w="0"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405000" lvl="1">
              <a:spcBef>
                <a:spcPts val="561"/>
              </a:spcBef>
            </a:pP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000" lvl="1">
              <a:spcBef>
                <a:spcPts val="561"/>
              </a:spcBef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=&gt;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{'b'}</a:t>
            </a:r>
          </a:p>
          <a:p>
            <a:pPr marL="405000" lvl="1"/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000" lvl="1">
              <a:spcBef>
                <a:spcPts val="1134"/>
              </a:spcBef>
            </a:pP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onsolas" panose="020B0609020204030204" pitchFamily="49" charset="0"/>
                <a:ea typeface="Droid Sans Fallback"/>
              </a:rPr>
              <a:t>=&gt;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{'a', 'b', 'd'}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pPr marL="405000" lvl="1"/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000" lvl="1">
              <a:spcBef>
                <a:spcPts val="1134"/>
              </a:spcBef>
            </a:pP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onsolas" panose="020B0609020204030204" pitchFamily="49" charset="0"/>
                <a:ea typeface="Droid Sans Fallback"/>
              </a:rPr>
              <a:t>=&gt;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True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pPr marL="405000" lvl="1"/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000" lvl="1">
              <a:spcBef>
                <a:spcPts val="1134"/>
              </a:spcBef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=&gt;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{'a'}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6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Dictionaries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3094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Real world dictionaries</a:t>
            </a:r>
            <a:endParaRPr lang="en-US" noProof="0" dirty="0">
              <a:solidFill>
                <a:schemeClr val="dk1"/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9CC5F88D-9337-4480-A98A-6514517933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65761" y="2103120"/>
            <a:ext cx="4233863" cy="2380298"/>
          </a:xfrm>
          <a:prstGeom prst="rect">
            <a:avLst/>
          </a:prstGeom>
          <a:ln w="0">
            <a:noFill/>
          </a:ln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5FC8C9E1-48D2-4537-B870-90F692E15EB3}"/>
              </a:ext>
            </a:extLst>
          </p:cNvPr>
          <p:cNvSpPr txBox="1"/>
          <p:nvPr/>
        </p:nvSpPr>
        <p:spPr>
          <a:xfrm>
            <a:off x="313944" y="4566578"/>
            <a:ext cx="4258056" cy="602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200" b="0" strike="noStrike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https://www.deutschlandfunkkultur.de/zentrum-fuer-digitale-lexikographie-die-gesamte-deutsche.1008.de.html?dram:article_id=439553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080B9AA3-A7BA-4C1E-9396-F20A01C41B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029200" y="2103120"/>
            <a:ext cx="3657600" cy="2609088"/>
          </a:xfrm>
          <a:prstGeom prst="rect">
            <a:avLst/>
          </a:prstGeom>
          <a:ln w="0">
            <a:noFill/>
          </a:ln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B8675676-99E7-4200-B65F-2BAB6FE22E3D}"/>
              </a:ext>
            </a:extLst>
          </p:cNvPr>
          <p:cNvSpPr txBox="1"/>
          <p:nvPr/>
        </p:nvSpPr>
        <p:spPr>
          <a:xfrm>
            <a:off x="5029200" y="4822538"/>
            <a:ext cx="3833640" cy="346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200" b="0" strike="noStrike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https://pxhere.com/en/photo/529235</a:t>
            </a:r>
          </a:p>
        </p:txBody>
      </p:sp>
    </p:spTree>
    <p:extLst>
      <p:ext uri="{BB962C8B-B14F-4D97-AF65-F5344CB8AC3E}">
        <p14:creationId xmlns:p14="http://schemas.microsoft.com/office/powerpoint/2010/main" val="784975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Basics of dictionaries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707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Collection of unordered key-value pairs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Very important concept in python! 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Access via </a:t>
            </a:r>
            <a:r>
              <a:rPr lang="en-US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unique keys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Arbitrary </a:t>
            </a:r>
            <a:r>
              <a:rPr lang="en-US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immutable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data type: integer, string, etc.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For each key a </a:t>
            </a:r>
            <a:r>
              <a:rPr lang="en-US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single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value: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integer, string, list, set, dictionary, etc.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Mutable and immutable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KeyError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if key not present in dictionary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Access per 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[]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key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Membership check with 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in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not in</a:t>
            </a: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FC438B2-E8FD-4BF4-AFD8-F1D335C1894F}"/>
              </a:ext>
            </a:extLst>
          </p:cNvPr>
          <p:cNvSpPr/>
          <p:nvPr/>
        </p:nvSpPr>
        <p:spPr>
          <a:xfrm>
            <a:off x="894466" y="5662424"/>
            <a:ext cx="2687760" cy="476640"/>
          </a:xfrm>
          <a:prstGeom prst="rect">
            <a:avLst/>
          </a:prstGeom>
          <a:noFill/>
          <a:ln w="36720">
            <a:solidFill>
              <a:srgbClr val="FC5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08360" tIns="63360" rIns="108360" bIns="63360" anchor="ctr">
            <a:noAutofit/>
          </a:bodyPr>
          <a:lstStyle/>
          <a:p>
            <a:pPr algn="ctr"/>
            <a:r>
              <a:rPr lang="en-US" sz="2800" spc="-1" dirty="0">
                <a:latin typeface="Arial"/>
              </a:rPr>
              <a:t>k</a:t>
            </a:r>
            <a:r>
              <a:rPr lang="en-US" sz="2800" b="0" strike="noStrike" spc="-1" dirty="0">
                <a:latin typeface="Arial"/>
              </a:rPr>
              <a:t>ey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67A1FD8-FF45-4FAC-A8C7-3CFAD124B3A9}"/>
              </a:ext>
            </a:extLst>
          </p:cNvPr>
          <p:cNvSpPr/>
          <p:nvPr/>
        </p:nvSpPr>
        <p:spPr>
          <a:xfrm>
            <a:off x="5826466" y="5662424"/>
            <a:ext cx="2687760" cy="476640"/>
          </a:xfrm>
          <a:prstGeom prst="rect">
            <a:avLst/>
          </a:prstGeom>
          <a:noFill/>
          <a:ln w="36720">
            <a:solidFill>
              <a:srgbClr val="00A0F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08360" tIns="63360" rIns="108360" bIns="63360" anchor="ctr">
            <a:noAutofit/>
          </a:bodyPr>
          <a:lstStyle/>
          <a:p>
            <a:pPr algn="ctr"/>
            <a:r>
              <a:rPr lang="en-US" sz="2800" spc="-1" dirty="0">
                <a:latin typeface="Arial"/>
              </a:rPr>
              <a:t>v</a:t>
            </a:r>
            <a:r>
              <a:rPr lang="en-US" sz="2800" b="0" strike="noStrike" spc="-1" dirty="0">
                <a:latin typeface="Arial"/>
              </a:rPr>
              <a:t>alue</a:t>
            </a:r>
          </a:p>
        </p:txBody>
      </p:sp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07291477-C630-4AA8-9112-60D370333159}"/>
              </a:ext>
            </a:extLst>
          </p:cNvPr>
          <p:cNvSpPr/>
          <p:nvPr/>
        </p:nvSpPr>
        <p:spPr>
          <a:xfrm>
            <a:off x="3582226" y="6041864"/>
            <a:ext cx="2227680" cy="0"/>
          </a:xfrm>
          <a:custGeom>
            <a:avLst/>
            <a:gdLst/>
            <a:ahLst/>
            <a:cxnLst/>
            <a:rect l="0" t="0" r="r" b="b"/>
            <a:pathLst>
              <a:path w="6188" fill="none">
                <a:moveTo>
                  <a:pt x="0" y="0"/>
                </a:moveTo>
                <a:lnTo>
                  <a:pt x="6188" y="0"/>
                </a:lnTo>
              </a:path>
            </a:pathLst>
          </a:custGeom>
          <a:ln w="54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A4C2647-B3E3-46B2-A2D6-2C41C233AF47}"/>
              </a:ext>
            </a:extLst>
          </p:cNvPr>
          <p:cNvSpPr txBox="1"/>
          <p:nvPr/>
        </p:nvSpPr>
        <p:spPr>
          <a:xfrm>
            <a:off x="3582226" y="5501144"/>
            <a:ext cx="2227680" cy="578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algn="ctr"/>
            <a:r>
              <a:rPr lang="en-US" sz="2800" b="0" strike="noStrike" spc="-1" dirty="0">
                <a:solidFill>
                  <a:srgbClr val="0F0F0F"/>
                </a:solidFill>
                <a:latin typeface="Arial"/>
              </a:rPr>
              <a:t>references</a:t>
            </a:r>
            <a:endParaRPr lang="en-US" sz="2800" b="0" strike="noStrike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600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Manipulating dictionaries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707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Definition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students = {123: 'Maria', 131: 'Tim', 42: 'Max'}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Access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students[123]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students.get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(123)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Inserting and updating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students[20]  = 'Lisa'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students[123] = 'Moritz'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Deleting with key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del students[123]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67D176F-395F-46D4-9387-6F7C0CAEA358}"/>
              </a:ext>
            </a:extLst>
          </p:cNvPr>
          <p:cNvSpPr/>
          <p:nvPr/>
        </p:nvSpPr>
        <p:spPr>
          <a:xfrm>
            <a:off x="2787971" y="2104461"/>
            <a:ext cx="369409" cy="300463"/>
          </a:xfrm>
          <a:prstGeom prst="rect">
            <a:avLst/>
          </a:prstGeom>
          <a:noFill/>
          <a:ln w="36720">
            <a:solidFill>
              <a:srgbClr val="FC5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796E7D96-F6E5-4C37-8172-6EA483A9D866}"/>
              </a:ext>
            </a:extLst>
          </p:cNvPr>
          <p:cNvSpPr/>
          <p:nvPr/>
        </p:nvSpPr>
        <p:spPr>
          <a:xfrm>
            <a:off x="4565804" y="2104461"/>
            <a:ext cx="369409" cy="300463"/>
          </a:xfrm>
          <a:prstGeom prst="rect">
            <a:avLst/>
          </a:prstGeom>
          <a:noFill/>
          <a:ln w="36720">
            <a:solidFill>
              <a:srgbClr val="FC5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CC120CC-8780-4299-8B3D-B6BB03968FD6}"/>
              </a:ext>
            </a:extLst>
          </p:cNvPr>
          <p:cNvSpPr/>
          <p:nvPr/>
        </p:nvSpPr>
        <p:spPr>
          <a:xfrm>
            <a:off x="6013475" y="2104461"/>
            <a:ext cx="316636" cy="300463"/>
          </a:xfrm>
          <a:prstGeom prst="rect">
            <a:avLst/>
          </a:prstGeom>
          <a:noFill/>
          <a:ln w="36720">
            <a:solidFill>
              <a:srgbClr val="FC5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4540ADE-22F0-48F4-8FC4-618D87A3B621}"/>
              </a:ext>
            </a:extLst>
          </p:cNvPr>
          <p:cNvSpPr/>
          <p:nvPr/>
        </p:nvSpPr>
        <p:spPr>
          <a:xfrm>
            <a:off x="5195868" y="2104461"/>
            <a:ext cx="607509" cy="300463"/>
          </a:xfrm>
          <a:prstGeom prst="rect">
            <a:avLst/>
          </a:prstGeom>
          <a:noFill/>
          <a:ln w="36720">
            <a:solidFill>
              <a:srgbClr val="00A0F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419DE0CC-88E1-4FAA-B5A8-7D8D676CC4BF}"/>
              </a:ext>
            </a:extLst>
          </p:cNvPr>
          <p:cNvSpPr/>
          <p:nvPr/>
        </p:nvSpPr>
        <p:spPr>
          <a:xfrm>
            <a:off x="3438430" y="2104461"/>
            <a:ext cx="838130" cy="300463"/>
          </a:xfrm>
          <a:prstGeom prst="rect">
            <a:avLst/>
          </a:prstGeom>
          <a:noFill/>
          <a:ln w="36720">
            <a:solidFill>
              <a:srgbClr val="00A0F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4A24582B-C662-4C1C-A8EA-BC9BEBFB8629}"/>
              </a:ext>
            </a:extLst>
          </p:cNvPr>
          <p:cNvSpPr/>
          <p:nvPr/>
        </p:nvSpPr>
        <p:spPr>
          <a:xfrm>
            <a:off x="6554108" y="2104461"/>
            <a:ext cx="633272" cy="300463"/>
          </a:xfrm>
          <a:prstGeom prst="rect">
            <a:avLst/>
          </a:prstGeom>
          <a:noFill/>
          <a:ln w="36720">
            <a:solidFill>
              <a:srgbClr val="00A0F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0BA625C2-BBDB-47F8-B1D3-66F1578543B0}"/>
              </a:ext>
            </a:extLst>
          </p:cNvPr>
          <p:cNvSpPr/>
          <p:nvPr/>
        </p:nvSpPr>
        <p:spPr>
          <a:xfrm>
            <a:off x="3012850" y="2425791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194E0C1E-0F80-4234-B843-6E217561E0A0}"/>
              </a:ext>
            </a:extLst>
          </p:cNvPr>
          <p:cNvSpPr/>
          <p:nvPr/>
        </p:nvSpPr>
        <p:spPr>
          <a:xfrm>
            <a:off x="4761244" y="2418272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21" name="Freihandform: Form 20">
            <a:extLst>
              <a:ext uri="{FF2B5EF4-FFF2-40B4-BE49-F238E27FC236}">
                <a16:creationId xmlns:a16="http://schemas.microsoft.com/office/drawing/2014/main" id="{DF457F72-B735-467F-9DCC-8B9EC2A30758}"/>
              </a:ext>
            </a:extLst>
          </p:cNvPr>
          <p:cNvSpPr/>
          <p:nvPr/>
        </p:nvSpPr>
        <p:spPr>
          <a:xfrm>
            <a:off x="6165187" y="2425799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4013664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Example with dictionaries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1B5DDEF-5C78-4290-BD74-6783C1F19296}"/>
              </a:ext>
            </a:extLst>
          </p:cNvPr>
          <p:cNvSpPr/>
          <p:nvPr/>
        </p:nvSpPr>
        <p:spPr>
          <a:xfrm>
            <a:off x="717503" y="1830469"/>
            <a:ext cx="7708994" cy="3302186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students = {123: 'Maria', 131: 'Tim', 42: 'Max'}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students[668] = 'Martina'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del students[123]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students[131] = 'Anna'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del students[9999]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 {students[42]}')</a:t>
            </a:r>
          </a:p>
        </p:txBody>
      </p:sp>
    </p:spTree>
    <p:extLst>
      <p:ext uri="{BB962C8B-B14F-4D97-AF65-F5344CB8AC3E}">
        <p14:creationId xmlns:p14="http://schemas.microsoft.com/office/powerpoint/2010/main" val="30020351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Retrieving and iterating over dictionary elements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1B5DDEF-5C78-4290-BD74-6783C1F19296}"/>
              </a:ext>
            </a:extLst>
          </p:cNvPr>
          <p:cNvSpPr/>
          <p:nvPr/>
        </p:nvSpPr>
        <p:spPr>
          <a:xfrm>
            <a:off x="5424906" y="1696980"/>
            <a:ext cx="3347238" cy="95277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students = {123: 'Maria',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	     131: 'Tim',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	     42:  'Max'}</a:t>
            </a:r>
          </a:p>
        </p:txBody>
      </p:sp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2DB4709-7D3A-4C1D-8995-5771CCF24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599"/>
            <a:ext cx="8229600" cy="4428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Retrieving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Keys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students.keys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Values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students.values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Key-Value tuples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students.items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Iterating over all keys and values (unordered):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unit7.ipynb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718B620-961B-4A20-94BE-34698A0FB601}"/>
              </a:ext>
            </a:extLst>
          </p:cNvPr>
          <p:cNvSpPr/>
          <p:nvPr/>
        </p:nvSpPr>
        <p:spPr>
          <a:xfrm>
            <a:off x="2134278" y="4750516"/>
            <a:ext cx="4817531" cy="659376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key, value in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students.items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print(f'{key}: {value}')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CAB0AAE-14D2-4D49-8D24-F64AF2E562D9}"/>
              </a:ext>
            </a:extLst>
          </p:cNvPr>
          <p:cNvSpPr>
            <a:spLocks noChangeAspect="1"/>
          </p:cNvSpPr>
          <p:nvPr/>
        </p:nvSpPr>
        <p:spPr>
          <a:xfrm>
            <a:off x="1673750" y="2436172"/>
            <a:ext cx="2041025" cy="313702"/>
          </a:xfrm>
          <a:prstGeom prst="rect">
            <a:avLst/>
          </a:prstGeom>
          <a:noFill/>
          <a:ln w="36720">
            <a:solidFill>
              <a:srgbClr val="FC5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E62CDE3-790C-4FEC-B988-5B985C9C182C}"/>
              </a:ext>
            </a:extLst>
          </p:cNvPr>
          <p:cNvSpPr>
            <a:spLocks noChangeAspect="1"/>
          </p:cNvSpPr>
          <p:nvPr/>
        </p:nvSpPr>
        <p:spPr>
          <a:xfrm>
            <a:off x="6997786" y="1778721"/>
            <a:ext cx="554064" cy="820958"/>
          </a:xfrm>
          <a:prstGeom prst="rect">
            <a:avLst/>
          </a:prstGeom>
          <a:noFill/>
          <a:ln w="36720">
            <a:solidFill>
              <a:srgbClr val="FC5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2A418C5-2211-4851-9887-7FB84ADEDACF}"/>
              </a:ext>
            </a:extLst>
          </p:cNvPr>
          <p:cNvSpPr>
            <a:spLocks noChangeAspect="1"/>
          </p:cNvSpPr>
          <p:nvPr/>
        </p:nvSpPr>
        <p:spPr>
          <a:xfrm>
            <a:off x="1673750" y="3198008"/>
            <a:ext cx="2273207" cy="308619"/>
          </a:xfrm>
          <a:prstGeom prst="rect">
            <a:avLst/>
          </a:prstGeom>
          <a:noFill/>
          <a:ln w="36720">
            <a:solidFill>
              <a:srgbClr val="00A0F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0C28EED-29C4-41FD-A7CF-39E6BE16827F}"/>
              </a:ext>
            </a:extLst>
          </p:cNvPr>
          <p:cNvSpPr>
            <a:spLocks noChangeAspect="1"/>
          </p:cNvSpPr>
          <p:nvPr/>
        </p:nvSpPr>
        <p:spPr>
          <a:xfrm>
            <a:off x="7675619" y="1778721"/>
            <a:ext cx="920813" cy="820958"/>
          </a:xfrm>
          <a:prstGeom prst="rect">
            <a:avLst/>
          </a:prstGeom>
          <a:noFill/>
          <a:ln w="36720">
            <a:solidFill>
              <a:srgbClr val="00A0F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0544829-B6A3-47D7-B513-7F9E956FA3C5}"/>
              </a:ext>
            </a:extLst>
          </p:cNvPr>
          <p:cNvSpPr>
            <a:spLocks noChangeAspect="1"/>
          </p:cNvSpPr>
          <p:nvPr/>
        </p:nvSpPr>
        <p:spPr>
          <a:xfrm>
            <a:off x="1673750" y="3871183"/>
            <a:ext cx="2273207" cy="297154"/>
          </a:xfrm>
          <a:prstGeom prst="rect">
            <a:avLst/>
          </a:prstGeom>
          <a:noFill/>
          <a:ln w="36720">
            <a:solidFill>
              <a:srgbClr val="43C33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7D581CEA-9437-4663-A814-ED5C17ED99CB}"/>
              </a:ext>
            </a:extLst>
          </p:cNvPr>
          <p:cNvSpPr>
            <a:spLocks noChangeAspect="1"/>
          </p:cNvSpPr>
          <p:nvPr/>
        </p:nvSpPr>
        <p:spPr>
          <a:xfrm>
            <a:off x="6859453" y="1694888"/>
            <a:ext cx="1812228" cy="954869"/>
          </a:xfrm>
          <a:prstGeom prst="rect">
            <a:avLst/>
          </a:prstGeom>
          <a:noFill/>
          <a:ln w="36720">
            <a:solidFill>
              <a:srgbClr val="43C33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1830F3F-4235-41A6-B785-3F8263A578A8}"/>
              </a:ext>
            </a:extLst>
          </p:cNvPr>
          <p:cNvCxnSpPr>
            <a:cxnSpLocks/>
          </p:cNvCxnSpPr>
          <p:nvPr/>
        </p:nvCxnSpPr>
        <p:spPr>
          <a:xfrm>
            <a:off x="7607077" y="1694888"/>
            <a:ext cx="0" cy="954869"/>
          </a:xfrm>
          <a:prstGeom prst="line">
            <a:avLst/>
          </a:prstGeom>
          <a:ln w="36703">
            <a:solidFill>
              <a:srgbClr val="32CD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9029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Recursions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27889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Intuition</a:t>
            </a:r>
            <a:endParaRPr lang="en-US" noProof="0" dirty="0">
              <a:solidFill>
                <a:schemeClr val="dk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57200" y="1605600"/>
                <a:ext cx="8229600" cy="33268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How do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you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exponentiate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numbers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?</a:t>
                </a:r>
              </a:p>
              <a:p>
                <a:pPr marL="742950" lvl="1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For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example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how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do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you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compute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6</m:t>
                        </m:r>
                      </m:sup>
                    </m:sSup>
                  </m:oMath>
                </a14:m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?</a:t>
                </a:r>
              </a:p>
              <a:p>
                <a:pPr marL="742950" lvl="1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Typically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you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will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start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with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a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smaller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problem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 e.g.,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  <a:p>
                <a:pPr marL="742950" lvl="1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For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the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smaller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problem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you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already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know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the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solution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 i.e.,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4</m:t>
                    </m:r>
                  </m:oMath>
                </a14:m>
                <a:endParaRPr lang="de-DE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742950" lvl="1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Then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you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will </a:t>
                </a:r>
                <a:r>
                  <a:rPr lang="de-DE" sz="1800" b="1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recursively</a:t>
                </a:r>
                <a:r>
                  <a:rPr lang="de-DE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solve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larger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problems</a:t>
                </a:r>
                <a:endParaRPr lang="de-DE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1200150" lvl="2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4 ⋅2=</m:t>
                    </m:r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3</m:t>
                        </m:r>
                      </m:sup>
                    </m:sSup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,  8 ⋅2=</m:t>
                    </m:r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4</m:t>
                        </m:r>
                      </m:sup>
                    </m:sSup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, 16</m:t>
                    </m:r>
                  </m:oMath>
                </a14:m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>
                    <a:latin typeface="Cambria Math" panose="02040503050406030204" pitchFamily="18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⋅ 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5</m:t>
                        </m:r>
                      </m:sup>
                    </m:sSup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, 32 ⋅2= </m:t>
                    </m:r>
                    <m:sSup>
                      <m:sSup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6</m:t>
                        </m:r>
                      </m:sup>
                    </m:sSup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=64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We started with a base (simple) case for which we knew the solution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We worked on recursive cases, which were self-similar and increasingly complex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Until we found the final solution</a:t>
                </a:r>
                <a:endParaRPr lang="de-DE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05600"/>
                <a:ext cx="8229600" cy="3326820"/>
              </a:xfrm>
              <a:prstGeom prst="rect">
                <a:avLst/>
              </a:prstGeom>
              <a:blipFill>
                <a:blip r:embed="rId3"/>
                <a:stretch>
                  <a:fillRect l="-148" b="-201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5119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Recursive algorithms</a:t>
            </a:r>
            <a:endParaRPr lang="en-US" noProof="0" dirty="0">
              <a:solidFill>
                <a:schemeClr val="dk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28244" y="4162917"/>
                <a:ext cx="8229600" cy="12634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We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divided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computation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of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6</m:t>
                        </m:r>
                      </m:sup>
                    </m:sSup>
                  </m:oMath>
                </a14:m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into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smaller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problems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de-DE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pPr>
                          <m:e>
                            <m:r>
                              <a:rPr lang="de-AT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2</m:t>
                            </m:r>
                          </m:e>
                          <m:sup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2</m:t>
                            </m:r>
                          </m:sup>
                        </m:s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,</m:t>
                        </m:r>
                        <m:sSup>
                          <m:sSupPr>
                            <m:ctrlPr>
                              <a:rPr lang="de-DE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pPr>
                          <m:e>
                            <m:r>
                              <a:rPr lang="de-AT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2</m:t>
                            </m:r>
                          </m:e>
                          <m:sup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3</m:t>
                            </m:r>
                          </m:sup>
                        </m:s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, 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We solved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de-DE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pPr>
                          <m:e>
                            <m:r>
                              <a:rPr lang="de-AT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2</m:t>
                            </m:r>
                          </m:e>
                          <m:sup>
                            <m:r>
                              <a:rPr lang="de-AT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2</m:t>
                            </m:r>
                          </m:sup>
                        </m:s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,</m:t>
                        </m:r>
                        <m:sSup>
                          <m:sSupPr>
                            <m:ctrlPr>
                              <a:rPr lang="de-DE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pPr>
                          <m:e>
                            <m:r>
                              <a:rPr lang="de-AT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2</m:t>
                            </m:r>
                          </m:e>
                          <m:sup>
                            <m:r>
                              <a:rPr lang="de-AT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3</m:t>
                            </m:r>
                          </m:sup>
                        </m:s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, 2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DE" sz="18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We</a:t>
                </a:r>
                <a:r>
                  <a:rPr lang="de-DE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combined</a:t>
                </a:r>
                <a:r>
                  <a:rPr lang="de-DE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these</a:t>
                </a:r>
                <a:r>
                  <a:rPr lang="de-DE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solutions</a:t>
                </a:r>
                <a:r>
                  <a:rPr lang="de-DE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to</a:t>
                </a:r>
                <a:r>
                  <a:rPr lang="de-DE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obtain</a:t>
                </a:r>
                <a:r>
                  <a:rPr lang="de-DE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6</m:t>
                        </m:r>
                      </m:sup>
                    </m:sSup>
                  </m:oMath>
                </a14:m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endParaRPr lang="en-US" sz="18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28244" y="4162917"/>
                <a:ext cx="8229600" cy="1263413"/>
              </a:xfrm>
              <a:prstGeom prst="rect">
                <a:avLst/>
              </a:prstGeom>
              <a:blipFill>
                <a:blip r:embed="rId3"/>
                <a:stretch>
                  <a:fillRect l="-74" b="-241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40E80638-74C2-4FED-8EC7-F6A009D2EDC2}"/>
              </a:ext>
            </a:extLst>
          </p:cNvPr>
          <p:cNvSpPr txBox="1">
            <a:spLocks/>
          </p:cNvSpPr>
          <p:nvPr/>
        </p:nvSpPr>
        <p:spPr>
          <a:xfrm>
            <a:off x="457200" y="1605600"/>
            <a:ext cx="8229600" cy="85727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spcBef>
                <a:spcPts val="640"/>
              </a:spcBef>
            </a:pPr>
            <a:r>
              <a:rPr lang="en-US" sz="1800" b="1" dirty="0">
                <a:latin typeface="Calibri" panose="020F0502020204030204" pitchFamily="34" charset="0"/>
                <a:cs typeface="Calibri" panose="020F0502020204030204" pitchFamily="34" charset="0"/>
              </a:rPr>
              <a:t>Definition 1: 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An algorithm is called recursive if it solves a problem by reducing it to an instance of the same problem with smaller input.</a:t>
            </a:r>
          </a:p>
          <a:p>
            <a:pPr marL="0" indent="0">
              <a:spcBef>
                <a:spcPts val="640"/>
              </a:spcBef>
            </a:pPr>
            <a:endParaRPr lang="en-US" sz="1800" dirty="0"/>
          </a:p>
        </p:txBody>
      </p:sp>
      <p:sp>
        <p:nvSpPr>
          <p:cNvPr id="5" name="Google Shape;87;p2">
            <a:extLst>
              <a:ext uri="{FF2B5EF4-FFF2-40B4-BE49-F238E27FC236}">
                <a16:creationId xmlns:a16="http://schemas.microsoft.com/office/drawing/2014/main" id="{BB11D4C8-D5C7-426C-B527-74B86291C391}"/>
              </a:ext>
            </a:extLst>
          </p:cNvPr>
          <p:cNvSpPr txBox="1">
            <a:spLocks/>
          </p:cNvSpPr>
          <p:nvPr/>
        </p:nvSpPr>
        <p:spPr>
          <a:xfrm>
            <a:off x="457200" y="2641142"/>
            <a:ext cx="8229600" cy="134350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spcBef>
                <a:spcPts val="640"/>
              </a:spcBef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Remark 1: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We call this algorithmic technique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 divide-and-conquer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. We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break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the problem into several subproblems that are similar to the original problem but smaller in size,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solve the subproblems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recursively, and then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combine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these solutions to create a solution to the original problem.</a:t>
            </a:r>
          </a:p>
          <a:p>
            <a:pPr marL="0" indent="0">
              <a:spcBef>
                <a:spcPts val="640"/>
              </a:spcBef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23988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Recursive algorithms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42544" y="1646649"/>
            <a:ext cx="8229600" cy="2111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Recursion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has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two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main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parts</a:t>
            </a:r>
            <a:endParaRPr lang="de-AT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Base </a:t>
            </a:r>
            <a:r>
              <a:rPr lang="de-AT" sz="1800" b="1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case</a:t>
            </a:r>
            <a:endParaRPr lang="de-AT" sz="1800" b="1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Simple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form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problem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that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has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direct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answer</a:t>
            </a:r>
            <a:endParaRPr lang="de-AT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b="1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Recursive</a:t>
            </a:r>
            <a:r>
              <a:rPr lang="de-AT" sz="1800" b="1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b="1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case</a:t>
            </a:r>
            <a:endParaRPr lang="de-AT" sz="1800" b="1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Where</a:t>
            </a:r>
            <a:r>
              <a:rPr lang="de-AT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we</a:t>
            </a:r>
            <a:r>
              <a:rPr lang="de-AT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break </a:t>
            </a:r>
            <a:r>
              <a:rPr lang="de-AT" sz="1800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AT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problem</a:t>
            </a:r>
            <a:r>
              <a:rPr lang="de-AT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into</a:t>
            </a:r>
            <a:r>
              <a:rPr lang="de-AT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smaller</a:t>
            </a:r>
            <a:r>
              <a:rPr lang="de-AT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self-similar</a:t>
            </a:r>
            <a:r>
              <a:rPr lang="de-AT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subproblems</a:t>
            </a: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87;p2">
                <a:extLst>
                  <a:ext uri="{FF2B5EF4-FFF2-40B4-BE49-F238E27FC236}">
                    <a16:creationId xmlns:a16="http://schemas.microsoft.com/office/drawing/2014/main" id="{A5D6972F-17D8-44D9-A312-2404773AFD2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1525" y="3641198"/>
                <a:ext cx="8229600" cy="2111068"/>
              </a:xfrm>
              <a:prstGeom prst="rect">
                <a:avLst/>
              </a:prstGeom>
              <a:solidFill>
                <a:srgbClr val="DAE3F3"/>
              </a:solidFill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Recursion </a:t>
                </a:r>
                <a:r>
                  <a:rPr lang="de-AT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for</a:t>
                </a:r>
                <a:r>
                  <a:rPr lang="de-AT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6</m:t>
                        </m:r>
                      </m:sup>
                    </m:sSup>
                  </m:oMath>
                </a14:m>
                <a:endParaRPr lang="de-AT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742950" lvl="1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Base </a:t>
                </a:r>
                <a:r>
                  <a:rPr lang="de-AT" sz="1800" b="1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case</a:t>
                </a:r>
                <a:endParaRPr lang="de-AT" sz="1800" b="1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1200150" lvl="2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sup>
                    </m:sSup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endParaRPr lang="de-AT" sz="1800" b="1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742950" lvl="1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b="1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Recursive</a:t>
                </a:r>
                <a:r>
                  <a:rPr lang="de-AT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case</a:t>
                </a:r>
                <a:endParaRPr lang="de-AT" sz="1800" b="1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1200150" lvl="2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de-AT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de-AT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de-AT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6</m:t>
                        </m:r>
                      </m:sup>
                    </m:sSup>
                  </m:oMath>
                </a14:m>
                <a:endParaRPr lang="de-AT" sz="1800" b="1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" name="Google Shape;87;p2">
                <a:extLst>
                  <a:ext uri="{FF2B5EF4-FFF2-40B4-BE49-F238E27FC236}">
                    <a16:creationId xmlns:a16="http://schemas.microsoft.com/office/drawing/2014/main" id="{A5D6972F-17D8-44D9-A312-2404773AFD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525" y="3641198"/>
                <a:ext cx="8229600" cy="2111068"/>
              </a:xfrm>
              <a:prstGeom prst="rect">
                <a:avLst/>
              </a:prstGeom>
              <a:blipFill>
                <a:blip r:embed="rId3"/>
                <a:stretch>
                  <a:fillRect l="-14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90899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Recursive function calls in Python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Google Shape;87;p2">
            <a:extLst>
              <a:ext uri="{FF2B5EF4-FFF2-40B4-BE49-F238E27FC236}">
                <a16:creationId xmlns:a16="http://schemas.microsoft.com/office/drawing/2014/main" id="{A5D6972F-17D8-44D9-A312-2404773AFD25}"/>
              </a:ext>
            </a:extLst>
          </p:cNvPr>
          <p:cNvSpPr txBox="1">
            <a:spLocks/>
          </p:cNvSpPr>
          <p:nvPr/>
        </p:nvSpPr>
        <p:spPr>
          <a:xfrm>
            <a:off x="489148" y="1625515"/>
            <a:ext cx="4336481" cy="3006556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spcBef>
                <a:spcPts val="640"/>
              </a:spcBef>
            </a:pP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def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print_result_simple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res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):</a:t>
            </a:r>
          </a:p>
          <a:p>
            <a:pPr marL="0" indent="0">
              <a:spcBef>
                <a:spcPts val="640"/>
              </a:spcBef>
            </a:pP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print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f'The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result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:', 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res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) </a:t>
            </a:r>
          </a:p>
          <a:p>
            <a:pPr marL="0" indent="0">
              <a:spcBef>
                <a:spcPts val="640"/>
              </a:spcBef>
            </a:pPr>
            <a:endParaRPr lang="de-AT" sz="1800" dirty="0"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def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div2(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num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):</a:t>
            </a:r>
          </a:p>
          <a:p>
            <a:pPr marL="0" indent="0">
              <a:spcBef>
                <a:spcPts val="640"/>
              </a:spcBef>
            </a:pP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result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= 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num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/ 2		</a:t>
            </a:r>
          </a:p>
          <a:p>
            <a:pPr marL="0" indent="0">
              <a:spcBef>
                <a:spcPts val="640"/>
              </a:spcBef>
            </a:pP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print_result_simple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result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)</a:t>
            </a:r>
          </a:p>
          <a:p>
            <a:pPr marL="0" indent="0">
              <a:spcBef>
                <a:spcPts val="640"/>
              </a:spcBef>
            </a:pPr>
            <a:endParaRPr lang="de-AT" sz="1800" dirty="0"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div2(10)</a:t>
            </a:r>
          </a:p>
        </p:txBody>
      </p:sp>
      <p:sp>
        <p:nvSpPr>
          <p:cNvPr id="7" name="Google Shape;87;p2">
            <a:extLst>
              <a:ext uri="{FF2B5EF4-FFF2-40B4-BE49-F238E27FC236}">
                <a16:creationId xmlns:a16="http://schemas.microsoft.com/office/drawing/2014/main" id="{610FBC1D-BF62-4331-89BD-8542BE535AB5}"/>
              </a:ext>
            </a:extLst>
          </p:cNvPr>
          <p:cNvSpPr txBox="1">
            <a:spLocks/>
          </p:cNvSpPr>
          <p:nvPr/>
        </p:nvSpPr>
        <p:spPr>
          <a:xfrm>
            <a:off x="5814251" y="2003432"/>
            <a:ext cx="2281862" cy="574002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spcBef>
                <a:spcPts val="640"/>
              </a:spcBef>
            </a:pP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The 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result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: 5</a:t>
            </a:r>
          </a:p>
        </p:txBody>
      </p:sp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63ED2501-B321-47E7-AA88-3252F82EFF3C}"/>
              </a:ext>
            </a:extLst>
          </p:cNvPr>
          <p:cNvSpPr>
            <a:spLocks noChangeAspect="1"/>
          </p:cNvSpPr>
          <p:nvPr/>
        </p:nvSpPr>
        <p:spPr>
          <a:xfrm>
            <a:off x="4991557" y="2082425"/>
            <a:ext cx="713170" cy="416016"/>
          </a:xfrm>
          <a:prstGeom prst="rightArrow">
            <a:avLst>
              <a:gd name="adj1" fmla="val 50000"/>
              <a:gd name="adj2" fmla="val 42857"/>
            </a:avLst>
          </a:prstGeom>
          <a:solidFill>
            <a:srgbClr val="C9211E"/>
          </a:solidFill>
          <a:ln w="0">
            <a:solidFill>
              <a:srgbClr val="C9211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7684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Recursive function calls in Python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Google Shape;87;p2">
            <a:extLst>
              <a:ext uri="{FF2B5EF4-FFF2-40B4-BE49-F238E27FC236}">
                <a16:creationId xmlns:a16="http://schemas.microsoft.com/office/drawing/2014/main" id="{A5D6972F-17D8-44D9-A312-2404773AFD25}"/>
              </a:ext>
            </a:extLst>
          </p:cNvPr>
          <p:cNvSpPr txBox="1">
            <a:spLocks/>
          </p:cNvSpPr>
          <p:nvPr/>
        </p:nvSpPr>
        <p:spPr>
          <a:xfrm>
            <a:off x="489148" y="1625515"/>
            <a:ext cx="4336481" cy="2345784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def </a:t>
            </a:r>
            <a:r>
              <a:rPr lang="en-US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print_result</a:t>
            </a: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(res):</a:t>
            </a:r>
          </a:p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print(</a:t>
            </a:r>
            <a:r>
              <a:rPr lang="en-US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f'The</a:t>
            </a: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result is:', res)</a:t>
            </a:r>
          </a:p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</a:t>
            </a:r>
            <a:r>
              <a:rPr lang="en-US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div_res</a:t>
            </a: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= res / 2 </a:t>
            </a:r>
          </a:p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</a:t>
            </a:r>
            <a:r>
              <a:rPr lang="en-US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print_result</a:t>
            </a: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</a:t>
            </a:r>
            <a:r>
              <a:rPr lang="en-US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div_res</a:t>
            </a: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)</a:t>
            </a:r>
          </a:p>
          <a:p>
            <a:pPr marL="0" indent="0">
              <a:spcBef>
                <a:spcPts val="640"/>
              </a:spcBef>
            </a:pPr>
            <a:endParaRPr lang="en-US" sz="1800" dirty="0"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r>
              <a:rPr lang="en-US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print_result</a:t>
            </a: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(10)</a:t>
            </a:r>
          </a:p>
        </p:txBody>
      </p:sp>
      <p:sp>
        <p:nvSpPr>
          <p:cNvPr id="7" name="Google Shape;87;p2">
            <a:extLst>
              <a:ext uri="{FF2B5EF4-FFF2-40B4-BE49-F238E27FC236}">
                <a16:creationId xmlns:a16="http://schemas.microsoft.com/office/drawing/2014/main" id="{610FBC1D-BF62-4331-89BD-8542BE535AB5}"/>
              </a:ext>
            </a:extLst>
          </p:cNvPr>
          <p:cNvSpPr txBox="1">
            <a:spLocks/>
          </p:cNvSpPr>
          <p:nvPr/>
        </p:nvSpPr>
        <p:spPr>
          <a:xfrm>
            <a:off x="5814000" y="1995662"/>
            <a:ext cx="2822490" cy="3143666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The result is: 5</a:t>
            </a:r>
          </a:p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The result is: 2.5</a:t>
            </a:r>
          </a:p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The result is: 1.25</a:t>
            </a:r>
          </a:p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The result is: 0.625</a:t>
            </a:r>
          </a:p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The result is: 0.3125</a:t>
            </a:r>
          </a:p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The result is: 0.1563</a:t>
            </a:r>
          </a:p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... </a:t>
            </a:r>
          </a:p>
          <a:p>
            <a:pPr marL="0" indent="0">
              <a:spcBef>
                <a:spcPts val="640"/>
              </a:spcBef>
            </a:pPr>
            <a:r>
              <a:rPr lang="en-US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RecursionError</a:t>
            </a: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8" name="Pfeil: nach rechts 7">
            <a:extLst>
              <a:ext uri="{FF2B5EF4-FFF2-40B4-BE49-F238E27FC236}">
                <a16:creationId xmlns:a16="http://schemas.microsoft.com/office/drawing/2014/main" id="{4335B96E-9010-4F67-9258-2DB91EFD942A}"/>
              </a:ext>
            </a:extLst>
          </p:cNvPr>
          <p:cNvSpPr>
            <a:spLocks noChangeAspect="1"/>
          </p:cNvSpPr>
          <p:nvPr/>
        </p:nvSpPr>
        <p:spPr>
          <a:xfrm>
            <a:off x="4991557" y="2082425"/>
            <a:ext cx="713170" cy="416016"/>
          </a:xfrm>
          <a:prstGeom prst="rightArrow">
            <a:avLst>
              <a:gd name="adj1" fmla="val 50000"/>
              <a:gd name="adj2" fmla="val 42857"/>
            </a:avLst>
          </a:prstGeom>
          <a:solidFill>
            <a:srgbClr val="C9211E"/>
          </a:solidFill>
          <a:ln w="0">
            <a:solidFill>
              <a:srgbClr val="C9211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059560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Implementing recursions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42544" y="1646649"/>
            <a:ext cx="8229600" cy="3432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Recursive implementation = „Functions call themselves“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 each new call a smaller subproblem is solved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We need a </a:t>
            </a:r>
            <a:r>
              <a:rPr lang="en-US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base case in the implementation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!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Otherwise an infinite loop!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=&gt; </a:t>
            </a: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RecursionError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: maximum recursion depth exceeded [...]</a:t>
            </a: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Recursive implementation is typically also possible as a loop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Recursions have typically less code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But sometimes not intuitive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More memory (storing function frames when calling recursively)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95005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Factorial</a:t>
            </a:r>
            <a:endParaRPr lang="en-US" noProof="0" dirty="0">
              <a:solidFill>
                <a:schemeClr val="dk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542544" y="1646649"/>
                <a:ext cx="8229600" cy="32457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indent="0">
                  <a:spcBef>
                    <a:spcPts val="64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18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𝑛</m:t>
                      </m:r>
                      <m:r>
                        <a:rPr lang="de-AT" sz="18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!= </m:t>
                      </m:r>
                      <m:nary>
                        <m:naryPr>
                          <m:chr m:val="∏"/>
                          <m:limLoc m:val="subSup"/>
                          <m:ctrlPr>
                            <a:rPr lang="de-AT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de-AT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𝑖</m:t>
                          </m:r>
                          <m:r>
                            <a:rPr lang="de-AT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𝑛</m:t>
                          </m:r>
                        </m:sup>
                        <m:e>
                          <m:r>
                            <a:rPr lang="de-AT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𝑖</m:t>
                          </m:r>
                        </m:e>
                      </m:nary>
                    </m:oMath>
                  </m:oMathPara>
                </a14:m>
                <a:endParaRPr lang="de-AT" sz="1800" b="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Base cases: 	</a:t>
                </a:r>
                <a14:m>
                  <m:oMath xmlns:m="http://schemas.openxmlformats.org/officeDocument/2006/math"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0!=1</m:t>
                    </m:r>
                  </m:oMath>
                </a14:m>
                <a:r>
                  <a:rPr lang="de-AT" sz="1800" b="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de-AT" sz="1800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1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!=1 </m:t>
                    </m:r>
                  </m:oMath>
                </a14:m>
                <a:endParaRPr lang="de-AT" sz="1800" b="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Recursive case: </a:t>
                </a:r>
                <a14:m>
                  <m:oMath xmlns:m="http://schemas.openxmlformats.org/officeDocument/2006/math">
                    <m:r>
                      <a:rPr lang="de-AT" sz="1800" b="0" i="0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!=</m:t>
                    </m:r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⋅ </m:t>
                    </m:r>
                    <m:d>
                      <m:dPr>
                        <m:ctrlP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−1</m:t>
                        </m:r>
                      </m:e>
                    </m:d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!</m:t>
                    </m:r>
                  </m:oMath>
                </a14:m>
                <a:endParaRPr lang="en-US" sz="1800" b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		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−1</m:t>
                        </m:r>
                      </m:e>
                    </m:d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!=</m:t>
                    </m:r>
                    <m:d>
                      <m:d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−1</m:t>
                        </m:r>
                      </m:e>
                    </m:d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⋅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−2</m:t>
                        </m:r>
                      </m:e>
                    </m:d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!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		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−2</m:t>
                        </m:r>
                      </m:e>
                    </m:d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!=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−2</m:t>
                        </m:r>
                      </m:e>
                    </m:d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⋅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−3</m:t>
                        </m:r>
                      </m:e>
                    </m:d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!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		…</a:t>
                </a: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de-AT" sz="1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2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!=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2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⋅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1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!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de-AT" sz="1800" i="1" dirty="0">
                    <a:latin typeface="Cambria Math" panose="02040503050406030204" pitchFamily="18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de-AT" sz="18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1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!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=1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endParaRPr lang="de-AT" sz="1800" b="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42544" y="1646649"/>
                <a:ext cx="8229600" cy="3245725"/>
              </a:xfrm>
              <a:prstGeom prst="rect">
                <a:avLst/>
              </a:prstGeom>
              <a:blipFill>
                <a:blip r:embed="rId3"/>
                <a:stretch>
                  <a:fillRect l="-14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Google Shape;87;p2">
                <a:extLst>
                  <a:ext uri="{FF2B5EF4-FFF2-40B4-BE49-F238E27FC236}">
                    <a16:creationId xmlns:a16="http://schemas.microsoft.com/office/drawing/2014/main" id="{279F9ABB-0853-4C48-80D0-221318E1486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7014" y="4892374"/>
                <a:ext cx="7884442" cy="994493"/>
              </a:xfrm>
              <a:prstGeom prst="rect">
                <a:avLst/>
              </a:prstGeom>
              <a:solidFill>
                <a:srgbClr val="DAE3F3"/>
              </a:solidFill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indent="0">
                  <a:spcBef>
                    <a:spcPts val="640"/>
                  </a:spcBef>
                </a:pPr>
                <a:r>
                  <a:rPr lang="de-AT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Example: </a:t>
                </a:r>
              </a:p>
              <a:p>
                <a:pPr marL="36000" indent="0">
                  <a:spcBef>
                    <a:spcPts val="64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5!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=5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4!=5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4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3!=5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4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3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2!=5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4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3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2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1!=5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4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3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2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1 =120</m:t>
                      </m:r>
                    </m:oMath>
                  </m:oMathPara>
                </a14:m>
                <a:endParaRPr lang="de-AT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" name="Google Shape;87;p2">
                <a:extLst>
                  <a:ext uri="{FF2B5EF4-FFF2-40B4-BE49-F238E27FC236}">
                    <a16:creationId xmlns:a16="http://schemas.microsoft.com/office/drawing/2014/main" id="{279F9ABB-0853-4C48-80D0-221318E148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014" y="4892374"/>
                <a:ext cx="7884442" cy="994493"/>
              </a:xfrm>
              <a:prstGeom prst="rect">
                <a:avLst/>
              </a:prstGeom>
              <a:blipFill>
                <a:blip r:embed="rId4"/>
                <a:stretch>
                  <a:fillRect l="-69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24107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Implementation of factorial</a:t>
            </a:r>
            <a:endParaRPr lang="en-US" noProof="0" dirty="0">
              <a:solidFill>
                <a:schemeClr val="dk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542544" y="1595194"/>
                <a:ext cx="4289760" cy="172006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indent="0">
                  <a:spcBef>
                    <a:spcPts val="640"/>
                  </a:spcBef>
                </a:pPr>
                <a:endParaRPr lang="en-US" sz="18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Base case:           </a:t>
                </a:r>
                <a14:m>
                  <m:oMath xmlns:m="http://schemas.openxmlformats.org/officeDocument/2006/math"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0!=1</m:t>
                    </m:r>
                  </m:oMath>
                </a14:m>
                <a:endParaRPr lang="de-AT" sz="1800" b="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Recursive case: </a:t>
                </a:r>
                <a14:m>
                  <m:oMath xmlns:m="http://schemas.openxmlformats.org/officeDocument/2006/math">
                    <m:r>
                      <a:rPr lang="de-AT" sz="1800" b="0" i="0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!=</m:t>
                    </m:r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⋅ </m:t>
                    </m:r>
                    <m:d>
                      <m:dPr>
                        <m:ctrlP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−1</m:t>
                        </m:r>
                      </m:e>
                    </m:d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!</m:t>
                    </m:r>
                  </m:oMath>
                </a14:m>
                <a:endParaRPr lang="en-US" sz="1800" b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		</a:t>
                </a:r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endParaRPr lang="de-AT" sz="1800" b="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42544" y="1595194"/>
                <a:ext cx="4289760" cy="1720069"/>
              </a:xfrm>
              <a:prstGeom prst="rect">
                <a:avLst/>
              </a:prstGeom>
              <a:blipFill>
                <a:blip r:embed="rId3"/>
                <a:stretch>
                  <a:fillRect l="-127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79F9ABB-0853-4C48-80D0-221318E14867}"/>
              </a:ext>
            </a:extLst>
          </p:cNvPr>
          <p:cNvSpPr txBox="1">
            <a:spLocks/>
          </p:cNvSpPr>
          <p:nvPr/>
        </p:nvSpPr>
        <p:spPr>
          <a:xfrm>
            <a:off x="4881874" y="1595194"/>
            <a:ext cx="3661427" cy="1668614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def fac(n):</a:t>
            </a:r>
          </a:p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if n &lt;= 1:</a:t>
            </a:r>
          </a:p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return 1</a:t>
            </a:r>
          </a:p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return n * fac(n-1)</a:t>
            </a:r>
          </a:p>
        </p:txBody>
      </p:sp>
      <p:sp>
        <p:nvSpPr>
          <p:cNvPr id="5" name="Pfeil: nach rechts 4">
            <a:extLst>
              <a:ext uri="{FF2B5EF4-FFF2-40B4-BE49-F238E27FC236}">
                <a16:creationId xmlns:a16="http://schemas.microsoft.com/office/drawing/2014/main" id="{E36339DD-F5ED-48BD-86D8-3DC6F7EE403B}"/>
              </a:ext>
            </a:extLst>
          </p:cNvPr>
          <p:cNvSpPr>
            <a:spLocks noChangeAspect="1"/>
          </p:cNvSpPr>
          <p:nvPr/>
        </p:nvSpPr>
        <p:spPr>
          <a:xfrm>
            <a:off x="4042672" y="2051355"/>
            <a:ext cx="713170" cy="416016"/>
          </a:xfrm>
          <a:prstGeom prst="rightArrow">
            <a:avLst>
              <a:gd name="adj1" fmla="val 50000"/>
              <a:gd name="adj2" fmla="val 42857"/>
            </a:avLst>
          </a:prstGeom>
          <a:solidFill>
            <a:srgbClr val="C9211E"/>
          </a:solidFill>
          <a:ln w="0">
            <a:solidFill>
              <a:srgbClr val="C9211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C98B7B46-71CF-4285-BAB7-70AD9C727C25}"/>
              </a:ext>
            </a:extLst>
          </p:cNvPr>
          <p:cNvSpPr>
            <a:spLocks noChangeAspect="1"/>
          </p:cNvSpPr>
          <p:nvPr/>
        </p:nvSpPr>
        <p:spPr>
          <a:xfrm>
            <a:off x="4042672" y="2764316"/>
            <a:ext cx="713170" cy="416016"/>
          </a:xfrm>
          <a:prstGeom prst="rightArrow">
            <a:avLst>
              <a:gd name="adj1" fmla="val 50000"/>
              <a:gd name="adj2" fmla="val 42857"/>
            </a:avLst>
          </a:prstGeom>
          <a:solidFill>
            <a:srgbClr val="C9211E"/>
          </a:solidFill>
          <a:ln w="0">
            <a:solidFill>
              <a:srgbClr val="C9211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748453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Implementation of factorial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9" name="Google Shape;87;p2">
            <a:extLst>
              <a:ext uri="{FF2B5EF4-FFF2-40B4-BE49-F238E27FC236}">
                <a16:creationId xmlns:a16="http://schemas.microsoft.com/office/drawing/2014/main" id="{46C279BD-56D8-4E69-B5CD-E30F5A8CAE76}"/>
              </a:ext>
            </a:extLst>
          </p:cNvPr>
          <p:cNvSpPr txBox="1">
            <a:spLocks/>
          </p:cNvSpPr>
          <p:nvPr/>
        </p:nvSpPr>
        <p:spPr>
          <a:xfrm>
            <a:off x="5204157" y="2989042"/>
            <a:ext cx="3661427" cy="2046276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spcBef>
                <a:spcPts val="640"/>
              </a:spcBef>
            </a:pPr>
            <a:r>
              <a:rPr lang="pt-BR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def fac_while(n):</a:t>
            </a:r>
          </a:p>
          <a:p>
            <a:pPr marL="0" indent="0">
              <a:spcBef>
                <a:spcPts val="640"/>
              </a:spcBef>
            </a:pPr>
            <a:r>
              <a:rPr lang="pt-BR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f = n</a:t>
            </a:r>
          </a:p>
          <a:p>
            <a:pPr marL="0" indent="0">
              <a:spcBef>
                <a:spcPts val="640"/>
              </a:spcBef>
            </a:pPr>
            <a:r>
              <a:rPr lang="pt-BR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while n &gt; 1:</a:t>
            </a:r>
          </a:p>
          <a:p>
            <a:pPr marL="0" indent="0">
              <a:spcBef>
                <a:spcPts val="640"/>
              </a:spcBef>
            </a:pPr>
            <a:r>
              <a:rPr lang="pt-BR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n -= 1</a:t>
            </a:r>
          </a:p>
          <a:p>
            <a:pPr marL="0" indent="0">
              <a:spcBef>
                <a:spcPts val="640"/>
              </a:spcBef>
            </a:pPr>
            <a:r>
              <a:rPr lang="pt-BR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f *= n</a:t>
            </a:r>
          </a:p>
          <a:p>
            <a:pPr marL="0" indent="0">
              <a:spcBef>
                <a:spcPts val="640"/>
              </a:spcBef>
            </a:pPr>
            <a:r>
              <a:rPr lang="pt-BR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return f</a:t>
            </a:r>
          </a:p>
          <a:p>
            <a:pPr marL="0" indent="0">
              <a:spcBef>
                <a:spcPts val="640"/>
              </a:spcBef>
            </a:pPr>
            <a:endParaRPr lang="en-US" sz="1800" dirty="0"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10" name="Google Shape;87;p2">
            <a:extLst>
              <a:ext uri="{FF2B5EF4-FFF2-40B4-BE49-F238E27FC236}">
                <a16:creationId xmlns:a16="http://schemas.microsoft.com/office/drawing/2014/main" id="{B415F276-B698-4ECF-99BC-B038EFE2C743}"/>
              </a:ext>
            </a:extLst>
          </p:cNvPr>
          <p:cNvSpPr txBox="1">
            <a:spLocks/>
          </p:cNvSpPr>
          <p:nvPr/>
        </p:nvSpPr>
        <p:spPr>
          <a:xfrm>
            <a:off x="5204156" y="1248679"/>
            <a:ext cx="3661427" cy="1740363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def </a:t>
            </a:r>
            <a:r>
              <a:rPr lang="en-US" sz="16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fac_for</a:t>
            </a: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(n):</a:t>
            </a:r>
          </a:p>
          <a:p>
            <a:pPr mar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f = 1</a:t>
            </a:r>
          </a:p>
          <a:p>
            <a:pPr mar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for </a:t>
            </a:r>
            <a:r>
              <a:rPr lang="en-US" sz="16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i</a:t>
            </a: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in range(2, n+1):</a:t>
            </a:r>
          </a:p>
          <a:p>
            <a:pPr mar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f *= </a:t>
            </a:r>
            <a:r>
              <a:rPr lang="en-US" sz="16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i</a:t>
            </a:r>
            <a:endParaRPr lang="en-US" sz="1600" dirty="0"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return f</a:t>
            </a:r>
          </a:p>
        </p:txBody>
      </p:sp>
      <p:sp>
        <p:nvSpPr>
          <p:cNvPr id="11" name="Google Shape;87;p2">
            <a:extLst>
              <a:ext uri="{FF2B5EF4-FFF2-40B4-BE49-F238E27FC236}">
                <a16:creationId xmlns:a16="http://schemas.microsoft.com/office/drawing/2014/main" id="{82FFEBE8-FCEB-490D-8C05-DD3A6F34EE7F}"/>
              </a:ext>
            </a:extLst>
          </p:cNvPr>
          <p:cNvSpPr txBox="1">
            <a:spLocks/>
          </p:cNvSpPr>
          <p:nvPr/>
        </p:nvSpPr>
        <p:spPr>
          <a:xfrm>
            <a:off x="5204157" y="5035318"/>
            <a:ext cx="3661427" cy="1405529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def fac(n):</a:t>
            </a:r>
          </a:p>
          <a:p>
            <a:pPr mar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if n &lt;= 1:</a:t>
            </a:r>
          </a:p>
          <a:p>
            <a:pPr mar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return 1</a:t>
            </a:r>
          </a:p>
          <a:p>
            <a:pPr mar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return n * fac(n-1)</a:t>
            </a:r>
          </a:p>
        </p:txBody>
      </p:sp>
      <p:sp>
        <p:nvSpPr>
          <p:cNvPr id="13" name="Google Shape;87;p2">
            <a:extLst>
              <a:ext uri="{FF2B5EF4-FFF2-40B4-BE49-F238E27FC236}">
                <a16:creationId xmlns:a16="http://schemas.microsoft.com/office/drawing/2014/main" id="{34A40FED-4695-4D12-A7E6-B5E7A5936F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414233" y="1248679"/>
            <a:ext cx="2789922" cy="4865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Iteration with for loop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Iteration with while loop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Recursion</a:t>
            </a:r>
            <a:r>
              <a:rPr lang="en-US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		</a:t>
            </a: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de-AT" sz="1800" b="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DB3D76D0-CDAB-4CF7-8687-92084CE484F5}"/>
              </a:ext>
            </a:extLst>
          </p:cNvPr>
          <p:cNvSpPr/>
          <p:nvPr/>
        </p:nvSpPr>
        <p:spPr>
          <a:xfrm>
            <a:off x="1808729" y="1804838"/>
            <a:ext cx="365760" cy="4114800"/>
          </a:xfrm>
          <a:custGeom>
            <a:avLst/>
            <a:gdLst>
              <a:gd name="textAreaLeft" fmla="*/ 233640 w 365760"/>
              <a:gd name="textAreaRight" fmla="*/ 366120 w 365760"/>
              <a:gd name="textAreaTop" fmla="*/ 107280 h 4114800"/>
              <a:gd name="textAreaBottom" fmla="*/ 4007520 h 411480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21600" y="0"/>
                </a:moveTo>
                <a:cubicBezTo>
                  <a:pt x="16200" y="0"/>
                  <a:pt x="10800" y="900"/>
                  <a:pt x="10800" y="1800"/>
                </a:cubicBezTo>
                <a:lnTo>
                  <a:pt x="10800" y="9000"/>
                </a:lnTo>
                <a:cubicBezTo>
                  <a:pt x="10800" y="9900"/>
                  <a:pt x="5400" y="10800"/>
                  <a:pt x="0" y="10800"/>
                </a:cubicBezTo>
                <a:cubicBezTo>
                  <a:pt x="5400" y="10800"/>
                  <a:pt x="10800" y="11700"/>
                  <a:pt x="10800" y="12600"/>
                </a:cubicBezTo>
                <a:lnTo>
                  <a:pt x="10800" y="19800"/>
                </a:lnTo>
                <a:cubicBezTo>
                  <a:pt x="10800" y="20700"/>
                  <a:pt x="16200" y="21600"/>
                  <a:pt x="21600" y="21600"/>
                </a:cubicBezTo>
              </a:path>
            </a:pathLst>
          </a:custGeom>
          <a:noFill/>
          <a:ln w="3672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Google Shape;87;p2">
                <a:extLst>
                  <a:ext uri="{FF2B5EF4-FFF2-40B4-BE49-F238E27FC236}">
                    <a16:creationId xmlns:a16="http://schemas.microsoft.com/office/drawing/2014/main" id="{7C1004AC-19F8-4EBD-9ADE-012440B1D90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86789" y="3501816"/>
                <a:ext cx="1621940" cy="8299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indent="0" algn="ctr">
                  <a:spcBef>
                    <a:spcPts val="640"/>
                  </a:spcBef>
                </a:pP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Same result</a:t>
                </a:r>
              </a:p>
              <a:p>
                <a:pPr marL="0" indent="0" algn="ctr">
                  <a:spcBef>
                    <a:spcPts val="64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𝑛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!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endParaRPr lang="de-AT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5" name="Google Shape;87;p2">
                <a:extLst>
                  <a:ext uri="{FF2B5EF4-FFF2-40B4-BE49-F238E27FC236}">
                    <a16:creationId xmlns:a16="http://schemas.microsoft.com/office/drawing/2014/main" id="{7C1004AC-19F8-4EBD-9ADE-012440B1D9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789" y="3501816"/>
                <a:ext cx="1621940" cy="82990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976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Recursive powers</a:t>
            </a:r>
            <a:endParaRPr lang="en-US" noProof="0" dirty="0">
              <a:solidFill>
                <a:schemeClr val="dk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542544" y="1646649"/>
                <a:ext cx="8229600" cy="32457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indent="0">
                  <a:spcBef>
                    <a:spcPts val="64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AT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de-AT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𝑥</m:t>
                          </m:r>
                        </m:e>
                        <m:sup>
                          <m:r>
                            <a:rPr lang="de-AT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𝑛</m:t>
                          </m:r>
                        </m:sup>
                      </m:sSup>
                      <m:r>
                        <a:rPr lang="de-AT" sz="18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 </m:t>
                      </m:r>
                      <m:nary>
                        <m:naryPr>
                          <m:chr m:val="∏"/>
                          <m:limLoc m:val="subSup"/>
                          <m:ctrlPr>
                            <a:rPr lang="de-AT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de-AT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𝑖</m:t>
                          </m:r>
                          <m:r>
                            <a:rPr lang="de-AT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𝑛</m:t>
                          </m:r>
                        </m:sup>
                        <m:e>
                          <m:r>
                            <a:rPr lang="de-AT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𝑥</m:t>
                          </m:r>
                        </m:e>
                      </m:nary>
                    </m:oMath>
                  </m:oMathPara>
                </a14:m>
                <a:endParaRPr lang="de-AT" sz="1800" b="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Base cases: 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0</m:t>
                        </m:r>
                      </m:sup>
                    </m:sSup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=1</m:t>
                    </m:r>
                  </m:oMath>
                </a14:m>
                <a:r>
                  <a:rPr lang="de-AT" sz="1800" b="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1</m:t>
                        </m:r>
                      </m:sup>
                    </m:sSup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𝑥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endParaRPr lang="de-AT" sz="1800" b="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Recursive case: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</m:sup>
                    </m:sSup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𝑥</m:t>
                    </m:r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⋅</m:t>
                    </m:r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sz="1800" b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−1</m:t>
                        </m:r>
                      </m:sup>
                    </m:sSup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𝑥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⋅</m:t>
                    </m:r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−2</m:t>
                        </m:r>
                      </m:sup>
                    </m:sSup>
                  </m:oMath>
                </a14:m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−2</m:t>
                        </m:r>
                      </m:sup>
                    </m:sSup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𝑥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⋅</m:t>
                    </m:r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−3</m:t>
                        </m:r>
                      </m:sup>
                    </m:sSup>
                  </m:oMath>
                </a14:m>
                <a:endParaRPr lang="de-AT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		…</a:t>
                </a: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sup>
                    </m:sSup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𝑥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⋅</m:t>
                    </m:r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1</m:t>
                        </m:r>
                      </m:sup>
                    </m:sSup>
                  </m:oMath>
                </a14:m>
                <a:endParaRPr lang="de-AT" sz="1800" i="1" dirty="0">
                  <a:latin typeface="Cambria Math" panose="02040503050406030204" pitchFamily="18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de-AT" sz="1800" i="1" dirty="0">
                    <a:latin typeface="Cambria Math" panose="02040503050406030204" pitchFamily="18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1</m:t>
                        </m:r>
                      </m:sup>
                    </m:sSup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𝑥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endParaRPr lang="de-AT" sz="1800" b="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42544" y="1646649"/>
                <a:ext cx="8229600" cy="3245725"/>
              </a:xfrm>
              <a:prstGeom prst="rect">
                <a:avLst/>
              </a:prstGeom>
              <a:blipFill>
                <a:blip r:embed="rId3"/>
                <a:stretch>
                  <a:fillRect l="-14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Google Shape;87;p2">
                <a:extLst>
                  <a:ext uri="{FF2B5EF4-FFF2-40B4-BE49-F238E27FC236}">
                    <a16:creationId xmlns:a16="http://schemas.microsoft.com/office/drawing/2014/main" id="{279F9ABB-0853-4C48-80D0-221318E1486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7014" y="4892374"/>
                <a:ext cx="7884442" cy="994493"/>
              </a:xfrm>
              <a:prstGeom prst="rect">
                <a:avLst/>
              </a:prstGeom>
              <a:solidFill>
                <a:srgbClr val="DAE3F3"/>
              </a:solidFill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4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tabLst/>
                  <a:defRPr/>
                </a:pPr>
                <a:r>
                  <a:rPr kumimoji="0" lang="de-AT" sz="1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  <a:sym typeface="Arial"/>
                  </a:rPr>
                  <a:t>Example: </a:t>
                </a:r>
              </a:p>
              <a:p>
                <a:pPr marL="0" lvl="0" indent="0">
                  <a:spcBef>
                    <a:spcPts val="64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0" lang="de-AT" sz="180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  <a:sym typeface="Arial"/>
                            </a:rPr>
                          </m:ctrlPr>
                        </m:sSupPr>
                        <m:e>
                          <m:r>
                            <a:rPr kumimoji="0" lang="de-AT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  <a:sym typeface="Arial"/>
                            </a:rPr>
                            <m:t>3</m:t>
                          </m:r>
                        </m:e>
                        <m:sup>
                          <m:r>
                            <a:rPr kumimoji="0" lang="de-AT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  <a:sym typeface="Arial"/>
                            </a:rPr>
                            <m:t>4</m:t>
                          </m:r>
                        </m:sup>
                      </m:sSup>
                      <m:r>
                        <a:rPr kumimoji="0" lang="de-AT" sz="18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  <a:sym typeface="Arial"/>
                        </a:rPr>
                        <m:t>=3</m:t>
                      </m:r>
                      <m:sSup>
                        <m:sSupPr>
                          <m:ctrlPr>
                            <a:rPr lang="de-AT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de-AT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⋅3</m:t>
                          </m:r>
                        </m:e>
                        <m:sup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3</m:t>
                          </m:r>
                        </m:sup>
                      </m:sSup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=3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3</m:t>
                      </m:r>
                      <m:sSup>
                        <m:sSupPr>
                          <m:ctrlPr>
                            <a:rPr lang="de-AT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de-AT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⋅3</m:t>
                          </m:r>
                        </m:e>
                        <m:sup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2</m:t>
                          </m:r>
                        </m:sup>
                      </m:sSup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=3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3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3</m:t>
                      </m:r>
                      <m:sSup>
                        <m:sSupPr>
                          <m:ctrlPr>
                            <a:rPr lang="de-AT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de-AT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⋅3</m:t>
                          </m:r>
                        </m:e>
                        <m:sup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1</m:t>
                          </m:r>
                        </m:sup>
                      </m:sSup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=3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3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3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3=81</m:t>
                      </m:r>
                    </m:oMath>
                  </m:oMathPara>
                </a14:m>
                <a:endParaRPr kumimoji="0" lang="de-AT" sz="18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  <a:sym typeface="Arial"/>
                </a:endParaRPr>
              </a:p>
            </p:txBody>
          </p:sp>
        </mc:Choice>
        <mc:Fallback xmlns="">
          <p:sp>
            <p:nvSpPr>
              <p:cNvPr id="4" name="Google Shape;87;p2">
                <a:extLst>
                  <a:ext uri="{FF2B5EF4-FFF2-40B4-BE49-F238E27FC236}">
                    <a16:creationId xmlns:a16="http://schemas.microsoft.com/office/drawing/2014/main" id="{279F9ABB-0853-4C48-80D0-221318E148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014" y="4892374"/>
                <a:ext cx="7884442" cy="994493"/>
              </a:xfrm>
              <a:prstGeom prst="rect">
                <a:avLst/>
              </a:prstGeom>
              <a:blipFill>
                <a:blip r:embed="rId4"/>
                <a:stretch>
                  <a:fillRect l="-69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10172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Implementation of powers</a:t>
            </a:r>
            <a:endParaRPr lang="en-US" noProof="0" dirty="0">
              <a:solidFill>
                <a:schemeClr val="dk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542544" y="1595194"/>
                <a:ext cx="4289760" cy="172006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indent="0">
                  <a:spcBef>
                    <a:spcPts val="640"/>
                  </a:spcBef>
                </a:pPr>
                <a:endParaRPr lang="en-US" sz="18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Base case:      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0</m:t>
                        </m:r>
                      </m:sup>
                    </m:sSup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=1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endParaRPr lang="en-US" sz="18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Recursive case: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</m:sup>
                    </m:sSup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𝑥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⋅</m:t>
                    </m:r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		</a:t>
                </a:r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endParaRPr lang="de-AT" sz="1800" b="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42544" y="1595194"/>
                <a:ext cx="4289760" cy="1720069"/>
              </a:xfrm>
              <a:prstGeom prst="rect">
                <a:avLst/>
              </a:prstGeom>
              <a:blipFill>
                <a:blip r:embed="rId3"/>
                <a:stretch>
                  <a:fillRect l="-127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79F9ABB-0853-4C48-80D0-221318E14867}"/>
              </a:ext>
            </a:extLst>
          </p:cNvPr>
          <p:cNvSpPr txBox="1">
            <a:spLocks/>
          </p:cNvSpPr>
          <p:nvPr/>
        </p:nvSpPr>
        <p:spPr>
          <a:xfrm>
            <a:off x="4881874" y="1595194"/>
            <a:ext cx="3948427" cy="1668614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def </a:t>
            </a:r>
            <a:r>
              <a:rPr lang="en-US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exp_rec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(x, n):</a:t>
            </a:r>
          </a:p>
          <a:p>
            <a:pPr marL="0" lv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if n == 0:</a:t>
            </a:r>
          </a:p>
          <a:p>
            <a:pPr marL="0" lv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return 1</a:t>
            </a:r>
          </a:p>
          <a:p>
            <a:pPr marL="0" lv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return x * </a:t>
            </a:r>
            <a:r>
              <a:rPr lang="en-US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exp_rec</a:t>
            </a: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(x, n-1)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5" name="Pfeil: nach rechts 4">
            <a:extLst>
              <a:ext uri="{FF2B5EF4-FFF2-40B4-BE49-F238E27FC236}">
                <a16:creationId xmlns:a16="http://schemas.microsoft.com/office/drawing/2014/main" id="{E36339DD-F5ED-48BD-86D8-3DC6F7EE403B}"/>
              </a:ext>
            </a:extLst>
          </p:cNvPr>
          <p:cNvSpPr>
            <a:spLocks noChangeAspect="1"/>
          </p:cNvSpPr>
          <p:nvPr/>
        </p:nvSpPr>
        <p:spPr>
          <a:xfrm>
            <a:off x="4042672" y="2051355"/>
            <a:ext cx="713170" cy="416016"/>
          </a:xfrm>
          <a:prstGeom prst="rightArrow">
            <a:avLst>
              <a:gd name="adj1" fmla="val 50000"/>
              <a:gd name="adj2" fmla="val 42857"/>
            </a:avLst>
          </a:prstGeom>
          <a:solidFill>
            <a:srgbClr val="C9211E"/>
          </a:solidFill>
          <a:ln w="0">
            <a:solidFill>
              <a:srgbClr val="C9211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C98B7B46-71CF-4285-BAB7-70AD9C727C25}"/>
              </a:ext>
            </a:extLst>
          </p:cNvPr>
          <p:cNvSpPr>
            <a:spLocks noChangeAspect="1"/>
          </p:cNvSpPr>
          <p:nvPr/>
        </p:nvSpPr>
        <p:spPr>
          <a:xfrm>
            <a:off x="4042672" y="2764316"/>
            <a:ext cx="713170" cy="416016"/>
          </a:xfrm>
          <a:prstGeom prst="rightArrow">
            <a:avLst>
              <a:gd name="adj1" fmla="val 50000"/>
              <a:gd name="adj2" fmla="val 42857"/>
            </a:avLst>
          </a:prstGeom>
          <a:solidFill>
            <a:srgbClr val="C9211E"/>
          </a:solidFill>
          <a:ln w="0">
            <a:solidFill>
              <a:srgbClr val="C9211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564041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Implementation of powers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9" name="Google Shape;87;p2">
            <a:extLst>
              <a:ext uri="{FF2B5EF4-FFF2-40B4-BE49-F238E27FC236}">
                <a16:creationId xmlns:a16="http://schemas.microsoft.com/office/drawing/2014/main" id="{46C279BD-56D8-4E69-B5CD-E30F5A8CAE76}"/>
              </a:ext>
            </a:extLst>
          </p:cNvPr>
          <p:cNvSpPr txBox="1">
            <a:spLocks/>
          </p:cNvSpPr>
          <p:nvPr/>
        </p:nvSpPr>
        <p:spPr>
          <a:xfrm>
            <a:off x="5204157" y="2989042"/>
            <a:ext cx="3661427" cy="2046276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pt-BR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def </a:t>
            </a:r>
            <a:r>
              <a:rPr lang="pt-BR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exp</a:t>
            </a:r>
            <a:r>
              <a:rPr kumimoji="0" lang="pt-BR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_while(x, n):</a:t>
            </a:r>
          </a:p>
          <a:p>
            <a:pPr marL="0" lvl="0" indent="0">
              <a:spcBef>
                <a:spcPts val="640"/>
              </a:spcBef>
            </a:pPr>
            <a:r>
              <a:rPr kumimoji="0" lang="pt-BR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   </a:t>
            </a: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result = 1</a:t>
            </a:r>
          </a:p>
          <a:p>
            <a:pPr marL="0" lv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while n &gt; 0:</a:t>
            </a:r>
          </a:p>
          <a:p>
            <a:pPr marL="0" lv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result *= x</a:t>
            </a:r>
          </a:p>
          <a:p>
            <a:pPr marL="0" lv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n -= 1</a:t>
            </a:r>
          </a:p>
          <a:p>
            <a:pPr marL="0" lv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return result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0" name="Google Shape;87;p2">
            <a:extLst>
              <a:ext uri="{FF2B5EF4-FFF2-40B4-BE49-F238E27FC236}">
                <a16:creationId xmlns:a16="http://schemas.microsoft.com/office/drawing/2014/main" id="{B415F276-B698-4ECF-99BC-B038EFE2C743}"/>
              </a:ext>
            </a:extLst>
          </p:cNvPr>
          <p:cNvSpPr txBox="1">
            <a:spLocks/>
          </p:cNvSpPr>
          <p:nvPr/>
        </p:nvSpPr>
        <p:spPr>
          <a:xfrm>
            <a:off x="5204156" y="1248679"/>
            <a:ext cx="3661427" cy="1740363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def </a:t>
            </a: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exp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_for(x, n):</a:t>
            </a:r>
          </a:p>
          <a:p>
            <a:pPr marL="0" lvl="0" indent="0">
              <a:spcBef>
                <a:spcPts val="640"/>
              </a:spcBef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   </a:t>
            </a: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result = 1</a:t>
            </a:r>
          </a:p>
          <a:p>
            <a:pPr marL="0" lv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for </a:t>
            </a:r>
            <a:r>
              <a:rPr lang="en-US" sz="16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i</a:t>
            </a: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in range(n):</a:t>
            </a:r>
          </a:p>
          <a:p>
            <a:pPr marL="0" lv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result *= x</a:t>
            </a:r>
          </a:p>
          <a:p>
            <a:pPr marL="0" lv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return result</a:t>
            </a: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1" name="Google Shape;87;p2">
            <a:extLst>
              <a:ext uri="{FF2B5EF4-FFF2-40B4-BE49-F238E27FC236}">
                <a16:creationId xmlns:a16="http://schemas.microsoft.com/office/drawing/2014/main" id="{82FFEBE8-FCEB-490D-8C05-DD3A6F34EE7F}"/>
              </a:ext>
            </a:extLst>
          </p:cNvPr>
          <p:cNvSpPr txBox="1">
            <a:spLocks/>
          </p:cNvSpPr>
          <p:nvPr/>
        </p:nvSpPr>
        <p:spPr>
          <a:xfrm>
            <a:off x="5204157" y="5035318"/>
            <a:ext cx="3661427" cy="1405529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>
              <a:spcBef>
                <a:spcPts val="640"/>
              </a:spcBef>
              <a:defRPr/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def </a:t>
            </a:r>
            <a:r>
              <a:rPr lang="en-US" sz="16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exp_rec</a:t>
            </a: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(x, n):</a:t>
            </a:r>
          </a:p>
          <a:p>
            <a:pPr marL="0" lv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if n == 0:</a:t>
            </a:r>
          </a:p>
          <a:p>
            <a:pPr marL="0" lv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return 1</a:t>
            </a:r>
          </a:p>
          <a:p>
            <a:pPr marL="0" lv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return x * </a:t>
            </a:r>
            <a:r>
              <a:rPr lang="en-US" sz="16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exp_rec</a:t>
            </a: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(x, n-1)</a:t>
            </a:r>
          </a:p>
        </p:txBody>
      </p:sp>
      <p:sp>
        <p:nvSpPr>
          <p:cNvPr id="13" name="Google Shape;87;p2">
            <a:extLst>
              <a:ext uri="{FF2B5EF4-FFF2-40B4-BE49-F238E27FC236}">
                <a16:creationId xmlns:a16="http://schemas.microsoft.com/office/drawing/2014/main" id="{34A40FED-4695-4D12-A7E6-B5E7A5936F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414233" y="1248679"/>
            <a:ext cx="2789922" cy="4865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Iteration with for loop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Iteration with while loop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Recursion</a:t>
            </a:r>
            <a:r>
              <a:rPr lang="en-US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		</a:t>
            </a: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de-AT" sz="1800" b="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DB3D76D0-CDAB-4CF7-8687-92084CE484F5}"/>
              </a:ext>
            </a:extLst>
          </p:cNvPr>
          <p:cNvSpPr/>
          <p:nvPr/>
        </p:nvSpPr>
        <p:spPr>
          <a:xfrm>
            <a:off x="1808729" y="1804838"/>
            <a:ext cx="365760" cy="4114800"/>
          </a:xfrm>
          <a:custGeom>
            <a:avLst/>
            <a:gdLst>
              <a:gd name="textAreaLeft" fmla="*/ 233640 w 365760"/>
              <a:gd name="textAreaRight" fmla="*/ 366120 w 365760"/>
              <a:gd name="textAreaTop" fmla="*/ 107280 h 4114800"/>
              <a:gd name="textAreaBottom" fmla="*/ 4007520 h 411480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21600" y="0"/>
                </a:moveTo>
                <a:cubicBezTo>
                  <a:pt x="16200" y="0"/>
                  <a:pt x="10800" y="900"/>
                  <a:pt x="10800" y="1800"/>
                </a:cubicBezTo>
                <a:lnTo>
                  <a:pt x="10800" y="9000"/>
                </a:lnTo>
                <a:cubicBezTo>
                  <a:pt x="10800" y="9900"/>
                  <a:pt x="5400" y="10800"/>
                  <a:pt x="0" y="10800"/>
                </a:cubicBezTo>
                <a:cubicBezTo>
                  <a:pt x="5400" y="10800"/>
                  <a:pt x="10800" y="11700"/>
                  <a:pt x="10800" y="12600"/>
                </a:cubicBezTo>
                <a:lnTo>
                  <a:pt x="10800" y="19800"/>
                </a:lnTo>
                <a:cubicBezTo>
                  <a:pt x="10800" y="20700"/>
                  <a:pt x="16200" y="21600"/>
                  <a:pt x="21600" y="21600"/>
                </a:cubicBezTo>
              </a:path>
            </a:pathLst>
          </a:custGeom>
          <a:noFill/>
          <a:ln w="3672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Google Shape;87;p2">
                <a:extLst>
                  <a:ext uri="{FF2B5EF4-FFF2-40B4-BE49-F238E27FC236}">
                    <a16:creationId xmlns:a16="http://schemas.microsoft.com/office/drawing/2014/main" id="{7C1004AC-19F8-4EBD-9ADE-012440B1D90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86789" y="3501816"/>
                <a:ext cx="1621940" cy="8299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64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  <a:sym typeface="Arial"/>
                  </a:rPr>
                  <a:t>Same result</a:t>
                </a:r>
              </a:p>
              <a:p>
                <a:pPr marL="0" lvl="0" indent="0" algn="ctr">
                  <a:spcBef>
                    <a:spcPts val="64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de-AT" sz="18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  <a:sym typeface="Arial"/>
                        </a:rPr>
                        <m:t>=</m:t>
                      </m:r>
                      <m:sSup>
                        <m:sSupPr>
                          <m:ctrlPr>
                            <a:rPr lang="de-AT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de-AT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 </m:t>
                          </m:r>
                          <m:r>
                            <a:rPr lang="de-AT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𝑥</m:t>
                          </m:r>
                        </m:e>
                        <m:sup>
                          <m:r>
                            <a:rPr lang="de-AT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  <a:sym typeface="Arial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4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tabLst/>
                  <a:defRPr/>
                </a:pPr>
                <a:endParaRPr kumimoji="0" lang="de-AT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  <a:sym typeface="Arial"/>
                </a:endParaRPr>
              </a:p>
            </p:txBody>
          </p:sp>
        </mc:Choice>
        <mc:Fallback xmlns="">
          <p:sp>
            <p:nvSpPr>
              <p:cNvPr id="15" name="Google Shape;87;p2">
                <a:extLst>
                  <a:ext uri="{FF2B5EF4-FFF2-40B4-BE49-F238E27FC236}">
                    <a16:creationId xmlns:a16="http://schemas.microsoft.com/office/drawing/2014/main" id="{7C1004AC-19F8-4EBD-9ADE-012440B1D9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789" y="3501816"/>
                <a:ext cx="1621940" cy="82990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7440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Fibonacci numbers (Golden ratio)</a:t>
            </a:r>
            <a:endParaRPr lang="en-US" noProof="0" dirty="0">
              <a:solidFill>
                <a:schemeClr val="dk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542544" y="1646650"/>
                <a:ext cx="8229600" cy="1990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Leonardo Fibonacci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Next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number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in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the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sequence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is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the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sum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of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the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last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two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numbers</a:t>
                </a:r>
                <a:endParaRPr lang="en-US" sz="18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Base cases: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0</m:t>
                        </m:r>
                      </m:sub>
                    </m:sSub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=0</m:t>
                    </m:r>
                  </m:oMath>
                </a14:m>
                <a:r>
                  <a:rPr lang="de-AT" sz="1800" b="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AT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r>
                      <a:rPr lang="de-AT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1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endParaRPr lang="de-AT" sz="1800" b="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Recursive case: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  <m: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sub>
                    </m:sSub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 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−1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en-US" sz="1800" b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−2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sub>
                    </m:sSub>
                  </m:oMath>
                </a14:m>
                <a:endParaRPr lang="de-AT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b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  <a:hlinkClick r:id="rId3"/>
                  </a:rPr>
                  <a:t>https://en.wikipedia.org/wiki/Fibonacci_number</a:t>
                </a:r>
                <a:endParaRPr lang="en-US" sz="1800" b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42544" y="1646650"/>
                <a:ext cx="8229600" cy="1990928"/>
              </a:xfrm>
              <a:prstGeom prst="rect">
                <a:avLst/>
              </a:prstGeom>
              <a:blipFill>
                <a:blip r:embed="rId4"/>
                <a:stretch>
                  <a:fillRect l="-14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Google Shape;87;p2">
                <a:extLst>
                  <a:ext uri="{FF2B5EF4-FFF2-40B4-BE49-F238E27FC236}">
                    <a16:creationId xmlns:a16="http://schemas.microsoft.com/office/drawing/2014/main" id="{279F9ABB-0853-4C48-80D0-221318E1486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7014" y="3637578"/>
                <a:ext cx="7884442" cy="994493"/>
              </a:xfrm>
              <a:prstGeom prst="rect">
                <a:avLst/>
              </a:prstGeom>
              <a:solidFill>
                <a:srgbClr val="DAE3F3"/>
              </a:solidFill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4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tabLst/>
                  <a:defRPr/>
                </a:pPr>
                <a:r>
                  <a:rPr kumimoji="0" lang="de-AT" sz="1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  <a:sym typeface="Arial"/>
                  </a:rPr>
                  <a:t>Example: </a:t>
                </a:r>
              </a:p>
              <a:p>
                <a:pPr marL="0" lvl="0" indent="0">
                  <a:spcBef>
                    <a:spcPts val="64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0, 1, 1, 2, 3, 5, 8, 13, 21, 34, 55, 89, 144, 233</m:t>
                      </m:r>
                    </m:oMath>
                  </m:oMathPara>
                </a14:m>
                <a:endParaRPr kumimoji="0" lang="de-AT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  <a:sym typeface="Arial"/>
                </a:endParaRPr>
              </a:p>
            </p:txBody>
          </p:sp>
        </mc:Choice>
        <mc:Fallback xmlns="">
          <p:sp>
            <p:nvSpPr>
              <p:cNvPr id="4" name="Google Shape;87;p2">
                <a:extLst>
                  <a:ext uri="{FF2B5EF4-FFF2-40B4-BE49-F238E27FC236}">
                    <a16:creationId xmlns:a16="http://schemas.microsoft.com/office/drawing/2014/main" id="{279F9ABB-0853-4C48-80D0-221318E148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014" y="3637578"/>
                <a:ext cx="7884442" cy="994493"/>
              </a:xfrm>
              <a:prstGeom prst="rect">
                <a:avLst/>
              </a:prstGeom>
              <a:blipFill>
                <a:blip r:embed="rId5"/>
                <a:stretch>
                  <a:fillRect l="-69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fik 4">
            <a:extLst>
              <a:ext uri="{FF2B5EF4-FFF2-40B4-BE49-F238E27FC236}">
                <a16:creationId xmlns:a16="http://schemas.microsoft.com/office/drawing/2014/main" id="{87D2A0B4-31F9-4A38-93CF-00C54D74AD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03726" y="4632071"/>
            <a:ext cx="2313973" cy="1435255"/>
          </a:xfrm>
          <a:prstGeom prst="rect">
            <a:avLst/>
          </a:prstGeom>
          <a:ln w="0">
            <a:noFill/>
          </a:ln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A8BBF6D7-34EB-4FA2-B17B-D1645759B2A9}"/>
              </a:ext>
            </a:extLst>
          </p:cNvPr>
          <p:cNvSpPr txBox="1">
            <a:spLocks noChangeAspect="1"/>
          </p:cNvSpPr>
          <p:nvPr/>
        </p:nvSpPr>
        <p:spPr>
          <a:xfrm>
            <a:off x="303726" y="6063377"/>
            <a:ext cx="2248713" cy="378063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000" b="0" strike="noStrike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https://www.mathsisfun.com/numbers/fibonacci-sequence.html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414116D-A380-4040-8A67-5BE2A25BD1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2659877" y="4647502"/>
            <a:ext cx="1725413" cy="1382610"/>
          </a:xfrm>
          <a:prstGeom prst="rect">
            <a:avLst/>
          </a:prstGeom>
          <a:ln w="0">
            <a:noFill/>
          </a:ln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F7C738BE-787B-4DDB-9A30-A49742E9B06B}"/>
              </a:ext>
            </a:extLst>
          </p:cNvPr>
          <p:cNvSpPr txBox="1">
            <a:spLocks noChangeAspect="1"/>
          </p:cNvSpPr>
          <p:nvPr/>
        </p:nvSpPr>
        <p:spPr>
          <a:xfrm>
            <a:off x="2609614" y="6063377"/>
            <a:ext cx="1755476" cy="378062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000" b="0" strike="noStrike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https://insteading.com/blog/fibonacci-sequence-in-nature/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E066D091-6146-4729-9702-D35250569DC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535063" y="4630156"/>
            <a:ext cx="2291654" cy="1417303"/>
          </a:xfrm>
          <a:prstGeom prst="rect">
            <a:avLst/>
          </a:prstGeom>
          <a:ln w="0">
            <a:noFill/>
          </a:ln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A6F64C95-47E4-44A0-A207-6C8E8F2B2E46}"/>
              </a:ext>
            </a:extLst>
          </p:cNvPr>
          <p:cNvSpPr txBox="1">
            <a:spLocks noChangeAspect="1"/>
          </p:cNvSpPr>
          <p:nvPr/>
        </p:nvSpPr>
        <p:spPr>
          <a:xfrm>
            <a:off x="6513748" y="6085521"/>
            <a:ext cx="2248713" cy="290884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000" b="0" strike="noStrike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https://knowyourmeme.com/photos/1054836-donald-trump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7E649CB7-7F8C-4225-82CD-5C4264322AB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13984" t="18315" r="20999" b="28882"/>
          <a:stretch/>
        </p:blipFill>
        <p:spPr>
          <a:xfrm>
            <a:off x="4473192" y="4650266"/>
            <a:ext cx="2040556" cy="1417060"/>
          </a:xfrm>
          <a:prstGeom prst="rect">
            <a:avLst/>
          </a:prstGeom>
          <a:ln w="0">
            <a:noFill/>
          </a:ln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8C36AABC-159A-4F35-8C3F-96A0E01C217C}"/>
              </a:ext>
            </a:extLst>
          </p:cNvPr>
          <p:cNvSpPr txBox="1">
            <a:spLocks noChangeAspect="1"/>
          </p:cNvSpPr>
          <p:nvPr/>
        </p:nvSpPr>
        <p:spPr>
          <a:xfrm>
            <a:off x="4422266" y="6063377"/>
            <a:ext cx="1940958" cy="378062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000" b="0" strike="noStrike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http://thesmarthappyproject.com/fibonacci-in-a-sunflower/</a:t>
            </a:r>
          </a:p>
        </p:txBody>
      </p:sp>
    </p:spTree>
    <p:extLst>
      <p:ext uri="{BB962C8B-B14F-4D97-AF65-F5344CB8AC3E}">
        <p14:creationId xmlns:p14="http://schemas.microsoft.com/office/powerpoint/2010/main" val="1970299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Implementation of Fibonacci</a:t>
            </a:r>
            <a:endParaRPr lang="en-US" noProof="0" dirty="0">
              <a:solidFill>
                <a:schemeClr val="dk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542544" y="1595194"/>
                <a:ext cx="4289760" cy="242282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indent="0">
                  <a:spcBef>
                    <a:spcPts val="640"/>
                  </a:spcBef>
                </a:pPr>
                <a:endParaRPr lang="en-US" sz="18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Base case: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=1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endParaRPr lang="en-US" sz="18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Base case:</a:t>
                </a:r>
                <a14:m>
                  <m:oMath xmlns:m="http://schemas.openxmlformats.org/officeDocument/2006/math">
                    <m:r>
                      <a:rPr lang="de-AT" sz="1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          </m:t>
                    </m:r>
                    <m:sSub>
                      <m:sSub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sub>
                    </m:sSub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=1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endParaRPr lang="en-US" sz="18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Recursive case: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sub>
                    </m:sSub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 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−1 </m:t>
                        </m:r>
                      </m:sub>
                    </m:sSub>
                    <m:r>
                      <m:rPr>
                        <m:nor/>
                      </m:rPr>
                      <a:rPr lang="en-US" sz="18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+ 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−2 </m:t>
                        </m:r>
                      </m:sub>
                    </m:sSub>
                  </m:oMath>
                </a14:m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		</a:t>
                </a:r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endParaRPr lang="de-DE" sz="1800" b="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endParaRPr lang="de-DE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highlight>
                      <a:srgbClr val="DAE3F3"/>
                    </a:highlight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See unit7.ipynb</a:t>
                </a:r>
              </a:p>
              <a:p>
                <a:pPr marL="0" indent="0">
                  <a:spcBef>
                    <a:spcPts val="640"/>
                  </a:spcBef>
                </a:pPr>
                <a:endParaRPr lang="de-AT" sz="1800" b="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42544" y="1595194"/>
                <a:ext cx="4289760" cy="2422826"/>
              </a:xfrm>
              <a:prstGeom prst="rect">
                <a:avLst/>
              </a:prstGeom>
              <a:blipFill>
                <a:blip r:embed="rId3"/>
                <a:stretch>
                  <a:fillRect l="-1180" b="-5104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79F9ABB-0853-4C48-80D0-221318E14867}"/>
              </a:ext>
            </a:extLst>
          </p:cNvPr>
          <p:cNvSpPr txBox="1">
            <a:spLocks/>
          </p:cNvSpPr>
          <p:nvPr/>
        </p:nvSpPr>
        <p:spPr>
          <a:xfrm>
            <a:off x="4881874" y="1595193"/>
            <a:ext cx="3948427" cy="2376105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def fib(n):</a:t>
            </a:r>
          </a:p>
          <a:p>
            <a:pPr marL="0" lv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if n == 1:</a:t>
            </a:r>
          </a:p>
          <a:p>
            <a:pPr marL="0" lv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return 1</a:t>
            </a:r>
          </a:p>
          <a:p>
            <a:pPr marL="0" lv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if n == 2:</a:t>
            </a:r>
          </a:p>
          <a:p>
            <a:pPr marL="0" lv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return 1</a:t>
            </a:r>
          </a:p>
          <a:p>
            <a:pPr marL="0" lv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return fib(n-2) + fib(n-1)</a:t>
            </a:r>
          </a:p>
        </p:txBody>
      </p:sp>
      <p:sp>
        <p:nvSpPr>
          <p:cNvPr id="5" name="Pfeil: nach rechts 4">
            <a:extLst>
              <a:ext uri="{FF2B5EF4-FFF2-40B4-BE49-F238E27FC236}">
                <a16:creationId xmlns:a16="http://schemas.microsoft.com/office/drawing/2014/main" id="{E36339DD-F5ED-48BD-86D8-3DC6F7EE403B}"/>
              </a:ext>
            </a:extLst>
          </p:cNvPr>
          <p:cNvSpPr>
            <a:spLocks noChangeAspect="1"/>
          </p:cNvSpPr>
          <p:nvPr/>
        </p:nvSpPr>
        <p:spPr>
          <a:xfrm>
            <a:off x="4042672" y="2051355"/>
            <a:ext cx="713170" cy="416016"/>
          </a:xfrm>
          <a:prstGeom prst="rightArrow">
            <a:avLst>
              <a:gd name="adj1" fmla="val 50000"/>
              <a:gd name="adj2" fmla="val 42857"/>
            </a:avLst>
          </a:prstGeom>
          <a:solidFill>
            <a:srgbClr val="C9211E"/>
          </a:solidFill>
          <a:ln w="0">
            <a:solidFill>
              <a:srgbClr val="C9211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C98B7B46-71CF-4285-BAB7-70AD9C727C25}"/>
              </a:ext>
            </a:extLst>
          </p:cNvPr>
          <p:cNvSpPr>
            <a:spLocks noChangeAspect="1"/>
          </p:cNvSpPr>
          <p:nvPr/>
        </p:nvSpPr>
        <p:spPr>
          <a:xfrm>
            <a:off x="4042672" y="3429000"/>
            <a:ext cx="713170" cy="416016"/>
          </a:xfrm>
          <a:prstGeom prst="rightArrow">
            <a:avLst>
              <a:gd name="adj1" fmla="val 50000"/>
              <a:gd name="adj2" fmla="val 42857"/>
            </a:avLst>
          </a:prstGeom>
          <a:solidFill>
            <a:srgbClr val="C9211E"/>
          </a:solidFill>
          <a:ln w="0">
            <a:solidFill>
              <a:srgbClr val="C9211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3020F6BB-FE6E-4D18-ADD6-EAABF54C2869}"/>
              </a:ext>
            </a:extLst>
          </p:cNvPr>
          <p:cNvSpPr>
            <a:spLocks noChangeAspect="1"/>
          </p:cNvSpPr>
          <p:nvPr/>
        </p:nvSpPr>
        <p:spPr>
          <a:xfrm>
            <a:off x="4042672" y="2744675"/>
            <a:ext cx="713170" cy="416016"/>
          </a:xfrm>
          <a:prstGeom prst="rightArrow">
            <a:avLst>
              <a:gd name="adj1" fmla="val 50000"/>
              <a:gd name="adj2" fmla="val 42857"/>
            </a:avLst>
          </a:prstGeom>
          <a:solidFill>
            <a:srgbClr val="C9211E"/>
          </a:solidFill>
          <a:ln w="0">
            <a:solidFill>
              <a:srgbClr val="C9211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9" name="Google Shape;87;p2">
            <a:extLst>
              <a:ext uri="{FF2B5EF4-FFF2-40B4-BE49-F238E27FC236}">
                <a16:creationId xmlns:a16="http://schemas.microsoft.com/office/drawing/2014/main" id="{C28C4A5E-747D-470D-8354-D36B25F53E23}"/>
              </a:ext>
            </a:extLst>
          </p:cNvPr>
          <p:cNvSpPr txBox="1">
            <a:spLocks/>
          </p:cNvSpPr>
          <p:nvPr/>
        </p:nvSpPr>
        <p:spPr>
          <a:xfrm>
            <a:off x="4881874" y="4018020"/>
            <a:ext cx="3948427" cy="2422827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>
              <a:spcBef>
                <a:spcPts val="640"/>
              </a:spcBef>
            </a:pPr>
            <a:r>
              <a:rPr lang="pt-BR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# Iterative with for</a:t>
            </a:r>
          </a:p>
          <a:p>
            <a:pPr marL="0" lvl="0" indent="0">
              <a:spcBef>
                <a:spcPts val="640"/>
              </a:spcBef>
            </a:pPr>
            <a:r>
              <a:rPr lang="pt-BR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def fib(n):</a:t>
            </a:r>
          </a:p>
          <a:p>
            <a:pPr marL="0" lvl="0" indent="0">
              <a:spcBef>
                <a:spcPts val="640"/>
              </a:spcBef>
            </a:pPr>
            <a:r>
              <a:rPr lang="pt-BR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num_1 = 0</a:t>
            </a:r>
          </a:p>
          <a:p>
            <a:pPr marL="0" lvl="0" indent="0">
              <a:spcBef>
                <a:spcPts val="640"/>
              </a:spcBef>
            </a:pPr>
            <a:r>
              <a:rPr lang="pt-BR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num_2 = 1</a:t>
            </a:r>
          </a:p>
          <a:p>
            <a:pPr marL="0" lvl="0" indent="0">
              <a:spcBef>
                <a:spcPts val="640"/>
              </a:spcBef>
            </a:pPr>
            <a:r>
              <a:rPr lang="pt-BR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for i in range(0, n):</a:t>
            </a:r>
          </a:p>
          <a:p>
            <a:pPr marL="0" lvl="0" indent="0">
              <a:spcBef>
                <a:spcPts val="640"/>
              </a:spcBef>
            </a:pPr>
            <a:r>
              <a:rPr lang="pt-BR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num_1 = num_2</a:t>
            </a:r>
          </a:p>
          <a:p>
            <a:pPr marL="0" lvl="0" indent="0">
              <a:spcBef>
                <a:spcPts val="640"/>
              </a:spcBef>
            </a:pPr>
            <a:r>
              <a:rPr lang="pt-BR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num_2 = num_1+num_2</a:t>
            </a:r>
          </a:p>
          <a:p>
            <a:pPr marL="0" lvl="0" indent="0">
              <a:spcBef>
                <a:spcPts val="640"/>
              </a:spcBef>
            </a:pPr>
            <a:r>
              <a:rPr lang="pt-BR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return num_1</a:t>
            </a:r>
          </a:p>
        </p:txBody>
      </p:sp>
    </p:spTree>
    <p:extLst>
      <p:ext uri="{BB962C8B-B14F-4D97-AF65-F5344CB8AC3E}">
        <p14:creationId xmlns:p14="http://schemas.microsoft.com/office/powerpoint/2010/main" val="7853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Problems with recursion</a:t>
            </a:r>
            <a:endParaRPr lang="en-US" noProof="0" dirty="0">
              <a:solidFill>
                <a:schemeClr val="dk1"/>
              </a:solidFill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D32095FE-9B8E-4041-A6DF-6302270C4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28565" y="1168000"/>
            <a:ext cx="4994609" cy="5227934"/>
          </a:xfrm>
          <a:prstGeom prst="rect">
            <a:avLst/>
          </a:prstGeom>
          <a:ln w="0">
            <a:noFill/>
          </a:ln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E846EF15-EACE-4FA4-86E6-61430CBECDB1}"/>
              </a:ext>
            </a:extLst>
          </p:cNvPr>
          <p:cNvSpPr txBox="1">
            <a:spLocks noChangeAspect="1"/>
          </p:cNvSpPr>
          <p:nvPr/>
        </p:nvSpPr>
        <p:spPr>
          <a:xfrm>
            <a:off x="1416988" y="6091064"/>
            <a:ext cx="4289669" cy="186712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200" b="0" strike="noStrike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Quelle: https://www.smbc-comics.com/comic/recursion</a:t>
            </a:r>
          </a:p>
        </p:txBody>
      </p:sp>
    </p:spTree>
    <p:extLst>
      <p:ext uri="{BB962C8B-B14F-4D97-AF65-F5344CB8AC3E}">
        <p14:creationId xmlns:p14="http://schemas.microsoft.com/office/powerpoint/2010/main" val="33576457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Examples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7903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Recursion examples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2638457-2D9F-4863-99CD-F828C4C1BC3C}"/>
              </a:ext>
            </a:extLst>
          </p:cNvPr>
          <p:cNvSpPr/>
          <p:nvPr/>
        </p:nvSpPr>
        <p:spPr>
          <a:xfrm>
            <a:off x="825617" y="1501669"/>
            <a:ext cx="7492765" cy="4388004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noAutofit/>
          </a:bodyPr>
          <a:lstStyle/>
          <a:p>
            <a:pPr algn="just"/>
            <a:r>
              <a:rPr lang="en-US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 1. Binary representation</a:t>
            </a: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Compose a recursive program that takes 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positive integer n (in decimal) from the command line and writes its binary 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representation. Recall the following method: repeatedly divide n by 2 and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 the remainders backwards. </a:t>
            </a:r>
          </a:p>
          <a:p>
            <a:pPr algn="just"/>
            <a:endParaRPr lang="en-US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US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 2. Permutations. </a:t>
            </a: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Compose a program that takes a command-line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argument n and writes all n! permutations of the n letters starting at a 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(assume that n is no greater than 26). A permutation of n elements is one 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 the n! possible orderings of the elements.</a:t>
            </a:r>
          </a:p>
          <a:p>
            <a:pPr algn="just"/>
            <a:endParaRPr lang="en-US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US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 3. Recursive squares (fractals). </a:t>
            </a: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Compose a program to produce the 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following recursive pattern.</a:t>
            </a:r>
          </a:p>
        </p:txBody>
      </p:sp>
      <p:sp>
        <p:nvSpPr>
          <p:cNvPr id="6" name="Google Shape;87;p2">
            <a:extLst>
              <a:ext uri="{FF2B5EF4-FFF2-40B4-BE49-F238E27FC236}">
                <a16:creationId xmlns:a16="http://schemas.microsoft.com/office/drawing/2014/main" id="{E702544F-B557-4280-BAC4-9E0BD0616E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24994" y="5889673"/>
            <a:ext cx="8036099" cy="585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unit7.ipynb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CDE4580-278E-4C6A-A3B6-207CB127A2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7726" y="4929024"/>
            <a:ext cx="876300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1593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80495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p:sp>
        <p:nvSpPr>
          <p:cNvPr id="4" name="Textfeld 2">
            <a:extLst>
              <a:ext uri="{FF2B5EF4-FFF2-40B4-BE49-F238E27FC236}">
                <a16:creationId xmlns:a16="http://schemas.microsoft.com/office/drawing/2014/main" id="{B1AB2DE2-BFB4-403B-9976-58C0812A00AF}"/>
              </a:ext>
            </a:extLst>
          </p:cNvPr>
          <p:cNvSpPr txBox="1"/>
          <p:nvPr/>
        </p:nvSpPr>
        <p:spPr>
          <a:xfrm>
            <a:off x="461938" y="1083087"/>
            <a:ext cx="8229600" cy="4555093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defRPr/>
            </a:pPr>
            <a:r>
              <a:rPr lang="de-DE" sz="1800" b="1" dirty="0">
                <a:latin typeface="Calibri" panose="020F0502020204030204" pitchFamily="34" charset="0"/>
                <a:cs typeface="Calibri" panose="020F0502020204030204" pitchFamily="34" charset="0"/>
              </a:rPr>
              <a:t>Task 1:</a:t>
            </a:r>
            <a:r>
              <a:rPr lang="de-DE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 a list of student dictionaries defined below. Write a function, which nicely prints all the students including all of their data. The functions takes the student list as a parameter. Do not forget to test your code.</a:t>
            </a:r>
          </a:p>
          <a:p>
            <a:pPr lvl="0">
              <a:defRPr/>
            </a:pP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student1 = {'first': 'Max', 'last': '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Mustermann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', '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matnr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': 131211, 'grade': 2}</a:t>
            </a:r>
          </a:p>
          <a:p>
            <a:pPr lvl="0">
              <a:defRPr/>
            </a:pP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student2 = {'first': 'Maria', 'last': '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Musterfrau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', '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matnr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': 12119, 'grade': 2}</a:t>
            </a:r>
          </a:p>
          <a:p>
            <a:pPr lvl="0">
              <a:defRPr/>
            </a:pP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student3 = {'first': 'Lukas', 'last': 'Student', '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matnr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': 13299, 'grade': 3}</a:t>
            </a:r>
          </a:p>
          <a:p>
            <a:pPr lvl="0">
              <a:defRPr/>
            </a:pP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student4 = {'first': 'Lisa', 'last': '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Studentin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', '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matnr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': 131211, 'grade': 4}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hlinkClick r:id="rId3"/>
            </a:endParaRPr>
          </a:p>
          <a:p>
            <a:pPr>
              <a:defRPr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defRPr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</a:t>
            </a:r>
            <a:r>
              <a:rPr lang="en-US" sz="1800" dirty="0">
                <a:highlight>
                  <a:srgbClr val="DAE3F3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unit7_exercise.ipynb</a:t>
            </a:r>
          </a:p>
          <a:p>
            <a:pPr lvl="0">
              <a:defRPr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>
              <a:defRPr/>
            </a:pP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Task 2: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Write a function, which computes the average student grade from the list of students. The list contains student dictionaries as in the previous exercise.</a:t>
            </a:r>
          </a:p>
          <a:p>
            <a:pPr lvl="0">
              <a:defRPr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defRPr/>
            </a:pPr>
            <a:r>
              <a:rPr lang="de-DE" sz="1800" b="1" dirty="0">
                <a:latin typeface="Calibri" panose="020F0502020204030204" pitchFamily="34" charset="0"/>
                <a:cs typeface="Calibri" panose="020F0502020204030204" pitchFamily="34" charset="0"/>
              </a:rPr>
              <a:t>Task 3: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Compute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first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n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natural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numbers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recursion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>
              <a:defRPr/>
            </a:pPr>
            <a:endParaRPr lang="de-DE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defRPr/>
            </a:pPr>
            <a:r>
              <a:rPr lang="de-DE" sz="1800" b="1" dirty="0">
                <a:latin typeface="Calibri" panose="020F0502020204030204" pitchFamily="34" charset="0"/>
                <a:cs typeface="Calibri" panose="020F0502020204030204" pitchFamily="34" charset="0"/>
              </a:rPr>
              <a:t>Task 4. 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Use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drawing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code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previous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examples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produce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following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pattern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473CBD-85AF-4157-A662-59704A52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1124" y="5336763"/>
            <a:ext cx="876300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265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2054</Words>
  <Application>Microsoft Macintosh PowerPoint</Application>
  <PresentationFormat>On-screen Show (4:3)</PresentationFormat>
  <Paragraphs>378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Calibri</vt:lpstr>
      <vt:lpstr>Cambria Math</vt:lpstr>
      <vt:lpstr>Wingdings</vt:lpstr>
      <vt:lpstr>Blackadder ITC</vt:lpstr>
      <vt:lpstr>Consolas</vt:lpstr>
      <vt:lpstr>Arial</vt:lpstr>
      <vt:lpstr>Office Theme</vt:lpstr>
      <vt:lpstr>Fundamentals of Computer Science and Programming </vt:lpstr>
      <vt:lpstr>Outline</vt:lpstr>
      <vt:lpstr>Sets</vt:lpstr>
      <vt:lpstr>Basics of sets</vt:lpstr>
      <vt:lpstr>Basics of sets</vt:lpstr>
      <vt:lpstr>Set operations</vt:lpstr>
      <vt:lpstr>Dictionaries</vt:lpstr>
      <vt:lpstr>Real world dictionaries</vt:lpstr>
      <vt:lpstr>Basics of dictionaries</vt:lpstr>
      <vt:lpstr>Manipulating dictionaries</vt:lpstr>
      <vt:lpstr>Example with dictionaries</vt:lpstr>
      <vt:lpstr>Retrieving and iterating over dictionary elements</vt:lpstr>
      <vt:lpstr>Recursions</vt:lpstr>
      <vt:lpstr>Intuition</vt:lpstr>
      <vt:lpstr>Recursive algorithms</vt:lpstr>
      <vt:lpstr>Recursive algorithms</vt:lpstr>
      <vt:lpstr>Recursive function calls in Python</vt:lpstr>
      <vt:lpstr>Recursive function calls in Python</vt:lpstr>
      <vt:lpstr>Implementing recursions</vt:lpstr>
      <vt:lpstr>Factorial</vt:lpstr>
      <vt:lpstr>Implementation of factorial</vt:lpstr>
      <vt:lpstr>Implementation of factorial</vt:lpstr>
      <vt:lpstr>Recursive powers</vt:lpstr>
      <vt:lpstr>Implementation of powers</vt:lpstr>
      <vt:lpstr>Implementation of powers</vt:lpstr>
      <vt:lpstr>Fibonacci numbers (Golden ratio)</vt:lpstr>
      <vt:lpstr>Implementation of Fibonacci</vt:lpstr>
      <vt:lpstr>Problems with recursion</vt:lpstr>
      <vt:lpstr>Examples</vt:lpstr>
      <vt:lpstr>Recursion examples</vt:lpstr>
      <vt:lpstr>Exercise</vt:lpstr>
      <vt:lpstr>Student task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FP Basics of Computer Programming</dc:title>
  <dc:creator>Lyndon Nixon</dc:creator>
  <cp:lastModifiedBy>Ingo Frommholz</cp:lastModifiedBy>
  <cp:revision>1036</cp:revision>
  <dcterms:modified xsi:type="dcterms:W3CDTF">2025-11-11T20:28:37Z</dcterms:modified>
</cp:coreProperties>
</file>