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408" r:id="rId3"/>
    <p:sldId id="499" r:id="rId4"/>
    <p:sldId id="559" r:id="rId5"/>
    <p:sldId id="575" r:id="rId6"/>
    <p:sldId id="576" r:id="rId7"/>
    <p:sldId id="553" r:id="rId8"/>
    <p:sldId id="577" r:id="rId9"/>
    <p:sldId id="578" r:id="rId10"/>
    <p:sldId id="579" r:id="rId11"/>
    <p:sldId id="580" r:id="rId12"/>
    <p:sldId id="581" r:id="rId13"/>
    <p:sldId id="552" r:id="rId14"/>
    <p:sldId id="468" r:id="rId15"/>
    <p:sldId id="547" r:id="rId16"/>
    <p:sldId id="582" r:id="rId17"/>
    <p:sldId id="583" r:id="rId18"/>
    <p:sldId id="584" r:id="rId19"/>
    <p:sldId id="585" r:id="rId20"/>
    <p:sldId id="586" r:id="rId21"/>
    <p:sldId id="587" r:id="rId22"/>
    <p:sldId id="588" r:id="rId23"/>
    <p:sldId id="589" r:id="rId24"/>
    <p:sldId id="590" r:id="rId25"/>
    <p:sldId id="591" r:id="rId26"/>
    <p:sldId id="592" r:id="rId27"/>
    <p:sldId id="593" r:id="rId28"/>
    <p:sldId id="594" r:id="rId29"/>
    <p:sldId id="595" r:id="rId30"/>
    <p:sldId id="554" r:id="rId31"/>
    <p:sldId id="565" r:id="rId32"/>
    <p:sldId id="523" r:id="rId33"/>
    <p:sldId id="461" r:id="rId34"/>
  </p:sldIdLst>
  <p:sldSz cx="9144000" cy="6858000" type="screen4x3"/>
  <p:notesSz cx="7099300" cy="10234613"/>
  <p:embeddedFontLst>
    <p:embeddedFont>
      <p:font typeface="Blackadder ITC" pitchFamily="82" charset="77"/>
      <p:regular r:id="rId36"/>
    </p:embeddedFont>
    <p:embeddedFont>
      <p:font typeface="Cambria Math" panose="02040503050406030204" pitchFamily="18" charset="0"/>
      <p:regular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2CD32"/>
    <a:srgbClr val="1E90FF"/>
    <a:srgbClr val="D3242A"/>
    <a:srgbClr val="EDEDED"/>
    <a:srgbClr val="F8D7CD"/>
    <a:srgbClr val="FCECE8"/>
    <a:srgbClr val="ED7D31"/>
    <a:srgbClr val="E2F0D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046C9-5CA7-6749-A58F-6F62A7ACF621}" v="43" dt="2025-11-13T09:51:38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49" autoAdjust="0"/>
    <p:restoredTop sz="94830" autoAdjust="0"/>
  </p:normalViewPr>
  <p:slideViewPr>
    <p:cSldViewPr snapToGrid="0">
      <p:cViewPr varScale="1">
        <p:scale>
          <a:sx n="115" d="100"/>
          <a:sy n="115" d="100"/>
        </p:scale>
        <p:origin x="96" y="328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8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modSld">
      <pc:chgData name="Ingo Frommholz" userId="ee3b4549-206f-4e4f-93a1-b7ff676f0af7" providerId="ADAL" clId="{5F8971C4-3D52-5FAB-A951-9912A46CDBB0}" dt="2025-11-13T09:51:38.804" v="81" actId="404"/>
      <pc:docMkLst>
        <pc:docMk/>
      </pc:docMkLst>
      <pc:sldChg chg="addSp delSp modSp mod">
        <pc:chgData name="Ingo Frommholz" userId="ee3b4549-206f-4e4f-93a1-b7ff676f0af7" providerId="ADAL" clId="{5F8971C4-3D52-5FAB-A951-9912A46CDBB0}" dt="2025-11-13T09:31:11.111" v="77"/>
        <pc:sldMkLst>
          <pc:docMk/>
          <pc:sldMk cId="2688265821" sldId="461"/>
        </pc:sldMkLst>
        <pc:spChg chg="add del mod">
          <ac:chgData name="Ingo Frommholz" userId="ee3b4549-206f-4e4f-93a1-b7ff676f0af7" providerId="ADAL" clId="{5F8971C4-3D52-5FAB-A951-9912A46CDBB0}" dt="2025-11-13T09:31:11.111" v="77"/>
          <ac:spMkLst>
            <pc:docMk/>
            <pc:sldMk cId="2688265821" sldId="461"/>
            <ac:spMk id="3" creationId="{B0032EC6-54E9-E35F-1689-A685A366BF14}"/>
          </ac:spMkLst>
        </pc:spChg>
        <pc:spChg chg="mod">
          <ac:chgData name="Ingo Frommholz" userId="ee3b4549-206f-4e4f-93a1-b7ff676f0af7" providerId="ADAL" clId="{5F8971C4-3D52-5FAB-A951-9912A46CDBB0}" dt="2025-11-11T20:27:51.269" v="71" actId="1035"/>
          <ac:spMkLst>
            <pc:docMk/>
            <pc:sldMk cId="2688265821" sldId="461"/>
            <ac:spMk id="4" creationId="{B1AB2DE2-BFB4-403B-9976-58C0812A00AF}"/>
          </ac:spMkLst>
        </pc:spChg>
        <pc:picChg chg="mod">
          <ac:chgData name="Ingo Frommholz" userId="ee3b4549-206f-4e4f-93a1-b7ff676f0af7" providerId="ADAL" clId="{5F8971C4-3D52-5FAB-A951-9912A46CDBB0}" dt="2025-11-11T20:28:02.199" v="73" actId="1076"/>
          <ac:picMkLst>
            <pc:docMk/>
            <pc:sldMk cId="2688265821" sldId="461"/>
            <ac:picMk id="5" creationId="{28473CBD-85AF-4157-A662-59704A522582}"/>
          </ac:picMkLst>
        </pc:picChg>
      </pc:sldChg>
      <pc:sldChg chg="modSp">
        <pc:chgData name="Ingo Frommholz" userId="ee3b4549-206f-4e4f-93a1-b7ff676f0af7" providerId="ADAL" clId="{5F8971C4-3D52-5FAB-A951-9912A46CDBB0}" dt="2025-11-11T20:26:05.241" v="35"/>
        <pc:sldMkLst>
          <pc:docMk/>
          <pc:sldMk cId="1270159388" sldId="565"/>
        </pc:sldMkLst>
        <pc:spChg chg="mod">
          <ac:chgData name="Ingo Frommholz" userId="ee3b4549-206f-4e4f-93a1-b7ff676f0af7" providerId="ADAL" clId="{5F8971C4-3D52-5FAB-A951-9912A46CDBB0}" dt="2025-11-11T20:26:05.241" v="35"/>
          <ac:spMkLst>
            <pc:docMk/>
            <pc:sldMk cId="1270159388" sldId="565"/>
            <ac:spMk id="6" creationId="{E702544F-B557-4280-BAC4-9E0BD0616E05}"/>
          </ac:spMkLst>
        </pc:spChg>
      </pc:sldChg>
      <pc:sldChg chg="modSp">
        <pc:chgData name="Ingo Frommholz" userId="ee3b4549-206f-4e4f-93a1-b7ff676f0af7" providerId="ADAL" clId="{5F8971C4-3D52-5FAB-A951-9912A46CDBB0}" dt="2025-11-11T20:28:27.254" v="74"/>
        <pc:sldMkLst>
          <pc:docMk/>
          <pc:sldMk cId="3429029213" sldId="581"/>
        </pc:sldMkLst>
        <pc:spChg chg="mod">
          <ac:chgData name="Ingo Frommholz" userId="ee3b4549-206f-4e4f-93a1-b7ff676f0af7" providerId="ADAL" clId="{5F8971C4-3D52-5FAB-A951-9912A46CDBB0}" dt="2025-11-11T20:28:27.254" v="74"/>
          <ac:spMkLst>
            <pc:docMk/>
            <pc:sldMk cId="3429029213" sldId="581"/>
            <ac:spMk id="4" creationId="{22DB4709-7D3A-4C1D-8995-5771CCF24D43}"/>
          </ac:spMkLst>
        </pc:spChg>
      </pc:sldChg>
      <pc:sldChg chg="modSp">
        <pc:chgData name="Ingo Frommholz" userId="ee3b4549-206f-4e4f-93a1-b7ff676f0af7" providerId="ADAL" clId="{5F8971C4-3D52-5FAB-A951-9912A46CDBB0}" dt="2025-11-11T20:25:20.659" v="1" actId="20577"/>
        <pc:sldMkLst>
          <pc:docMk/>
          <pc:sldMk cId="372976994" sldId="588"/>
        </pc:sldMkLst>
        <pc:spChg chg="mod">
          <ac:chgData name="Ingo Frommholz" userId="ee3b4549-206f-4e4f-93a1-b7ff676f0af7" providerId="ADAL" clId="{5F8971C4-3D52-5FAB-A951-9912A46CDBB0}" dt="2025-11-11T20:25:20.659" v="1" actId="20577"/>
          <ac:spMkLst>
            <pc:docMk/>
            <pc:sldMk cId="372976994" sldId="588"/>
            <ac:spMk id="10" creationId="{B415F276-B698-4ECF-99BC-B038EFE2C743}"/>
          </ac:spMkLst>
        </pc:spChg>
      </pc:sldChg>
      <pc:sldChg chg="modSp modAnim">
        <pc:chgData name="Ingo Frommholz" userId="ee3b4549-206f-4e4f-93a1-b7ff676f0af7" providerId="ADAL" clId="{5F8971C4-3D52-5FAB-A951-9912A46CDBB0}" dt="2025-11-13T09:51:38.804" v="81" actId="404"/>
        <pc:sldMkLst>
          <pc:docMk/>
          <pc:sldMk cId="7853090" sldId="593"/>
        </pc:sldMkLst>
        <pc:spChg chg="mod">
          <ac:chgData name="Ingo Frommholz" userId="ee3b4549-206f-4e4f-93a1-b7ff676f0af7" providerId="ADAL" clId="{5F8971C4-3D52-5FAB-A951-9912A46CDBB0}" dt="2025-11-11T20:25:50.273" v="34" actId="20577"/>
          <ac:spMkLst>
            <pc:docMk/>
            <pc:sldMk cId="7853090" sldId="593"/>
            <ac:spMk id="8" creationId="{21A8D102-1C16-49D0-9B80-8EAB675A9A7B}"/>
          </ac:spMkLst>
        </pc:spChg>
        <pc:spChg chg="mod">
          <ac:chgData name="Ingo Frommholz" userId="ee3b4549-206f-4e4f-93a1-b7ff676f0af7" providerId="ADAL" clId="{5F8971C4-3D52-5FAB-A951-9912A46CDBB0}" dt="2025-11-13T09:51:38.804" v="81" actId="404"/>
          <ac:spMkLst>
            <pc:docMk/>
            <pc:sldMk cId="7853090" sldId="593"/>
            <ac:spMk id="9" creationId="{C28C4A5E-747D-470D-8354-D36B25F53E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322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3028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433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134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8741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7217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1391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9928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834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7777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3862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9306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6092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8712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819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78096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778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3054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99085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437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332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901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36496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9605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9270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54265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D79A41F9-206A-4807-48ED-457CB05D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1F4AAB4F-F93A-C3B8-F76A-098F0C06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E445B050-A357-AD01-C85B-0938BE901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F95CFFB3-A90F-C716-F0B7-4C2046AC18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8796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775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35655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2505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4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3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0.xml"/><Relationship Id="rId5" Type="http://schemas.openxmlformats.org/officeDocument/2006/relationships/slide" Target="slide13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et-types-set-frozense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hyperlink" Target="https://en.wikipedia.org/wiki/Fibonacci_number" TargetMode="External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elic/focsp/blob/main/notebooks/unit7_exercise.ipynb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2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841930" y="5268389"/>
            <a:ext cx="5131625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7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Programming Part IV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Sets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Dictionaries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Recursions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Examples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Sets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Basics of sets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438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Unordered collection of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unique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elements 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Equivalent to mathematical sets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 duplicates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Definition with </a:t>
            </a:r>
            <a:r>
              <a:rPr lang="en-US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{}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or </a:t>
            </a:r>
            <a:r>
              <a:rPr lang="en-US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set()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Empty set: </a:t>
            </a:r>
            <a:r>
              <a:rPr lang="en-US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empty = set()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 to use sets?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Quick checks for element membership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Removing of duplicates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Mathematical set operations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...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 direct access to elements via indexing (sets are unordered)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Number of elements: </a:t>
            </a: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len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9FE531-0789-4F62-ACBA-68FF1E83033B}"/>
              </a:ext>
            </a:extLst>
          </p:cNvPr>
          <p:cNvSpPr/>
          <p:nvPr/>
        </p:nvSpPr>
        <p:spPr>
          <a:xfrm>
            <a:off x="4475220" y="2829967"/>
            <a:ext cx="4211580" cy="71917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colors     = {'blue', 'red'}    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characters = set('Hello, World')</a:t>
            </a:r>
          </a:p>
        </p:txBody>
      </p:sp>
    </p:spTree>
    <p:extLst>
      <p:ext uri="{BB962C8B-B14F-4D97-AF65-F5344CB8AC3E}">
        <p14:creationId xmlns:p14="http://schemas.microsoft.com/office/powerpoint/2010/main" val="286959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Basics of sets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Adding elements to sets	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Individual elements: 	</a:t>
            </a: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colors.add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('red')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Multiple elements: 	</a:t>
            </a: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colors.update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(['orange', 'black'])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Deleting elements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 membership check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colors.remove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('blue')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Without membership check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colors.discard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('blue')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Deleting all elements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colors.clear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7947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Set operations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46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Intersection (AND)	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x.intersection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(y)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x &amp; y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Union (OR)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x.union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(y)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x | y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Membership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'b' in y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Difference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x – y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Further operations: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hlinkClick r:id="rId3"/>
              </a:rPr>
              <a:t>Python-Doc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9FE531-0789-4F62-ACBA-68FF1E83033B}"/>
              </a:ext>
            </a:extLst>
          </p:cNvPr>
          <p:cNvSpPr/>
          <p:nvPr/>
        </p:nvSpPr>
        <p:spPr>
          <a:xfrm>
            <a:off x="6647754" y="5267811"/>
            <a:ext cx="2039046" cy="71917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x = {'a', 'b'}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y = {'b', 'd'}</a:t>
            </a:r>
          </a:p>
        </p:txBody>
      </p:sp>
      <p:sp>
        <p:nvSpPr>
          <p:cNvPr id="5" name="PlaceHolder 6">
            <a:extLst>
              <a:ext uri="{FF2B5EF4-FFF2-40B4-BE49-F238E27FC236}">
                <a16:creationId xmlns:a16="http://schemas.microsoft.com/office/drawing/2014/main" id="{4CD8A0C4-7A05-42F0-9137-0DA892A4A4FB}"/>
              </a:ext>
            </a:extLst>
          </p:cNvPr>
          <p:cNvSpPr txBox="1">
            <a:spLocks/>
          </p:cNvSpPr>
          <p:nvPr/>
        </p:nvSpPr>
        <p:spPr>
          <a:xfrm>
            <a:off x="4692140" y="1722009"/>
            <a:ext cx="2916736" cy="3183714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5000" lvl="1">
              <a:spcBef>
                <a:spcPts val="561"/>
              </a:spcBef>
            </a:pP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561"/>
              </a:spcBef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=&gt;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{'b'}</a:t>
            </a:r>
          </a:p>
          <a:p>
            <a:pPr marL="405000" lvl="1"/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1134"/>
              </a:spcBef>
            </a:pP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onsolas" panose="020B0609020204030204" pitchFamily="49" charset="0"/>
                <a:ea typeface="Droid Sans Fallback"/>
              </a:rPr>
              <a:t>=&gt;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{'a', 'b', 'd'}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 marL="405000" lvl="1"/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1134"/>
              </a:spcBef>
            </a:pPr>
            <a:r>
              <a:rPr lang="de-AT" sz="1800" spc="-1" dirty="0">
                <a:solidFill>
                  <a:srgbClr val="0F0F0F"/>
                </a:solidFill>
                <a:highlight>
                  <a:srgbClr val="FFFFFF"/>
                </a:highlight>
                <a:latin typeface="Consolas" panose="020B0609020204030204" pitchFamily="49" charset="0"/>
                <a:ea typeface="Droid Sans Fallback"/>
              </a:rPr>
              <a:t>=&gt;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True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 marL="405000" lvl="1"/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000" lvl="1">
              <a:spcBef>
                <a:spcPts val="1134"/>
              </a:spcBef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=&gt;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{'a'}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64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Dictionaries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09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Real world dictionaries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CC5F88D-9337-4480-A98A-651451793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5761" y="2103120"/>
            <a:ext cx="4233863" cy="2380298"/>
          </a:xfrm>
          <a:prstGeom prst="rect">
            <a:avLst/>
          </a:prstGeom>
          <a:ln w="0">
            <a:noFill/>
          </a:ln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5FC8C9E1-48D2-4537-B870-90F692E15EB3}"/>
              </a:ext>
            </a:extLst>
          </p:cNvPr>
          <p:cNvSpPr txBox="1"/>
          <p:nvPr/>
        </p:nvSpPr>
        <p:spPr>
          <a:xfrm>
            <a:off x="313944" y="4566578"/>
            <a:ext cx="4258056" cy="60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https://www.deutschlandfunkkultur.de/zentrum-fuer-digitale-lexikographie-die-gesamte-deutsche.1008.de.html?dram:article_id=439553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80B9AA3-A7BA-4C1E-9396-F20A01C41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29200" y="2103120"/>
            <a:ext cx="3657600" cy="2609088"/>
          </a:xfrm>
          <a:prstGeom prst="rect">
            <a:avLst/>
          </a:prstGeom>
          <a:ln w="0">
            <a:noFill/>
          </a:ln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B8675676-99E7-4200-B65F-2BAB6FE22E3D}"/>
              </a:ext>
            </a:extLst>
          </p:cNvPr>
          <p:cNvSpPr txBox="1"/>
          <p:nvPr/>
        </p:nvSpPr>
        <p:spPr>
          <a:xfrm>
            <a:off x="5029200" y="4822538"/>
            <a:ext cx="383364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https://pxhere.com/en/photo/529235</a:t>
            </a:r>
          </a:p>
        </p:txBody>
      </p:sp>
    </p:spTree>
    <p:extLst>
      <p:ext uri="{BB962C8B-B14F-4D97-AF65-F5344CB8AC3E}">
        <p14:creationId xmlns:p14="http://schemas.microsoft.com/office/powerpoint/2010/main" val="78497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Basics of dictionaries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707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Collection of unordered key-value pairs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Very important concept in python!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Access via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unique keys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Arbitrary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immutable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data type: integer, string, etc.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 each key a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single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value: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integer, string, list, set, dictionary, etc.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Mutable and immutable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KeyError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if key not present in dictionary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Access per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[]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key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Membership check with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in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not in</a:t>
            </a: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FC438B2-E8FD-4BF4-AFD8-F1D335C1894F}"/>
              </a:ext>
            </a:extLst>
          </p:cNvPr>
          <p:cNvSpPr/>
          <p:nvPr/>
        </p:nvSpPr>
        <p:spPr>
          <a:xfrm>
            <a:off x="894466" y="5662424"/>
            <a:ext cx="2687760" cy="476640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08360" tIns="63360" rIns="108360" bIns="63360" anchor="ctr">
            <a:noAutofit/>
          </a:bodyPr>
          <a:lstStyle/>
          <a:p>
            <a:pPr algn="ctr"/>
            <a:r>
              <a:rPr lang="en-US" sz="2800" spc="-1" dirty="0">
                <a:latin typeface="Arial"/>
              </a:rPr>
              <a:t>k</a:t>
            </a:r>
            <a:r>
              <a:rPr lang="en-US" sz="2800" b="0" strike="noStrike" spc="-1" dirty="0">
                <a:latin typeface="Arial"/>
              </a:rPr>
              <a:t>ey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67A1FD8-FF45-4FAC-A8C7-3CFAD124B3A9}"/>
              </a:ext>
            </a:extLst>
          </p:cNvPr>
          <p:cNvSpPr/>
          <p:nvPr/>
        </p:nvSpPr>
        <p:spPr>
          <a:xfrm>
            <a:off x="5826466" y="5662424"/>
            <a:ext cx="2687760" cy="476640"/>
          </a:xfrm>
          <a:prstGeom prst="rect">
            <a:avLst/>
          </a:prstGeom>
          <a:noFill/>
          <a:ln w="36720">
            <a:solidFill>
              <a:srgbClr val="00A0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08360" tIns="63360" rIns="108360" bIns="63360" anchor="ctr">
            <a:noAutofit/>
          </a:bodyPr>
          <a:lstStyle/>
          <a:p>
            <a:pPr algn="ctr"/>
            <a:r>
              <a:rPr lang="en-US" sz="2800" spc="-1" dirty="0">
                <a:latin typeface="Arial"/>
              </a:rPr>
              <a:t>v</a:t>
            </a:r>
            <a:r>
              <a:rPr lang="en-US" sz="2800" b="0" strike="noStrike" spc="-1" dirty="0">
                <a:latin typeface="Arial"/>
              </a:rPr>
              <a:t>alue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07291477-C630-4AA8-9112-60D370333159}"/>
              </a:ext>
            </a:extLst>
          </p:cNvPr>
          <p:cNvSpPr/>
          <p:nvPr/>
        </p:nvSpPr>
        <p:spPr>
          <a:xfrm>
            <a:off x="3582226" y="6041864"/>
            <a:ext cx="2227680" cy="0"/>
          </a:xfrm>
          <a:custGeom>
            <a:avLst/>
            <a:gdLst/>
            <a:ahLst/>
            <a:cxnLst/>
            <a:rect l="0" t="0" r="r" b="b"/>
            <a:pathLst>
              <a:path w="6188" fill="none">
                <a:moveTo>
                  <a:pt x="0" y="0"/>
                </a:moveTo>
                <a:lnTo>
                  <a:pt x="6188" y="0"/>
                </a:lnTo>
              </a:path>
            </a:pathLst>
          </a:custGeom>
          <a:ln w="54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A4C2647-B3E3-46B2-A2D6-2C41C233AF47}"/>
              </a:ext>
            </a:extLst>
          </p:cNvPr>
          <p:cNvSpPr txBox="1"/>
          <p:nvPr/>
        </p:nvSpPr>
        <p:spPr>
          <a:xfrm>
            <a:off x="3582226" y="5501144"/>
            <a:ext cx="2227680" cy="57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800" b="0" strike="noStrike" spc="-1" dirty="0">
                <a:solidFill>
                  <a:srgbClr val="0F0F0F"/>
                </a:solidFill>
                <a:latin typeface="Arial"/>
              </a:rPr>
              <a:t>references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0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Manipulating dictionaries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707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Definition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students = {123: 'Maria', 131: 'Tim', 42: 'Max'}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Access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students[123]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students.get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(123)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Inserting and updating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students[20]  = 'Lisa'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students[123] = 'Moritz'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Deleting with key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del students[123]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67D176F-395F-46D4-9387-6F7C0CAEA358}"/>
              </a:ext>
            </a:extLst>
          </p:cNvPr>
          <p:cNvSpPr/>
          <p:nvPr/>
        </p:nvSpPr>
        <p:spPr>
          <a:xfrm>
            <a:off x="2787971" y="2104461"/>
            <a:ext cx="369409" cy="300463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96E7D96-F6E5-4C37-8172-6EA483A9D866}"/>
              </a:ext>
            </a:extLst>
          </p:cNvPr>
          <p:cNvSpPr/>
          <p:nvPr/>
        </p:nvSpPr>
        <p:spPr>
          <a:xfrm>
            <a:off x="4565804" y="2104461"/>
            <a:ext cx="369409" cy="300463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CC120CC-8780-4299-8B3D-B6BB03968FD6}"/>
              </a:ext>
            </a:extLst>
          </p:cNvPr>
          <p:cNvSpPr/>
          <p:nvPr/>
        </p:nvSpPr>
        <p:spPr>
          <a:xfrm>
            <a:off x="6013475" y="2104461"/>
            <a:ext cx="316636" cy="300463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4540ADE-22F0-48F4-8FC4-618D87A3B621}"/>
              </a:ext>
            </a:extLst>
          </p:cNvPr>
          <p:cNvSpPr/>
          <p:nvPr/>
        </p:nvSpPr>
        <p:spPr>
          <a:xfrm>
            <a:off x="5195868" y="2104461"/>
            <a:ext cx="607509" cy="300463"/>
          </a:xfrm>
          <a:prstGeom prst="rect">
            <a:avLst/>
          </a:prstGeom>
          <a:noFill/>
          <a:ln w="36720">
            <a:solidFill>
              <a:srgbClr val="00A0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19DE0CC-88E1-4FAA-B5A8-7D8D676CC4BF}"/>
              </a:ext>
            </a:extLst>
          </p:cNvPr>
          <p:cNvSpPr/>
          <p:nvPr/>
        </p:nvSpPr>
        <p:spPr>
          <a:xfrm>
            <a:off x="3438430" y="2104461"/>
            <a:ext cx="838130" cy="300463"/>
          </a:xfrm>
          <a:prstGeom prst="rect">
            <a:avLst/>
          </a:prstGeom>
          <a:noFill/>
          <a:ln w="36720">
            <a:solidFill>
              <a:srgbClr val="00A0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A24582B-C662-4C1C-A8EA-BC9BEBFB8629}"/>
              </a:ext>
            </a:extLst>
          </p:cNvPr>
          <p:cNvSpPr/>
          <p:nvPr/>
        </p:nvSpPr>
        <p:spPr>
          <a:xfrm>
            <a:off x="6554108" y="2104461"/>
            <a:ext cx="633272" cy="300463"/>
          </a:xfrm>
          <a:prstGeom prst="rect">
            <a:avLst/>
          </a:prstGeom>
          <a:noFill/>
          <a:ln w="36720">
            <a:solidFill>
              <a:srgbClr val="00A0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0BA625C2-BBDB-47F8-B1D3-66F1578543B0}"/>
              </a:ext>
            </a:extLst>
          </p:cNvPr>
          <p:cNvSpPr/>
          <p:nvPr/>
        </p:nvSpPr>
        <p:spPr>
          <a:xfrm>
            <a:off x="3012850" y="2425791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194E0C1E-0F80-4234-B843-6E217561E0A0}"/>
              </a:ext>
            </a:extLst>
          </p:cNvPr>
          <p:cNvSpPr/>
          <p:nvPr/>
        </p:nvSpPr>
        <p:spPr>
          <a:xfrm>
            <a:off x="4761244" y="2418272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DF457F72-B735-467F-9DCC-8B9EC2A30758}"/>
              </a:ext>
            </a:extLst>
          </p:cNvPr>
          <p:cNvSpPr/>
          <p:nvPr/>
        </p:nvSpPr>
        <p:spPr>
          <a:xfrm>
            <a:off x="6165187" y="2425799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1366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Example with dictionaries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1B5DDEF-5C78-4290-BD74-6783C1F19296}"/>
              </a:ext>
            </a:extLst>
          </p:cNvPr>
          <p:cNvSpPr/>
          <p:nvPr/>
        </p:nvSpPr>
        <p:spPr>
          <a:xfrm>
            <a:off x="717503" y="1830469"/>
            <a:ext cx="7708994" cy="330218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students = {123: 'Maria', 131: 'Tim', 42: 'Max'}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students[668] = 'Martina'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del students[123]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students[131] = 'Anna'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del students[9999]</a:t>
            </a: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 {students[42]}')</a:t>
            </a:r>
          </a:p>
        </p:txBody>
      </p:sp>
    </p:spTree>
    <p:extLst>
      <p:ext uri="{BB962C8B-B14F-4D97-AF65-F5344CB8AC3E}">
        <p14:creationId xmlns:p14="http://schemas.microsoft.com/office/powerpoint/2010/main" val="3002035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Retrieving and iterating over dictionary elements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1B5DDEF-5C78-4290-BD74-6783C1F19296}"/>
              </a:ext>
            </a:extLst>
          </p:cNvPr>
          <p:cNvSpPr/>
          <p:nvPr/>
        </p:nvSpPr>
        <p:spPr>
          <a:xfrm>
            <a:off x="5424906" y="1696980"/>
            <a:ext cx="3347238" cy="95277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students = {123: 'Maria',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	     131: 'Tim',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	     42:  'Max'}</a:t>
            </a:r>
          </a:p>
        </p:txBody>
      </p:sp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22DB4709-7D3A-4C1D-8995-5771CCF24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442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Retrieving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Keys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students.keys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students.values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Key-Value tuples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students.items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Iterating over all keys and values (unordered):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unit7.ipynb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718B620-961B-4A20-94BE-34698A0FB601}"/>
              </a:ext>
            </a:extLst>
          </p:cNvPr>
          <p:cNvSpPr/>
          <p:nvPr/>
        </p:nvSpPr>
        <p:spPr>
          <a:xfrm>
            <a:off x="2134278" y="4750516"/>
            <a:ext cx="4817531" cy="65937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key, value in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students.items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print(f'{key}: {value}')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CAB0AAE-14D2-4D49-8D24-F64AF2E562D9}"/>
              </a:ext>
            </a:extLst>
          </p:cNvPr>
          <p:cNvSpPr>
            <a:spLocks noChangeAspect="1"/>
          </p:cNvSpPr>
          <p:nvPr/>
        </p:nvSpPr>
        <p:spPr>
          <a:xfrm>
            <a:off x="1673750" y="2436172"/>
            <a:ext cx="2041025" cy="313702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E62CDE3-790C-4FEC-B988-5B985C9C182C}"/>
              </a:ext>
            </a:extLst>
          </p:cNvPr>
          <p:cNvSpPr>
            <a:spLocks noChangeAspect="1"/>
          </p:cNvSpPr>
          <p:nvPr/>
        </p:nvSpPr>
        <p:spPr>
          <a:xfrm>
            <a:off x="6997786" y="1778721"/>
            <a:ext cx="554064" cy="820958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2A418C5-2211-4851-9887-7FB84ADEDACF}"/>
              </a:ext>
            </a:extLst>
          </p:cNvPr>
          <p:cNvSpPr>
            <a:spLocks noChangeAspect="1"/>
          </p:cNvSpPr>
          <p:nvPr/>
        </p:nvSpPr>
        <p:spPr>
          <a:xfrm>
            <a:off x="1673750" y="3198008"/>
            <a:ext cx="2273207" cy="308619"/>
          </a:xfrm>
          <a:prstGeom prst="rect">
            <a:avLst/>
          </a:prstGeom>
          <a:noFill/>
          <a:ln w="36720">
            <a:solidFill>
              <a:srgbClr val="00A0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0C28EED-29C4-41FD-A7CF-39E6BE16827F}"/>
              </a:ext>
            </a:extLst>
          </p:cNvPr>
          <p:cNvSpPr>
            <a:spLocks noChangeAspect="1"/>
          </p:cNvSpPr>
          <p:nvPr/>
        </p:nvSpPr>
        <p:spPr>
          <a:xfrm>
            <a:off x="7675619" y="1778721"/>
            <a:ext cx="920813" cy="820958"/>
          </a:xfrm>
          <a:prstGeom prst="rect">
            <a:avLst/>
          </a:prstGeom>
          <a:noFill/>
          <a:ln w="36720">
            <a:solidFill>
              <a:srgbClr val="00A0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0544829-B6A3-47D7-B513-7F9E956FA3C5}"/>
              </a:ext>
            </a:extLst>
          </p:cNvPr>
          <p:cNvSpPr>
            <a:spLocks noChangeAspect="1"/>
          </p:cNvSpPr>
          <p:nvPr/>
        </p:nvSpPr>
        <p:spPr>
          <a:xfrm>
            <a:off x="1673750" y="3871183"/>
            <a:ext cx="2273207" cy="297154"/>
          </a:xfrm>
          <a:prstGeom prst="rect">
            <a:avLst/>
          </a:prstGeom>
          <a:noFill/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D581CEA-9437-4663-A814-ED5C17ED99CB}"/>
              </a:ext>
            </a:extLst>
          </p:cNvPr>
          <p:cNvSpPr>
            <a:spLocks noChangeAspect="1"/>
          </p:cNvSpPr>
          <p:nvPr/>
        </p:nvSpPr>
        <p:spPr>
          <a:xfrm>
            <a:off x="6859453" y="1694888"/>
            <a:ext cx="1812228" cy="954869"/>
          </a:xfrm>
          <a:prstGeom prst="rect">
            <a:avLst/>
          </a:prstGeom>
          <a:noFill/>
          <a:ln w="36720">
            <a:solidFill>
              <a:srgbClr val="43C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1830F3F-4235-41A6-B785-3F8263A578A8}"/>
              </a:ext>
            </a:extLst>
          </p:cNvPr>
          <p:cNvCxnSpPr>
            <a:cxnSpLocks/>
          </p:cNvCxnSpPr>
          <p:nvPr/>
        </p:nvCxnSpPr>
        <p:spPr>
          <a:xfrm>
            <a:off x="7607077" y="1694888"/>
            <a:ext cx="0" cy="954869"/>
          </a:xfrm>
          <a:prstGeom prst="line">
            <a:avLst/>
          </a:prstGeom>
          <a:ln w="36703">
            <a:solidFill>
              <a:srgbClr val="32C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02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Recursions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8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Intuition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33268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How do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you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exponentiate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numbers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?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example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how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do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you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compute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?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Typically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you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will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start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smaller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problem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smaller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problem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you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already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know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solution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i.e.,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</m:oMath>
                </a14:m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Then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you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will </a:t>
                </a:r>
                <a:r>
                  <a:rPr lang="de-DE" sz="1800" b="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recursively</a:t>
                </a:r>
                <a:r>
                  <a:rPr lang="de-DE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solve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larger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problems</a:t>
                </a: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200150" lvl="2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4 ⋅2=</m:t>
                    </m:r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 8 ⋅2=</m:t>
                    </m:r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16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⋅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, 32 ⋅2= </m:t>
                    </m:r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=64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 started with a base (simple) case for which we knew the solution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 worked on recursive cases, which were self-similar and increasingly complex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Until we found the final solution</a:t>
                </a: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3326820"/>
              </a:xfrm>
              <a:prstGeom prst="rect">
                <a:avLst/>
              </a:prstGeom>
              <a:blipFill>
                <a:blip r:embed="rId3"/>
                <a:stretch>
                  <a:fillRect l="-148" b="-20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11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Recursive algorithms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28244" y="4162917"/>
                <a:ext cx="8229600" cy="12634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divided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computation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into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smaller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problems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 solved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 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</a:t>
                </a:r>
                <a:r>
                  <a:rPr lang="de-DE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combined</a:t>
                </a:r>
                <a:r>
                  <a:rPr lang="de-DE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these</a:t>
                </a:r>
                <a:r>
                  <a:rPr lang="de-DE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solutions</a:t>
                </a:r>
                <a:r>
                  <a:rPr lang="de-DE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to</a:t>
                </a:r>
                <a:r>
                  <a:rPr lang="de-DE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obtain</a:t>
                </a:r>
                <a:r>
                  <a:rPr lang="de-DE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244" y="4162917"/>
                <a:ext cx="8229600" cy="1263413"/>
              </a:xfrm>
              <a:prstGeom prst="rect">
                <a:avLst/>
              </a:prstGeom>
              <a:blipFill>
                <a:blip r:embed="rId3"/>
                <a:stretch>
                  <a:fillRect l="-74" b="-24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40E80638-74C2-4FED-8EC7-F6A009D2EDC2}"/>
              </a:ext>
            </a:extLst>
          </p:cNvPr>
          <p:cNvSpPr txBox="1">
            <a:spLocks/>
          </p:cNvSpPr>
          <p:nvPr/>
        </p:nvSpPr>
        <p:spPr>
          <a:xfrm>
            <a:off x="457200" y="1605600"/>
            <a:ext cx="8229600" cy="857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Definition 1: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 algorithm is called recursive if it solves a problem by reducing it to an instance of the same problem with smaller input.</a:t>
            </a:r>
          </a:p>
          <a:p>
            <a:pPr marL="0" indent="0">
              <a:spcBef>
                <a:spcPts val="640"/>
              </a:spcBef>
            </a:pPr>
            <a:endParaRPr lang="en-US" sz="1800" dirty="0"/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BB11D4C8-D5C7-426C-B527-74B86291C391}"/>
              </a:ext>
            </a:extLst>
          </p:cNvPr>
          <p:cNvSpPr txBox="1">
            <a:spLocks/>
          </p:cNvSpPr>
          <p:nvPr/>
        </p:nvSpPr>
        <p:spPr>
          <a:xfrm>
            <a:off x="457200" y="2641142"/>
            <a:ext cx="8229600" cy="13435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1: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call this algorithmic technique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divide-and-conquer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We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break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problem into several subproblems that are similar to the original problem but smaller in size,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solve the subproblems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recursively, and then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combine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these solutions to create a solution to the original problem.</a:t>
            </a:r>
          </a:p>
          <a:p>
            <a:pPr marL="0" indent="0">
              <a:spcBef>
                <a:spcPts val="64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98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Recursive algorithms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2544" y="1646649"/>
            <a:ext cx="8229600" cy="211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Recursion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has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two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main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parts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Base </a:t>
            </a:r>
            <a:r>
              <a:rPr lang="de-AT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case</a:t>
            </a:r>
            <a:endParaRPr lang="de-AT" sz="1800" b="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Simple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form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problem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has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direct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answer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b="1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Recursive</a:t>
            </a:r>
            <a:r>
              <a:rPr lang="de-AT" sz="1800" b="1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b="1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case</a:t>
            </a:r>
            <a:endParaRPr lang="de-AT" sz="1800" b="1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Where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break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problem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into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smaller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self-similar</a:t>
            </a:r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subproblems</a:t>
            </a: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5D6972F-17D8-44D9-A312-2404773AFD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525" y="3641198"/>
                <a:ext cx="8229600" cy="2111068"/>
              </a:xfrm>
              <a:prstGeom prst="rect">
                <a:avLst/>
              </a:prstGeom>
              <a:solidFill>
                <a:srgbClr val="DAE3F3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Recursion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</m:oMath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</a:t>
                </a:r>
                <a:r>
                  <a:rPr lang="de-AT" sz="1800" b="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case</a:t>
                </a:r>
                <a:endParaRPr lang="de-AT" sz="18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200150" lvl="2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de-AT" sz="18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</a:t>
                </a:r>
                <a:r>
                  <a:rPr lang="de-AT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case</a:t>
                </a:r>
                <a:endParaRPr lang="de-AT" sz="18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200150" lvl="2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de-AT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AT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de-AT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</m:oMath>
                </a14:m>
                <a:endParaRPr lang="de-AT" sz="18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5D6972F-17D8-44D9-A312-2404773AF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5" y="3641198"/>
                <a:ext cx="8229600" cy="2111068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089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Recursive function calls in Python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A5D6972F-17D8-44D9-A312-2404773AFD25}"/>
              </a:ext>
            </a:extLst>
          </p:cNvPr>
          <p:cNvSpPr txBox="1">
            <a:spLocks/>
          </p:cNvSpPr>
          <p:nvPr/>
        </p:nvSpPr>
        <p:spPr>
          <a:xfrm>
            <a:off x="489148" y="1625515"/>
            <a:ext cx="4336481" cy="3006556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print_result_simple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):</a:t>
            </a:r>
          </a:p>
          <a:p>
            <a:pPr marL="0" indent="0">
              <a:spcBef>
                <a:spcPts val="640"/>
              </a:spcBef>
            </a:pP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f'The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:',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 </a:t>
            </a:r>
          </a:p>
          <a:p>
            <a:pPr marL="0" indent="0">
              <a:spcBef>
                <a:spcPts val="640"/>
              </a:spcBef>
            </a:pPr>
            <a:endParaRPr lang="de-AT" sz="1800" dirty="0"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div2(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num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):</a:t>
            </a:r>
          </a:p>
          <a:p>
            <a:pPr marL="0" indent="0">
              <a:spcBef>
                <a:spcPts val="640"/>
              </a:spcBef>
            </a:pP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num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/ 2		</a:t>
            </a:r>
          </a:p>
          <a:p>
            <a:pPr marL="0" indent="0">
              <a:spcBef>
                <a:spcPts val="640"/>
              </a:spcBef>
            </a:pP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print_result_simple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0" indent="0">
              <a:spcBef>
                <a:spcPts val="640"/>
              </a:spcBef>
            </a:pPr>
            <a:endParaRPr lang="de-AT" sz="1800" dirty="0"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div2(10)</a:t>
            </a:r>
          </a:p>
        </p:txBody>
      </p:sp>
      <p:sp>
        <p:nvSpPr>
          <p:cNvPr id="7" name="Google Shape;87;p2">
            <a:extLst>
              <a:ext uri="{FF2B5EF4-FFF2-40B4-BE49-F238E27FC236}">
                <a16:creationId xmlns:a16="http://schemas.microsoft.com/office/drawing/2014/main" id="{610FBC1D-BF62-4331-89BD-8542BE535AB5}"/>
              </a:ext>
            </a:extLst>
          </p:cNvPr>
          <p:cNvSpPr txBox="1">
            <a:spLocks/>
          </p:cNvSpPr>
          <p:nvPr/>
        </p:nvSpPr>
        <p:spPr>
          <a:xfrm>
            <a:off x="5814251" y="2003432"/>
            <a:ext cx="2281862" cy="57400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: 5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63ED2501-B321-47E7-AA88-3252F82EFF3C}"/>
              </a:ext>
            </a:extLst>
          </p:cNvPr>
          <p:cNvSpPr>
            <a:spLocks noChangeAspect="1"/>
          </p:cNvSpPr>
          <p:nvPr/>
        </p:nvSpPr>
        <p:spPr>
          <a:xfrm>
            <a:off x="4991557" y="2082425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6843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Recursive function calls in Python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A5D6972F-17D8-44D9-A312-2404773AFD25}"/>
              </a:ext>
            </a:extLst>
          </p:cNvPr>
          <p:cNvSpPr txBox="1">
            <a:spLocks/>
          </p:cNvSpPr>
          <p:nvPr/>
        </p:nvSpPr>
        <p:spPr>
          <a:xfrm>
            <a:off x="489148" y="1625515"/>
            <a:ext cx="4336481" cy="2345784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print_result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(res):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print(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f'The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result is:', res)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div_res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res / 2 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print_result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div_res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0" indent="0">
              <a:spcBef>
                <a:spcPts val="640"/>
              </a:spcBef>
            </a:pPr>
            <a:endParaRPr lang="en-US" sz="1800" dirty="0"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print_result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(10)</a:t>
            </a:r>
          </a:p>
        </p:txBody>
      </p:sp>
      <p:sp>
        <p:nvSpPr>
          <p:cNvPr id="7" name="Google Shape;87;p2">
            <a:extLst>
              <a:ext uri="{FF2B5EF4-FFF2-40B4-BE49-F238E27FC236}">
                <a16:creationId xmlns:a16="http://schemas.microsoft.com/office/drawing/2014/main" id="{610FBC1D-BF62-4331-89BD-8542BE535AB5}"/>
              </a:ext>
            </a:extLst>
          </p:cNvPr>
          <p:cNvSpPr txBox="1">
            <a:spLocks/>
          </p:cNvSpPr>
          <p:nvPr/>
        </p:nvSpPr>
        <p:spPr>
          <a:xfrm>
            <a:off x="5814000" y="1995662"/>
            <a:ext cx="2822490" cy="3143666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result is: 5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result is: 2.5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result is: 1.25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result is: 0.625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result is: 0.3125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The result is: 0.1563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... 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RecursionError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4335B96E-9010-4F67-9258-2DB91EFD942A}"/>
              </a:ext>
            </a:extLst>
          </p:cNvPr>
          <p:cNvSpPr>
            <a:spLocks noChangeAspect="1"/>
          </p:cNvSpPr>
          <p:nvPr/>
        </p:nvSpPr>
        <p:spPr>
          <a:xfrm>
            <a:off x="4991557" y="2082425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5956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Implementing recursions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21A8D102-1C16-49D0-9B80-8EAB675A9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2544" y="1646649"/>
            <a:ext cx="8229600" cy="343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Recursive implementation = „Functions call themselves“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 each new call a smaller subproblem is solved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 need a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base case in the implementation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Otherwise an infinite loop!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=&gt; </a:t>
            </a:r>
            <a:r>
              <a:rPr lang="en-US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RecursionError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: maximum recursion depth exceeded [...]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Recursive implementation is typically also possible as a loop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Recursions have typically less code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But sometimes not intuitive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More memory (storing function frames when calling recursively)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500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Factorial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544" y="1646649"/>
                <a:ext cx="8229600" cy="3245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!= 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cases: 	</a:t>
                </a: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0!=1</m:t>
                    </m:r>
                  </m:oMath>
                </a14:m>
                <a:r>
                  <a:rPr lang="de-AT" sz="1800" b="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!=1 </m:t>
                    </m:r>
                  </m:oMath>
                </a14:m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 case: </a:t>
                </a:r>
                <a14:m>
                  <m:oMath xmlns:m="http://schemas.openxmlformats.org/officeDocument/2006/math">
                    <m:r>
                      <a:rPr lang="de-AT" sz="18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!=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 </m:t>
                    </m:r>
                    <m:d>
                      <m:d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e>
                    </m:d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endParaRPr lang="en-US" sz="1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−1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!=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−1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−2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!=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−2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−3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…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de-A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de-AT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544" y="1646649"/>
                <a:ext cx="8229600" cy="3245725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279F9ABB-0853-4C48-80D0-221318E148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014" y="4892374"/>
                <a:ext cx="7884442" cy="994493"/>
              </a:xfrm>
              <a:prstGeom prst="rect">
                <a:avLst/>
              </a:prstGeom>
              <a:solidFill>
                <a:srgbClr val="DAE3F3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spcBef>
                    <a:spcPts val="640"/>
                  </a:spcBef>
                </a:pPr>
                <a:r>
                  <a:rPr lang="de-AT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Example: </a:t>
                </a:r>
              </a:p>
              <a:p>
                <a:pPr marL="3600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5!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=5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4!=5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3!=5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2!=5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1!=5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4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2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 =120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279F9ABB-0853-4C48-80D0-221318E14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14" y="4892374"/>
                <a:ext cx="7884442" cy="994493"/>
              </a:xfrm>
              <a:prstGeom prst="rect">
                <a:avLst/>
              </a:prstGeom>
              <a:blipFill>
                <a:blip r:embed="rId4"/>
                <a:stretch>
                  <a:fillRect l="-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410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Implementation of factorial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544" y="1595194"/>
                <a:ext cx="4289760" cy="172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case:           </a:t>
                </a: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0!=1</m:t>
                    </m:r>
                  </m:oMath>
                </a14:m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 case: </a:t>
                </a:r>
                <a14:m>
                  <m:oMath xmlns:m="http://schemas.openxmlformats.org/officeDocument/2006/math">
                    <m:r>
                      <a:rPr lang="de-AT" sz="18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!=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 </m:t>
                    </m:r>
                    <m:d>
                      <m:d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e>
                    </m:d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endParaRPr lang="en-US" sz="1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544" y="1595194"/>
                <a:ext cx="4289760" cy="1720069"/>
              </a:xfrm>
              <a:prstGeom prst="rect">
                <a:avLst/>
              </a:prstGeom>
              <a:blipFill>
                <a:blip r:embed="rId3"/>
                <a:stretch>
                  <a:fillRect l="-1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279F9ABB-0853-4C48-80D0-221318E14867}"/>
              </a:ext>
            </a:extLst>
          </p:cNvPr>
          <p:cNvSpPr txBox="1">
            <a:spLocks/>
          </p:cNvSpPr>
          <p:nvPr/>
        </p:nvSpPr>
        <p:spPr>
          <a:xfrm>
            <a:off x="4881874" y="1595194"/>
            <a:ext cx="3661427" cy="1668614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fac(n):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if n &lt;= 1: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return 1</a:t>
            </a:r>
          </a:p>
          <a:p>
            <a:pPr mar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n * fac(n-1)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E36339DD-F5ED-48BD-86D8-3DC6F7EE403B}"/>
              </a:ext>
            </a:extLst>
          </p:cNvPr>
          <p:cNvSpPr>
            <a:spLocks noChangeAspect="1"/>
          </p:cNvSpPr>
          <p:nvPr/>
        </p:nvSpPr>
        <p:spPr>
          <a:xfrm>
            <a:off x="4042672" y="2051355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C98B7B46-71CF-4285-BAB7-70AD9C727C25}"/>
              </a:ext>
            </a:extLst>
          </p:cNvPr>
          <p:cNvSpPr>
            <a:spLocks noChangeAspect="1"/>
          </p:cNvSpPr>
          <p:nvPr/>
        </p:nvSpPr>
        <p:spPr>
          <a:xfrm>
            <a:off x="4042672" y="2764316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4845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Implementation of factorial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46C279BD-56D8-4E69-B5CD-E30F5A8CAE76}"/>
              </a:ext>
            </a:extLst>
          </p:cNvPr>
          <p:cNvSpPr txBox="1">
            <a:spLocks/>
          </p:cNvSpPr>
          <p:nvPr/>
        </p:nvSpPr>
        <p:spPr>
          <a:xfrm>
            <a:off x="5204157" y="2989042"/>
            <a:ext cx="3661427" cy="2046276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fac_while(n):</a:t>
            </a:r>
          </a:p>
          <a:p>
            <a:pPr marL="0" indent="0">
              <a:spcBef>
                <a:spcPts val="640"/>
              </a:spcBef>
            </a:pP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f = n</a:t>
            </a:r>
          </a:p>
          <a:p>
            <a:pPr marL="0" indent="0">
              <a:spcBef>
                <a:spcPts val="640"/>
              </a:spcBef>
            </a:pP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while n &gt; 1:</a:t>
            </a:r>
          </a:p>
          <a:p>
            <a:pPr marL="0" indent="0">
              <a:spcBef>
                <a:spcPts val="640"/>
              </a:spcBef>
            </a:pP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n -= 1</a:t>
            </a:r>
          </a:p>
          <a:p>
            <a:pPr marL="0" indent="0">
              <a:spcBef>
                <a:spcPts val="640"/>
              </a:spcBef>
            </a:pP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f *= n</a:t>
            </a:r>
          </a:p>
          <a:p>
            <a:pPr marL="0" indent="0">
              <a:spcBef>
                <a:spcPts val="640"/>
              </a:spcBef>
            </a:pP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f</a:t>
            </a:r>
          </a:p>
          <a:p>
            <a:pPr marL="0" indent="0">
              <a:spcBef>
                <a:spcPts val="640"/>
              </a:spcBef>
            </a:pPr>
            <a:endParaRPr lang="en-US" sz="1800" dirty="0"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Google Shape;87;p2">
            <a:extLst>
              <a:ext uri="{FF2B5EF4-FFF2-40B4-BE49-F238E27FC236}">
                <a16:creationId xmlns:a16="http://schemas.microsoft.com/office/drawing/2014/main" id="{B415F276-B698-4ECF-99BC-B038EFE2C743}"/>
              </a:ext>
            </a:extLst>
          </p:cNvPr>
          <p:cNvSpPr txBox="1">
            <a:spLocks/>
          </p:cNvSpPr>
          <p:nvPr/>
        </p:nvSpPr>
        <p:spPr>
          <a:xfrm>
            <a:off x="5204156" y="1248679"/>
            <a:ext cx="3661427" cy="1740363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</a:t>
            </a:r>
            <a:r>
              <a:rPr lang="en-US" sz="16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fac_for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(n):</a:t>
            </a: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f = 1</a:t>
            </a: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for </a:t>
            </a:r>
            <a:r>
              <a:rPr lang="en-US" sz="16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in range(2, n+1):</a:t>
            </a: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f *= </a:t>
            </a:r>
            <a:r>
              <a:rPr lang="en-US" sz="16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</a:t>
            </a:r>
            <a:endParaRPr lang="en-US" sz="1600" dirty="0"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f</a:t>
            </a:r>
          </a:p>
        </p:txBody>
      </p:sp>
      <p:sp>
        <p:nvSpPr>
          <p:cNvPr id="11" name="Google Shape;87;p2">
            <a:extLst>
              <a:ext uri="{FF2B5EF4-FFF2-40B4-BE49-F238E27FC236}">
                <a16:creationId xmlns:a16="http://schemas.microsoft.com/office/drawing/2014/main" id="{82FFEBE8-FCEB-490D-8C05-DD3A6F34EE7F}"/>
              </a:ext>
            </a:extLst>
          </p:cNvPr>
          <p:cNvSpPr txBox="1">
            <a:spLocks/>
          </p:cNvSpPr>
          <p:nvPr/>
        </p:nvSpPr>
        <p:spPr>
          <a:xfrm>
            <a:off x="5204157" y="5035318"/>
            <a:ext cx="3661427" cy="140552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fac(n):</a:t>
            </a: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if n &lt;= 1:</a:t>
            </a: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return 1</a:t>
            </a:r>
          </a:p>
          <a:p>
            <a:pPr mar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n * fac(n-1)</a:t>
            </a:r>
          </a:p>
        </p:txBody>
      </p:sp>
      <p:sp>
        <p:nvSpPr>
          <p:cNvPr id="13" name="Google Shape;87;p2">
            <a:extLst>
              <a:ext uri="{FF2B5EF4-FFF2-40B4-BE49-F238E27FC236}">
                <a16:creationId xmlns:a16="http://schemas.microsoft.com/office/drawing/2014/main" id="{34A40FED-4695-4D12-A7E6-B5E7A5936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4233" y="1248679"/>
            <a:ext cx="2789922" cy="486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Iteration with for loop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Iteration with while loop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Recursion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		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de-AT" sz="1800" b="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DB3D76D0-CDAB-4CF7-8687-92084CE484F5}"/>
              </a:ext>
            </a:extLst>
          </p:cNvPr>
          <p:cNvSpPr/>
          <p:nvPr/>
        </p:nvSpPr>
        <p:spPr>
          <a:xfrm>
            <a:off x="1808729" y="1804838"/>
            <a:ext cx="365760" cy="4114800"/>
          </a:xfrm>
          <a:custGeom>
            <a:avLst/>
            <a:gdLst>
              <a:gd name="textAreaLeft" fmla="*/ 233640 w 365760"/>
              <a:gd name="textAreaRight" fmla="*/ 366120 w 365760"/>
              <a:gd name="textAreaTop" fmla="*/ 107280 h 4114800"/>
              <a:gd name="textAreaBottom" fmla="*/ 4007520 h 4114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67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87;p2">
                <a:extLst>
                  <a:ext uri="{FF2B5EF4-FFF2-40B4-BE49-F238E27FC236}">
                    <a16:creationId xmlns:a16="http://schemas.microsoft.com/office/drawing/2014/main" id="{7C1004AC-19F8-4EBD-9ADE-012440B1D9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789" y="3501816"/>
                <a:ext cx="1621940" cy="8299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 algn="ctr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Same result</a:t>
                </a:r>
              </a:p>
              <a:p>
                <a:pPr marL="0" indent="0" algn="ctr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!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Google Shape;87;p2">
                <a:extLst>
                  <a:ext uri="{FF2B5EF4-FFF2-40B4-BE49-F238E27FC236}">
                    <a16:creationId xmlns:a16="http://schemas.microsoft.com/office/drawing/2014/main" id="{7C1004AC-19F8-4EBD-9ADE-012440B1D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9" y="3501816"/>
                <a:ext cx="1621940" cy="829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7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Recursive powers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544" y="1646649"/>
                <a:ext cx="8229600" cy="3245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</m:sSup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 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cases: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p>
                    </m:sSup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de-AT" sz="1800" b="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 case: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</m:t>
                    </m:r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</m:t>
                    </m:r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</m:t>
                    </m:r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−3</m:t>
                        </m:r>
                      </m:sup>
                    </m:sSup>
                  </m:oMath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…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</m:t>
                    </m:r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</m:sSup>
                  </m:oMath>
                </a14:m>
                <a:endParaRPr lang="de-AT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de-AT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544" y="1646649"/>
                <a:ext cx="8229600" cy="3245725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279F9ABB-0853-4C48-80D0-221318E148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014" y="4892374"/>
                <a:ext cx="7884442" cy="994493"/>
              </a:xfrm>
              <a:prstGeom prst="rect">
                <a:avLst/>
              </a:prstGeom>
              <a:solidFill>
                <a:srgbClr val="DAE3F3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de-AT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Example: </a:t>
                </a:r>
              </a:p>
              <a:p>
                <a:pPr marL="0" lv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de-AT" sz="180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3</m:t>
                          </m:r>
                        </m:e>
                        <m:sup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4</m:t>
                          </m:r>
                        </m:sup>
                      </m:sSup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=3</m:t>
                      </m:r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⋅3</m:t>
                          </m:r>
                        </m:e>
                        <m:sup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p>
                      </m:sSup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⋅3</m:t>
                          </m:r>
                        </m:e>
                        <m:sup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⋅3</m:t>
                          </m:r>
                        </m:e>
                        <m:sup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p>
                      </m:sSup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3=81</m:t>
                      </m:r>
                    </m:oMath>
                  </m:oMathPara>
                </a14:m>
                <a:endParaRPr kumimoji="0" lang="de-AT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279F9ABB-0853-4C48-80D0-221318E14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14" y="4892374"/>
                <a:ext cx="7884442" cy="994493"/>
              </a:xfrm>
              <a:prstGeom prst="rect">
                <a:avLst/>
              </a:prstGeom>
              <a:blipFill>
                <a:blip r:embed="rId4"/>
                <a:stretch>
                  <a:fillRect l="-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17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Implementation of powers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544" y="1595194"/>
                <a:ext cx="4289760" cy="172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case: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 case: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⋅</m:t>
                    </m:r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544" y="1595194"/>
                <a:ext cx="4289760" cy="1720069"/>
              </a:xfrm>
              <a:prstGeom prst="rect">
                <a:avLst/>
              </a:prstGeom>
              <a:blipFill>
                <a:blip r:embed="rId3"/>
                <a:stretch>
                  <a:fillRect l="-1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279F9ABB-0853-4C48-80D0-221318E14867}"/>
              </a:ext>
            </a:extLst>
          </p:cNvPr>
          <p:cNvSpPr txBox="1">
            <a:spLocks/>
          </p:cNvSpPr>
          <p:nvPr/>
        </p:nvSpPr>
        <p:spPr>
          <a:xfrm>
            <a:off x="4881874" y="1595194"/>
            <a:ext cx="3948427" cy="1668614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def 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exp_rec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(x, n):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if n == 0: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return 1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x * </a:t>
            </a:r>
            <a:r>
              <a:rPr lang="en-US" sz="18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exp_rec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(x, n-1)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E36339DD-F5ED-48BD-86D8-3DC6F7EE403B}"/>
              </a:ext>
            </a:extLst>
          </p:cNvPr>
          <p:cNvSpPr>
            <a:spLocks noChangeAspect="1"/>
          </p:cNvSpPr>
          <p:nvPr/>
        </p:nvSpPr>
        <p:spPr>
          <a:xfrm>
            <a:off x="4042672" y="2051355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C98B7B46-71CF-4285-BAB7-70AD9C727C25}"/>
              </a:ext>
            </a:extLst>
          </p:cNvPr>
          <p:cNvSpPr>
            <a:spLocks noChangeAspect="1"/>
          </p:cNvSpPr>
          <p:nvPr/>
        </p:nvSpPr>
        <p:spPr>
          <a:xfrm>
            <a:off x="4042672" y="2764316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6404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Implementation of powers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46C279BD-56D8-4E69-B5CD-E30F5A8CAE76}"/>
              </a:ext>
            </a:extLst>
          </p:cNvPr>
          <p:cNvSpPr txBox="1">
            <a:spLocks/>
          </p:cNvSpPr>
          <p:nvPr/>
        </p:nvSpPr>
        <p:spPr>
          <a:xfrm>
            <a:off x="5204157" y="2989042"/>
            <a:ext cx="3661427" cy="2046276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def </a:t>
            </a:r>
            <a:r>
              <a:rPr lang="pt-BR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exp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_while(x, n):</a:t>
            </a:r>
          </a:p>
          <a:p>
            <a:pPr marL="0" lvl="0" indent="0">
              <a:spcBef>
                <a:spcPts val="640"/>
              </a:spcBef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   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 = 1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while n &gt; 0: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result *= x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n -= 1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result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87;p2">
            <a:extLst>
              <a:ext uri="{FF2B5EF4-FFF2-40B4-BE49-F238E27FC236}">
                <a16:creationId xmlns:a16="http://schemas.microsoft.com/office/drawing/2014/main" id="{B415F276-B698-4ECF-99BC-B038EFE2C743}"/>
              </a:ext>
            </a:extLst>
          </p:cNvPr>
          <p:cNvSpPr txBox="1">
            <a:spLocks/>
          </p:cNvSpPr>
          <p:nvPr/>
        </p:nvSpPr>
        <p:spPr>
          <a:xfrm>
            <a:off x="5204156" y="1248679"/>
            <a:ext cx="3661427" cy="1740363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def 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exp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_for(x, n):</a:t>
            </a:r>
          </a:p>
          <a:p>
            <a:pPr marL="0" lvl="0" indent="0">
              <a:spcBef>
                <a:spcPts val="640"/>
              </a:spcBef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   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 = 1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for </a:t>
            </a:r>
            <a:r>
              <a:rPr lang="en-US" sz="16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in range(n):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result *= x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result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" name="Google Shape;87;p2">
            <a:extLst>
              <a:ext uri="{FF2B5EF4-FFF2-40B4-BE49-F238E27FC236}">
                <a16:creationId xmlns:a16="http://schemas.microsoft.com/office/drawing/2014/main" id="{82FFEBE8-FCEB-490D-8C05-DD3A6F34EE7F}"/>
              </a:ext>
            </a:extLst>
          </p:cNvPr>
          <p:cNvSpPr txBox="1">
            <a:spLocks/>
          </p:cNvSpPr>
          <p:nvPr/>
        </p:nvSpPr>
        <p:spPr>
          <a:xfrm>
            <a:off x="5204157" y="5035318"/>
            <a:ext cx="3661427" cy="1405529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  <a:defRPr/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</a:t>
            </a:r>
            <a:r>
              <a:rPr lang="en-US" sz="16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exp_rec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(x, n):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if n == 0: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return 1</a:t>
            </a:r>
          </a:p>
          <a:p>
            <a:pPr marL="0" lvl="0" indent="0">
              <a:spcBef>
                <a:spcPts val="640"/>
              </a:spcBef>
            </a:pP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x * </a:t>
            </a:r>
            <a:r>
              <a:rPr lang="en-US" sz="16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exp_rec</a:t>
            </a:r>
            <a:r>
              <a:rPr 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(x, n-1)</a:t>
            </a:r>
          </a:p>
        </p:txBody>
      </p:sp>
      <p:sp>
        <p:nvSpPr>
          <p:cNvPr id="13" name="Google Shape;87;p2">
            <a:extLst>
              <a:ext uri="{FF2B5EF4-FFF2-40B4-BE49-F238E27FC236}">
                <a16:creationId xmlns:a16="http://schemas.microsoft.com/office/drawing/2014/main" id="{34A40FED-4695-4D12-A7E6-B5E7A5936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4233" y="1248679"/>
            <a:ext cx="2789922" cy="486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Iteration with for loop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Iteration with while loop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Recursion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		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de-AT" sz="1800" b="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DB3D76D0-CDAB-4CF7-8687-92084CE484F5}"/>
              </a:ext>
            </a:extLst>
          </p:cNvPr>
          <p:cNvSpPr/>
          <p:nvPr/>
        </p:nvSpPr>
        <p:spPr>
          <a:xfrm>
            <a:off x="1808729" y="1804838"/>
            <a:ext cx="365760" cy="4114800"/>
          </a:xfrm>
          <a:custGeom>
            <a:avLst/>
            <a:gdLst>
              <a:gd name="textAreaLeft" fmla="*/ 233640 w 365760"/>
              <a:gd name="textAreaRight" fmla="*/ 366120 w 365760"/>
              <a:gd name="textAreaTop" fmla="*/ 107280 h 4114800"/>
              <a:gd name="textAreaBottom" fmla="*/ 4007520 h 4114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67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87;p2">
                <a:extLst>
                  <a:ext uri="{FF2B5EF4-FFF2-40B4-BE49-F238E27FC236}">
                    <a16:creationId xmlns:a16="http://schemas.microsoft.com/office/drawing/2014/main" id="{7C1004AC-19F8-4EBD-9ADE-012440B1D9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789" y="3501816"/>
                <a:ext cx="1621940" cy="8299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Same result</a:t>
                </a:r>
              </a:p>
              <a:p>
                <a:pPr marL="0" lvl="0" indent="0" algn="ctr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 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15" name="Google Shape;87;p2">
                <a:extLst>
                  <a:ext uri="{FF2B5EF4-FFF2-40B4-BE49-F238E27FC236}">
                    <a16:creationId xmlns:a16="http://schemas.microsoft.com/office/drawing/2014/main" id="{7C1004AC-19F8-4EBD-9ADE-012440B1D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9" y="3501816"/>
                <a:ext cx="1621940" cy="829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44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Fibonacci numbers (Golden ratio)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544" y="1646650"/>
                <a:ext cx="8229600" cy="1990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Leonardo Fibonacci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Next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number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in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sequence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sum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last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two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numbers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cases: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de-AT" sz="1800" b="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18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</m:oMath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hlinkClick r:id="rId3"/>
                  </a:rPr>
                  <a:t>https://en.wikipedia.org/wiki/Fibonacci_number</a:t>
                </a:r>
                <a:endParaRPr lang="en-US" sz="1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544" y="1646650"/>
                <a:ext cx="8229600" cy="1990928"/>
              </a:xfrm>
              <a:prstGeom prst="rect">
                <a:avLst/>
              </a:prstGeom>
              <a:blipFill>
                <a:blip r:embed="rId4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279F9ABB-0853-4C48-80D0-221318E148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014" y="3637578"/>
                <a:ext cx="7884442" cy="994493"/>
              </a:xfrm>
              <a:prstGeom prst="rect">
                <a:avLst/>
              </a:prstGeom>
              <a:solidFill>
                <a:srgbClr val="DAE3F3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de-AT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Example: </a:t>
                </a:r>
              </a:p>
              <a:p>
                <a:pPr marL="0" lv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0, 1, 1, 2, 3, 5, 8, 13, 21, 34, 55, 89, 144, 233</m:t>
                      </m:r>
                    </m:oMath>
                  </m:oMathPara>
                </a14:m>
                <a:endParaRPr kumimoji="0" lang="de-AT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279F9ABB-0853-4C48-80D0-221318E14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14" y="3637578"/>
                <a:ext cx="7884442" cy="994493"/>
              </a:xfrm>
              <a:prstGeom prst="rect">
                <a:avLst/>
              </a:prstGeom>
              <a:blipFill>
                <a:blip r:embed="rId5"/>
                <a:stretch>
                  <a:fillRect l="-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87D2A0B4-31F9-4A38-93CF-00C54D74A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03726" y="4632071"/>
            <a:ext cx="2313973" cy="1435255"/>
          </a:xfrm>
          <a:prstGeom prst="rect">
            <a:avLst/>
          </a:prstGeom>
          <a:ln w="0">
            <a:noFill/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8BBF6D7-34EB-4FA2-B17B-D1645759B2A9}"/>
              </a:ext>
            </a:extLst>
          </p:cNvPr>
          <p:cNvSpPr txBox="1">
            <a:spLocks noChangeAspect="1"/>
          </p:cNvSpPr>
          <p:nvPr/>
        </p:nvSpPr>
        <p:spPr>
          <a:xfrm>
            <a:off x="303726" y="6063377"/>
            <a:ext cx="2248713" cy="37806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https://www.mathsisfun.com/numbers/fibonacci-sequence.html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414116D-A380-4040-8A67-5BE2A25BD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659877" y="4647502"/>
            <a:ext cx="1725413" cy="1382610"/>
          </a:xfrm>
          <a:prstGeom prst="rect">
            <a:avLst/>
          </a:prstGeom>
          <a:ln w="0">
            <a:noFill/>
          </a:ln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7C738BE-787B-4DDB-9A30-A49742E9B06B}"/>
              </a:ext>
            </a:extLst>
          </p:cNvPr>
          <p:cNvSpPr txBox="1">
            <a:spLocks noChangeAspect="1"/>
          </p:cNvSpPr>
          <p:nvPr/>
        </p:nvSpPr>
        <p:spPr>
          <a:xfrm>
            <a:off x="2609614" y="6063377"/>
            <a:ext cx="1755476" cy="37806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https://insteading.com/blog/fibonacci-sequence-in-nature/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066D091-6146-4729-9702-D35250569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535063" y="4630156"/>
            <a:ext cx="2291654" cy="1417303"/>
          </a:xfrm>
          <a:prstGeom prst="rect">
            <a:avLst/>
          </a:prstGeom>
          <a:ln w="0">
            <a:noFill/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6F64C95-47E4-44A0-A207-6C8E8F2B2E46}"/>
              </a:ext>
            </a:extLst>
          </p:cNvPr>
          <p:cNvSpPr txBox="1">
            <a:spLocks noChangeAspect="1"/>
          </p:cNvSpPr>
          <p:nvPr/>
        </p:nvSpPr>
        <p:spPr>
          <a:xfrm>
            <a:off x="6513748" y="6085521"/>
            <a:ext cx="2248713" cy="29088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https://knowyourmeme.com/photos/1054836-donald-trump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E649CB7-7F8C-4225-82CD-5C4264322A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984" t="18315" r="20999" b="28882"/>
          <a:stretch/>
        </p:blipFill>
        <p:spPr>
          <a:xfrm>
            <a:off x="4473192" y="4650266"/>
            <a:ext cx="2040556" cy="1417060"/>
          </a:xfrm>
          <a:prstGeom prst="rect">
            <a:avLst/>
          </a:prstGeom>
          <a:ln w="0">
            <a:noFill/>
          </a:ln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8C36AABC-159A-4F35-8C3F-96A0E01C217C}"/>
              </a:ext>
            </a:extLst>
          </p:cNvPr>
          <p:cNvSpPr txBox="1">
            <a:spLocks noChangeAspect="1"/>
          </p:cNvSpPr>
          <p:nvPr/>
        </p:nvSpPr>
        <p:spPr>
          <a:xfrm>
            <a:off x="4422266" y="6063377"/>
            <a:ext cx="1940958" cy="37806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http://thesmarthappyproject.com/fibonacci-in-a-sunflower/</a:t>
            </a:r>
          </a:p>
        </p:txBody>
      </p:sp>
    </p:spTree>
    <p:extLst>
      <p:ext uri="{BB962C8B-B14F-4D97-AF65-F5344CB8AC3E}">
        <p14:creationId xmlns:p14="http://schemas.microsoft.com/office/powerpoint/2010/main" val="197029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Implementation of Fibonacci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544" y="1595194"/>
                <a:ext cx="4289760" cy="2422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case: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=1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Base case:</a:t>
                </a:r>
                <a14:m>
                  <m:oMath xmlns:m="http://schemas.openxmlformats.org/officeDocument/2006/math">
                    <m:r>
                      <a:rPr lang="de-A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          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=1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Recursive case: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−1 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−2 </m:t>
                        </m:r>
                      </m:sub>
                    </m:sSub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DE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highlight>
                      <a:srgbClr val="DAE3F3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See unit7.ipynb</a:t>
                </a:r>
              </a:p>
              <a:p>
                <a:pPr marL="0" indent="0">
                  <a:spcBef>
                    <a:spcPts val="640"/>
                  </a:spcBef>
                </a:pPr>
                <a:endParaRPr lang="de-AT" sz="1800" b="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21A8D102-1C16-49D0-9B80-8EAB675A9A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544" y="1595194"/>
                <a:ext cx="4289760" cy="2422826"/>
              </a:xfrm>
              <a:prstGeom prst="rect">
                <a:avLst/>
              </a:prstGeom>
              <a:blipFill>
                <a:blip r:embed="rId3"/>
                <a:stretch>
                  <a:fillRect l="-1180" b="-510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279F9ABB-0853-4C48-80D0-221318E14867}"/>
              </a:ext>
            </a:extLst>
          </p:cNvPr>
          <p:cNvSpPr txBox="1">
            <a:spLocks/>
          </p:cNvSpPr>
          <p:nvPr/>
        </p:nvSpPr>
        <p:spPr>
          <a:xfrm>
            <a:off x="4881874" y="1595193"/>
            <a:ext cx="3948427" cy="237610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 fib(n):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if n == 1: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return 1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if n == 2: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return 1</a:t>
            </a:r>
          </a:p>
          <a:p>
            <a:pPr marL="0" lvl="0" indent="0">
              <a:spcBef>
                <a:spcPts val="640"/>
              </a:spcBef>
            </a:pP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return fib(n-2) + fib(n-1)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E36339DD-F5ED-48BD-86D8-3DC6F7EE403B}"/>
              </a:ext>
            </a:extLst>
          </p:cNvPr>
          <p:cNvSpPr>
            <a:spLocks noChangeAspect="1"/>
          </p:cNvSpPr>
          <p:nvPr/>
        </p:nvSpPr>
        <p:spPr>
          <a:xfrm>
            <a:off x="4042672" y="2051355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C98B7B46-71CF-4285-BAB7-70AD9C727C25}"/>
              </a:ext>
            </a:extLst>
          </p:cNvPr>
          <p:cNvSpPr>
            <a:spLocks noChangeAspect="1"/>
          </p:cNvSpPr>
          <p:nvPr/>
        </p:nvSpPr>
        <p:spPr>
          <a:xfrm>
            <a:off x="4042672" y="3429000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3020F6BB-FE6E-4D18-ADD6-EAABF54C2869}"/>
              </a:ext>
            </a:extLst>
          </p:cNvPr>
          <p:cNvSpPr>
            <a:spLocks noChangeAspect="1"/>
          </p:cNvSpPr>
          <p:nvPr/>
        </p:nvSpPr>
        <p:spPr>
          <a:xfrm>
            <a:off x="4042672" y="2744675"/>
            <a:ext cx="713170" cy="416016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C9211E"/>
          </a:solidFill>
          <a:ln w="0">
            <a:solidFill>
              <a:srgbClr val="C9211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AT"/>
          </a:p>
        </p:txBody>
      </p:sp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28C4A5E-747D-470D-8354-D36B25F53E23}"/>
              </a:ext>
            </a:extLst>
          </p:cNvPr>
          <p:cNvSpPr txBox="1">
            <a:spLocks/>
          </p:cNvSpPr>
          <p:nvPr/>
        </p:nvSpPr>
        <p:spPr>
          <a:xfrm>
            <a:off x="4881874" y="4018020"/>
            <a:ext cx="3948427" cy="2422827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# </a:t>
            </a: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Iterative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for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fib_for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</a:t>
            </a: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n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):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num_1 = 0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num_2 = 1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for </a:t>
            </a: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in range(0, n-1):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num_1_old = num_1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num_1 = num_2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       num_2 = num_1_old + num_2</a:t>
            </a:r>
          </a:p>
          <a:p>
            <a:pPr marL="0" lvl="0" indent="0">
              <a:spcBef>
                <a:spcPts val="640"/>
              </a:spcBef>
            </a:pPr>
            <a:r>
              <a:rPr lang="pt-BR" sz="1200" dirty="0" err="1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num_1</a:t>
            </a:r>
          </a:p>
        </p:txBody>
      </p:sp>
    </p:spTree>
    <p:extLst>
      <p:ext uri="{BB962C8B-B14F-4D97-AF65-F5344CB8AC3E}">
        <p14:creationId xmlns:p14="http://schemas.microsoft.com/office/powerpoint/2010/main" val="785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Problems with recursion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32095FE-9B8E-4041-A6DF-6302270C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8565" y="1168000"/>
            <a:ext cx="4994609" cy="5227934"/>
          </a:xfrm>
          <a:prstGeom prst="rect">
            <a:avLst/>
          </a:prstGeom>
          <a:ln w="0">
            <a:noFill/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E846EF15-EACE-4FA4-86E6-61430CBECDB1}"/>
              </a:ext>
            </a:extLst>
          </p:cNvPr>
          <p:cNvSpPr txBox="1">
            <a:spLocks noChangeAspect="1"/>
          </p:cNvSpPr>
          <p:nvPr/>
        </p:nvSpPr>
        <p:spPr>
          <a:xfrm>
            <a:off x="1416988" y="6091064"/>
            <a:ext cx="4289669" cy="1867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Quelle: https://www.smbc-comics.com/comic/recursion</a:t>
            </a:r>
          </a:p>
        </p:txBody>
      </p:sp>
    </p:spTree>
    <p:extLst>
      <p:ext uri="{BB962C8B-B14F-4D97-AF65-F5344CB8AC3E}">
        <p14:creationId xmlns:p14="http://schemas.microsoft.com/office/powerpoint/2010/main" val="3357645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D01CE37-3C1E-0B1D-3EE8-713C8ED2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>
            <a:extLst>
              <a:ext uri="{FF2B5EF4-FFF2-40B4-BE49-F238E27FC236}">
                <a16:creationId xmlns:a16="http://schemas.microsoft.com/office/drawing/2014/main" id="{3FF3AC18-BDFA-AE91-B6CB-560CA26F6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Recursion, recursion, recursion, …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D53A0-B2AD-12EB-DD6B-680CDDED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" y="1417320"/>
            <a:ext cx="6088566" cy="45704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646A73-D027-93E8-0AAC-A6B6AC2DC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947" y="1806477"/>
            <a:ext cx="3135995" cy="41813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AA8E8-7682-54AF-0EA7-83B24E862428}"/>
              </a:ext>
            </a:extLst>
          </p:cNvPr>
          <p:cNvSpPr txBox="1"/>
          <p:nvPr/>
        </p:nvSpPr>
        <p:spPr>
          <a:xfrm>
            <a:off x="880946" y="6115350"/>
            <a:ext cx="5695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https://</a:t>
            </a:r>
            <a:r>
              <a:rPr lang="en-GB" sz="1100" dirty="0" err="1"/>
              <a:t>laughingsquid.com</a:t>
            </a:r>
            <a:r>
              <a:rPr lang="en-GB" sz="1100" dirty="0"/>
              <a:t>/</a:t>
            </a:r>
            <a:r>
              <a:rPr lang="en-GB" sz="1100" dirty="0" err="1"/>
              <a:t>jacob</a:t>
            </a:r>
            <a:r>
              <a:rPr lang="en-GB" sz="1100" dirty="0"/>
              <a:t>-</a:t>
            </a:r>
            <a:r>
              <a:rPr lang="en-GB" sz="1100" dirty="0" err="1"/>
              <a:t>appelbaum</a:t>
            </a:r>
            <a:r>
              <a:rPr lang="en-GB" sz="1100" dirty="0"/>
              <a:t>-</a:t>
            </a:r>
            <a:r>
              <a:rPr lang="en-GB" sz="1100" dirty="0" err="1"/>
              <a:t>donald</a:t>
            </a:r>
            <a:r>
              <a:rPr lang="en-GB" sz="1100" dirty="0"/>
              <a:t>-</a:t>
            </a:r>
            <a:r>
              <a:rPr lang="en-GB" sz="1100" dirty="0" err="1"/>
              <a:t>knuth</a:t>
            </a:r>
            <a:r>
              <a:rPr lang="en-GB" sz="1100" dirty="0"/>
              <a:t>-recursive-homeboys-principle/</a:t>
            </a:r>
            <a:endParaRPr lang="en-AT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0E3A3-85AB-3D6B-E2FE-E1E74759E8AF}"/>
              </a:ext>
            </a:extLst>
          </p:cNvPr>
          <p:cNvSpPr txBox="1"/>
          <p:nvPr/>
        </p:nvSpPr>
        <p:spPr>
          <a:xfrm>
            <a:off x="6117285" y="1291755"/>
            <a:ext cx="2899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“The C Programming Language" by Brian W. Kernighan and Dennis M. Ritchie</a:t>
            </a:r>
            <a:endParaRPr lang="en-AT" sz="1050" dirty="0"/>
          </a:p>
        </p:txBody>
      </p:sp>
    </p:spTree>
    <p:extLst>
      <p:ext uri="{BB962C8B-B14F-4D97-AF65-F5344CB8AC3E}">
        <p14:creationId xmlns:p14="http://schemas.microsoft.com/office/powerpoint/2010/main" val="1444547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0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Recursion examples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2638457-2D9F-4863-99CD-F828C4C1BC3C}"/>
              </a:ext>
            </a:extLst>
          </p:cNvPr>
          <p:cNvSpPr/>
          <p:nvPr/>
        </p:nvSpPr>
        <p:spPr>
          <a:xfrm>
            <a:off x="825617" y="1501669"/>
            <a:ext cx="7492765" cy="438800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just"/>
            <a:r>
              <a:rPr lang="en-US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1. Binary representation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Compose a recursive program that takes 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positive integer n (in decimal) from the command line and writes its binary 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representation. Recall the following method: repeatedly divide n by 2 and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remainders backwards. </a:t>
            </a:r>
          </a:p>
          <a:p>
            <a:pPr algn="just"/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2. Permutations. 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 a program that takes a command-line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 n and writes all n! permutations of the n letters starting at a 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(assume that n is no greater than 26). A permutation of n elements is one 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n! possible orderings of the elements.</a:t>
            </a:r>
          </a:p>
          <a:p>
            <a:pPr algn="just"/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3. Recursive squares (fractals). 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 a program to produce the </a:t>
            </a: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following recursive pattern.</a:t>
            </a:r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E702544F-B557-4280-BAC4-9E0BD061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994" y="5889673"/>
            <a:ext cx="8036099" cy="58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unit7.ipynb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DE4580-278E-4C6A-A3B6-207CB127A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26" y="4929024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59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49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083087"/>
            <a:ext cx="8229600" cy="45550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1: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list of student dictionaries defined below. Write a function, which nicely prints all the students including all of their data. The functions takes the student list as a parameter. Do not forget to test your code.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student1 = {'first': 'Max', 'last':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Mustermann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matnr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131211, 'grade': 2}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student2 = {'first': 'Maria', 'last':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Musterfrau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matnr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12119, 'grade': 2}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student3 = {'first': 'Lukas', 'last': 'Student',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matnr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13299, 'grade': 3}</a:t>
            </a:r>
          </a:p>
          <a:p>
            <a:pPr lvl="0">
              <a:defRPr/>
            </a:pP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student4 = {'first': 'Lisa', 'last':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Studentin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matnr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': 131211, 'grade': 4}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</a:t>
            </a:r>
            <a:r>
              <a:rPr lang="en-US" sz="1800" dirty="0">
                <a:highlight>
                  <a:srgbClr val="DAE3F3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unit7_exercise.ipynb</a:t>
            </a: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function, which computes the average student grade from the list of students. The list contains student dictionaries as in the previous exercise.</a:t>
            </a: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3: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natural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recursion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defRPr/>
            </a:pP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4.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drawing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code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previous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produce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pattern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473CBD-85AF-4157-A662-59704A52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124" y="5336763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6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2099</Words>
  <Application>Microsoft Macintosh PowerPoint</Application>
  <PresentationFormat>On-screen Show (4:3)</PresentationFormat>
  <Paragraphs>383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Consolas</vt:lpstr>
      <vt:lpstr>Arial</vt:lpstr>
      <vt:lpstr>Calibri</vt:lpstr>
      <vt:lpstr>Cambria Math</vt:lpstr>
      <vt:lpstr>Blackadder ITC</vt:lpstr>
      <vt:lpstr>Wingdings</vt:lpstr>
      <vt:lpstr>Office Theme</vt:lpstr>
      <vt:lpstr>Fundamentals of Computer Science and Programming </vt:lpstr>
      <vt:lpstr>Outline</vt:lpstr>
      <vt:lpstr>Sets</vt:lpstr>
      <vt:lpstr>Basics of sets</vt:lpstr>
      <vt:lpstr>Basics of sets</vt:lpstr>
      <vt:lpstr>Set operations</vt:lpstr>
      <vt:lpstr>Dictionaries</vt:lpstr>
      <vt:lpstr>Real world dictionaries</vt:lpstr>
      <vt:lpstr>Basics of dictionaries</vt:lpstr>
      <vt:lpstr>Manipulating dictionaries</vt:lpstr>
      <vt:lpstr>Example with dictionaries</vt:lpstr>
      <vt:lpstr>Retrieving and iterating over dictionary elements</vt:lpstr>
      <vt:lpstr>Recursions</vt:lpstr>
      <vt:lpstr>Intuition</vt:lpstr>
      <vt:lpstr>Recursive algorithms</vt:lpstr>
      <vt:lpstr>Recursive algorithms</vt:lpstr>
      <vt:lpstr>Recursive function calls in Python</vt:lpstr>
      <vt:lpstr>Recursive function calls in Python</vt:lpstr>
      <vt:lpstr>Implementing recursions</vt:lpstr>
      <vt:lpstr>Factorial</vt:lpstr>
      <vt:lpstr>Implementation of factorial</vt:lpstr>
      <vt:lpstr>Implementation of factorial</vt:lpstr>
      <vt:lpstr>Recursive powers</vt:lpstr>
      <vt:lpstr>Implementation of powers</vt:lpstr>
      <vt:lpstr>Implementation of powers</vt:lpstr>
      <vt:lpstr>Fibonacci numbers (Golden ratio)</vt:lpstr>
      <vt:lpstr>Implementation of Fibonacci</vt:lpstr>
      <vt:lpstr>Problems with recursion</vt:lpstr>
      <vt:lpstr>Recursion, recursion, recursion, …</vt:lpstr>
      <vt:lpstr>Examples</vt:lpstr>
      <vt:lpstr>Recursion examples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1038</cp:revision>
  <dcterms:modified xsi:type="dcterms:W3CDTF">2026-04-14T14:44:28Z</dcterms:modified>
</cp:coreProperties>
</file>