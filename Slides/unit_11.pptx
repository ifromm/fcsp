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embedTrueTypeFonts="1" saveSubsetFonts="1" autoCompressPictures="0">
  <p:sldMasterIdLst>
    <p:sldMasterId id="2147483648" r:id="rId1"/>
    <p:sldMasterId id="2147483653" r:id="rId2"/>
  </p:sldMasterIdLst>
  <p:notesMasterIdLst>
    <p:notesMasterId r:id="rId41"/>
  </p:notesMasterIdLst>
  <p:sldIdLst>
    <p:sldId id="256" r:id="rId3"/>
    <p:sldId id="408" r:id="rId4"/>
    <p:sldId id="554" r:id="rId5"/>
    <p:sldId id="605" r:id="rId6"/>
    <p:sldId id="608" r:id="rId7"/>
    <p:sldId id="604" r:id="rId8"/>
    <p:sldId id="609" r:id="rId9"/>
    <p:sldId id="619" r:id="rId10"/>
    <p:sldId id="610" r:id="rId11"/>
    <p:sldId id="613" r:id="rId12"/>
    <p:sldId id="523" r:id="rId13"/>
    <p:sldId id="461" r:id="rId14"/>
    <p:sldId id="616" r:id="rId15"/>
    <p:sldId id="611" r:id="rId16"/>
    <p:sldId id="620" r:id="rId17"/>
    <p:sldId id="612" r:id="rId18"/>
    <p:sldId id="617" r:id="rId19"/>
    <p:sldId id="618" r:id="rId20"/>
    <p:sldId id="614" r:id="rId21"/>
    <p:sldId id="615" r:id="rId22"/>
    <p:sldId id="621" r:id="rId23"/>
    <p:sldId id="622" r:id="rId24"/>
    <p:sldId id="623" r:id="rId25"/>
    <p:sldId id="624" r:id="rId26"/>
    <p:sldId id="625" r:id="rId27"/>
    <p:sldId id="626" r:id="rId28"/>
    <p:sldId id="627" r:id="rId29"/>
    <p:sldId id="628" r:id="rId30"/>
    <p:sldId id="629" r:id="rId31"/>
    <p:sldId id="630" r:id="rId32"/>
    <p:sldId id="631" r:id="rId33"/>
    <p:sldId id="632" r:id="rId34"/>
    <p:sldId id="633" r:id="rId35"/>
    <p:sldId id="634" r:id="rId36"/>
    <p:sldId id="637" r:id="rId37"/>
    <p:sldId id="638" r:id="rId38"/>
    <p:sldId id="636" r:id="rId39"/>
    <p:sldId id="635" r:id="rId40"/>
  </p:sldIdLst>
  <p:sldSz cx="9144000" cy="6858000" type="screen4x3"/>
  <p:notesSz cx="7099300" cy="10234613"/>
  <p:embeddedFontLst>
    <p:embeddedFont>
      <p:font typeface="Blackadder ITC" pitchFamily="82" charset="77"/>
      <p:regular r:id="rId42"/>
    </p:embeddedFont>
    <p:embeddedFont>
      <p:font typeface="Cambria Math" panose="02040503050406030204" pitchFamily="18" charset="0"/>
      <p:regular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83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0" roundtripDataSignature="AMtx7milieXwv5OUJdQk1cj/252aZuXc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3F3"/>
    <a:srgbClr val="FCECE8"/>
    <a:srgbClr val="F8D7CD"/>
    <a:srgbClr val="BFBFBF"/>
    <a:srgbClr val="32CD32"/>
    <a:srgbClr val="1E90FF"/>
    <a:srgbClr val="D3242A"/>
    <a:srgbClr val="EDEDED"/>
    <a:srgbClr val="ED7D31"/>
    <a:srgbClr val="E2F0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A107856-5554-42FB-B03E-39F5DBC370BA}" styleName="Mittlere Formatvorlage 4 - Akz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ittlere Formatvorlage 1 - Akz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 autoAdjust="0"/>
    <p:restoredTop sz="92393" autoAdjust="0"/>
  </p:normalViewPr>
  <p:slideViewPr>
    <p:cSldViewPr snapToGrid="0">
      <p:cViewPr varScale="1">
        <p:scale>
          <a:sx n="147" d="100"/>
          <a:sy n="147" d="100"/>
        </p:scale>
        <p:origin x="2464" y="200"/>
      </p:cViewPr>
      <p:guideLst>
        <p:guide orient="horz" pos="2183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1.fntdata"/><Relationship Id="rId84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82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8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2.fntdata"/><Relationship Id="rId8" Type="http://schemas.openxmlformats.org/officeDocument/2006/relationships/slide" Target="slides/slide6.xml"/><Relationship Id="rId80" Type="http://customschemas.google.com/relationships/presentationmetadata" Target="metadata"/><Relationship Id="rId85" Type="http://schemas.microsoft.com/office/2016/11/relationships/changesInfo" Target="changesInfos/changesInfo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go Frommholz" userId="ee3b4549-206f-4e4f-93a1-b7ff676f0af7" providerId="ADAL" clId="{5F8971C4-3D52-5FAB-A951-9912A46CDBB0}"/>
    <pc:docChg chg="modSld">
      <pc:chgData name="Ingo Frommholz" userId="ee3b4549-206f-4e4f-93a1-b7ff676f0af7" providerId="ADAL" clId="{5F8971C4-3D52-5FAB-A951-9912A46CDBB0}" dt="2025-12-11T00:27:18.271" v="1" actId="20577"/>
      <pc:docMkLst>
        <pc:docMk/>
      </pc:docMkLst>
      <pc:sldChg chg="modSp mod">
        <pc:chgData name="Ingo Frommholz" userId="ee3b4549-206f-4e4f-93a1-b7ff676f0af7" providerId="ADAL" clId="{5F8971C4-3D52-5FAB-A951-9912A46CDBB0}" dt="2025-12-11T00:27:18.271" v="1" actId="20577"/>
        <pc:sldMkLst>
          <pc:docMk/>
          <pc:sldMk cId="0" sldId="256"/>
        </pc:sldMkLst>
        <pc:spChg chg="mod">
          <ac:chgData name="Ingo Frommholz" userId="ee3b4549-206f-4e4f-93a1-b7ff676f0af7" providerId="ADAL" clId="{5F8971C4-3D52-5FAB-A951-9912A46CDBB0}" dt="2025-12-11T00:27:18.271" v="1" actId="20577"/>
          <ac:spMkLst>
            <pc:docMk/>
            <pc:sldMk cId="0" sldId="256"/>
            <ac:spMk id="8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627754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43150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97618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4176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8180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8095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10363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17609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10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82505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24420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12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783965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25885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39690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30614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07362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70057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18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170152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90251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75418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96776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26479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27865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00370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28688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26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319596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695024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28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79414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16442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66619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777198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32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361178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940010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34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3705863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564913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36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9379784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4292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61e8dd047e_0_1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61e8dd047e_0_15"/>
          <p:cNvSpPr txBox="1">
            <a:spLocks noGrp="1"/>
          </p:cNvSpPr>
          <p:nvPr>
            <p:ph type="body" idx="1"/>
          </p:nvPr>
        </p:nvSpPr>
        <p:spPr>
          <a:xfrm>
            <a:off x="2286000" y="338760"/>
            <a:ext cx="6399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AB9558B-27C5-4CC8-9685-151D67DE7720}"/>
              </a:ext>
            </a:extLst>
          </p:cNvPr>
          <p:cNvSpPr txBox="1"/>
          <p:nvPr userDrawn="1"/>
        </p:nvSpPr>
        <p:spPr>
          <a:xfrm>
            <a:off x="8180614" y="6470198"/>
            <a:ext cx="12328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E9CBD56-2686-4AAC-B011-CC68FE510BD3}" type="slidenum">
              <a:rPr lang="de-AT" smtClean="0">
                <a:solidFill>
                  <a:schemeClr val="bg1"/>
                </a:solidFill>
              </a:rPr>
              <a:t>‹#›</a:t>
            </a:fld>
            <a:r>
              <a:rPr lang="de-AT" dirty="0">
                <a:solidFill>
                  <a:schemeClr val="bg1"/>
                </a:solidFill>
              </a:rPr>
              <a:t> / 37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 preserve="1">
  <p:cSld name="1_Title,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61e8dd047e_0_1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g61e8dd047e_0_15"/>
          <p:cNvSpPr txBox="1">
            <a:spLocks noGrp="1"/>
          </p:cNvSpPr>
          <p:nvPr>
            <p:ph type="body" idx="1"/>
          </p:nvPr>
        </p:nvSpPr>
        <p:spPr>
          <a:xfrm>
            <a:off x="619431" y="2142979"/>
            <a:ext cx="7934633" cy="3525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AB9558B-27C5-4CC8-9685-151D67DE7720}"/>
              </a:ext>
            </a:extLst>
          </p:cNvPr>
          <p:cNvSpPr txBox="1"/>
          <p:nvPr userDrawn="1"/>
        </p:nvSpPr>
        <p:spPr>
          <a:xfrm>
            <a:off x="8180614" y="6470198"/>
            <a:ext cx="12328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E9CBD56-2686-4AAC-B011-CC68FE510BD3}" type="slidenum">
              <a:rPr lang="de-AT" smtClean="0">
                <a:solidFill>
                  <a:schemeClr val="bg1"/>
                </a:solidFill>
              </a:rPr>
              <a:t>‹#›</a:t>
            </a:fld>
            <a:r>
              <a:rPr lang="de-AT" dirty="0">
                <a:solidFill>
                  <a:schemeClr val="bg1"/>
                </a:solidFill>
              </a:rPr>
              <a:t> / 37</a:t>
            </a:r>
          </a:p>
        </p:txBody>
      </p:sp>
    </p:spTree>
    <p:extLst>
      <p:ext uri="{BB962C8B-B14F-4D97-AF65-F5344CB8AC3E}">
        <p14:creationId xmlns:p14="http://schemas.microsoft.com/office/powerpoint/2010/main" val="2139937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Title,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61e8dd047e_0_1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g61e8dd047e_0_15"/>
          <p:cNvSpPr txBox="1">
            <a:spLocks noGrp="1"/>
          </p:cNvSpPr>
          <p:nvPr>
            <p:ph type="body" idx="1"/>
          </p:nvPr>
        </p:nvSpPr>
        <p:spPr>
          <a:xfrm>
            <a:off x="2286000" y="338760"/>
            <a:ext cx="6399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AB9558B-27C5-4CC8-9685-151D67DE7720}"/>
              </a:ext>
            </a:extLst>
          </p:cNvPr>
          <p:cNvSpPr txBox="1"/>
          <p:nvPr userDrawn="1"/>
        </p:nvSpPr>
        <p:spPr>
          <a:xfrm>
            <a:off x="8180614" y="6434758"/>
            <a:ext cx="1232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E9CBD56-2686-4AAC-B011-CC68FE510BD3}" type="slidenum">
              <a:rPr lang="de-AT" sz="1600" baseline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‹#›</a:t>
            </a:fld>
            <a:r>
              <a:rPr lang="de-AT" sz="1600" baseline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/ 37</a:t>
            </a:r>
          </a:p>
        </p:txBody>
      </p:sp>
    </p:spTree>
    <p:extLst>
      <p:ext uri="{BB962C8B-B14F-4D97-AF65-F5344CB8AC3E}">
        <p14:creationId xmlns:p14="http://schemas.microsoft.com/office/powerpoint/2010/main" val="1148477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g61e8dd047e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60"/>
            <a:ext cx="9143642" cy="685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g61e8dd047e_0_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360"/>
            <a:ext cx="9143642" cy="685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g61e8dd047e_0_0"/>
          <p:cNvSpPr/>
          <p:nvPr/>
        </p:nvSpPr>
        <p:spPr>
          <a:xfrm>
            <a:off x="3657600" y="1481760"/>
            <a:ext cx="1842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g61e8dd047e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360"/>
            <a:ext cx="9143642" cy="685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g61e8dd047e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60"/>
            <a:ext cx="9143642" cy="685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g61e8dd047e_0_0"/>
          <p:cNvSpPr/>
          <p:nvPr/>
        </p:nvSpPr>
        <p:spPr>
          <a:xfrm>
            <a:off x="3657600" y="1481760"/>
            <a:ext cx="1842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Blackadder ITC" panose="04020505051007020D02" pitchFamily="82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472783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7.xml"/><Relationship Id="rId3" Type="http://schemas.openxmlformats.org/officeDocument/2006/relationships/slide" Target="slide3.xml"/><Relationship Id="rId7" Type="http://schemas.openxmlformats.org/officeDocument/2006/relationships/slide" Target="slide21.xml"/><Relationship Id="rId12" Type="http://schemas.openxmlformats.org/officeDocument/2006/relationships/slide" Target="slide3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9.xml"/><Relationship Id="rId11" Type="http://schemas.openxmlformats.org/officeDocument/2006/relationships/slide" Target="slide35.xml"/><Relationship Id="rId5" Type="http://schemas.openxmlformats.org/officeDocument/2006/relationships/slide" Target="slide13.xml"/><Relationship Id="rId10" Type="http://schemas.openxmlformats.org/officeDocument/2006/relationships/slide" Target="slide33.xml"/><Relationship Id="rId4" Type="http://schemas.openxmlformats.org/officeDocument/2006/relationships/slide" Target="slide11.xml"/><Relationship Id="rId9" Type="http://schemas.openxmlformats.org/officeDocument/2006/relationships/slide" Target="slide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" y="19050"/>
            <a:ext cx="9144000" cy="6858046"/>
          </a:xfrm>
          <a:prstGeom prst="rect">
            <a:avLst/>
          </a:prstGeom>
          <a:solidFill>
            <a:srgbClr val="D3242A"/>
          </a:solidFill>
          <a:ln>
            <a:noFill/>
          </a:ln>
        </p:spPr>
      </p:pic>
      <p:sp>
        <p:nvSpPr>
          <p:cNvPr id="79" name="Google Shape;79;p1"/>
          <p:cNvSpPr txBox="1">
            <a:spLocks noGrp="1"/>
          </p:cNvSpPr>
          <p:nvPr>
            <p:ph type="title"/>
          </p:nvPr>
        </p:nvSpPr>
        <p:spPr>
          <a:xfrm>
            <a:off x="353192" y="4030874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 sz="4400" b="1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Fundamentals of Computer Science and Programming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lang="en-US" sz="4400" b="1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"/>
          <p:cNvSpPr txBox="1">
            <a:spLocks noGrp="1"/>
          </p:cNvSpPr>
          <p:nvPr>
            <p:ph type="body" idx="1"/>
          </p:nvPr>
        </p:nvSpPr>
        <p:spPr>
          <a:xfrm>
            <a:off x="930994" y="5175674"/>
            <a:ext cx="7567292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  <a:buSzPts val="800"/>
            </a:pPr>
            <a:r>
              <a:rPr lang="en-US" sz="3200" b="0" i="0" u="none" strike="noStrike" cap="none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Unit 11</a:t>
            </a:r>
            <a:r>
              <a:rPr lang="en-US" sz="3200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0" i="0" u="none" strike="noStrike" cap="none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lang="en-US" sz="3200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US" sz="3200" b="0" i="0" u="none" strike="noStrike" cap="none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Algorithms and Complexity, Part II</a:t>
            </a:r>
            <a:endParaRPr lang="en-US" sz="3200" b="0" i="0" u="none" strike="noStrike" cap="none" noProof="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5EBE914-4CDA-45B5-B72B-D9613B9F4C3F}"/>
              </a:ext>
            </a:extLst>
          </p:cNvPr>
          <p:cNvSpPr/>
          <p:nvPr/>
        </p:nvSpPr>
        <p:spPr>
          <a:xfrm>
            <a:off x="8147261" y="6409467"/>
            <a:ext cx="702051" cy="316357"/>
          </a:xfrm>
          <a:prstGeom prst="rect">
            <a:avLst/>
          </a:prstGeom>
          <a:solidFill>
            <a:srgbClr val="D324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Outline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7707901-CF88-4DD5-92F9-27B080708D9F}"/>
              </a:ext>
            </a:extLst>
          </p:cNvPr>
          <p:cNvSpPr txBox="1"/>
          <p:nvPr/>
        </p:nvSpPr>
        <p:spPr>
          <a:xfrm>
            <a:off x="457200" y="1701579"/>
            <a:ext cx="753386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3" action="ppaction://hlinksldjump"/>
              </a:rPr>
              <a:t>Growth of functions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4" action="ppaction://hlinksldjump"/>
              </a:rPr>
              <a:t>Exercise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5" action="ppaction://hlinksldjump"/>
              </a:rPr>
              <a:t>Big-O for polynomials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6" action="ppaction://hlinksldjump"/>
              </a:rPr>
              <a:t>Exercise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7" action="ppaction://hlinksldjump"/>
              </a:rPr>
              <a:t>Growth of function combinations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8" action="ppaction://hlinksldjump"/>
              </a:rPr>
              <a:t>Exercise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9" action="ppaction://hlinksldjump"/>
              </a:rPr>
              <a:t>Tractable vs. intractable complexity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10" action="ppaction://hlinksldjump"/>
              </a:rPr>
              <a:t>Exercise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11" action="ppaction://hlinksldjump"/>
              </a:rPr>
              <a:t>Complexity table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12" action="ppaction://hlinksldjump"/>
              </a:rPr>
              <a:t>Exercise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Growth of functions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790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Big-O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890734"/>
                <a:ext cx="8229300" cy="1745266"/>
              </a:xfrm>
            </p:spPr>
            <p:txBody>
              <a:bodyPr/>
              <a:lstStyle/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To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analyze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running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time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need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understand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growth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functions</a:t>
                </a:r>
                <a:endParaRPr lang="de-AT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57250" lvl="1" indent="-285750"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As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their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arguments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gets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larger</a:t>
                </a:r>
              </a:p>
              <a:p>
                <a:pPr marL="857250" lvl="1" indent="-285750"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Or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in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case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algorithms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input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size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𝑛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gets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larger</a:t>
                </a: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growth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function</a:t>
                </a:r>
                <a:r>
                  <a:rPr lang="de-AT" dirty="0" err="1"/>
                  <a:t>s</a:t>
                </a:r>
                <a:r>
                  <a:rPr lang="de-AT" dirty="0"/>
                  <a:t> </a:t>
                </a:r>
                <a:r>
                  <a:rPr lang="de-AT" dirty="0" err="1"/>
                  <a:t>is</a:t>
                </a:r>
                <a:r>
                  <a:rPr lang="de-AT" dirty="0"/>
                  <a:t> </a:t>
                </a:r>
                <a:r>
                  <a:rPr lang="de-AT" dirty="0" err="1"/>
                  <a:t>described</a:t>
                </a:r>
                <a:r>
                  <a:rPr lang="de-AT" dirty="0"/>
                  <a:t> </a:t>
                </a:r>
                <a:r>
                  <a:rPr lang="de-AT" dirty="0" err="1"/>
                  <a:t>using</a:t>
                </a:r>
                <a:r>
                  <a:rPr lang="de-AT" dirty="0"/>
                  <a:t> a </a:t>
                </a:r>
                <a:r>
                  <a:rPr lang="de-AT" dirty="0" err="1"/>
                  <a:t>special</a:t>
                </a:r>
                <a:r>
                  <a:rPr lang="de-AT" dirty="0"/>
                  <a:t> </a:t>
                </a:r>
                <a:r>
                  <a:rPr lang="de-AT" dirty="0" err="1"/>
                  <a:t>notation</a:t>
                </a:r>
                <a:endParaRPr lang="de-AT" dirty="0"/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dirty="0" err="1"/>
                  <a:t>One</a:t>
                </a:r>
                <a:r>
                  <a:rPr lang="de-AT" dirty="0"/>
                  <a:t> </a:t>
                </a:r>
                <a:r>
                  <a:rPr lang="de-AT" dirty="0" err="1"/>
                  <a:t>of</a:t>
                </a:r>
                <a:r>
                  <a:rPr lang="de-AT" dirty="0"/>
                  <a:t> </a:t>
                </a:r>
                <a:r>
                  <a:rPr lang="de-AT" dirty="0" err="1"/>
                  <a:t>these</a:t>
                </a:r>
                <a:r>
                  <a:rPr lang="de-AT" dirty="0"/>
                  <a:t> </a:t>
                </a:r>
                <a:r>
                  <a:rPr lang="de-AT" dirty="0" err="1"/>
                  <a:t>is</a:t>
                </a:r>
                <a:r>
                  <a:rPr lang="de-AT" dirty="0"/>
                  <a:t> Big-O </a:t>
                </a:r>
                <a:r>
                  <a:rPr lang="de-AT" dirty="0" err="1"/>
                  <a:t>notation</a:t>
                </a:r>
                <a:r>
                  <a:rPr lang="de-AT" dirty="0"/>
                  <a:t> </a:t>
                </a:r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de-AT" dirty="0"/>
                  <a:t> </a:t>
                </a:r>
                <a:r>
                  <a:rPr lang="de-AT" dirty="0" err="1"/>
                  <a:t>representing</a:t>
                </a:r>
                <a:r>
                  <a:rPr lang="de-AT" dirty="0"/>
                  <a:t> an </a:t>
                </a:r>
                <a:r>
                  <a:rPr lang="de-AT" dirty="0" err="1"/>
                  <a:t>upper</a:t>
                </a:r>
                <a:r>
                  <a:rPr lang="de-AT" dirty="0"/>
                  <a:t> </a:t>
                </a:r>
                <a:r>
                  <a:rPr lang="de-AT" dirty="0" err="1"/>
                  <a:t>bound</a:t>
                </a:r>
                <a:r>
                  <a:rPr lang="de-AT" dirty="0"/>
                  <a:t> </a:t>
                </a:r>
                <a:r>
                  <a:rPr lang="de-AT" dirty="0" err="1"/>
                  <a:t>of</a:t>
                </a:r>
                <a:r>
                  <a:rPr lang="de-AT" dirty="0"/>
                  <a:t> a </a:t>
                </a:r>
                <a:r>
                  <a:rPr lang="de-AT" dirty="0" err="1"/>
                  <a:t>function</a:t>
                </a:r>
                <a:endParaRPr lang="de-AT" dirty="0"/>
              </a:p>
            </p:txBody>
          </p:sp>
        </mc:Choice>
        <mc:Fallback xmlns="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890734"/>
                <a:ext cx="8229300" cy="1745266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87;p2">
                <a:extLst>
                  <a:ext uri="{FF2B5EF4-FFF2-40B4-BE49-F238E27FC236}">
                    <a16:creationId xmlns:a16="http://schemas.microsoft.com/office/drawing/2014/main" id="{EB1652D6-BFE5-4941-8192-ECE69CBB5091}"/>
                  </a:ext>
                </a:extLst>
              </p:cNvPr>
              <p:cNvSpPr txBox="1">
                <a:spLocks noGrp="1"/>
              </p:cNvSpPr>
              <p:nvPr/>
            </p:nvSpPr>
            <p:spPr>
              <a:xfrm>
                <a:off x="457200" y="3805200"/>
                <a:ext cx="8229600" cy="18612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>
                  <a:spcBef>
                    <a:spcPts val="640"/>
                  </a:spcBef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Definition 1: Big-O </a:t>
                </a:r>
                <a14:m>
                  <m:oMath xmlns:m="http://schemas.openxmlformats.org/officeDocument/2006/math">
                    <m:r>
                      <a:rPr kumimoji="0" lang="de-AT" sz="1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𝑶</m:t>
                    </m:r>
                    <m:d>
                      <m:dPr>
                        <m:ctrlPr>
                          <a:rPr kumimoji="0" lang="de-AT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kumimoji="0" lang="de-AT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𝒏</m:t>
                        </m:r>
                      </m:e>
                    </m:d>
                    <m:r>
                      <a:rPr kumimoji="0" lang="de-AT" sz="1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.</m:t>
                    </m:r>
                  </m:oMath>
                </a14:m>
                <a:r>
                  <a:rPr lang="en-US" sz="1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</m:oMath>
                </a14:m>
                <a:r>
                  <a:rPr lang="en-US" sz="1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𝑔</m:t>
                    </m:r>
                  </m:oMath>
                </a14:m>
                <a:r>
                  <a:rPr lang="en-US" sz="1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be functions from the set of integers or set of real numbers to the set of real numbers.</a:t>
                </a: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We say that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 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𝑔</m:t>
                    </m:r>
                    <m:d>
                      <m:dPr>
                        <m:ctrlP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if there are constants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𝐶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𝑘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such that: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64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  <m:d>
                          <m:dPr>
                            <m:ctrlPr>
                              <a:rPr lang="de-AT" sz="18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de-AT" sz="18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≤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𝐶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|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𝑔</m:t>
                    </m:r>
                    <m:d>
                      <m:dPr>
                        <m:ctrlP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|</m:t>
                    </m:r>
                  </m:oMath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lvl="0" indent="0">
                  <a:spcBef>
                    <a:spcPts val="640"/>
                  </a:spcBef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whenever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&gt;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𝑘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This is read as “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r>
                      <a:rPr lang="de-AT" sz="18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de-AT" sz="18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AT" sz="18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big-oh of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𝑔</m:t>
                    </m:r>
                    <m:d>
                      <m:dPr>
                        <m:ctrlP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”.</a:t>
                </a:r>
                <a:endParaRPr lang="en-US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Google Shape;87;p2">
                <a:extLst>
                  <a:ext uri="{FF2B5EF4-FFF2-40B4-BE49-F238E27FC236}">
                    <a16:creationId xmlns:a16="http://schemas.microsoft.com/office/drawing/2014/main" id="{EB1652D6-BFE5-4941-8192-ECE69CBB5091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805200"/>
                <a:ext cx="8229600" cy="1861200"/>
              </a:xfrm>
              <a:prstGeom prst="rect">
                <a:avLst/>
              </a:prstGeom>
              <a:blipFill>
                <a:blip r:embed="rId4"/>
                <a:stretch>
                  <a:fillRect l="-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6028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Big-O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847C202A-9E44-4853-83E7-CFF444228ADF}"/>
                  </a:ext>
                </a:extLst>
              </p:cNvPr>
              <p:cNvSpPr txBox="1"/>
              <p:nvPr/>
            </p:nvSpPr>
            <p:spPr>
              <a:xfrm>
                <a:off x="645456" y="1234801"/>
                <a:ext cx="8041044" cy="1652400"/>
              </a:xfrm>
              <a:prstGeom prst="rect">
                <a:avLst/>
              </a:prstGeom>
              <a:solidFill>
                <a:srgbClr val="DAE3F3"/>
              </a:solidFill>
              <a:ln w="0">
                <a:noFill/>
              </a:ln>
            </p:spPr>
            <p:txBody>
              <a:bodyPr lIns="63607" tIns="31804" rIns="63607" bIns="31804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800" b="1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Example 1. </a:t>
                </a:r>
                <a:r>
                  <a:rPr kumimoji="0" lang="en-US" sz="180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Show that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𝑓</m:t>
                    </m:r>
                    <m:d>
                      <m:dPr>
                        <m:ctrlP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</m:e>
                    </m:d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= </m:t>
                    </m:r>
                    <m:sSup>
                      <m:sSupPr>
                        <m:ctrlP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</m:e>
                      <m:sup>
                        <m: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p>
                    </m:sSup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+2</m:t>
                    </m:r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𝑥</m:t>
                    </m:r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+1</m:t>
                    </m:r>
                  </m:oMath>
                </a14:m>
                <a:r>
                  <a:rPr kumimoji="0" lang="en-US" sz="1800" b="1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en-US" sz="180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is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𝑂</m:t>
                    </m:r>
                    <m:d>
                      <m:dPr>
                        <m:ctrlP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de-AT" sz="1800" b="0" i="1" u="none" strike="noStrike" kern="0" cap="none" spc="-1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kumimoji="0" lang="de-AT" sz="1800" b="0" i="1" u="none" strike="noStrike" kern="0" cap="none" spc="-1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  <m:t>𝑥</m:t>
                            </m:r>
                          </m:e>
                          <m:sup>
                            <m:r>
                              <a:rPr kumimoji="0" lang="de-AT" sz="1800" b="0" i="1" u="none" strike="noStrike" kern="0" cap="none" spc="-1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.</m:t>
                    </m:r>
                  </m:oMath>
                </a14:m>
                <a:endParaRPr kumimoji="0" lang="en-US" sz="1800" b="1" i="0" u="none" strike="noStrike" kern="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lang="en-US" sz="1800" b="1" spc="-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0"/>
                <a:r>
                  <a:rPr kumimoji="0" lang="en-US" sz="1800" b="1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Solution</a:t>
                </a:r>
                <a:r>
                  <a:rPr kumimoji="0" lang="en-US" sz="180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</a:t>
                </a:r>
                <a:r>
                  <a:rPr kumimoji="0" lang="en-US" sz="1800" i="0" u="none" strike="noStrike" kern="0" cap="none" spc="-1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en-US" sz="180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b="0" i="1" spc="-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0≤ </m:t>
                        </m:r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+2</m:t>
                    </m:r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+1≤</m:t>
                    </m:r>
                    <m:sSup>
                      <m:sSupPr>
                        <m:ctrlP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+2</m:t>
                    </m:r>
                    <m:sSup>
                      <m:sSupPr>
                        <m:ctrlP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+</m:t>
                    </m:r>
                    <m:sSup>
                      <m:sSupPr>
                        <m:ctrlP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de-AT" sz="1800" b="0" i="1" spc="-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=4</m:t>
                    </m:r>
                    <m:sSup>
                      <m:sSupPr>
                        <m:ctrlP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en-US" sz="180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whenever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𝑥</m:t>
                    </m:r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&gt;1</m:t>
                    </m:r>
                  </m:oMath>
                </a14:m>
                <a:r>
                  <a:rPr kumimoji="0" lang="en-US" sz="180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it follows</a:t>
                </a:r>
                <a:r>
                  <a:rPr kumimoji="0" lang="en-US" sz="1800" i="0" u="none" strike="noStrike" kern="0" cap="none" spc="-1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that </a:t>
                </a:r>
                <a14:m>
                  <m:oMath xmlns:m="http://schemas.openxmlformats.org/officeDocument/2006/math"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𝑓</m:t>
                    </m:r>
                    <m:d>
                      <m:dPr>
                        <m:ctrlP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0" lang="en-US" sz="180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d>
                      <m:dPr>
                        <m:ctrlP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de-AT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de-AT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e-AT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kumimoji="0" lang="en-US" sz="180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 We take here</a:t>
                </a:r>
                <a:r>
                  <a:rPr kumimoji="0" lang="en-US" sz="1800" i="0" u="none" strike="noStrike" kern="0" cap="none" spc="-1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-1" normalizeH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𝐶</m:t>
                    </m:r>
                    <m:r>
                      <a:rPr kumimoji="0" lang="de-AT" sz="1800" b="0" i="1" u="none" strike="noStrike" kern="0" cap="none" spc="-1" normalizeH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=4</m:t>
                    </m:r>
                  </m:oMath>
                </a14:m>
                <a:r>
                  <a:rPr kumimoji="0" lang="en-US" sz="180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𝑘</m:t>
                    </m:r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=1.</m:t>
                    </m:r>
                  </m:oMath>
                </a14:m>
                <a:r>
                  <a:rPr kumimoji="0" lang="en-US" sz="180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It</a:t>
                </a:r>
                <a:r>
                  <a:rPr kumimoji="0" lang="en-US" sz="1800" i="0" u="none" strike="noStrike" kern="0" cap="none" spc="-1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is not necessary here to use absolute values since all terms are positive when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-1" normalizeH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𝑥</m:t>
                    </m:r>
                  </m:oMath>
                </a14:m>
                <a:r>
                  <a:rPr kumimoji="0" lang="en-US" sz="180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is positive.</a:t>
                </a:r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847C202A-9E44-4853-83E7-CFF444228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456" y="1234801"/>
                <a:ext cx="8041044" cy="1652400"/>
              </a:xfrm>
              <a:prstGeom prst="rect">
                <a:avLst/>
              </a:prstGeom>
              <a:blipFill>
                <a:blip r:embed="rId3"/>
                <a:stretch>
                  <a:fillRect l="-986" t="-1476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7" name="Picture 1">
            <a:extLst>
              <a:ext uri="{FF2B5EF4-FFF2-40B4-BE49-F238E27FC236}">
                <a16:creationId xmlns:a16="http://schemas.microsoft.com/office/drawing/2014/main" id="{80D70963-E5CA-4435-831A-425CAC8AD8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516" y="2808000"/>
            <a:ext cx="4825397" cy="3580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6020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Big-O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87;p2">
                <a:extLst>
                  <a:ext uri="{FF2B5EF4-FFF2-40B4-BE49-F238E27FC236}">
                    <a16:creationId xmlns:a16="http://schemas.microsoft.com/office/drawing/2014/main" id="{054E52B6-6BEB-4095-9F96-46C25989321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" y="1749532"/>
                <a:ext cx="8229600" cy="254166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>
                  <a:spcBef>
                    <a:spcPts val="640"/>
                  </a:spcBef>
                </a:pPr>
                <a:r>
                  <a:rPr lang="en-US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Remark 1: 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To show that </a:t>
                </a:r>
                <a14:m>
                  <m:oMath xmlns:m="http://schemas.openxmlformats.org/officeDocument/2006/math">
                    <m:r>
                      <a:rPr lang="de-AT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r>
                      <a:rPr lang="de-AT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de-AT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AT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 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 </a:t>
                </a:r>
                <a14:m>
                  <m:oMath xmlns:m="http://schemas.openxmlformats.org/officeDocument/2006/math"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𝑔</m:t>
                    </m:r>
                    <m:d>
                      <m:dPr>
                        <m:ctrlP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we need to find only one pair of constants </a:t>
                </a:r>
                <a14:m>
                  <m:oMath xmlns:m="http://schemas.openxmlformats.org/officeDocument/2006/math"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𝐶</m:t>
                    </m:r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𝑘</m:t>
                    </m:r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such that: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  <m:d>
                          <m:dPr>
                            <m:ctrlPr>
                              <a:rPr lang="de-AT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≤</m:t>
                    </m:r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𝐶</m:t>
                    </m:r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|</m:t>
                    </m:r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𝑔</m:t>
                    </m:r>
                    <m:d>
                      <m:dPr>
                        <m:ctrlP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|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However, a pair </a:t>
                </a:r>
                <a14:m>
                  <m:oMath xmlns:m="http://schemas.openxmlformats.org/officeDocument/2006/math"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𝐶</m:t>
                    </m:r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𝑘</m:t>
                    </m:r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that satisfies the definition is never unique. Moreover, if one such pair exists, there are infinitely many such pairs. For example, take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𝐶</m:t>
                        </m:r>
                      </m:e>
                      <m:sup>
                        <m:r>
                          <a:rPr lang="de-AT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𝑘</m:t>
                        </m:r>
                      </m:e>
                      <m:sup>
                        <m:r>
                          <a:rPr lang="de-AT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such that </a:t>
                </a:r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𝐶</m:t>
                    </m:r>
                    <m:r>
                      <a:rPr lang="de-AT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&lt; </m:t>
                    </m:r>
                    <m:sSup>
                      <m:sSupPr>
                        <m:ctrlPr>
                          <a:rPr lang="de-AT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𝐶</m:t>
                        </m:r>
                      </m:e>
                      <m:sup>
                        <m:r>
                          <a:rPr lang="de-AT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𝑘</m:t>
                    </m:r>
                    <m:r>
                      <a:rPr lang="de-AT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&lt; </m:t>
                    </m:r>
                    <m:sSup>
                      <m:sSupPr>
                        <m:ctrlPr>
                          <a:rPr lang="de-AT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𝑘</m:t>
                        </m:r>
                      </m:e>
                      <m:sup>
                        <m:r>
                          <a:rPr lang="de-AT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This pair also satisfies the condition:</a:t>
                </a:r>
              </a:p>
              <a:p>
                <a:pPr marL="0" indent="0">
                  <a:spcBef>
                    <a:spcPts val="640"/>
                  </a:spcBef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  <m:d>
                          <m:dPr>
                            <m:ctrlPr>
                              <a:rPr lang="de-AT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≤</m:t>
                    </m:r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𝐶</m:t>
                    </m:r>
                    <m:d>
                      <m:dPr>
                        <m:begChr m:val="|"/>
                        <m:endChr m:val="|"/>
                        <m:ctrlP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𝑔</m:t>
                        </m:r>
                        <m:d>
                          <m:dPr>
                            <m:ctrlPr>
                              <a:rPr lang="de-AT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de-AT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≤ </m:t>
                    </m:r>
                    <m:sSup>
                      <m:sSupPr>
                        <m:ctrlPr>
                          <a:rPr lang="de-AT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𝐶</m:t>
                        </m:r>
                      </m:e>
                      <m:sup>
                        <m:r>
                          <a:rPr lang="de-AT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de-AT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|</m:t>
                    </m:r>
                    <m:r>
                      <a:rPr lang="de-AT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𝑔</m:t>
                    </m:r>
                    <m:d>
                      <m:dPr>
                        <m:ctrlPr>
                          <a:rPr lang="de-AT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  <m:r>
                      <a:rPr lang="de-AT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|</m:t>
                    </m:r>
                  </m:oMath>
                </a14:m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lvl="0" indent="0">
                  <a:spcBef>
                    <a:spcPts val="640"/>
                  </a:spcBef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whenever </a:t>
                </a:r>
                <a14:m>
                  <m:oMath xmlns:m="http://schemas.openxmlformats.org/officeDocument/2006/math"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AT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&gt;</m:t>
                    </m:r>
                    <m:sSup>
                      <m:sSupPr>
                        <m:ctrlP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𝑘</m:t>
                        </m:r>
                      </m:e>
                      <m:sup>
                        <m: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de-AT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&gt; </m:t>
                    </m:r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𝑘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</a:p>
              <a:p>
                <a:pPr marL="0" indent="0">
                  <a:spcBef>
                    <a:spcPts val="640"/>
                  </a:spcBef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640"/>
                  </a:spcBef>
                </a:pPr>
                <a:endParaRPr lang="en-US" dirty="0"/>
              </a:p>
            </p:txBody>
          </p:sp>
        </mc:Choice>
        <mc:Fallback xmlns="">
          <p:sp>
            <p:nvSpPr>
              <p:cNvPr id="5" name="Google Shape;87;p2">
                <a:extLst>
                  <a:ext uri="{FF2B5EF4-FFF2-40B4-BE49-F238E27FC236}">
                    <a16:creationId xmlns:a16="http://schemas.microsoft.com/office/drawing/2014/main" id="{054E52B6-6BEB-4095-9F96-46C2598932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749532"/>
                <a:ext cx="8229600" cy="2541668"/>
              </a:xfrm>
              <a:prstGeom prst="rect">
                <a:avLst/>
              </a:prstGeom>
              <a:blipFill>
                <a:blip r:embed="rId3"/>
                <a:stretch>
                  <a:fillRect l="-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0748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Big-O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847C202A-9E44-4853-83E7-CFF444228ADF}"/>
                  </a:ext>
                </a:extLst>
              </p:cNvPr>
              <p:cNvSpPr txBox="1"/>
              <p:nvPr/>
            </p:nvSpPr>
            <p:spPr>
              <a:xfrm>
                <a:off x="645456" y="1234801"/>
                <a:ext cx="8041044" cy="1652400"/>
              </a:xfrm>
              <a:prstGeom prst="rect">
                <a:avLst/>
              </a:prstGeom>
              <a:solidFill>
                <a:srgbClr val="DAE3F3"/>
              </a:solidFill>
              <a:ln w="0">
                <a:noFill/>
              </a:ln>
            </p:spPr>
            <p:txBody>
              <a:bodyPr lIns="63607" tIns="31804" rIns="63607" bIns="31804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800" b="1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Example 2. </a:t>
                </a:r>
                <a:r>
                  <a:rPr kumimoji="0" lang="en-US" sz="180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Show that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𝑓</m:t>
                    </m:r>
                    <m:d>
                      <m:dPr>
                        <m:ctrlP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</m:e>
                    </m:d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= </m:t>
                    </m:r>
                    <m:sSup>
                      <m:sSupPr>
                        <m:ctrlP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</m:e>
                      <m:sup>
                        <m: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p>
                    </m:sSup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+2</m:t>
                    </m:r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𝑥</m:t>
                    </m:r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+1</m:t>
                    </m:r>
                  </m:oMath>
                </a14:m>
                <a:r>
                  <a:rPr kumimoji="0" lang="en-US" sz="1800" b="1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en-US" sz="180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is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𝑂</m:t>
                    </m:r>
                    <m:d>
                      <m:dPr>
                        <m:ctrlP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de-AT" sz="1800" b="0" i="1" u="none" strike="noStrike" kern="0" cap="none" spc="-1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kumimoji="0" lang="de-AT" sz="1800" b="0" i="1" u="none" strike="noStrike" kern="0" cap="none" spc="-1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  <m:t>𝑥</m:t>
                            </m:r>
                          </m:e>
                          <m:sup>
                            <m:r>
                              <a:rPr kumimoji="0" lang="de-AT" sz="1800" b="0" i="1" u="none" strike="noStrike" kern="0" cap="none" spc="-1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.</m:t>
                    </m:r>
                  </m:oMath>
                </a14:m>
                <a:endParaRPr kumimoji="0" lang="en-US" sz="1800" b="1" i="0" u="none" strike="noStrike" kern="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lang="en-US" sz="1800" b="1" spc="-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0"/>
                <a:r>
                  <a:rPr kumimoji="0" lang="en-US" sz="1800" b="1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Alternative</a:t>
                </a:r>
                <a:r>
                  <a:rPr kumimoji="0" lang="en-US" sz="1800" b="1" i="0" u="none" strike="noStrike" kern="0" cap="none" spc="-1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s</a:t>
                </a:r>
                <a:r>
                  <a:rPr kumimoji="0" lang="en-US" sz="1800" b="1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olution</a:t>
                </a:r>
                <a:r>
                  <a:rPr kumimoji="0" lang="en-US" sz="180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</a:t>
                </a:r>
                <a:r>
                  <a:rPr kumimoji="0" lang="en-US" sz="1800" i="0" u="none" strike="noStrike" kern="0" cap="none" spc="-1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Note that when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-1" normalizeH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𝑥</m:t>
                    </m:r>
                    <m:r>
                      <a:rPr kumimoji="0" lang="de-AT" sz="1800" b="0" i="1" u="none" strike="noStrike" kern="0" cap="none" spc="-1" normalizeH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&gt;2</m:t>
                    </m:r>
                  </m:oMath>
                </a14:m>
                <a:r>
                  <a:rPr kumimoji="0" lang="en-US" sz="180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it </a:t>
                </a:r>
                <a:r>
                  <a:rPr lang="en-US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follows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b="0" i="1" spc="-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  <m:r>
                          <a:rPr lang="de-AT" sz="1800" b="0" i="1" spc="-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  <m:r>
                          <a:rPr lang="de-AT" sz="1800" b="0" i="1" spc="-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≤ </m:t>
                        </m:r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de-AT" sz="1800" b="0" i="0" spc="-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.</m:t>
                    </m:r>
                  </m:oMath>
                </a14:m>
                <a:r>
                  <a:rPr kumimoji="0" lang="en-US" sz="180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Consequently,  if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𝑥</m:t>
                    </m:r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&gt;2</m:t>
                    </m:r>
                  </m:oMath>
                </a14:m>
                <a:r>
                  <a:rPr kumimoji="0" lang="en-US" sz="180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0≤ </m:t>
                        </m:r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+2</m:t>
                    </m:r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+1≤</m:t>
                    </m:r>
                    <m:sSup>
                      <m:sSupPr>
                        <m:ctrlP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+</m:t>
                    </m:r>
                    <m:sSup>
                      <m:sSupPr>
                        <m:ctrlP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+</m:t>
                    </m:r>
                    <m:sSup>
                      <m:sSupPr>
                        <m:ctrlP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de-AT" sz="1800" b="0" i="1" spc="-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3</m:t>
                    </m:r>
                    <m:sSup>
                      <m:sSupPr>
                        <m:ctrlP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en-US" sz="180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𝑓</m:t>
                    </m:r>
                    <m:d>
                      <m:dPr>
                        <m:ctrlP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0" lang="en-US" sz="180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d>
                      <m:dPr>
                        <m:ctrlP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de-AT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de-AT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e-AT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kumimoji="0" lang="en-US" sz="180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as we already knew. However,</a:t>
                </a:r>
                <a:r>
                  <a:rPr kumimoji="0" lang="en-US" sz="1800" i="0" u="none" strike="noStrike" kern="0" cap="none" spc="-1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lang="en-US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</a:t>
                </a:r>
                <a:r>
                  <a:rPr kumimoji="0" lang="en-US" sz="180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e take here</a:t>
                </a:r>
                <a:r>
                  <a:rPr kumimoji="0" lang="en-US" sz="1800" i="0" u="none" strike="noStrike" kern="0" cap="none" spc="-1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-1" normalizeH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𝐶</m:t>
                    </m:r>
                    <m:r>
                      <a:rPr kumimoji="0" lang="de-AT" sz="1800" b="0" i="1" u="none" strike="noStrike" kern="0" cap="none" spc="-1" normalizeH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=3</m:t>
                    </m:r>
                  </m:oMath>
                </a14:m>
                <a:r>
                  <a:rPr kumimoji="0" lang="en-US" sz="180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𝑘</m:t>
                    </m:r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=2.</m:t>
                    </m:r>
                  </m:oMath>
                </a14:m>
                <a:endParaRPr kumimoji="0" lang="en-US" sz="1800" i="0" u="none" strike="noStrike" kern="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847C202A-9E44-4853-83E7-CFF444228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456" y="1234801"/>
                <a:ext cx="8041044" cy="1652400"/>
              </a:xfrm>
              <a:prstGeom prst="rect">
                <a:avLst/>
              </a:prstGeom>
              <a:blipFill>
                <a:blip r:embed="rId3"/>
                <a:stretch>
                  <a:fillRect l="-986" t="-2952" r="-128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69" name="Picture 1">
            <a:extLst>
              <a:ext uri="{FF2B5EF4-FFF2-40B4-BE49-F238E27FC236}">
                <a16:creationId xmlns:a16="http://schemas.microsoft.com/office/drawing/2014/main" id="{00E927AA-F116-40BB-AB44-388649FB1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600" y="2808000"/>
            <a:ext cx="4825397" cy="3580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0477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Big-O notation</a:t>
            </a:r>
          </a:p>
        </p:txBody>
      </p:sp>
      <p:sp>
        <p:nvSpPr>
          <p:cNvPr id="5" name="Google Shape;87;p2">
            <a:extLst>
              <a:ext uri="{FF2B5EF4-FFF2-40B4-BE49-F238E27FC236}">
                <a16:creationId xmlns:a16="http://schemas.microsoft.com/office/drawing/2014/main" id="{054E52B6-6BEB-4095-9F96-46C259893211}"/>
              </a:ext>
            </a:extLst>
          </p:cNvPr>
          <p:cNvSpPr txBox="1">
            <a:spLocks/>
          </p:cNvSpPr>
          <p:nvPr/>
        </p:nvSpPr>
        <p:spPr>
          <a:xfrm>
            <a:off x="456900" y="1418400"/>
            <a:ext cx="8229600" cy="18648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640"/>
              </a:spcBef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Remark 2: 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Big-O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estimate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time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complexity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an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algorithm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expresses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how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time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required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solve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problem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changes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input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grows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size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Big-O estimates can not be directly translated into the actual amount of computer time used. For example, in the definition of the Big-O multiplicative constants are “ignored” as they subsume all the implementation and hardware details. Such details can not be ignored in practice in most cases.</a:t>
            </a:r>
          </a:p>
          <a:p>
            <a:pPr marL="0" indent="0">
              <a:spcBef>
                <a:spcPts val="640"/>
              </a:spcBef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F13E639B-2EA3-40FA-B6C2-F822B54E8034}"/>
                  </a:ext>
                </a:extLst>
              </p:cNvPr>
              <p:cNvSpPr txBox="1"/>
              <p:nvPr/>
            </p:nvSpPr>
            <p:spPr>
              <a:xfrm>
                <a:off x="456900" y="3344400"/>
                <a:ext cx="8229300" cy="3042000"/>
              </a:xfrm>
              <a:prstGeom prst="rect">
                <a:avLst/>
              </a:prstGeom>
              <a:solidFill>
                <a:srgbClr val="DAE3F3"/>
              </a:solidFill>
              <a:ln w="0">
                <a:noFill/>
              </a:ln>
            </p:spPr>
            <p:txBody>
              <a:bodyPr lIns="63607" tIns="31804" rIns="63607" bIns="31804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800" b="1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Example 3. </a:t>
                </a:r>
                <a:r>
                  <a:rPr kumimoji="0" lang="de-AT" sz="180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Check </a:t>
                </a:r>
                <a:r>
                  <a:rPr kumimoji="0" lang="de-AT" sz="1800" i="0" u="none" strike="noStrike" kern="0" cap="none" spc="-1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how</a:t>
                </a:r>
                <a:r>
                  <a:rPr kumimoji="0" lang="de-AT" sz="180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AT" sz="1800" i="0" u="none" strike="noStrike" kern="0" cap="none" spc="-1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the</a:t>
                </a:r>
                <a:r>
                  <a:rPr kumimoji="0" lang="de-AT" sz="180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AT" sz="1800" i="0" u="none" strike="noStrike" kern="0" cap="none" spc="-1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functions</a:t>
                </a:r>
                <a:r>
                  <a:rPr kumimoji="0" lang="de-AT" sz="1800" i="0" u="none" strike="noStrike" kern="0" cap="none" spc="-1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-1" normalizeH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𝑓</m:t>
                    </m:r>
                    <m:d>
                      <m:dPr>
                        <m:ctrlPr>
                          <a:rPr kumimoji="0" lang="de-AT" sz="1800" b="0" i="1" u="none" strike="noStrike" kern="0" cap="none" spc="-1" normalizeH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kumimoji="0" lang="de-AT" sz="1800" b="0" i="1" u="none" strike="noStrike" kern="0" cap="none" spc="-1" normalizeH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</m:e>
                    </m:d>
                    <m:r>
                      <a:rPr kumimoji="0" lang="de-AT" sz="1800" b="0" i="1" u="none" strike="noStrike" kern="0" cap="none" spc="-1" normalizeH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p>
                      <m:sSupPr>
                        <m:ctrlPr>
                          <a:rPr kumimoji="0" lang="de-AT" sz="1800" b="0" i="1" u="none" strike="noStrike" kern="0" cap="none" spc="-1" normalizeH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kumimoji="0" lang="de-AT" sz="1800" b="0" i="1" u="none" strike="noStrike" kern="0" cap="none" spc="-1" normalizeH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</m:e>
                      <m:sup>
                        <m:r>
                          <a:rPr kumimoji="0" lang="de-AT" sz="1800" b="0" i="1" u="none" strike="noStrike" kern="0" cap="none" spc="-1" normalizeH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en-US" sz="180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and</a:t>
                </a:r>
                <a:r>
                  <a:rPr kumimoji="0" lang="en-US" sz="1800" i="0" u="none" strike="noStrike" kern="0" cap="none" spc="-1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-1" normalizeH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𝑔</m:t>
                    </m:r>
                    <m:d>
                      <m:dPr>
                        <m:ctrlPr>
                          <a:rPr kumimoji="0" lang="de-AT" sz="1800" b="0" i="1" u="none" strike="noStrike" kern="0" cap="none" spc="-1" normalizeH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kumimoji="0" lang="de-AT" sz="1800" b="0" i="1" u="none" strike="noStrike" kern="0" cap="none" spc="-1" normalizeH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</m:e>
                    </m:d>
                    <m:r>
                      <a:rPr kumimoji="0" lang="de-AT" sz="1800" b="0" i="1" u="none" strike="noStrike" kern="0" cap="none" spc="-1" normalizeH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=5</m:t>
                    </m:r>
                    <m:sSup>
                      <m:sSupPr>
                        <m:ctrlPr>
                          <a:rPr kumimoji="0" lang="de-AT" sz="1800" b="0" i="1" u="none" strike="noStrike" kern="0" cap="none" spc="-1" normalizeH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kumimoji="0" lang="de-AT" sz="1800" b="0" i="1" u="none" strike="noStrike" kern="0" cap="none" spc="-1" normalizeH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</m:e>
                      <m:sup>
                        <m:r>
                          <a:rPr kumimoji="0" lang="de-AT" sz="1800" b="0" i="1" u="none" strike="noStrike" kern="0" cap="none" spc="-1" normalizeH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en-US" sz="180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change</a:t>
                </a:r>
                <a:r>
                  <a:rPr kumimoji="0" lang="en-US" sz="1800" i="0" u="none" strike="noStrike" kern="0" cap="none" spc="-1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as the argument grows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i="1" u="none" strike="noStrike" kern="0" cap="none" spc="-1" normalizeH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kumimoji="0" lang="de-AT" sz="1800" b="0" i="1" u="none" strike="noStrike" kern="0" cap="none" spc="-1" normalizeH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</m:e>
                      <m:sub>
                        <m:r>
                          <a:rPr kumimoji="0" lang="de-AT" sz="1800" b="0" i="1" u="none" strike="noStrike" kern="0" cap="none" spc="-1" normalizeH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kumimoji="0" lang="de-AT" sz="1800" b="0" i="1" u="none" strike="noStrike" kern="0" cap="none" spc="-1" normalizeH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=10</m:t>
                    </m:r>
                  </m:oMath>
                </a14:m>
                <a:r>
                  <a:rPr kumimoji="0" lang="en-US" sz="180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</m:e>
                      <m:sub>
                        <m: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=100</m:t>
                    </m:r>
                  </m:oMath>
                </a14:m>
                <a:r>
                  <a:rPr kumimoji="0" lang="en-US" sz="180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800" b="1" i="0" u="none" strike="noStrike" kern="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lvl="0"/>
                <a:r>
                  <a:rPr lang="en-US" sz="1800" b="1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</a:t>
                </a:r>
                <a:r>
                  <a:rPr kumimoji="0" lang="en-US" sz="1800" b="1" i="0" u="none" strike="noStrike" kern="0" cap="none" spc="-1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olution</a:t>
                </a:r>
                <a:r>
                  <a:rPr kumimoji="0" lang="en-US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 </a:t>
                </a:r>
              </a:p>
              <a:p>
                <a:pPr lvl="0"/>
                <a:r>
                  <a:rPr kumimoji="0" lang="de-AT" sz="1800" b="0" i="0" u="none" strike="noStrike" kern="0" cap="none" spc="-1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For</a:t>
                </a:r>
                <a:r>
                  <a:rPr kumimoji="0" lang="de-AT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=10</m:t>
                    </m:r>
                  </m:oMath>
                </a14:m>
                <a:r>
                  <a:rPr kumimoji="0" lang="en-US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we have:		</a:t>
                </a:r>
                <a:r>
                  <a:rPr lang="de-AT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de-AT" sz="1800" b="0" i="1" spc="-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=10</m:t>
                    </m:r>
                    <m:r>
                      <a:rPr lang="de-AT" sz="1800" b="0" i="1" spc="-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0</m:t>
                    </m:r>
                  </m:oMath>
                </a14:m>
                <a:r>
                  <a:rPr lang="en-US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we have:</a:t>
                </a:r>
              </a:p>
              <a:p>
                <a14:m>
                  <m:oMath xmlns:m="http://schemas.openxmlformats.org/officeDocument/2006/math"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𝑓</m:t>
                    </m:r>
                    <m:d>
                      <m:dPr>
                        <m:ctrlP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de-AT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AT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sSup>
                      <m:sSupPr>
                        <m:ctrlP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de-AT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AT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=100</m:t>
                    </m:r>
                  </m:oMath>
                </a14:m>
                <a:r>
                  <a:rPr lang="de-AT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𝑓</m:t>
                    </m:r>
                    <m:d>
                      <m:dPr>
                        <m:ctrlP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de-AT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AT" sz="1800" b="0" i="1" spc="-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sSup>
                      <m:sSupPr>
                        <m:ctrlP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de-AT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AT" sz="1800" b="0" i="1" spc="-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=100</m:t>
                    </m:r>
                    <m:r>
                      <a:rPr lang="de-AT" sz="1800" b="0" i="1" spc="-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00</m:t>
                    </m:r>
                  </m:oMath>
                </a14:m>
                <a:endParaRPr lang="de-AT" sz="1800" spc="-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𝑔</m:t>
                    </m:r>
                    <m:d>
                      <m:dPr>
                        <m:ctrlP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de-AT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AT" sz="1800" b="0" i="1" spc="-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=5</m:t>
                    </m:r>
                    <m:sSup>
                      <m:sSupPr>
                        <m:ctrlP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de-AT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AT" sz="1800" b="0" i="1" spc="-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=500</m:t>
                    </m:r>
                  </m:oMath>
                </a14:m>
                <a:r>
                  <a:rPr lang="de-AT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𝑔</m:t>
                    </m:r>
                    <m:d>
                      <m:dPr>
                        <m:ctrlP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de-AT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AT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=5</m:t>
                    </m:r>
                    <m:sSup>
                      <m:sSupPr>
                        <m:ctrlP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de-AT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AT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=500</m:t>
                    </m:r>
                    <m:r>
                      <a:rPr lang="de-AT" sz="1800" b="0" i="1" spc="-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00</m:t>
                    </m:r>
                  </m:oMath>
                </a14:m>
                <a:endParaRPr lang="de-AT" sz="1800" spc="-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0"/>
                <a:endParaRPr lang="de-AT" sz="1800" spc="-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0"/>
                <a:r>
                  <a:rPr lang="de-AT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But </a:t>
                </a:r>
                <a:r>
                  <a:rPr lang="de-AT" sz="1800" spc="-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spc="-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ratio</a:t>
                </a:r>
                <a:r>
                  <a:rPr lang="de-AT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AT" sz="1800" i="1" spc="-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  <m:d>
                          <m:dPr>
                            <m:ctrlPr>
                              <a:rPr lang="de-AT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 spc="-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de-AT" sz="1800" i="1" spc="-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de-AT" sz="1800" i="1" spc="-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  <m:d>
                          <m:dPr>
                            <m:ctrlPr>
                              <a:rPr lang="de-AT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 spc="-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de-AT" sz="1800" i="1" spc="-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de-AT" sz="1800" i="1" spc="-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de-AT" sz="1800" b="0" i="1" spc="-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=100</m:t>
                    </m:r>
                  </m:oMath>
                </a14:m>
                <a:r>
                  <a:rPr lang="de-AT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:r>
                  <a:rPr lang="de-AT" sz="1800" spc="-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spc="-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ratio</a:t>
                </a:r>
                <a:r>
                  <a:rPr lang="de-AT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de-AT" sz="1800" b="0" i="1" spc="-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𝑔</m:t>
                        </m:r>
                        <m:d>
                          <m:dPr>
                            <m:ctrlPr>
                              <a:rPr lang="de-AT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 spc="-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de-AT" sz="1800" i="1" spc="-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de-AT" sz="1800" i="1" spc="-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de-AT" sz="1800" b="0" i="1" spc="-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𝑔</m:t>
                        </m:r>
                        <m:d>
                          <m:dPr>
                            <m:ctrlPr>
                              <a:rPr lang="de-AT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 spc="-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de-AT" sz="1800" i="1" spc="-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de-AT" sz="1800" i="1" spc="-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=100</m:t>
                    </m:r>
                  </m:oMath>
                </a14:m>
                <a:r>
                  <a:rPr lang="de-AT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spc="-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are</a:t>
                </a:r>
                <a:r>
                  <a:rPr lang="de-AT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spc="-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equal</a:t>
                </a:r>
                <a:r>
                  <a:rPr lang="de-AT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:r>
                  <a:rPr lang="de-AT" sz="1800" spc="-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Hence</a:t>
                </a:r>
                <a:r>
                  <a:rPr lang="de-AT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de-AT" sz="1800" spc="-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as</a:t>
                </a:r>
                <a:r>
                  <a:rPr lang="de-AT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spc="-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spc="-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input</a:t>
                </a:r>
                <a:r>
                  <a:rPr lang="de-AT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spc="-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grows</a:t>
                </a:r>
                <a:r>
                  <a:rPr lang="de-AT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10 </a:t>
                </a:r>
                <a:r>
                  <a:rPr lang="de-AT" sz="1800" spc="-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times</a:t>
                </a:r>
                <a:r>
                  <a:rPr lang="de-AT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de-AT" sz="1800" spc="-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time </a:t>
                </a:r>
                <a:r>
                  <a:rPr lang="de-AT" sz="1800" spc="-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grows</a:t>
                </a:r>
                <a:r>
                  <a:rPr lang="de-AT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in </a:t>
                </a:r>
                <a:r>
                  <a:rPr lang="de-AT" sz="1800" spc="-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both</a:t>
                </a:r>
                <a:r>
                  <a:rPr lang="de-AT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spc="-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cases</a:t>
                </a:r>
                <a:r>
                  <a:rPr lang="de-AT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spc="-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quadratically</a:t>
                </a:r>
                <a:r>
                  <a:rPr lang="de-AT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i.e., 100 </a:t>
                </a:r>
                <a:r>
                  <a:rPr lang="de-AT" sz="1800" spc="-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times</a:t>
                </a:r>
                <a:r>
                  <a:rPr lang="de-AT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F13E639B-2EA3-40FA-B6C2-F822B54E8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900" y="3344400"/>
                <a:ext cx="8229300" cy="3042000"/>
              </a:xfrm>
              <a:prstGeom prst="rect">
                <a:avLst/>
              </a:prstGeom>
              <a:blipFill>
                <a:blip r:embed="rId3"/>
                <a:stretch>
                  <a:fillRect l="-963" t="-1603" b="-1202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5203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Big-O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890734"/>
                <a:ext cx="8229300" cy="1745266"/>
              </a:xfrm>
            </p:spPr>
            <p:txBody>
              <a:bodyPr/>
              <a:lstStyle/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Observe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that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in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relationship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i="1" spc="-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𝑓</m:t>
                    </m:r>
                    <m:d>
                      <m:dPr>
                        <m:ctrlPr>
                          <a:rPr lang="de-AT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pc="-1" dirty="0">
                    <a:ea typeface="Calibri" panose="020F0502020204030204" pitchFamily="34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de-AT" i="1" spc="-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𝑂</m:t>
                    </m:r>
                    <m:d>
                      <m:dPr>
                        <m:ctrlPr>
                          <a:rPr lang="de-AT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de-AT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de-AT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e-AT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de-AT" spc="-1" dirty="0">
                  <a:ea typeface="Calibri" panose="020F0502020204030204" pitchFamily="34" charset="0"/>
                </a:endParaRPr>
              </a:p>
              <a:p>
                <a:pPr marL="857250" lvl="1" indent="-285750">
                  <a:buFont typeface="Wingdings" panose="05000000000000000000" pitchFamily="2" charset="2"/>
                  <a:buChar char="v"/>
                </a:pPr>
                <a:r>
                  <a:rPr lang="de-AT" sz="1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de-AT" sz="1800" dirty="0"/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can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replaced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function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larger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than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57250" lvl="1" indent="-285750"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example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𝑓</m:t>
                    </m:r>
                    <m:d>
                      <m:dPr>
                        <m:ctrlP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1800" spc="-1" dirty="0">
                    <a:ea typeface="Calibri" panose="020F0502020204030204" pitchFamily="34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𝑂</m:t>
                    </m:r>
                    <m:d>
                      <m:dPr>
                        <m:ctrlP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de-AT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de-AT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e-AT" sz="1800" b="0" i="1" spc="-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endParaRPr lang="de-AT" sz="1800" spc="-1" dirty="0">
                  <a:ea typeface="Calibri" panose="020F0502020204030204" pitchFamily="34" charset="0"/>
                </a:endParaRPr>
              </a:p>
              <a:p>
                <a:pPr marL="857250" lvl="1" indent="-285750"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Or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𝑓</m:t>
                    </m:r>
                    <m:d>
                      <m:dPr>
                        <m:ctrlP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1800" spc="-1" dirty="0">
                    <a:ea typeface="Calibri" panose="020F0502020204030204" pitchFamily="34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𝑂</m:t>
                    </m:r>
                    <m:d>
                      <m:dPr>
                        <m:ctrlP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de-AT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de-AT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e-AT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2</m:t>
                            </m:r>
                          </m:sup>
                        </m:sSup>
                        <m:r>
                          <a:rPr lang="de-AT" sz="1800" b="0" i="1" spc="-1" smtClean="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+2</m:t>
                        </m:r>
                        <m:r>
                          <a:rPr lang="de-AT" sz="1800" b="0" i="1" spc="-1" smtClean="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  <m:r>
                          <a:rPr lang="de-AT" sz="1800" b="0" i="1" spc="-1" smtClean="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+7</m:t>
                        </m:r>
                      </m:e>
                    </m:d>
                  </m:oMath>
                </a14:m>
                <a:endParaRPr lang="de-AT" sz="1800" spc="-1" dirty="0">
                  <a:ea typeface="Calibri" panose="020F0502020204030204" pitchFamily="34" charset="0"/>
                </a:endParaRPr>
              </a:p>
              <a:p>
                <a:pPr marL="857250" lvl="1" indent="-285750"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…</a:t>
                </a: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However, we will always use an upper bound that is as tight as possible</a:t>
                </a:r>
              </a:p>
            </p:txBody>
          </p:sp>
        </mc:Choice>
        <mc:Fallback xmlns="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890734"/>
                <a:ext cx="8229300" cy="1745266"/>
              </a:xfrm>
              <a:blipFill>
                <a:blip r:embed="rId3"/>
                <a:stretch>
                  <a:fillRect t="-1748" b="-55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87;p2">
                <a:extLst>
                  <a:ext uri="{FF2B5EF4-FFF2-40B4-BE49-F238E27FC236}">
                    <a16:creationId xmlns:a16="http://schemas.microsoft.com/office/drawing/2014/main" id="{3A95E139-CB8D-4AAE-B71F-1267A3042A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6900" y="3823132"/>
                <a:ext cx="8229600" cy="144726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>
                  <a:spcBef>
                    <a:spcPts val="640"/>
                  </a:spcBef>
                </a:pPr>
                <a:r>
                  <a:rPr lang="en-US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Remark 3: 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If we deal with functions that take only positive values (as it is always the case when we analyze algorithms), i.e., </a:t>
                </a:r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d>
                      <m:dPr>
                        <m:ctrlP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  <m:r>
                      <a:rPr lang="de-AT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≥0, 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∀</a:t>
                </a:r>
                <a14:m>
                  <m:oMath xmlns:m="http://schemas.openxmlformats.org/officeDocument/2006/math">
                    <m:r>
                      <a:rPr lang="de-AT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we can drop the absolute values, i.e., 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 need to find only one pair of constants </a:t>
                </a:r>
                <a14:m>
                  <m:oMath xmlns:m="http://schemas.openxmlformats.org/officeDocument/2006/math"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𝐶</m:t>
                    </m:r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𝑘</m:t>
                    </m:r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such that: </a:t>
                </a:r>
              </a:p>
              <a:p>
                <a:pPr marL="0" lvl="0" indent="0">
                  <a:spcBef>
                    <a:spcPts val="640"/>
                  </a:spcBef>
                </a:pPr>
                <a:r>
                  <a:rPr lang="en-US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𝑓</m:t>
                    </m:r>
                    <m:d>
                      <m:dPr>
                        <m:ctrlPr>
                          <a:rPr lang="de-AT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  <m:r>
                      <a:rPr lang="de-AT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≤</m:t>
                    </m:r>
                    <m:r>
                      <a:rPr lang="de-AT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𝐶𝑔</m:t>
                    </m:r>
                    <m:d>
                      <m:dPr>
                        <m:ctrlP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0" indent="0">
                  <a:spcBef>
                    <a:spcPts val="640"/>
                  </a:spcBef>
                </a:pPr>
                <a:endParaRPr lang="en-US" dirty="0"/>
              </a:p>
            </p:txBody>
          </p:sp>
        </mc:Choice>
        <mc:Fallback xmlns="">
          <p:sp>
            <p:nvSpPr>
              <p:cNvPr id="5" name="Google Shape;87;p2">
                <a:extLst>
                  <a:ext uri="{FF2B5EF4-FFF2-40B4-BE49-F238E27FC236}">
                    <a16:creationId xmlns:a16="http://schemas.microsoft.com/office/drawing/2014/main" id="{3A95E139-CB8D-4AAE-B71F-1267A3042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900" y="3823132"/>
                <a:ext cx="8229600" cy="1447268"/>
              </a:xfrm>
              <a:prstGeom prst="rect">
                <a:avLst/>
              </a:prstGeom>
              <a:blipFill>
                <a:blip r:embed="rId4"/>
                <a:stretch>
                  <a:fillRect l="-667" b="-252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2979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Big-O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847C202A-9E44-4853-83E7-CFF444228ADF}"/>
                  </a:ext>
                </a:extLst>
              </p:cNvPr>
              <p:cNvSpPr txBox="1"/>
              <p:nvPr/>
            </p:nvSpPr>
            <p:spPr>
              <a:xfrm>
                <a:off x="645456" y="1234801"/>
                <a:ext cx="8041044" cy="982800"/>
              </a:xfrm>
              <a:prstGeom prst="rect">
                <a:avLst/>
              </a:prstGeom>
              <a:solidFill>
                <a:srgbClr val="DAE3F3"/>
              </a:solidFill>
              <a:ln w="0">
                <a:noFill/>
              </a:ln>
            </p:spPr>
            <p:txBody>
              <a:bodyPr lIns="63607" tIns="31804" rIns="63607" bIns="31804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800" b="1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Example 4. </a:t>
                </a:r>
                <a:r>
                  <a:rPr kumimoji="0" lang="de-AT" sz="1800" i="0" u="none" strike="noStrike" kern="0" cap="none" spc="-1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Determine</a:t>
                </a:r>
                <a:r>
                  <a:rPr kumimoji="0" lang="de-AT" sz="180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AT" sz="1800" i="0" u="none" strike="noStrike" kern="0" cap="none" spc="-1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whether</a:t>
                </a:r>
                <a:r>
                  <a:rPr kumimoji="0" lang="de-AT" sz="1800" i="0" u="none" strike="noStrike" kern="0" cap="none" spc="-1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-1" normalizeH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𝑓</m:t>
                    </m:r>
                    <m:d>
                      <m:dPr>
                        <m:ctrlPr>
                          <a:rPr kumimoji="0" lang="de-AT" sz="1800" b="0" i="1" u="none" strike="noStrike" kern="0" cap="none" spc="-1" normalizeH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kumimoji="0" lang="de-AT" sz="1800" b="0" i="1" u="none" strike="noStrike" kern="0" cap="none" spc="-1" normalizeH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</m:e>
                    </m:d>
                    <m:r>
                      <a:rPr kumimoji="0" lang="de-AT" sz="1800" b="0" i="1" u="none" strike="noStrike" kern="0" cap="none" spc="-1" normalizeH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=10</m:t>
                    </m:r>
                  </m:oMath>
                </a14:m>
                <a:r>
                  <a:rPr kumimoji="0" lang="en-US" sz="180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is</a:t>
                </a:r>
                <a:r>
                  <a:rPr kumimoji="0" lang="en-US" sz="1800" i="0" u="none" strike="noStrike" kern="0" cap="none" spc="-1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-1" normalizeH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𝑂</m:t>
                    </m:r>
                    <m:r>
                      <a:rPr kumimoji="0" lang="de-AT" sz="1800" b="0" i="1" u="none" strike="noStrike" kern="0" cap="none" spc="-1" normalizeH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kumimoji="0" lang="de-AT" sz="1800" b="0" i="1" u="none" strike="noStrike" kern="0" cap="none" spc="-1" normalizeH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𝑥</m:t>
                    </m:r>
                    <m:r>
                      <a:rPr kumimoji="0" lang="de-AT" sz="1800" b="0" i="1" u="none" strike="noStrike" kern="0" cap="none" spc="-1" normalizeH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kumimoji="0" lang="en-US" sz="180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800" b="1" i="0" u="none" strike="noStrike" kern="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lvl="0"/>
                <a:r>
                  <a:rPr lang="en-US" sz="1800" b="1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</a:t>
                </a:r>
                <a:r>
                  <a:rPr kumimoji="0" lang="en-US" sz="1800" b="1" i="0" u="none" strike="noStrike" kern="0" cap="none" spc="-1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olution</a:t>
                </a:r>
                <a:r>
                  <a:rPr kumimoji="0" lang="en-US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 </a:t>
                </a:r>
                <a:r>
                  <a:rPr kumimoji="0" lang="de-AT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Yes, </a:t>
                </a:r>
                <a:r>
                  <a:rPr kumimoji="0" lang="de-AT" sz="1800" b="0" i="0" u="none" strike="noStrike" kern="0" cap="none" spc="-1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since</a:t>
                </a:r>
                <a:r>
                  <a:rPr kumimoji="0" lang="de-AT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10≤</m:t>
                    </m:r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𝑥</m:t>
                    </m:r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</m:oMath>
                </a14:m>
                <a:r>
                  <a:rPr kumimoji="0" lang="en-US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𝑥</m:t>
                    </m:r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&gt;10, </m:t>
                    </m:r>
                  </m:oMath>
                </a14:m>
                <a:r>
                  <a:rPr kumimoji="0" lang="en-US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i.e., we</a:t>
                </a:r>
                <a:r>
                  <a:rPr kumimoji="0" lang="en-US" sz="1800" b="0" i="0" u="none" strike="noStrike" kern="0" cap="none" spc="-1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have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-1" normalizeH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𝐶</m:t>
                    </m:r>
                    <m:r>
                      <a:rPr kumimoji="0" lang="de-AT" sz="1800" b="0" i="1" u="none" strike="noStrike" kern="0" cap="none" spc="-1" normalizeH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=1</m:t>
                    </m:r>
                  </m:oMath>
                </a14:m>
                <a:r>
                  <a:rPr kumimoji="0" lang="en-US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𝑘</m:t>
                    </m:r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=10</m:t>
                    </m:r>
                  </m:oMath>
                </a14:m>
                <a:r>
                  <a:rPr kumimoji="0" lang="en-US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847C202A-9E44-4853-83E7-CFF444228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456" y="1234801"/>
                <a:ext cx="8041044" cy="982800"/>
              </a:xfrm>
              <a:prstGeom prst="rect">
                <a:avLst/>
              </a:prstGeom>
              <a:blipFill>
                <a:blip r:embed="rId3"/>
                <a:stretch>
                  <a:fillRect l="-986" t="-4969" b="-1242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3754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Exercise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8049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Student task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/>
              <p:nvPr/>
            </p:nvSpPr>
            <p:spPr>
              <a:xfrm>
                <a:off x="461938" y="1605600"/>
                <a:ext cx="8229600" cy="100489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lvl="0">
                  <a:defRPr/>
                </a:pPr>
                <a:r>
                  <a:rPr lang="de-DE" sz="1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Task 1: 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Show </a:t>
                </a:r>
                <a:r>
                  <a:rPr lang="de-DE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that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sz="18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7</m:t>
                        </m:r>
                        <m:r>
                          <a:rPr lang="de-AT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de-AT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d>
                      <m:dPr>
                        <m:ctrlP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de-AT" sz="18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de-AT" sz="18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e-AT" sz="18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a:rPr lang="de-AT" sz="1800" b="0" i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.</m:t>
                    </m:r>
                  </m:oMath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0">
                  <a:defRPr/>
                </a:pPr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0">
                  <a:defRPr/>
                </a:pPr>
                <a:r>
                  <a:rPr lang="en-US" sz="18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Task 2: </a:t>
                </a: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 it also true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18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d>
                      <m:dPr>
                        <m:ctrlP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de-AT" sz="18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de-AT" sz="18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7</m:t>
                            </m:r>
                            <m:r>
                              <a:rPr lang="de-AT" sz="18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e-AT" sz="18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4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938" y="1605600"/>
                <a:ext cx="8229600" cy="1004890"/>
              </a:xfrm>
              <a:prstGeom prst="rect">
                <a:avLst/>
              </a:prstGeom>
              <a:blipFill>
                <a:blip r:embed="rId3"/>
                <a:stretch>
                  <a:fillRect l="-667" t="-606" b="-6667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8265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Big-O for polynomials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3984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Big-O of polynomials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6900" y="1519694"/>
            <a:ext cx="8229300" cy="1144800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Polynomials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often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used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represent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growth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functions</a:t>
            </a:r>
            <a:endParaRPr lang="de-AT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pc="-1" dirty="0" err="1">
                <a:ea typeface="Calibri" panose="020F0502020204030204" pitchFamily="34" charset="0"/>
              </a:rPr>
              <a:t>Instead</a:t>
            </a:r>
            <a:r>
              <a:rPr lang="de-AT" spc="-1" dirty="0">
                <a:ea typeface="Calibri" panose="020F0502020204030204" pitchFamily="34" charset="0"/>
              </a:rPr>
              <a:t> </a:t>
            </a:r>
            <a:r>
              <a:rPr lang="de-AT" spc="-1" dirty="0" err="1">
                <a:ea typeface="Calibri" panose="020F0502020204030204" pitchFamily="34" charset="0"/>
              </a:rPr>
              <a:t>of</a:t>
            </a:r>
            <a:r>
              <a:rPr lang="de-AT" spc="-1" dirty="0">
                <a:ea typeface="Calibri" panose="020F0502020204030204" pitchFamily="34" charset="0"/>
              </a:rPr>
              <a:t> </a:t>
            </a:r>
            <a:r>
              <a:rPr lang="de-AT" spc="-1" dirty="0" err="1">
                <a:ea typeface="Calibri" panose="020F0502020204030204" pitchFamily="34" charset="0"/>
              </a:rPr>
              <a:t>analyzing</a:t>
            </a:r>
            <a:r>
              <a:rPr lang="de-AT" spc="-1" dirty="0">
                <a:ea typeface="Calibri" panose="020F0502020204030204" pitchFamily="34" charset="0"/>
              </a:rPr>
              <a:t> </a:t>
            </a:r>
            <a:r>
              <a:rPr lang="de-AT" spc="-1" dirty="0" err="1">
                <a:ea typeface="Calibri" panose="020F0502020204030204" pitchFamily="34" charset="0"/>
              </a:rPr>
              <a:t>the</a:t>
            </a:r>
            <a:r>
              <a:rPr lang="de-AT" spc="-1" dirty="0">
                <a:ea typeface="Calibri" panose="020F0502020204030204" pitchFamily="34" charset="0"/>
              </a:rPr>
              <a:t> </a:t>
            </a:r>
            <a:r>
              <a:rPr lang="de-AT" spc="-1" dirty="0" err="1">
                <a:ea typeface="Calibri" panose="020F0502020204030204" pitchFamily="34" charset="0"/>
              </a:rPr>
              <a:t>growth</a:t>
            </a:r>
            <a:r>
              <a:rPr lang="de-AT" spc="-1" dirty="0">
                <a:ea typeface="Calibri" panose="020F0502020204030204" pitchFamily="34" charset="0"/>
              </a:rPr>
              <a:t> </a:t>
            </a:r>
            <a:r>
              <a:rPr lang="de-AT" spc="-1" dirty="0" err="1">
                <a:ea typeface="Calibri" panose="020F0502020204030204" pitchFamily="34" charset="0"/>
              </a:rPr>
              <a:t>every</a:t>
            </a:r>
            <a:r>
              <a:rPr lang="de-AT" spc="-1" dirty="0">
                <a:ea typeface="Calibri" panose="020F0502020204030204" pitchFamily="34" charset="0"/>
              </a:rPr>
              <a:t> time a polynomial </a:t>
            </a:r>
            <a:r>
              <a:rPr lang="de-AT" spc="-1" dirty="0" err="1">
                <a:ea typeface="Calibri" panose="020F0502020204030204" pitchFamily="34" charset="0"/>
              </a:rPr>
              <a:t>occurs</a:t>
            </a:r>
            <a:endParaRPr lang="de-AT" spc="-1" dirty="0">
              <a:ea typeface="Calibri" panose="020F0502020204030204" pitchFamily="34" charset="0"/>
            </a:endParaRP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would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like a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general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Big-O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polynomials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87;p2">
                <a:extLst>
                  <a:ext uri="{FF2B5EF4-FFF2-40B4-BE49-F238E27FC236}">
                    <a16:creationId xmlns:a16="http://schemas.microsoft.com/office/drawing/2014/main" id="{3A95E139-CB8D-4AAE-B71F-1267A3042A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6600" y="2664494"/>
                <a:ext cx="8229600" cy="104350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>
                  <a:spcBef>
                    <a:spcPts val="640"/>
                  </a:spcBef>
                </a:pPr>
                <a:r>
                  <a:rPr lang="en-US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Theorem 1: 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Let</a:t>
                </a:r>
                <a:r>
                  <a:rPr lang="en-US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d>
                      <m:dPr>
                        <m:ctrlP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  <m:r>
                      <a:rPr lang="de-AT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 </m:t>
                    </m:r>
                    <m:sSub>
                      <m:sSubPr>
                        <m:ctrlP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sup>
                    </m:sSup>
                    <m:r>
                      <a:rPr lang="de-AT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−1</m:t>
                        </m:r>
                      </m:sup>
                    </m:sSup>
                    <m:r>
                      <a:rPr lang="de-AT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 …+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de-AT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AT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de-AT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∀</a:t>
                </a:r>
                <a14:m>
                  <m:oMath xmlns:m="http://schemas.openxmlformats.org/officeDocument/2006/math">
                    <m:r>
                      <a:rPr lang="de-AT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𝑖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are real numbers. 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AT" b="0" i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hen</m:t>
                    </m:r>
                    <m:r>
                      <a:rPr lang="de-AT" b="0" i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de-AT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𝑓</m:t>
                    </m:r>
                    <m:d>
                      <m:dPr>
                        <m:ctrlPr>
                          <a:rPr lang="de-AT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𝑂</m:t>
                    </m:r>
                    <m:r>
                      <a:rPr lang="de-AT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sup>
                    </m:sSup>
                    <m:r>
                      <a:rPr lang="de-AT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0" indent="0">
                  <a:spcBef>
                    <a:spcPts val="640"/>
                  </a:spcBef>
                </a:pPr>
                <a:endParaRPr lang="en-US" dirty="0"/>
              </a:p>
            </p:txBody>
          </p:sp>
        </mc:Choice>
        <mc:Fallback xmlns="">
          <p:sp>
            <p:nvSpPr>
              <p:cNvPr id="5" name="Google Shape;87;p2">
                <a:extLst>
                  <a:ext uri="{FF2B5EF4-FFF2-40B4-BE49-F238E27FC236}">
                    <a16:creationId xmlns:a16="http://schemas.microsoft.com/office/drawing/2014/main" id="{3A95E139-CB8D-4AAE-B71F-1267A3042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600" y="2664494"/>
                <a:ext cx="8229600" cy="1043506"/>
              </a:xfrm>
              <a:prstGeom prst="rect">
                <a:avLst/>
              </a:prstGeom>
              <a:blipFill>
                <a:blip r:embed="rId3"/>
                <a:stretch>
                  <a:fillRect l="-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87;p2">
                <a:extLst>
                  <a:ext uri="{FF2B5EF4-FFF2-40B4-BE49-F238E27FC236}">
                    <a16:creationId xmlns:a16="http://schemas.microsoft.com/office/drawing/2014/main" id="{AD3629A6-A5D0-439A-AA8F-A285ABE2F07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6600" y="3809294"/>
                <a:ext cx="8229600" cy="246893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>
                  <a:spcBef>
                    <a:spcPts val="640"/>
                  </a:spcBef>
                </a:pPr>
                <a:r>
                  <a:rPr lang="en-US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Proof</a:t>
                </a:r>
                <a:r>
                  <a:rPr lang="de-AT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If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AT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&gt;1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we have (by triangle inequality):</a:t>
                </a:r>
              </a:p>
              <a:p>
                <a:pPr marL="0" lvl="0" indent="0">
                  <a:spcBef>
                    <a:spcPts val="64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de-AT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de-AT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de-AT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de-AT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=|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de-AT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de-AT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de-AT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de-AT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𝑛</m:t>
                          </m:r>
                        </m:sup>
                      </m:sSup>
                      <m:r>
                        <a:rPr lang="de-AT" i="1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de-AT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𝑛</m:t>
                          </m:r>
                          <m:r>
                            <a:rPr lang="de-AT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−1</m:t>
                          </m:r>
                        </m:sub>
                      </m:sSub>
                      <m:sSup>
                        <m:sSupPr>
                          <m:ctrlPr>
                            <a:rPr lang="de-AT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de-AT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de-AT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𝑛</m:t>
                          </m:r>
                          <m:r>
                            <a:rPr lang="de-AT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−1</m:t>
                          </m:r>
                        </m:sup>
                      </m:sSup>
                      <m:r>
                        <a:rPr lang="de-AT" i="1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+ …+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de-AT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1</m:t>
                          </m:r>
                        </m:sub>
                      </m:sSub>
                      <m:r>
                        <a:rPr lang="de-AT" i="1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𝑥</m:t>
                      </m:r>
                      <m:r>
                        <a:rPr lang="de-AT" i="1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de-AT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0</m:t>
                          </m:r>
                        </m:sub>
                      </m:sSub>
                      <m:r>
                        <a:rPr lang="de-AT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|</m:t>
                      </m:r>
                    </m:oMath>
                  </m:oMathPara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640"/>
                  </a:spcBef>
                </a:pPr>
                <a:r>
                  <a:rPr lang="de-AT" b="0" dirty="0">
                    <a:cs typeface="Calibri" panose="020F0502020204030204" pitchFamily="34" charset="0"/>
                  </a:rPr>
                  <a:t>                                       </a:t>
                </a:r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≤ 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|</m:t>
                        </m:r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sub>
                    </m:sSub>
                    <m:r>
                      <a:rPr lang="de-AT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|</m:t>
                    </m:r>
                    <m:sSup>
                      <m:sSupPr>
                        <m:ctrlP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sup>
                    </m:sSup>
                    <m:r>
                      <a:rPr lang="de-AT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|</m:t>
                        </m:r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−1</m:t>
                        </m:r>
                      </m:sub>
                    </m:sSub>
                    <m:r>
                      <a:rPr lang="de-AT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|</m:t>
                    </m:r>
                    <m:sSup>
                      <m:sSupPr>
                        <m:ctrlP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−1</m:t>
                        </m:r>
                      </m:sup>
                    </m:sSup>
                    <m:r>
                      <a:rPr lang="de-AT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 …+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|</m:t>
                        </m:r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de-AT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|</m:t>
                    </m:r>
                    <m:r>
                      <a:rPr lang="de-AT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AT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|</m:t>
                        </m:r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de-AT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|</m:t>
                    </m:r>
                  </m:oMath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640"/>
                  </a:spcBef>
                </a:pPr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                         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                    =</m:t>
                        </m:r>
                        <m:sSup>
                          <m:sSupPr>
                            <m:ctrlPr>
                              <a:rPr lang="de-AT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e-AT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𝑛</m:t>
                            </m:r>
                          </m:sup>
                        </m:sSup>
                        <m: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(</m:t>
                        </m:r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|</m:t>
                        </m:r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sub>
                    </m:sSub>
                    <m:d>
                      <m:dPr>
                        <m:begChr m:val="|"/>
                        <m:endChr m:val="|"/>
                        <m:ctrlP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+</m:t>
                        </m:r>
                        <m:sSub>
                          <m:sSubPr>
                            <m:ctrlPr>
                              <a:rPr lang="de-AT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|</m:t>
                            </m:r>
                            <m:r>
                              <a:rPr lang="de-AT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AT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𝑛</m:t>
                            </m:r>
                            <m:r>
                              <a:rPr lang="de-AT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de-AT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/</m:t>
                    </m:r>
                    <m:r>
                      <a:rPr lang="de-AT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AT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 …+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|</m:t>
                        </m:r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de-AT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|</m:t>
                    </m:r>
                    <m:r>
                      <a:rPr lang="de-AT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/</m:t>
                    </m:r>
                    <m:sSup>
                      <m:sSupPr>
                        <m:ctrlP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−1</m:t>
                        </m:r>
                      </m:sup>
                    </m:sSup>
                    <m:r>
                      <a:rPr lang="de-AT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|</m:t>
                        </m:r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de-AT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|</m:t>
                    </m:r>
                    <m:r>
                      <a:rPr lang="de-AT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/</m:t>
                    </m:r>
                    <m:sSup>
                      <m:sSupPr>
                        <m:ctrlP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</a:p>
              <a:p>
                <a:pPr marL="0" indent="0">
                  <a:spcBef>
                    <a:spcPts val="640"/>
                  </a:spcBef>
                </a:pPr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                          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                   </m:t>
                        </m:r>
                        <m: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≤ </m:t>
                        </m:r>
                        <m:sSup>
                          <m:sSupPr>
                            <m:ctrlPr>
                              <a:rPr lang="de-AT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e-AT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𝑛</m:t>
                            </m:r>
                          </m:sup>
                        </m:sSup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(|</m:t>
                        </m:r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sub>
                    </m:sSub>
                    <m:d>
                      <m:dPr>
                        <m:begChr m:val="|"/>
                        <m:endChr m:val="|"/>
                        <m:ctrlP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+</m:t>
                        </m:r>
                        <m:sSub>
                          <m:sSubPr>
                            <m:ctrlPr>
                              <a:rPr lang="de-AT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|</m:t>
                            </m:r>
                            <m:r>
                              <a:rPr lang="de-AT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AT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𝑛</m:t>
                            </m:r>
                            <m:r>
                              <a:rPr lang="de-AT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de-AT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 …+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|</m:t>
                        </m:r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de-AT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|+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|</m:t>
                        </m:r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de-AT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|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</a:p>
              <a:p>
                <a:pPr marL="0" indent="0">
                  <a:spcBef>
                    <a:spcPts val="640"/>
                  </a:spcBef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Hence,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= |</m:t>
                        </m:r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sub>
                    </m:sSub>
                    <m:d>
                      <m:dPr>
                        <m:begChr m:val="|"/>
                        <m:endChr m:val="|"/>
                        <m:ctrlP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+</m:t>
                        </m:r>
                        <m:sSub>
                          <m:sSubPr>
                            <m:ctrlPr>
                              <a:rPr lang="de-AT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|</m:t>
                            </m:r>
                            <m:r>
                              <a:rPr lang="de-AT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AT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𝑛</m:t>
                            </m:r>
                            <m:r>
                              <a:rPr lang="de-AT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de-AT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 …+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|</m:t>
                        </m:r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de-AT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|+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|</m:t>
                        </m:r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de-AT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|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𝑘</m:t>
                    </m:r>
                    <m:r>
                      <a:rPr lang="de-AT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=1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we showed that </a:t>
                </a:r>
                <a14:m>
                  <m:oMath xmlns:m="http://schemas.openxmlformats.org/officeDocument/2006/math"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𝑓</m:t>
                    </m:r>
                    <m:d>
                      <m:dPr>
                        <m:ctrlP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de-AT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𝑂</m:t>
                    </m:r>
                    <m:r>
                      <a:rPr lang="de-AT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sup>
                    </m:sSup>
                    <m:r>
                      <a:rPr lang="de-AT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0" indent="0">
                  <a:spcBef>
                    <a:spcPts val="640"/>
                  </a:spcBef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lvl="0" indent="0">
                  <a:spcBef>
                    <a:spcPts val="640"/>
                  </a:spcBef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640"/>
                  </a:spcBef>
                </a:pPr>
                <a:endParaRPr lang="en-US" dirty="0"/>
              </a:p>
            </p:txBody>
          </p:sp>
        </mc:Choice>
        <mc:Fallback xmlns="">
          <p:sp>
            <p:nvSpPr>
              <p:cNvPr id="6" name="Google Shape;87;p2">
                <a:extLst>
                  <a:ext uri="{FF2B5EF4-FFF2-40B4-BE49-F238E27FC236}">
                    <a16:creationId xmlns:a16="http://schemas.microsoft.com/office/drawing/2014/main" id="{AD3629A6-A5D0-439A-AA8F-A285ABE2F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600" y="3809294"/>
                <a:ext cx="8229600" cy="2468934"/>
              </a:xfrm>
              <a:prstGeom prst="rect">
                <a:avLst/>
              </a:prstGeom>
              <a:blipFill>
                <a:blip r:embed="rId4"/>
                <a:stretch>
                  <a:fillRect l="-667" b="-271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1205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dirty="0"/>
              <a:t>Big-O of polynomials</a:t>
            </a:r>
            <a:endParaRPr lang="en-GB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Google Shape;87;p2">
            <a:extLst>
              <a:ext uri="{FF2B5EF4-FFF2-40B4-BE49-F238E27FC236}">
                <a16:creationId xmlns:a16="http://schemas.microsoft.com/office/drawing/2014/main" id="{BB42F605-3918-43ED-9707-0052F46E3E90}"/>
              </a:ext>
            </a:extLst>
          </p:cNvPr>
          <p:cNvSpPr txBox="1">
            <a:spLocks/>
          </p:cNvSpPr>
          <p:nvPr/>
        </p:nvSpPr>
        <p:spPr>
          <a:xfrm>
            <a:off x="457200" y="1843132"/>
            <a:ext cx="8229600" cy="14472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640"/>
              </a:spcBef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Remark 4: 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previous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theorem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shows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leading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term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polynom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dominates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its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growth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regardless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polynom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coefficients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Intuitiavely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always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make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argument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large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want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so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leading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coefficient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will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start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dominate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eventually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B1B97866-D3B0-43FD-8E20-C3BDD96EEFF7}"/>
                  </a:ext>
                </a:extLst>
              </p:cNvPr>
              <p:cNvSpPr txBox="1"/>
              <p:nvPr/>
            </p:nvSpPr>
            <p:spPr>
              <a:xfrm>
                <a:off x="457200" y="3567601"/>
                <a:ext cx="8229300" cy="1529999"/>
              </a:xfrm>
              <a:prstGeom prst="rect">
                <a:avLst/>
              </a:prstGeom>
              <a:solidFill>
                <a:srgbClr val="DAE3F3"/>
              </a:solidFill>
              <a:ln w="0">
                <a:noFill/>
              </a:ln>
            </p:spPr>
            <p:txBody>
              <a:bodyPr lIns="63607" tIns="31804" rIns="63607" bIns="31804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800" b="1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Example </a:t>
                </a:r>
                <a:r>
                  <a:rPr lang="en-US" sz="1800" b="1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5</a:t>
                </a:r>
                <a:r>
                  <a:rPr kumimoji="0" lang="en-US" sz="1800" b="1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 </a:t>
                </a:r>
                <a:r>
                  <a:rPr lang="de-AT" sz="1800" spc="-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Determine</a:t>
                </a:r>
                <a:r>
                  <a:rPr lang="de-AT" sz="1800" spc="-1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 spc="-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𝑘</m:t>
                    </m:r>
                    <m:r>
                      <a:rPr lang="de-AT" sz="1800" b="0" i="1" spc="-1" noProof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kumimoji="0" lang="en-US" sz="180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such that for every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𝑥</m:t>
                    </m:r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&gt;</m:t>
                    </m:r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𝑘</m:t>
                    </m:r>
                  </m:oMath>
                </a14:m>
                <a:r>
                  <a:rPr kumimoji="0" lang="en-US" sz="180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the leading term</a:t>
                </a:r>
                <a:r>
                  <a:rPr kumimoji="0" lang="en-US" sz="1800" i="0" u="none" strike="noStrike" kern="0" cap="none" spc="-1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in the following </a:t>
                </a:r>
                <a:r>
                  <a:rPr kumimoji="0" lang="en-US" sz="1800" i="0" u="none" strike="noStrike" kern="0" cap="none" spc="-1" normalizeH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polynom</a:t>
                </a:r>
                <a:r>
                  <a:rPr kumimoji="0" lang="en-US" sz="1800" i="0" u="none" strike="noStrike" kern="0" cap="none" spc="-1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is larger than all other terms: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i="1" u="none" strike="noStrike" kern="0" cap="none" spc="-1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sSupPr>
                        <m:e>
                          <m:r>
                            <a:rPr kumimoji="0" lang="de-AT" sz="1800" b="0" i="1" u="none" strike="noStrike" kern="0" cap="none" spc="-1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  <a:sym typeface="Arial"/>
                            </a:rPr>
                            <m:t>𝑥</m:t>
                          </m:r>
                        </m:e>
                        <m:sup>
                          <m:r>
                            <a:rPr kumimoji="0" lang="de-AT" sz="1800" b="0" i="1" u="none" strike="noStrike" kern="0" cap="none" spc="-1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  <a:sym typeface="Arial"/>
                            </a:rPr>
                            <m:t>3</m:t>
                          </m:r>
                        </m:sup>
                      </m:sSup>
                      <m:r>
                        <a:rPr kumimoji="0" lang="de-AT" sz="1800" b="0" i="1" u="none" strike="noStrike" kern="0" cap="none" spc="-1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m:t>+100 </m:t>
                      </m:r>
                      <m:sSup>
                        <m:sSupPr>
                          <m:ctrlPr>
                            <a:rPr kumimoji="0" lang="de-AT" sz="1800" b="0" i="1" u="none" strike="noStrike" kern="0" cap="none" spc="-1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sSupPr>
                        <m:e>
                          <m:r>
                            <a:rPr kumimoji="0" lang="de-AT" sz="1800" b="0" i="1" u="none" strike="noStrike" kern="0" cap="none" spc="-1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  <a:sym typeface="Arial"/>
                            </a:rPr>
                            <m:t>𝑥</m:t>
                          </m:r>
                        </m:e>
                        <m:sup>
                          <m:r>
                            <a:rPr kumimoji="0" lang="de-AT" sz="1800" b="0" i="1" u="none" strike="noStrike" kern="0" cap="none" spc="-1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  <a:sym typeface="Arial"/>
                            </a:rPr>
                            <m:t>2</m:t>
                          </m:r>
                        </m:sup>
                      </m:sSup>
                      <m:r>
                        <a:rPr kumimoji="0" lang="de-AT" sz="1800" b="0" i="1" u="none" strike="noStrike" kern="0" cap="none" spc="-1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m:t>+50 </m:t>
                      </m:r>
                      <m:r>
                        <a:rPr kumimoji="0" lang="de-AT" sz="1800" b="0" i="1" u="none" strike="noStrike" kern="0" cap="none" spc="-1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m:t>𝑥</m:t>
                      </m:r>
                      <m:r>
                        <a:rPr kumimoji="0" lang="de-AT" sz="1800" b="0" i="1" u="none" strike="noStrike" kern="0" cap="none" spc="-1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m:t>.</m:t>
                      </m:r>
                    </m:oMath>
                  </m:oMathPara>
                </a14:m>
                <a:endParaRPr kumimoji="0" lang="en-US" sz="1800" i="0" u="none" strike="noStrike" kern="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800" b="1" i="0" u="none" strike="noStrike" kern="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lvl="0"/>
                <a:r>
                  <a:rPr lang="en-US" sz="1800" b="1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</a:t>
                </a:r>
                <a:r>
                  <a:rPr kumimoji="0" lang="en-US" sz="1800" b="1" i="0" u="none" strike="noStrike" kern="0" cap="none" spc="-1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olution</a:t>
                </a:r>
                <a:r>
                  <a:rPr kumimoji="0" lang="en-US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𝑘</m:t>
                    </m:r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=100</m:t>
                    </m:r>
                  </m:oMath>
                </a14:m>
                <a:r>
                  <a:rPr kumimoji="0" lang="en-US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satisfies this condition.</a:t>
                </a:r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B1B97866-D3B0-43FD-8E20-C3BDD96EE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567601"/>
                <a:ext cx="8229300" cy="1529999"/>
              </a:xfrm>
              <a:prstGeom prst="rect">
                <a:avLst/>
              </a:prstGeom>
              <a:blipFill>
                <a:blip r:embed="rId3"/>
                <a:stretch>
                  <a:fillRect l="-963" t="-3187" b="-1195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724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Big-O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847C202A-9E44-4853-83E7-CFF444228ADF}"/>
                  </a:ext>
                </a:extLst>
              </p:cNvPr>
              <p:cNvSpPr txBox="1"/>
              <p:nvPr/>
            </p:nvSpPr>
            <p:spPr>
              <a:xfrm>
                <a:off x="645456" y="1234800"/>
                <a:ext cx="8041044" cy="1969199"/>
              </a:xfrm>
              <a:prstGeom prst="rect">
                <a:avLst/>
              </a:prstGeom>
              <a:solidFill>
                <a:srgbClr val="DAE3F3"/>
              </a:solidFill>
              <a:ln w="0">
                <a:noFill/>
              </a:ln>
            </p:spPr>
            <p:txBody>
              <a:bodyPr lIns="63607" tIns="31804" rIns="63607" bIns="31804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800" b="1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Example 6. </a:t>
                </a:r>
                <a:r>
                  <a:rPr kumimoji="0" lang="en-US" sz="180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Use the Big-O notation to estimate</a:t>
                </a:r>
                <a:r>
                  <a:rPr kumimoji="0" lang="en-US" sz="1800" i="0" u="none" strike="noStrike" kern="0" cap="none" spc="-1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the sum of the first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-1" normalizeH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𝑛</m:t>
                    </m:r>
                  </m:oMath>
                </a14:m>
                <a:r>
                  <a:rPr kumimoji="0" lang="en-US" sz="1800" b="1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en-US" sz="180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positive integers.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800" b="1" i="0" u="none" strike="noStrike" kern="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lvl="0"/>
                <a:r>
                  <a:rPr lang="en-US" sz="1800" b="1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</a:t>
                </a:r>
                <a:r>
                  <a:rPr kumimoji="0" lang="en-US" sz="1800" b="1" i="0" u="none" strike="noStrike" kern="0" cap="none" spc="-1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olution</a:t>
                </a:r>
                <a:r>
                  <a:rPr kumimoji="0" lang="en-US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 Since none of the integers in the sum of the first</a:t>
                </a:r>
                <a:r>
                  <a:rPr kumimoji="0" lang="en-US" sz="1800" b="0" i="0" u="none" strike="noStrike" kern="0" cap="none" spc="-1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kumimoji="0" lang="en-US" sz="1800" b="0" i="0" u="none" strike="noStrike" kern="0" cap="none" spc="-1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positive integers exceeds </a:t>
                </a:r>
                <a14:m>
                  <m:oMath xmlns:m="http://schemas.openxmlformats.org/officeDocument/2006/math"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</m:oMath>
                </a14:m>
                <a:r>
                  <a:rPr kumimoji="0" lang="en-US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it</a:t>
                </a:r>
                <a:r>
                  <a:rPr kumimoji="0" lang="en-US" sz="1800" b="0" i="0" u="none" strike="noStrike" kern="0" cap="none" spc="-1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follows that: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de-AT" sz="1800" b="0" i="1" u="none" strike="noStrike" kern="0" cap="none" spc="-1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m:t>1+2+ … +</m:t>
                      </m:r>
                      <m:r>
                        <a:rPr kumimoji="0" lang="de-AT" sz="1800" b="0" i="1" u="none" strike="noStrike" kern="0" cap="none" spc="-1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m:t>𝑛</m:t>
                      </m:r>
                      <m:r>
                        <a:rPr kumimoji="0" lang="de-AT" sz="1800" b="0" i="1" u="none" strike="noStrike" kern="0" cap="none" spc="-1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m:t>≤</m:t>
                      </m:r>
                      <m:r>
                        <a:rPr kumimoji="0" lang="de-AT" sz="1800" b="0" i="1" u="none" strike="noStrike" kern="0" cap="none" spc="-1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m:t>𝑛</m:t>
                      </m:r>
                      <m:r>
                        <a:rPr kumimoji="0" lang="de-AT" sz="1800" b="0" i="1" u="none" strike="noStrike" kern="0" cap="none" spc="-1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m:t>+</m:t>
                      </m:r>
                      <m:r>
                        <a:rPr kumimoji="0" lang="de-AT" sz="1800" b="0" i="1" u="none" strike="noStrike" kern="0" cap="none" spc="-1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m:t>𝑛</m:t>
                      </m:r>
                      <m:r>
                        <a:rPr kumimoji="0" lang="de-AT" sz="1800" b="0" i="1" u="none" strike="noStrike" kern="0" cap="none" spc="-1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m:t>+ …</m:t>
                      </m:r>
                      <m:r>
                        <a:rPr kumimoji="0" lang="de-AT" sz="1800" b="0" i="1" u="none" strike="noStrike" kern="0" cap="none" spc="-1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m:t>𝑛</m:t>
                      </m:r>
                      <m:r>
                        <a:rPr kumimoji="0" lang="de-AT" sz="1800" b="0" i="1" u="none" strike="noStrike" kern="0" cap="none" spc="-1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m:t>= </m:t>
                      </m:r>
                      <m:sSup>
                        <m:sSupPr>
                          <m:ctrlPr>
                            <a:rPr kumimoji="0" lang="de-AT" sz="1800" b="0" i="1" u="none" strike="noStrike" kern="0" cap="none" spc="-1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sSupPr>
                        <m:e>
                          <m:r>
                            <a:rPr kumimoji="0" lang="de-AT" sz="1800" b="0" i="1" u="none" strike="noStrike" kern="0" cap="none" spc="-1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  <a:sym typeface="Arial"/>
                            </a:rPr>
                            <m:t>𝑛</m:t>
                          </m:r>
                        </m:e>
                        <m:sup>
                          <m:r>
                            <a:rPr kumimoji="0" lang="de-AT" sz="1800" b="0" i="1" u="none" strike="noStrike" kern="0" cap="none" spc="-1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  <a:sym typeface="Arial"/>
                            </a:rPr>
                            <m:t>2</m:t>
                          </m:r>
                        </m:sup>
                      </m:sSup>
                      <m:r>
                        <a:rPr kumimoji="0" lang="de-AT" sz="1800" b="0" i="1" u="none" strike="noStrike" kern="0" cap="none" spc="-1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m:t>.</m:t>
                      </m:r>
                    </m:oMath>
                  </m:oMathPara>
                </a14:m>
                <a:endParaRPr kumimoji="0" lang="de-AT" sz="1800" b="0" i="0" u="none" strike="noStrike" kern="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lvl="0"/>
                <a:r>
                  <a:rPr kumimoji="0" lang="en-US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Hence,</a:t>
                </a:r>
                <a:r>
                  <a:rPr kumimoji="0" lang="en-US" sz="1800" b="0" i="0" u="none" strike="noStrike" kern="0" cap="none" spc="-1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taking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-1" normalizeH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𝐶</m:t>
                    </m:r>
                    <m:r>
                      <a:rPr kumimoji="0" lang="de-AT" sz="1800" b="0" i="1" u="none" strike="noStrike" kern="0" cap="none" spc="-1" normalizeH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=1</m:t>
                    </m:r>
                  </m:oMath>
                </a14:m>
                <a:r>
                  <a:rPr kumimoji="0" lang="en-US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𝑘</m:t>
                    </m:r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=1</m:t>
                    </m:r>
                  </m:oMath>
                </a14:m>
                <a:r>
                  <a:rPr kumimoji="0" lang="en-US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the sum</a:t>
                </a:r>
                <a:r>
                  <a:rPr kumimoji="0" lang="en-US" sz="1800" b="0" i="0" u="none" strike="noStrike" kern="0" cap="none" spc="-1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of first </a:t>
                </a:r>
                <a14:m>
                  <m:oMath xmlns:m="http://schemas.openxmlformats.org/officeDocument/2006/math"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</m:oMath>
                </a14:m>
                <a:r>
                  <a:rPr kumimoji="0" lang="en-US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positive</a:t>
                </a:r>
                <a:r>
                  <a:rPr kumimoji="0" lang="en-US" sz="1800" b="0" i="0" u="none" strike="noStrike" kern="0" cap="none" spc="-1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integers is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-1" normalizeH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𝑂</m:t>
                    </m:r>
                    <m:r>
                      <a:rPr kumimoji="0" lang="de-AT" sz="1800" b="0" i="1" u="none" strike="noStrike" kern="0" cap="none" spc="-1" normalizeH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p>
                      <m:sSupPr>
                        <m:ctrlPr>
                          <a:rPr kumimoji="0" lang="de-AT" sz="1800" b="0" i="1" u="none" strike="noStrike" kern="0" cap="none" spc="-1" normalizeH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kumimoji="0" lang="de-AT" sz="1800" b="0" i="1" u="none" strike="noStrike" kern="0" cap="none" spc="-1" normalizeH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𝑛</m:t>
                        </m:r>
                      </m:e>
                      <m:sup>
                        <m:r>
                          <a:rPr kumimoji="0" lang="de-AT" sz="1800" b="0" i="1" u="none" strike="noStrike" kern="0" cap="none" spc="-1" normalizeH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p>
                    </m:sSup>
                    <m:r>
                      <a:rPr kumimoji="0" lang="de-AT" sz="1800" b="0" i="1" u="none" strike="noStrike" kern="0" cap="none" spc="-1" normalizeH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kumimoji="0" lang="en-US" sz="1800" b="0" i="0" u="none" strike="noStrike" kern="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847C202A-9E44-4853-83E7-CFF444228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456" y="1234800"/>
                <a:ext cx="8041044" cy="1969199"/>
              </a:xfrm>
              <a:prstGeom prst="rect">
                <a:avLst/>
              </a:prstGeom>
              <a:blipFill>
                <a:blip r:embed="rId3"/>
                <a:stretch>
                  <a:fillRect l="-986" t="-2477" b="-6192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1629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Big-O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847C202A-9E44-4853-83E7-CFF444228ADF}"/>
                  </a:ext>
                </a:extLst>
              </p:cNvPr>
              <p:cNvSpPr txBox="1"/>
              <p:nvPr/>
            </p:nvSpPr>
            <p:spPr>
              <a:xfrm>
                <a:off x="645456" y="1234801"/>
                <a:ext cx="8041044" cy="1465200"/>
              </a:xfrm>
              <a:prstGeom prst="rect">
                <a:avLst/>
              </a:prstGeom>
              <a:solidFill>
                <a:srgbClr val="DAE3F3"/>
              </a:solidFill>
              <a:ln w="0">
                <a:noFill/>
              </a:ln>
            </p:spPr>
            <p:txBody>
              <a:bodyPr lIns="63607" tIns="31804" rIns="63607" bIns="31804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800" b="1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Example </a:t>
                </a:r>
                <a:r>
                  <a:rPr lang="en-US" sz="1800" b="1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7</a:t>
                </a:r>
                <a:r>
                  <a:rPr kumimoji="0" lang="en-US" sz="1800" b="1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 </a:t>
                </a:r>
                <a:r>
                  <a:rPr kumimoji="0" lang="de-AT" sz="180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Show </a:t>
                </a:r>
                <a:r>
                  <a:rPr kumimoji="0" lang="de-AT" sz="1800" i="0" u="none" strike="noStrike" kern="0" cap="none" spc="-1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that</a:t>
                </a:r>
                <a:r>
                  <a:rPr kumimoji="0" lang="de-AT" sz="180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de-AT" sz="180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de-AT" sz="1800" i="1" u="none" strike="noStrike" kern="0" cap="none" spc="-1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kumimoji="0" lang="de-AT" sz="1800" b="0" i="1" u="none" strike="noStrike" kern="0" cap="none" spc="-1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  <m:t>𝑥</m:t>
                            </m:r>
                          </m:e>
                          <m:sup>
                            <m:r>
                              <a:rPr kumimoji="0" lang="de-AT" sz="1800" b="0" i="1" u="none" strike="noStrike" kern="0" cap="none" spc="-1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p>
                        </m:sSup>
                        <m: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+1</m:t>
                        </m:r>
                      </m:num>
                      <m:den>
                        <m: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  <m: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+1</m:t>
                        </m:r>
                      </m:den>
                    </m:f>
                  </m:oMath>
                </a14:m>
                <a:r>
                  <a:rPr kumimoji="0" lang="en-US" sz="180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𝑂</m:t>
                    </m:r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𝑥</m:t>
                    </m:r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kumimoji="0" lang="en-US" sz="180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800" b="1" i="0" u="none" strike="noStrike" kern="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lvl="0"/>
                <a:r>
                  <a:rPr lang="en-US" sz="1800" b="1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</a:t>
                </a:r>
                <a:r>
                  <a:rPr kumimoji="0" lang="en-US" sz="1800" b="1" i="0" u="none" strike="noStrike" kern="0" cap="none" spc="-1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olution</a:t>
                </a:r>
                <a:r>
                  <a:rPr kumimoji="0" lang="en-US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de-AT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de-AT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e-AT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p>
                        </m:sSup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+1</m:t>
                        </m:r>
                      </m:num>
                      <m:den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+1</m:t>
                        </m:r>
                      </m:den>
                    </m:f>
                    <m:r>
                      <a:rPr lang="de-AT" sz="1800" b="0" i="1" spc="-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de-AT" sz="1800" b="0" i="1" spc="-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AT" sz="1800" b="0" i="1" spc="-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−1+ </m:t>
                    </m:r>
                    <m:f>
                      <m:fPr>
                        <m:ctrlPr>
                          <a:rPr lang="de-AT" sz="1800" b="0" i="1" spc="-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de-AT" sz="1800" b="0" i="1" spc="-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num>
                      <m:den>
                        <m:r>
                          <a:rPr lang="de-AT" sz="1800" b="0" i="1" spc="-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  <m:r>
                          <a:rPr lang="de-AT" sz="1800" b="0" i="1" spc="-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+1</m:t>
                        </m:r>
                      </m:den>
                    </m:f>
                    <m:r>
                      <a:rPr lang="de-AT" sz="1800" b="0" i="1" spc="-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&lt;</m:t>
                    </m:r>
                    <m:r>
                      <a:rPr lang="de-AT" sz="1800" b="0" i="1" spc="-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AT" sz="1800" b="0" i="1" spc="-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 </m:t>
                    </m:r>
                  </m:oMath>
                </a14:m>
                <a:r>
                  <a:rPr lang="en-US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when </a:t>
                </a:r>
                <a14:m>
                  <m:oMath xmlns:m="http://schemas.openxmlformats.org/officeDocument/2006/math">
                    <m:r>
                      <a:rPr lang="de-AT" sz="1800" b="0" i="1" spc="-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AT" sz="1800" b="0" i="1" spc="-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&gt;1</m:t>
                    </m:r>
                    <m:r>
                      <a:rPr lang="de-AT" sz="1800" b="0" i="0" spc="-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</m:t>
                    </m:r>
                  </m:oMath>
                </a14:m>
                <a:r>
                  <a:rPr lang="en-US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hence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de-AT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de-AT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e-AT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p>
                        </m:sSup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+1</m:t>
                        </m:r>
                      </m:num>
                      <m:den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kumimoji="0" lang="en-US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847C202A-9E44-4853-83E7-CFF444228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456" y="1234801"/>
                <a:ext cx="8041044" cy="1465200"/>
              </a:xfrm>
              <a:prstGeom prst="rect">
                <a:avLst/>
              </a:prstGeom>
              <a:blipFill>
                <a:blip r:embed="rId3"/>
                <a:stretch>
                  <a:fillRect l="-986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1018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Big-O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847C202A-9E44-4853-83E7-CFF444228ADF}"/>
                  </a:ext>
                </a:extLst>
              </p:cNvPr>
              <p:cNvSpPr txBox="1"/>
              <p:nvPr/>
            </p:nvSpPr>
            <p:spPr>
              <a:xfrm>
                <a:off x="645456" y="1234800"/>
                <a:ext cx="8041044" cy="1969199"/>
              </a:xfrm>
              <a:prstGeom prst="rect">
                <a:avLst/>
              </a:prstGeom>
              <a:solidFill>
                <a:srgbClr val="DAE3F3"/>
              </a:solidFill>
              <a:ln w="0">
                <a:noFill/>
              </a:ln>
            </p:spPr>
            <p:txBody>
              <a:bodyPr lIns="63607" tIns="31804" rIns="63607" bIns="31804" anchor="t">
                <a:noAutofit/>
              </a:bodyPr>
              <a:lstStyle/>
              <a:p>
                <a:pPr lvl="0"/>
                <a:r>
                  <a:rPr kumimoji="0" lang="en-US" sz="1800" b="1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Example 8. </a:t>
                </a:r>
                <a:r>
                  <a:rPr kumimoji="0" lang="en-US" sz="180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𝑘</m:t>
                    </m:r>
                  </m:oMath>
                </a14:m>
                <a:r>
                  <a:rPr kumimoji="0" lang="de-AT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AT" sz="1800" b="0" i="0" u="none" strike="noStrike" kern="0" cap="none" spc="-1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be</a:t>
                </a:r>
                <a:r>
                  <a:rPr kumimoji="0" lang="de-AT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a positive</a:t>
                </a:r>
                <a:r>
                  <a:rPr kumimoji="0" lang="de-AT" sz="1800" b="0" i="0" u="none" strike="noStrike" kern="0" cap="none" spc="-1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integer. </a:t>
                </a:r>
                <a:r>
                  <a:rPr kumimoji="0" lang="de-AT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Show </a:t>
                </a:r>
                <a:r>
                  <a:rPr kumimoji="0" lang="de-AT" sz="1800" b="0" i="0" u="none" strike="noStrike" kern="0" cap="none" spc="-1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that</a:t>
                </a:r>
                <a:r>
                  <a:rPr kumimoji="0" lang="de-AT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AT" sz="1800" i="1" spc="-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b="0" i="1" spc="-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e>
                      <m:sup>
                        <m:r>
                          <a:rPr lang="de-AT" sz="1800" b="0" i="1" spc="-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𝑘</m:t>
                        </m:r>
                      </m:sup>
                    </m:sSup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+</m:t>
                    </m:r>
                    <m:sSup>
                      <m:sSupPr>
                        <m:ctrlPr>
                          <a:rPr lang="de-AT" sz="1800" i="1" spc="-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b="0" i="1" spc="-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e>
                      <m:sup>
                        <m:r>
                          <a:rPr lang="de-AT" sz="1800" i="1" spc="-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𝑘</m:t>
                        </m:r>
                      </m:sup>
                    </m:sSup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+ … +</m:t>
                    </m:r>
                    <m:sSup>
                      <m:sSupPr>
                        <m:ctrlPr>
                          <a:rPr lang="de-AT" sz="1800" i="1" spc="-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b="0" i="1" spc="-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</m:e>
                      <m:sup>
                        <m:r>
                          <a:rPr lang="de-AT" sz="1800" i="1" spc="-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kumimoji="0" lang="en-US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𝑂</m:t>
                    </m:r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p>
                      <m:sSupPr>
                        <m:ctrlP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𝑛</m:t>
                        </m:r>
                      </m:e>
                      <m:sup>
                        <m: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𝑘</m:t>
                        </m:r>
                        <m: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+1</m:t>
                        </m:r>
                      </m:sup>
                    </m:sSup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kumimoji="0" lang="en-US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800" b="1" i="0" u="none" strike="noStrike" kern="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800" b="1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S</a:t>
                </a:r>
                <a:r>
                  <a:rPr kumimoji="0" lang="en-US" sz="1800" b="1" i="0" u="none" strike="noStrike" kern="0" cap="none" spc="-1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olution</a:t>
                </a:r>
                <a:r>
                  <a:rPr kumimoji="0" lang="en-US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 Since none of the integers in the sum of powers of the first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-1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𝑛</m:t>
                    </m:r>
                    <m:r>
                      <a:rPr kumimoji="0" lang="de-AT" sz="1800" b="0" i="1" u="none" strike="noStrike" kern="0" cap="none" spc="-1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</m:oMath>
                </a14:m>
                <a:r>
                  <a:rPr kumimoji="0" lang="en-US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positive integers exceeds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𝑛</m:t>
                        </m:r>
                      </m:e>
                      <m:sup>
                        <m: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𝑘</m:t>
                        </m:r>
                      </m:sup>
                    </m:sSup>
                  </m:oMath>
                </a14:m>
                <a:r>
                  <a:rPr kumimoji="0" lang="en-US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it follows that: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AT" sz="1800" i="1" spc="-1" dirty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de-AT" sz="1800" i="1" spc="-1" dirty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1</m:t>
                          </m:r>
                        </m:e>
                        <m:sup>
                          <m:r>
                            <a:rPr lang="de-AT" sz="1800" i="1" spc="-1" dirty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𝑘</m:t>
                          </m:r>
                        </m:sup>
                      </m:sSup>
                      <m:r>
                        <a:rPr lang="de-AT" sz="1800" i="1" spc="-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de-AT" sz="1800" i="1" spc="-1" dirty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de-AT" sz="1800" i="1" spc="-1" dirty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2</m:t>
                          </m:r>
                        </m:e>
                        <m:sup>
                          <m:r>
                            <a:rPr lang="de-AT" sz="1800" i="1" spc="-1" dirty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𝑘</m:t>
                          </m:r>
                        </m:sup>
                      </m:sSup>
                      <m:r>
                        <a:rPr lang="de-AT" sz="1800" i="1" spc="-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+ … +</m:t>
                      </m:r>
                      <m:sSup>
                        <m:sSupPr>
                          <m:ctrlPr>
                            <a:rPr lang="de-AT" sz="1800" i="1" spc="-1" dirty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de-AT" sz="1800" i="1" spc="-1" dirty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𝑛</m:t>
                          </m:r>
                        </m:e>
                        <m:sup>
                          <m:r>
                            <a:rPr lang="de-AT" sz="1800" i="1" spc="-1" dirty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𝑘</m:t>
                          </m:r>
                        </m:sup>
                      </m:sSup>
                      <m:r>
                        <a:rPr kumimoji="0" lang="de-AT" sz="1800" b="0" i="1" u="none" strike="noStrike" kern="0" cap="none" spc="-1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m:t>≤</m:t>
                      </m:r>
                      <m:sSup>
                        <m:sSupPr>
                          <m:ctrlPr>
                            <a:rPr lang="de-AT" sz="1800" i="1" spc="-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de-AT" sz="1800" i="1" spc="-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𝑛</m:t>
                          </m:r>
                        </m:e>
                        <m:sup>
                          <m:r>
                            <a:rPr lang="de-AT" sz="1800" i="1" spc="-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𝑘</m:t>
                          </m:r>
                        </m:sup>
                      </m:sSup>
                      <m:r>
                        <a:rPr kumimoji="0" lang="de-AT" sz="1800" b="0" i="1" u="none" strike="noStrike" kern="0" cap="none" spc="-1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m:t>+</m:t>
                      </m:r>
                      <m:sSup>
                        <m:sSupPr>
                          <m:ctrlPr>
                            <a:rPr lang="de-AT" sz="1800" i="1" spc="-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de-AT" sz="1800" i="1" spc="-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𝑛</m:t>
                          </m:r>
                        </m:e>
                        <m:sup>
                          <m:r>
                            <a:rPr lang="de-AT" sz="1800" i="1" spc="-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𝑘</m:t>
                          </m:r>
                        </m:sup>
                      </m:sSup>
                      <m:r>
                        <a:rPr kumimoji="0" lang="de-AT" sz="1800" b="0" i="1" u="none" strike="noStrike" kern="0" cap="none" spc="-1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m:t>+ …</m:t>
                      </m:r>
                      <m:sSup>
                        <m:sSupPr>
                          <m:ctrlPr>
                            <a:rPr lang="de-AT" sz="1800" i="1" spc="-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de-AT" sz="1800" i="1" spc="-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𝑛</m:t>
                          </m:r>
                        </m:e>
                        <m:sup>
                          <m:r>
                            <a:rPr lang="de-AT" sz="1800" i="1" spc="-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𝑘</m:t>
                          </m:r>
                        </m:sup>
                      </m:sSup>
                      <m:r>
                        <a:rPr kumimoji="0" lang="de-AT" sz="1800" b="0" i="1" u="none" strike="noStrike" kern="0" cap="none" spc="-1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m:t>=</m:t>
                      </m:r>
                      <m:sSup>
                        <m:sSupPr>
                          <m:ctrlPr>
                            <a:rPr lang="de-AT" sz="1800" i="1" spc="-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de-AT" sz="1800" i="1" spc="-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𝑛</m:t>
                          </m:r>
                        </m:e>
                        <m:sup>
                          <m:r>
                            <a:rPr lang="de-AT" sz="1800" i="1" spc="-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𝑘</m:t>
                          </m:r>
                          <m:r>
                            <a:rPr lang="de-AT" sz="1800" b="0" i="1" spc="-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+1</m:t>
                          </m:r>
                        </m:sup>
                      </m:sSup>
                      <m:r>
                        <a:rPr kumimoji="0" lang="de-AT" sz="1800" b="0" i="1" u="none" strike="noStrike" kern="0" cap="none" spc="-1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m:t>.</m:t>
                      </m:r>
                    </m:oMath>
                  </m:oMathPara>
                </a14:m>
                <a:endParaRPr kumimoji="0" lang="de-AT" sz="1800" b="0" i="0" u="none" strike="noStrike" kern="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lvl="0"/>
                <a:r>
                  <a:rPr kumimoji="0" lang="en-US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Hence,</a:t>
                </a:r>
                <a:r>
                  <a:rPr kumimoji="0" lang="en-US" sz="1800" b="0" i="0" u="none" strike="noStrike" kern="0" cap="none" spc="-1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AT" sz="1800" i="1" spc="-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i="1" spc="-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e>
                      <m:sup>
                        <m:r>
                          <a:rPr lang="de-AT" sz="1800" i="1" spc="-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𝑘</m:t>
                        </m:r>
                      </m:sup>
                    </m:sSup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+</m:t>
                    </m:r>
                    <m:sSup>
                      <m:sSupPr>
                        <m:ctrlPr>
                          <a:rPr lang="de-AT" sz="1800" i="1" spc="-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i="1" spc="-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e>
                      <m:sup>
                        <m:r>
                          <a:rPr lang="de-AT" sz="1800" i="1" spc="-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𝑘</m:t>
                        </m:r>
                      </m:sup>
                    </m:sSup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+ … +</m:t>
                    </m:r>
                    <m:sSup>
                      <m:sSupPr>
                        <m:ctrlPr>
                          <a:rPr lang="de-AT" sz="1800" i="1" spc="-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i="1" spc="-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</m:e>
                      <m:sup>
                        <m:r>
                          <a:rPr lang="de-AT" sz="1800" i="1" spc="-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𝑘</m:t>
                        </m:r>
                      </m:sup>
                    </m:sSup>
                    <m:r>
                      <a:rPr lang="de-AT" sz="1800" i="1" spc="-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kumimoji="0" lang="en-US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is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𝑂</m:t>
                    </m:r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p>
                      <m:sSupPr>
                        <m:ctrlP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𝑛</m:t>
                        </m:r>
                      </m:e>
                      <m:sup>
                        <m: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𝑘</m:t>
                        </m:r>
                        <m: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+1</m:t>
                        </m:r>
                      </m:sup>
                    </m:sSup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kumimoji="0" lang="en-US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847C202A-9E44-4853-83E7-CFF444228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456" y="1234800"/>
                <a:ext cx="8041044" cy="1969199"/>
              </a:xfrm>
              <a:prstGeom prst="rect">
                <a:avLst/>
              </a:prstGeom>
              <a:blipFill>
                <a:blip r:embed="rId3"/>
                <a:stretch>
                  <a:fillRect l="-986" t="-216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1042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Exercise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3920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Student task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/>
              <p:nvPr/>
            </p:nvSpPr>
            <p:spPr>
              <a:xfrm>
                <a:off x="461938" y="1605600"/>
                <a:ext cx="8229600" cy="1200329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de-DE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Task 3: </a:t>
                </a:r>
                <a:r>
                  <a:rPr kumimoji="0" lang="de-DE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Determine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DE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whether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DE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each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DE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of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DE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the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DE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following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DE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functions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DE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is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𝑂</m:t>
                    </m:r>
                    <m:d>
                      <m:dPr>
                        <m:ctrlP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</m:e>
                    </m:d>
                    <m:r>
                      <a:rPr kumimoji="0" lang="de-AT" sz="18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: </m:t>
                    </m:r>
                  </m:oMath>
                </a14:m>
                <a:endParaRPr kumimoji="0" lang="de-AT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+mj-lt"/>
                  <a:buAutoNum type="alphaLcPeriod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de-AT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𝑓</m:t>
                    </m:r>
                    <m:d>
                      <m:dPr>
                        <m:ctrlP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</m:e>
                    </m:d>
                    <m:r>
                      <a:rPr kumimoji="0" lang="de-AT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=3</m:t>
                    </m:r>
                    <m:r>
                      <a:rPr kumimoji="0" lang="de-AT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𝑥</m:t>
                    </m:r>
                    <m:r>
                      <a:rPr kumimoji="0" lang="de-AT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+7</m:t>
                    </m:r>
                  </m:oMath>
                </a14:m>
                <a:endParaRPr kumimoji="0" lang="de-AT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+mj-lt"/>
                  <a:buAutoNum type="alphaLcPeriod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de-AT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𝑓</m:t>
                    </m:r>
                    <m:d>
                      <m:dPr>
                        <m:ctrlP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</m:e>
                    </m:d>
                    <m:r>
                      <a:rPr kumimoji="0" lang="de-AT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= </m:t>
                    </m:r>
                    <m:sSup>
                      <m:sSupPr>
                        <m:ctrlP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</m:e>
                      <m:sup>
                        <m: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p>
                    </m:sSup>
                    <m:r>
                      <a:rPr kumimoji="0" lang="de-AT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r>
                      <a:rPr kumimoji="0" lang="de-AT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𝑥</m:t>
                    </m:r>
                    <m:r>
                      <a:rPr kumimoji="0" lang="de-AT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+1</m:t>
                    </m:r>
                  </m:oMath>
                </a14:m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+mj-lt"/>
                  <a:buAutoNum type="alphaLcPeriod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de-AT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𝑓</m:t>
                    </m:r>
                    <m:d>
                      <m:dPr>
                        <m:ctrlP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</m:e>
                    </m:d>
                    <m:r>
                      <a:rPr kumimoji="0" lang="de-AT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=5</m:t>
                    </m:r>
                    <m:func>
                      <m:funcPr>
                        <m:ctrlP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0" lang="de-AT" sz="1800" b="0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log</m:t>
                        </m:r>
                      </m:fName>
                      <m:e>
                        <m: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</m:e>
                    </m:func>
                  </m:oMath>
                </a14:m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4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938" y="1605600"/>
                <a:ext cx="8229600" cy="1200329"/>
              </a:xfrm>
              <a:prstGeom prst="rect">
                <a:avLst/>
              </a:prstGeom>
              <a:blipFill>
                <a:blip r:embed="rId3"/>
                <a:stretch>
                  <a:fillRect l="-667" t="-2538" b="-5584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20615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Growth of function combinations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0699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Big-O for function combinations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90734"/>
            <a:ext cx="8229300" cy="174526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Many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algorithms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made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up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two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more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subprocedures</a:t>
            </a:r>
            <a:endParaRPr lang="de-AT" sz="1800" spc="-1" dirty="0">
              <a:ea typeface="Calibri" panose="020F0502020204030204" pitchFamily="34" charset="0"/>
            </a:endParaRP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spc="-1" dirty="0">
                <a:latin typeface="+mj-lt"/>
                <a:ea typeface="Calibri" panose="020F0502020204030204" pitchFamily="34" charset="0"/>
              </a:rPr>
              <a:t>The total </a:t>
            </a:r>
            <a:r>
              <a:rPr lang="de-AT" sz="1800" spc="-1" dirty="0" err="1">
                <a:latin typeface="+mj-lt"/>
                <a:ea typeface="Calibri" panose="020F0502020204030204" pitchFamily="34" charset="0"/>
              </a:rPr>
              <a:t>number</a:t>
            </a:r>
            <a:r>
              <a:rPr lang="de-AT" sz="1800" spc="-1" dirty="0">
                <a:latin typeface="+mj-lt"/>
                <a:ea typeface="Calibri" panose="020F0502020204030204" pitchFamily="34" charset="0"/>
              </a:rPr>
              <a:t> </a:t>
            </a:r>
            <a:r>
              <a:rPr lang="de-AT" sz="1800" spc="-1" dirty="0" err="1">
                <a:latin typeface="+mj-lt"/>
                <a:ea typeface="Calibri" panose="020F0502020204030204" pitchFamily="34" charset="0"/>
              </a:rPr>
              <a:t>of</a:t>
            </a:r>
            <a:r>
              <a:rPr lang="de-AT" sz="1800" spc="-1" dirty="0">
                <a:latin typeface="+mj-lt"/>
                <a:ea typeface="Calibri" panose="020F0502020204030204" pitchFamily="34" charset="0"/>
              </a:rPr>
              <a:t> </a:t>
            </a:r>
            <a:r>
              <a:rPr lang="de-AT" sz="1800" spc="-1" dirty="0" err="1">
                <a:latin typeface="+mj-lt"/>
                <a:ea typeface="Calibri" panose="020F0502020204030204" pitchFamily="34" charset="0"/>
              </a:rPr>
              <a:t>steps</a:t>
            </a:r>
            <a:r>
              <a:rPr lang="de-AT" sz="1800" spc="-1" dirty="0">
                <a:latin typeface="+mj-lt"/>
                <a:ea typeface="Calibri" panose="020F0502020204030204" pitchFamily="34" charset="0"/>
              </a:rPr>
              <a:t> </a:t>
            </a:r>
            <a:r>
              <a:rPr lang="de-AT" sz="1800" spc="-1" dirty="0" err="1">
                <a:latin typeface="+mj-lt"/>
                <a:ea typeface="Calibri" panose="020F0502020204030204" pitchFamily="34" charset="0"/>
              </a:rPr>
              <a:t>is</a:t>
            </a:r>
            <a:r>
              <a:rPr lang="de-AT" sz="1800" spc="-1" dirty="0">
                <a:latin typeface="+mj-lt"/>
                <a:ea typeface="Calibri" panose="020F0502020204030204" pitchFamily="34" charset="0"/>
              </a:rPr>
              <a:t> </a:t>
            </a:r>
            <a:r>
              <a:rPr lang="de-AT" sz="1800" spc="-1" dirty="0" err="1">
                <a:latin typeface="+mj-lt"/>
                <a:ea typeface="Calibri" panose="020F0502020204030204" pitchFamily="34" charset="0"/>
              </a:rPr>
              <a:t>then</a:t>
            </a:r>
            <a:r>
              <a:rPr lang="de-AT" sz="1800" spc="-1" dirty="0">
                <a:latin typeface="+mj-lt"/>
                <a:ea typeface="Calibri" panose="020F0502020204030204" pitchFamily="34" charset="0"/>
              </a:rPr>
              <a:t> </a:t>
            </a:r>
            <a:r>
              <a:rPr lang="de-AT" sz="1800" spc="-1" dirty="0" err="1">
                <a:latin typeface="+mj-lt"/>
                <a:ea typeface="Calibri" panose="020F0502020204030204" pitchFamily="34" charset="0"/>
              </a:rPr>
              <a:t>the</a:t>
            </a:r>
            <a:r>
              <a:rPr lang="de-AT" sz="1800" spc="-1" dirty="0">
                <a:latin typeface="+mj-lt"/>
                <a:ea typeface="Calibri" panose="020F0502020204030204" pitchFamily="34" charset="0"/>
              </a:rPr>
              <a:t> </a:t>
            </a:r>
            <a:r>
              <a:rPr lang="de-AT" sz="1800" spc="-1" dirty="0" err="1">
                <a:latin typeface="+mj-lt"/>
                <a:ea typeface="Calibri" panose="020F0502020204030204" pitchFamily="34" charset="0"/>
              </a:rPr>
              <a:t>sum</a:t>
            </a:r>
            <a:r>
              <a:rPr lang="de-AT" sz="1800" spc="-1" dirty="0">
                <a:latin typeface="+mj-lt"/>
                <a:ea typeface="Calibri" panose="020F0502020204030204" pitchFamily="34" charset="0"/>
              </a:rPr>
              <a:t> </a:t>
            </a:r>
            <a:r>
              <a:rPr lang="de-AT" sz="1800" spc="-1" dirty="0" err="1">
                <a:latin typeface="+mj-lt"/>
                <a:ea typeface="Calibri" panose="020F0502020204030204" pitchFamily="34" charset="0"/>
              </a:rPr>
              <a:t>of</a:t>
            </a:r>
            <a:r>
              <a:rPr lang="de-AT" sz="1800" spc="-1" dirty="0">
                <a:latin typeface="+mj-lt"/>
                <a:ea typeface="Calibri" panose="020F0502020204030204" pitchFamily="34" charset="0"/>
              </a:rPr>
              <a:t> </a:t>
            </a:r>
            <a:r>
              <a:rPr lang="de-AT" sz="1800" spc="-1" dirty="0" err="1">
                <a:latin typeface="+mj-lt"/>
                <a:ea typeface="Calibri" panose="020F0502020204030204" pitchFamily="34" charset="0"/>
              </a:rPr>
              <a:t>the</a:t>
            </a:r>
            <a:r>
              <a:rPr lang="de-AT" sz="1800" spc="-1" dirty="0">
                <a:latin typeface="+mj-lt"/>
                <a:ea typeface="Calibri" panose="020F0502020204030204" pitchFamily="34" charset="0"/>
              </a:rPr>
              <a:t> </a:t>
            </a:r>
            <a:r>
              <a:rPr lang="de-AT" sz="1800" spc="-1" dirty="0" err="1">
                <a:latin typeface="+mj-lt"/>
                <a:ea typeface="Calibri" panose="020F0502020204030204" pitchFamily="34" charset="0"/>
              </a:rPr>
              <a:t>number</a:t>
            </a:r>
            <a:r>
              <a:rPr lang="de-AT" sz="1800" spc="-1" dirty="0">
                <a:latin typeface="+mj-lt"/>
                <a:ea typeface="Calibri" panose="020F0502020204030204" pitchFamily="34" charset="0"/>
              </a:rPr>
              <a:t> </a:t>
            </a:r>
            <a:r>
              <a:rPr lang="de-AT" sz="1800" spc="-1" dirty="0" err="1">
                <a:latin typeface="+mj-lt"/>
                <a:ea typeface="Calibri" panose="020F0502020204030204" pitchFamily="34" charset="0"/>
              </a:rPr>
              <a:t>of</a:t>
            </a:r>
            <a:r>
              <a:rPr lang="de-AT" sz="1800" spc="-1" dirty="0">
                <a:latin typeface="+mj-lt"/>
                <a:ea typeface="Calibri" panose="020F0502020204030204" pitchFamily="34" charset="0"/>
              </a:rPr>
              <a:t> </a:t>
            </a:r>
            <a:r>
              <a:rPr lang="de-AT" sz="1800" spc="-1" dirty="0" err="1">
                <a:latin typeface="+mj-lt"/>
                <a:ea typeface="Calibri" panose="020F0502020204030204" pitchFamily="34" charset="0"/>
              </a:rPr>
              <a:t>steps</a:t>
            </a:r>
            <a:r>
              <a:rPr lang="de-AT" sz="1800" spc="-1" dirty="0">
                <a:latin typeface="+mj-lt"/>
                <a:ea typeface="Calibri" panose="020F0502020204030204" pitchFamily="34" charset="0"/>
              </a:rPr>
              <a:t> </a:t>
            </a:r>
            <a:r>
              <a:rPr lang="de-AT" sz="1800" spc="-1" dirty="0" err="1">
                <a:latin typeface="+mj-lt"/>
                <a:ea typeface="Calibri" panose="020F0502020204030204" pitchFamily="34" charset="0"/>
              </a:rPr>
              <a:t>of</a:t>
            </a:r>
            <a:r>
              <a:rPr lang="de-AT" sz="1800" spc="-1" dirty="0">
                <a:latin typeface="+mj-lt"/>
                <a:ea typeface="Calibri" panose="020F0502020204030204" pitchFamily="34" charset="0"/>
              </a:rPr>
              <a:t> all </a:t>
            </a:r>
            <a:r>
              <a:rPr lang="de-AT" sz="1800" spc="-1" dirty="0" err="1">
                <a:latin typeface="+mj-lt"/>
                <a:ea typeface="Calibri" panose="020F0502020204030204" pitchFamily="34" charset="0"/>
              </a:rPr>
              <a:t>subprocedures</a:t>
            </a:r>
            <a:endParaRPr lang="de-AT" sz="1800" spc="-1" dirty="0">
              <a:latin typeface="+mj-lt"/>
              <a:ea typeface="Calibri" panose="020F0502020204030204" pitchFamily="34" charset="0"/>
            </a:endParaRP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spc="-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AT" sz="1800" spc="-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calculate</a:t>
            </a:r>
            <a:r>
              <a:rPr lang="de-AT" sz="1800" spc="-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spc="-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Big-O </a:t>
            </a:r>
            <a:r>
              <a:rPr lang="de-AT" sz="1800" spc="-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estimate</a:t>
            </a:r>
            <a:r>
              <a:rPr lang="de-AT" sz="1800" spc="-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de-AT" sz="1800" spc="-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first</a:t>
            </a:r>
            <a:r>
              <a:rPr lang="de-AT" sz="1800" spc="-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calculate</a:t>
            </a:r>
            <a:r>
              <a:rPr lang="de-AT" sz="1800" spc="-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individual Big-O </a:t>
            </a:r>
            <a:r>
              <a:rPr lang="de-AT" sz="1800" spc="-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estimates</a:t>
            </a:r>
            <a:endParaRPr lang="de-AT" sz="1800" spc="-1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spc="-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Then</a:t>
            </a:r>
            <a:r>
              <a:rPr lang="de-AT" sz="1800" spc="-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de-AT" sz="1800" spc="-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need</a:t>
            </a:r>
            <a:r>
              <a:rPr lang="de-AT" sz="1800" spc="-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AT" sz="1800" spc="-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combine</a:t>
            </a:r>
            <a:r>
              <a:rPr lang="de-AT" sz="1800" spc="-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these</a:t>
            </a:r>
            <a:r>
              <a:rPr lang="de-AT" sz="1800" spc="-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estimates</a:t>
            </a:r>
            <a:r>
              <a:rPr lang="de-AT" sz="1800" spc="-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AT" sz="1800" spc="-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get</a:t>
            </a:r>
            <a:r>
              <a:rPr lang="de-AT" sz="1800" spc="-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spc="-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total </a:t>
            </a:r>
            <a:r>
              <a:rPr lang="de-AT" sz="1800" spc="-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estimate</a:t>
            </a:r>
            <a:endParaRPr lang="de-AT" sz="1800" spc="-1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often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involves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estimating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growth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sums and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functions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0319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Big-O of the sum of two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87;p2">
                <a:extLst>
                  <a:ext uri="{FF2B5EF4-FFF2-40B4-BE49-F238E27FC236}">
                    <a16:creationId xmlns:a16="http://schemas.microsoft.com/office/drawing/2014/main" id="{3A95E139-CB8D-4AAE-B71F-1267A3042A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6600" y="1127541"/>
                <a:ext cx="8229600" cy="84910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>
                  <a:spcBef>
                    <a:spcPts val="640"/>
                  </a:spcBef>
                </a:pPr>
                <a:r>
                  <a:rPr lang="en-US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Theorem 2: 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Suppose that</a:t>
                </a:r>
                <a:r>
                  <a:rPr lang="en-US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de-AT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𝑂</m:t>
                    </m:r>
                    <m:r>
                      <a:rPr lang="de-AT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𝑔</m:t>
                        </m:r>
                      </m:e>
                      <m:sub>
                        <m:r>
                          <a:rPr lang="de-AT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de-AT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de-AT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AT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))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de-AT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de-AT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𝑂</m:t>
                    </m:r>
                    <m:r>
                      <a:rPr lang="de-AT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𝑔</m:t>
                        </m:r>
                      </m:e>
                      <m:sub>
                        <m:r>
                          <a:rPr lang="de-AT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de-AT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de-AT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AT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))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(</m:t>
                        </m:r>
                        <m: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de-AT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 </m:t>
                    </m:r>
                    <m:sSub>
                      <m:sSubPr>
                        <m:ctrlP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de-AT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)(</m:t>
                    </m:r>
                    <m:r>
                      <a:rPr lang="de-AT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AT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𝑂</m:t>
                    </m:r>
                    <m:r>
                      <a:rPr lang="de-AT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func>
                      <m:funcPr>
                        <m:ctrlP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AT" b="0" i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de-AT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AT" b="0" i="1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de-AT" b="0" i="1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|</m:t>
                                </m:r>
                                <m:r>
                                  <a:rPr lang="de-AT" b="0" i="1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de-AT" b="0" i="1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de-AT" b="0" i="1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de-AT" b="0" i="1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e>
                            <m:r>
                              <a:rPr lang="de-AT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, 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de-AT" b="0" i="1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e-AT" b="0" i="1" smtClean="0"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AT" b="0" i="1" smtClean="0"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de-AT" b="0" i="1" smtClean="0"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de-AT" b="0" i="1" smtClean="0"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de-AT" b="0" i="1" smtClean="0"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e>
                    </m:func>
                    <m:r>
                      <a:rPr lang="de-AT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0" indent="0">
                  <a:spcBef>
                    <a:spcPts val="640"/>
                  </a:spcBef>
                </a:pPr>
                <a:endParaRPr lang="en-US" dirty="0"/>
              </a:p>
            </p:txBody>
          </p:sp>
        </mc:Choice>
        <mc:Fallback xmlns="">
          <p:sp>
            <p:nvSpPr>
              <p:cNvPr id="5" name="Google Shape;87;p2">
                <a:extLst>
                  <a:ext uri="{FF2B5EF4-FFF2-40B4-BE49-F238E27FC236}">
                    <a16:creationId xmlns:a16="http://schemas.microsoft.com/office/drawing/2014/main" id="{3A95E139-CB8D-4AAE-B71F-1267A3042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600" y="1127541"/>
                <a:ext cx="8229600" cy="849106"/>
              </a:xfrm>
              <a:prstGeom prst="rect">
                <a:avLst/>
              </a:prstGeom>
              <a:blipFill>
                <a:blip r:embed="rId3"/>
                <a:stretch>
                  <a:fillRect l="-667" b="-14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87;p2">
                <a:extLst>
                  <a:ext uri="{FF2B5EF4-FFF2-40B4-BE49-F238E27FC236}">
                    <a16:creationId xmlns:a16="http://schemas.microsoft.com/office/drawing/2014/main" id="{AD3629A6-A5D0-439A-AA8F-A285ABE2F07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6600" y="2030894"/>
                <a:ext cx="8229600" cy="387310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>
                  <a:spcBef>
                    <a:spcPts val="640"/>
                  </a:spcBef>
                </a:pPr>
                <a:r>
                  <a:rPr lang="en-US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Proof</a:t>
                </a:r>
                <a:r>
                  <a:rPr lang="de-AT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From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definition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Big-O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there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are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constants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</m:e>
                      <m:sub>
                        <m: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de-AT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</m:t>
                    </m:r>
                    <m:sSub>
                      <m:sSubPr>
                        <m:ctrlP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</m:e>
                      <m:sub>
                        <m: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de-AT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</m:t>
                    </m:r>
                    <m:sSub>
                      <m:sSubPr>
                        <m:ctrlP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</m:e>
                      <m:sub>
                        <m: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de-AT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</m:t>
                    </m:r>
                    <m:sSub>
                      <m:sSubPr>
                        <m:ctrlP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</m:e>
                      <m:sub>
                        <m: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such that:</a:t>
                </a:r>
              </a:p>
              <a:p>
                <a:pPr marL="0" lvl="0" indent="0">
                  <a:spcBef>
                    <a:spcPts val="640"/>
                  </a:spcBef>
                  <a:defRPr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AT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de-AT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de-AT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de-AT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≤</m:t>
                    </m:r>
                    <m:sSub>
                      <m:sSubPr>
                        <m:ctrlPr>
                          <a:rPr lang="de-AT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𝐶</m:t>
                        </m:r>
                      </m:e>
                      <m:sub>
                        <m:r>
                          <a:rPr lang="de-AT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d>
                      <m:dPr>
                        <m:begChr m:val="|"/>
                        <m:endChr m:val="|"/>
                        <m:ctrlP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AT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de-AT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de-AT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de-AT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when </a:t>
                </a:r>
                <a14:m>
                  <m:oMath xmlns:m="http://schemas.openxmlformats.org/officeDocument/2006/math"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&gt;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</m:e>
                      <m:sub>
                        <m:r>
                          <a:rPr lang="de-AT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and</a:t>
                </a:r>
              </a:p>
              <a:p>
                <a:pPr marL="0" lvl="0" indent="0">
                  <a:spcBef>
                    <a:spcPts val="640"/>
                  </a:spcBef>
                  <a:defRPr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AT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de-AT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de-AT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≤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𝐶</m:t>
                        </m:r>
                      </m:e>
                      <m:sub>
                        <m:r>
                          <a:rPr lang="de-AT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d>
                      <m:dPr>
                        <m:begChr m:val="|"/>
                        <m:endChr m:val="|"/>
                        <m:ctrlP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AT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de-AT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de-AT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when </a:t>
                </a:r>
                <a14:m>
                  <m:oMath xmlns:m="http://schemas.openxmlformats.org/officeDocument/2006/math"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&gt;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</m:e>
                      <m:sub>
                        <m:r>
                          <a:rPr lang="de-AT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0" indent="0">
                  <a:spcBef>
                    <a:spcPts val="640"/>
                  </a:spcBef>
                </a:pPr>
                <a:r>
                  <a:rPr lang="en-US" dirty="0">
                    <a:latin typeface="+mn-lt"/>
                  </a:rPr>
                  <a:t>To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|</m:t>
                        </m:r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(</m:t>
                        </m:r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de-AT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 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de-AT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  <m:d>
                      <m:dPr>
                        <m:ctrlP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  <m:r>
                      <a:rPr lang="de-AT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| 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we have:</a:t>
                </a:r>
              </a:p>
              <a:p>
                <a:pPr marL="0" indent="0">
                  <a:spcBef>
                    <a:spcPts val="640"/>
                  </a:spcBef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|(</m:t>
                        </m:r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de-AT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 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de-AT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  <m:d>
                      <m:dPr>
                        <m:ctrlP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  <m:r>
                      <a:rPr lang="de-AT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|</m:t>
                    </m:r>
                    <m:r>
                      <a:rPr lang="de-AT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de-AT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de-AT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de-AT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</m:d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+ </m:t>
                        </m:r>
                        <m:sSub>
                          <m:sSubPr>
                            <m:ctrlPr>
                              <a:rPr lang="de-AT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de-AT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de-AT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de-AT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≤ </m:t>
                    </m:r>
                    <m:d>
                      <m:dPr>
                        <m:begChr m:val="|"/>
                        <m:endChr m:val="|"/>
                        <m:ctrlP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de-AT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de-AT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</m:d>
                        <m: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|</m:t>
                        </m:r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+</m:t>
                        </m:r>
                        <m:r>
                          <a:rPr lang="de-AT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|</m:t>
                        </m:r>
                        <m:sSub>
                          <m:sSubPr>
                            <m:ctrlPr>
                              <a:rPr lang="de-AT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de-AT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de-AT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by triangle inequality. When </a:t>
                </a:r>
                <a14:m>
                  <m:oMath xmlns:m="http://schemas.openxmlformats.org/officeDocument/2006/math"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r>
                  <a:rPr lang="en-US" dirty="0">
                    <a:latin typeface="+mn-lt"/>
                  </a:rPr>
                  <a:t>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&gt;</m:t>
                        </m:r>
                        <m:r>
                          <a:rPr lang="de-AT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</m:e>
                      <m:sub>
                        <m:r>
                          <a:rPr lang="de-AT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r>
                      <a:rPr lang="de-AT" b="0" i="0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&gt;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</m:e>
                      <m:sub>
                        <m:r>
                          <a:rPr lang="de-AT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(or in other words when </a:t>
                </a:r>
                <a14:m>
                  <m:oMath xmlns:m="http://schemas.openxmlformats.org/officeDocument/2006/math"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AT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&gt;</m:t>
                    </m:r>
                    <m:r>
                      <a:rPr lang="de-AT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𝑘</m:t>
                    </m:r>
                  </m:oMath>
                </a14:m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𝑘</m:t>
                    </m:r>
                    <m:r>
                      <a:rPr lang="de-AT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de-AT" b="0" i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max</m:t>
                    </m:r>
                    <m:r>
                      <a:rPr lang="de-AT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⁡(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</m:e>
                      <m:sub>
                        <m:r>
                          <a:rPr lang="de-AT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de-AT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</m:e>
                      <m:sub>
                        <m:r>
                          <a:rPr lang="de-AT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de-AT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dirty="0">
                    <a:latin typeface="+mn-lt"/>
                  </a:rPr>
                  <a:t>) we have:</a:t>
                </a:r>
              </a:p>
              <a:p>
                <a:pPr marL="0" indent="0">
                  <a:spcBef>
                    <a:spcPts val="64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de-AT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de-AT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de-AT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de-AT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de-AT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de-AT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|+|</m:t>
                          </m:r>
                          <m:sSub>
                            <m:sSubPr>
                              <m:ctrlPr>
                                <a:rPr lang="de-AT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de-AT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de-AT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de-AT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de-AT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de-AT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&lt;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de-AT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de-AT" i="1" dirty="0">
                  <a:latin typeface="Cambria Math" panose="020405030504060302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640"/>
                  </a:spcBef>
                </a:pPr>
                <a:r>
                  <a:rPr lang="de-AT" b="0" dirty="0">
                    <a:ea typeface="Calibri" panose="020F0502020204030204" pitchFamily="34" charset="0"/>
                    <a:cs typeface="Calibri" panose="020F0502020204030204" pitchFamily="34" charset="0"/>
                  </a:rPr>
                  <a:t>	            </a:t>
                </a:r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≤ 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𝐶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d>
                      <m:dPr>
                        <m:begChr m:val="|"/>
                        <m:endChr m:val="|"/>
                        <m:ctrlP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𝑔</m:t>
                        </m:r>
                        <m:d>
                          <m:dPr>
                            <m:ctrlPr>
                              <a:rPr lang="de-AT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+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𝐶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d>
                      <m:dPr>
                        <m:begChr m:val="|"/>
                        <m:endChr m:val="|"/>
                        <m:ctrlPr>
                          <a:rPr lang="de-AT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𝑔</m:t>
                        </m:r>
                        <m:d>
                          <m:dPr>
                            <m:ctrlPr>
                              <a:rPr lang="de-AT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endParaRPr lang="de-AT" i="1" dirty="0">
                  <a:latin typeface="Cambria Math" panose="020405030504060302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640"/>
                  </a:spcBef>
                </a:pPr>
                <a:r>
                  <a:rPr lang="de-AT" b="0" dirty="0">
                    <a:ea typeface="Calibri" panose="020F0502020204030204" pitchFamily="34" charset="0"/>
                    <a:cs typeface="Calibri" panose="020F0502020204030204" pitchFamily="34" charset="0"/>
                  </a:rPr>
                  <a:t>	            </a:t>
                </a:r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d>
                      <m:dPr>
                        <m:ctrlPr>
                          <a:rPr lang="de-AT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AT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AT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de-AT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+</m:t>
                        </m:r>
                        <m:sSub>
                          <m:sSubPr>
                            <m:ctrlPr>
                              <a:rPr lang="de-AT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AT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d>
                      <m:dPr>
                        <m:begChr m:val="|"/>
                        <m:endChr m:val="|"/>
                        <m:ctrlP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𝑔</m:t>
                        </m:r>
                        <m:d>
                          <m:dPr>
                            <m:ctrlPr>
                              <a:rPr lang="de-AT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endParaRPr lang="de-AT" i="1" dirty="0">
                  <a:latin typeface="Cambria Math" panose="020405030504060302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640"/>
                  </a:spcBef>
                </a:pPr>
                <a:r>
                  <a:rPr lang="de-AT" dirty="0">
                    <a:ea typeface="Calibri" panose="020F0502020204030204" pitchFamily="34" charset="0"/>
                    <a:cs typeface="Calibri" panose="020F0502020204030204" pitchFamily="34" charset="0"/>
                  </a:rPr>
                  <a:t>	            </a:t>
                </a:r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de-AT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𝐶</m:t>
                    </m:r>
                    <m:d>
                      <m:dPr>
                        <m:begChr m:val="|"/>
                        <m:endChr m:val="|"/>
                        <m:ctrlP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𝑔</m:t>
                        </m:r>
                        <m:d>
                          <m:dPr>
                            <m:ctrlPr>
                              <a:rPr lang="de-AT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, </a:t>
                </a:r>
              </a:p>
              <a:p>
                <a:pPr marL="0" indent="0">
                  <a:spcBef>
                    <a:spcPts val="640"/>
                  </a:spcBef>
                </a:pPr>
                <a:r>
                  <a:rPr lang="en-US" dirty="0">
                    <a:latin typeface="+mn-lt"/>
                  </a:rPr>
                  <a:t>where </a:t>
                </a:r>
                <a14:m>
                  <m:oMath xmlns:m="http://schemas.openxmlformats.org/officeDocument/2006/math"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𝑔</m:t>
                    </m:r>
                    <m:r>
                      <a:rPr lang="de-AT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de-AT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AT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)=</m:t>
                    </m:r>
                    <m:r>
                      <m:rPr>
                        <m:sty m:val="p"/>
                      </m:rPr>
                      <a:rPr lang="de-AT" b="0" i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max</m:t>
                    </m:r>
                    <m:d>
                      <m:dPr>
                        <m:ctrlP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AT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|</m:t>
                            </m:r>
                            <m:r>
                              <a:rPr lang="de-AT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de-AT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de-AT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</m:d>
                      </m:e>
                      <m:e>
                        <m:r>
                          <a:rPr lang="de-AT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,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de-AT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AT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de-AT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de-AT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de-AT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de-AT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de-AT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⁡</m:t>
                    </m:r>
                  </m:oMath>
                </a14:m>
                <a:r>
                  <a:rPr lang="en-US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𝐶</m:t>
                    </m:r>
                    <m:r>
                      <a:rPr lang="de-AT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 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𝐶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+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𝐶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.</a:t>
                </a:r>
              </a:p>
            </p:txBody>
          </p:sp>
        </mc:Choice>
        <mc:Fallback xmlns="">
          <p:sp>
            <p:nvSpPr>
              <p:cNvPr id="6" name="Google Shape;87;p2">
                <a:extLst>
                  <a:ext uri="{FF2B5EF4-FFF2-40B4-BE49-F238E27FC236}">
                    <a16:creationId xmlns:a16="http://schemas.microsoft.com/office/drawing/2014/main" id="{AD3629A6-A5D0-439A-AA8F-A285ABE2F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600" y="2030894"/>
                <a:ext cx="8229600" cy="3873106"/>
              </a:xfrm>
              <a:prstGeom prst="rect">
                <a:avLst/>
              </a:prstGeom>
              <a:blipFill>
                <a:blip r:embed="rId4"/>
                <a:stretch>
                  <a:fillRect l="-667" b="-173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8665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B1B97866-D3B0-43FD-8E20-C3BDD96EEFF7}"/>
                  </a:ext>
                </a:extLst>
              </p:cNvPr>
              <p:cNvSpPr txBox="1"/>
              <p:nvPr/>
            </p:nvSpPr>
            <p:spPr>
              <a:xfrm>
                <a:off x="457200" y="3567601"/>
                <a:ext cx="8229300" cy="997025"/>
              </a:xfrm>
              <a:prstGeom prst="rect">
                <a:avLst/>
              </a:prstGeom>
              <a:solidFill>
                <a:srgbClr val="DAE3F3"/>
              </a:solidFill>
              <a:ln w="0">
                <a:noFill/>
              </a:ln>
            </p:spPr>
            <p:txBody>
              <a:bodyPr lIns="63607" tIns="31804" rIns="63607" bIns="31804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800" b="1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Example </a:t>
                </a:r>
                <a:r>
                  <a:rPr lang="en-US" sz="1800" b="1" spc="-1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9</a:t>
                </a:r>
                <a:r>
                  <a:rPr kumimoji="0" lang="en-US" sz="1800" b="1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 </a:t>
                </a:r>
                <a:r>
                  <a:rPr lang="de-AT" sz="1800" spc="-1" noProof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Give</a:t>
                </a:r>
                <a:r>
                  <a:rPr lang="de-AT" sz="1800" spc="-1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Big-O </a:t>
                </a:r>
                <a:r>
                  <a:rPr lang="de-AT" sz="1800" spc="-1" noProof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estimate</a:t>
                </a:r>
                <a:r>
                  <a:rPr lang="de-AT" sz="1800" spc="-1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spc="-1" noProof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</a:t>
                </a:r>
                <a:r>
                  <a:rPr lang="de-AT" sz="1800" spc="-1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AT" sz="1800" i="1" spc="-1" noProof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b="0" i="1" spc="-1" noProof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  <m:d>
                          <m:dPr>
                            <m:ctrlPr>
                              <a:rPr lang="de-AT" sz="1800" b="0" i="1" spc="-1" noProof="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de-AT" sz="1800" b="0" i="1" spc="-1" noProof="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</m:d>
                        <m:r>
                          <a:rPr lang="de-AT" sz="1800" b="0" i="1" spc="-1" noProof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= </m:t>
                        </m:r>
                        <m:r>
                          <a:rPr lang="de-AT" sz="1800" b="0" i="1" spc="-1" noProof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de-AT" sz="1800" b="0" i="1" spc="-1" noProof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p>
                    </m:sSup>
                    <m:r>
                      <a:rPr lang="de-AT" sz="1800" b="0" i="1" spc="-1" noProof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+ </m:t>
                    </m:r>
                    <m:sSup>
                      <m:sSupPr>
                        <m:ctrlPr>
                          <a:rPr lang="de-AT" sz="1800" b="0" i="1" spc="-1" noProof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b="0" i="1" spc="-1" noProof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e>
                      <m:sup>
                        <m:r>
                          <a:rPr lang="de-AT" sz="1800" b="0" i="1" spc="-1" noProof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sup>
                    </m:sSup>
                    <m:r>
                      <a:rPr lang="de-AT" sz="1800" b="0" i="1" spc="-1" noProof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+</m:t>
                    </m:r>
                    <m:func>
                      <m:funcPr>
                        <m:ctrlPr>
                          <a:rPr lang="de-AT" sz="1800" b="0" i="1" spc="-1" noProof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AT" sz="1800" b="0" i="0" spc="-1" noProof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log</m:t>
                        </m:r>
                      </m:fName>
                      <m:e>
                        <m:r>
                          <a:rPr lang="de-AT" sz="1800" b="0" i="1" spc="-1" noProof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func>
                    <m:r>
                      <a:rPr lang="de-AT" sz="1800" b="0" i="1" spc="-1" noProof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.</m:t>
                    </m:r>
                  </m:oMath>
                </a14:m>
                <a:endParaRPr kumimoji="0" lang="en-US" sz="1800" i="0" u="none" strike="noStrike" kern="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800" b="1" i="0" u="none" strike="noStrike" kern="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lvl="0"/>
                <a:r>
                  <a:rPr lang="en-US" sz="1800" b="1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</a:t>
                </a:r>
                <a:r>
                  <a:rPr kumimoji="0" lang="en-US" sz="1800" b="1" i="0" u="none" strike="noStrike" kern="0" cap="none" spc="-1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olution</a:t>
                </a:r>
                <a:r>
                  <a:rPr kumimoji="0" lang="en-US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e>
                      <m:sup>
                        <m: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</m:sup>
                    </m:sSup>
                  </m:oMath>
                </a14:m>
                <a:r>
                  <a:rPr kumimoji="0" lang="en-US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is the fastest growing</a:t>
                </a:r>
                <a:r>
                  <a:rPr kumimoji="0" lang="en-US" sz="1800" b="0" i="0" u="none" strike="noStrike" kern="0" cap="none" spc="-1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term, so this is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-1" normalizeH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𝑂</m:t>
                    </m:r>
                    <m:r>
                      <a:rPr kumimoji="0" lang="de-AT" sz="1800" b="0" i="1" u="none" strike="noStrike" kern="0" cap="none" spc="-1" normalizeH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p>
                      <m:sSupPr>
                        <m:ctrlPr>
                          <a:rPr kumimoji="0" lang="de-AT" sz="1800" b="0" i="1" u="none" strike="noStrike" kern="0" cap="none" spc="-1" normalizeH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kumimoji="0" lang="de-AT" sz="1800" b="0" i="1" u="none" strike="noStrike" kern="0" cap="none" spc="-1" normalizeH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e>
                      <m:sup>
                        <m:r>
                          <a:rPr kumimoji="0" lang="de-AT" sz="1800" b="0" i="1" u="none" strike="noStrike" kern="0" cap="none" spc="-1" normalizeH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</m:sup>
                    </m:sSup>
                    <m:r>
                      <a:rPr kumimoji="0" lang="de-AT" sz="1800" b="0" i="1" u="none" strike="noStrike" kern="0" cap="none" spc="-1" normalizeH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kumimoji="0" lang="en-US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</a:t>
                </a:r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B1B97866-D3B0-43FD-8E20-C3BDD96EE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567601"/>
                <a:ext cx="8229300" cy="997025"/>
              </a:xfrm>
              <a:prstGeom prst="rect">
                <a:avLst/>
              </a:prstGeom>
              <a:blipFill>
                <a:blip r:embed="rId3"/>
                <a:stretch>
                  <a:fillRect l="-963" t="-4878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87;p2">
            <a:extLst>
              <a:ext uri="{FF2B5EF4-FFF2-40B4-BE49-F238E27FC236}">
                <a16:creationId xmlns:a16="http://schemas.microsoft.com/office/drawing/2014/main" id="{98D37467-7E7E-4223-8A45-C1C07EBE3949}"/>
              </a:ext>
            </a:extLst>
          </p:cNvPr>
          <p:cNvSpPr txBox="1">
            <a:spLocks/>
          </p:cNvSpPr>
          <p:nvPr/>
        </p:nvSpPr>
        <p:spPr>
          <a:xfrm>
            <a:off x="457200" y="1850771"/>
            <a:ext cx="8229600" cy="5468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640"/>
              </a:spcBef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Remark 5: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Faster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growing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function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dominates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sum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two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functions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dirty="0"/>
          </a:p>
        </p:txBody>
      </p:sp>
      <p:sp>
        <p:nvSpPr>
          <p:cNvPr id="9" name="Google Shape;87;p2">
            <a:extLst>
              <a:ext uri="{FF2B5EF4-FFF2-40B4-BE49-F238E27FC236}">
                <a16:creationId xmlns:a16="http://schemas.microsoft.com/office/drawing/2014/main" id="{83669815-10E4-481D-8F18-493EB0259CC3}"/>
              </a:ext>
            </a:extLst>
          </p:cNvPr>
          <p:cNvSpPr txBox="1">
            <a:spLocks/>
          </p:cNvSpPr>
          <p:nvPr/>
        </p:nvSpPr>
        <p:spPr>
          <a:xfrm>
            <a:off x="457200" y="2493000"/>
            <a:ext cx="8229600" cy="862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640"/>
              </a:spcBef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Remark 6: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your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main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program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calls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another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function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subprocedure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time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complexity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dominated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part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program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which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more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complex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D4B5F7EE-B403-4671-A5C4-FC18C1131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</p:spPr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Big-O of the sum of two functions</a:t>
            </a:r>
          </a:p>
        </p:txBody>
      </p:sp>
    </p:spTree>
    <p:extLst>
      <p:ext uri="{BB962C8B-B14F-4D97-AF65-F5344CB8AC3E}">
        <p14:creationId xmlns:p14="http://schemas.microsoft.com/office/powerpoint/2010/main" val="697279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Big-O of the product of two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87;p2">
                <a:extLst>
                  <a:ext uri="{FF2B5EF4-FFF2-40B4-BE49-F238E27FC236}">
                    <a16:creationId xmlns:a16="http://schemas.microsoft.com/office/drawing/2014/main" id="{3A95E139-CB8D-4AAE-B71F-1267A3042A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6600" y="1127541"/>
                <a:ext cx="8229600" cy="84910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>
                  <a:spcBef>
                    <a:spcPts val="640"/>
                  </a:spcBef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Theorem 3: 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Suppose that</a:t>
                </a: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de-AT" sz="18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kumimoji="0" lang="de-AT" sz="18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𝑓</m:t>
                        </m:r>
                      </m:e>
                      <m:sub>
                        <m:r>
                          <a:rPr kumimoji="0" lang="de-AT" sz="18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</m:e>
                    </m:d>
                  </m:oMath>
                </a14:m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𝑂</m:t>
                    </m:r>
                    <m:r>
                      <a:rPr kumimoji="0" lang="de-AT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b>
                      <m:sSubPr>
                        <m:ctrlPr>
                          <a:rPr kumimoji="0" lang="en-US" sz="18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kumimoji="0" lang="de-AT" sz="18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𝑔</m:t>
                        </m:r>
                      </m:e>
                      <m:sub>
                        <m:r>
                          <a:rPr kumimoji="0" lang="de-AT" sz="18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kumimoji="0" lang="de-AT" sz="1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kumimoji="0" lang="de-AT" sz="1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𝑥</m:t>
                    </m:r>
                    <m:r>
                      <a:rPr kumimoji="0" lang="de-AT" sz="1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))</m:t>
                    </m:r>
                  </m:oMath>
                </a14:m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de-AT" sz="1800" b="0" i="1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kumimoji="0" lang="de-AT" sz="1800" b="0" i="1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𝑓</m:t>
                        </m:r>
                      </m:e>
                      <m:sub>
                        <m:r>
                          <a:rPr kumimoji="0" lang="de-AT" sz="18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kumimoji="0" lang="de-AT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kumimoji="0" lang="de-AT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</m:e>
                    </m:d>
                  </m:oMath>
                </a14:m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𝑂</m:t>
                    </m:r>
                    <m:r>
                      <a:rPr kumimoji="0" lang="de-AT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b>
                      <m:sSubPr>
                        <m:ctrlPr>
                          <a:rPr kumimoji="0" lang="en-US" sz="1800" b="0" i="1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kumimoji="0" lang="de-AT" sz="1800" b="0" i="1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𝑔</m:t>
                        </m:r>
                      </m:e>
                      <m:sub>
                        <m:r>
                          <a:rPr kumimoji="0" lang="de-AT" sz="18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kumimoji="0" lang="de-AT" sz="18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kumimoji="0" lang="de-AT" sz="18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𝑥</m:t>
                    </m:r>
                    <m:r>
                      <a:rPr kumimoji="0" lang="de-AT" sz="18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))</m:t>
                    </m:r>
                  </m:oMath>
                </a14:m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(</m:t>
                        </m:r>
                        <m: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𝑓</m:t>
                        </m:r>
                      </m:e>
                      <m:sub>
                        <m: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𝑓</m:t>
                        </m:r>
                      </m:e>
                      <m:sub>
                        <m: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kumimoji="0" lang="de-AT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)(</m:t>
                    </m:r>
                    <m:r>
                      <a:rPr kumimoji="0" lang="de-AT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𝑥</m:t>
                    </m:r>
                    <m:r>
                      <a:rPr kumimoji="0" lang="de-AT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𝑂</m:t>
                    </m:r>
                    <m:r>
                      <a:rPr kumimoji="0" lang="de-AT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𝑔</m:t>
                        </m:r>
                      </m:e>
                      <m:sub>
                        <m:r>
                          <a:rPr lang="de-AT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de-AT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de-AT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AT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𝑔</m:t>
                        </m:r>
                      </m:e>
                      <m:sub>
                        <m:r>
                          <a:rPr lang="de-AT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de-AT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de-AT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AT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))</m:t>
                    </m:r>
                  </m:oMath>
                </a14:m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64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5" name="Google Shape;87;p2">
                <a:extLst>
                  <a:ext uri="{FF2B5EF4-FFF2-40B4-BE49-F238E27FC236}">
                    <a16:creationId xmlns:a16="http://schemas.microsoft.com/office/drawing/2014/main" id="{3A95E139-CB8D-4AAE-B71F-1267A3042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600" y="1127541"/>
                <a:ext cx="8229600" cy="849106"/>
              </a:xfrm>
              <a:prstGeom prst="rect">
                <a:avLst/>
              </a:prstGeom>
              <a:blipFill>
                <a:blip r:embed="rId3"/>
                <a:stretch>
                  <a:fillRect l="-667" b="-14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87;p2">
                <a:extLst>
                  <a:ext uri="{FF2B5EF4-FFF2-40B4-BE49-F238E27FC236}">
                    <a16:creationId xmlns:a16="http://schemas.microsoft.com/office/drawing/2014/main" id="{AD3629A6-A5D0-439A-AA8F-A285ABE2F07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6600" y="2030894"/>
                <a:ext cx="8229600" cy="339790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64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Proof</a:t>
                </a:r>
                <a:r>
                  <a:rPr kumimoji="0" lang="de-AT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: </a:t>
                </a:r>
                <a:r>
                  <a:rPr kumimoji="0" lang="de-AT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From</a:t>
                </a:r>
                <a:r>
                  <a:rPr kumimoji="0" lang="de-AT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AT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the</a:t>
                </a:r>
                <a:r>
                  <a:rPr kumimoji="0" lang="de-AT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AT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definition</a:t>
                </a:r>
                <a:r>
                  <a:rPr kumimoji="0" lang="de-AT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AT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of</a:t>
                </a:r>
                <a:r>
                  <a:rPr kumimoji="0" lang="de-AT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Big-O </a:t>
                </a:r>
                <a:r>
                  <a:rPr kumimoji="0" lang="de-AT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there</a:t>
                </a:r>
                <a:r>
                  <a:rPr kumimoji="0" lang="de-AT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AT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are</a:t>
                </a:r>
                <a:r>
                  <a:rPr kumimoji="0" lang="de-AT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AT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constants</a:t>
                </a:r>
                <a:r>
                  <a:rPr kumimoji="0" lang="de-AT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𝐶</m:t>
                        </m:r>
                      </m:e>
                      <m:sub>
                        <m: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kumimoji="0" lang="de-AT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sSub>
                      <m:sSubPr>
                        <m:ctrlP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𝑘</m:t>
                        </m:r>
                      </m:e>
                      <m:sub>
                        <m: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kumimoji="0" lang="de-AT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sSub>
                      <m:sSubPr>
                        <m:ctrlP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𝐶</m:t>
                        </m:r>
                      </m:e>
                      <m:sub>
                        <m: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kumimoji="0" lang="de-AT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sSub>
                      <m:sSubPr>
                        <m:ctrlP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𝑘</m:t>
                        </m:r>
                      </m:e>
                      <m:sub>
                        <m: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such that: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64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0" lang="de-AT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de-AT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kumimoji="0" lang="de-AT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  <m:t>𝑓</m:t>
                            </m:r>
                          </m:e>
                          <m:sub>
                            <m:r>
                              <a:rPr kumimoji="0" lang="de-AT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kumimoji="0" lang="de-AT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kumimoji="0" lang="de-AT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kumimoji="0" lang="de-AT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≤</m:t>
                    </m:r>
                    <m:sSub>
                      <m:sSubPr>
                        <m:ctrlP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𝐶</m:t>
                        </m:r>
                      </m:e>
                      <m:sub>
                        <m: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d>
                      <m:dPr>
                        <m:begChr m:val="|"/>
                        <m:endChr m:val="|"/>
                        <m:ctrlPr>
                          <a:rPr kumimoji="0" lang="de-AT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de-AT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kumimoji="0" lang="de-AT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  <m:t>𝑔</m:t>
                            </m:r>
                          </m:e>
                          <m:sub>
                            <m:r>
                              <a:rPr kumimoji="0" lang="de-AT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kumimoji="0" lang="de-AT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kumimoji="0" lang="de-AT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𝑥</m:t>
                    </m:r>
                    <m:r>
                      <a:rPr kumimoji="0" lang="de-AT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&gt;</m:t>
                    </m:r>
                    <m:sSub>
                      <m:sSubPr>
                        <m:ctrlPr>
                          <a:rPr kumimoji="0" lang="en-US" sz="18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kumimoji="0" lang="de-AT" sz="18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𝑘</m:t>
                        </m:r>
                      </m:e>
                      <m:sub>
                        <m:r>
                          <a:rPr kumimoji="0" lang="de-AT" sz="18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and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64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0" lang="de-AT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de-AT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kumimoji="0" lang="de-AT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  <m:t>𝑓</m:t>
                            </m:r>
                          </m:e>
                          <m:sub>
                            <m:r>
                              <a:rPr kumimoji="0" lang="de-AT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kumimoji="0" lang="de-AT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kumimoji="0" lang="de-AT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kumimoji="0" lang="de-AT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≤</m:t>
                    </m:r>
                    <m:sSub>
                      <m:sSubPr>
                        <m:ctrlPr>
                          <a:rPr kumimoji="0" lang="de-AT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kumimoji="0" lang="de-AT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𝐶</m:t>
                        </m:r>
                      </m:e>
                      <m:sub>
                        <m: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d>
                      <m:dPr>
                        <m:begChr m:val="|"/>
                        <m:endChr m:val="|"/>
                        <m:ctrlPr>
                          <a:rPr kumimoji="0" lang="de-AT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de-AT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kumimoji="0" lang="de-AT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  <m:t>𝑔</m:t>
                            </m:r>
                          </m:e>
                          <m:sub>
                            <m:r>
                              <a:rPr kumimoji="0" lang="de-AT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kumimoji="0" lang="de-AT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kumimoji="0" lang="de-AT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𝑥</m:t>
                    </m:r>
                    <m:r>
                      <a:rPr kumimoji="0" lang="de-AT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&gt;</m:t>
                    </m:r>
                    <m:sSub>
                      <m:sSubPr>
                        <m:ctrlPr>
                          <a:rPr kumimoji="0" lang="en-US" sz="1800" b="0" i="1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kumimoji="0" lang="de-AT" sz="1800" b="0" i="1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𝑘</m:t>
                        </m:r>
                      </m:e>
                      <m:sub>
                        <m:r>
                          <a:rPr kumimoji="0" lang="de-AT" sz="18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</a:t>
                </a:r>
              </a:p>
              <a:p>
                <a:pPr marL="0" lvl="0" indent="0">
                  <a:spcBef>
                    <a:spcPts val="640"/>
                  </a:spcBef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Arial"/>
                    <a:sym typeface="Arial"/>
                  </a:rPr>
                  <a:t>To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|</m:t>
                        </m:r>
                        <m:r>
                          <a:rPr kumimoji="0" lang="de-AT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(</m:t>
                        </m:r>
                        <m:r>
                          <a:rPr kumimoji="0" lang="de-AT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𝑓</m:t>
                        </m:r>
                      </m:e>
                      <m:sub>
                        <m:r>
                          <a:rPr kumimoji="0" lang="de-AT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kumimoji="0" lang="de-AT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kumimoji="0" lang="de-AT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𝑓</m:t>
                        </m:r>
                      </m:e>
                      <m:sub>
                        <m:r>
                          <a:rPr kumimoji="0" lang="de-AT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kumimoji="0" lang="de-AT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  <m:d>
                      <m:dPr>
                        <m:ctrlPr>
                          <a:rPr kumimoji="0" lang="de-AT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kumimoji="0" lang="de-AT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</m:e>
                    </m:d>
                    <m:r>
                      <a:rPr kumimoji="0" lang="de-AT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| </m:t>
                    </m:r>
                  </m:oMath>
                </a14:m>
                <a:r>
                  <a:rPr lang="en-US" dirty="0">
                    <a:latin typeface="Calibri" panose="020F0502020204030204"/>
                  </a:rPr>
                  <a:t>when </a:t>
                </a:r>
                <a14:m>
                  <m:oMath xmlns:m="http://schemas.openxmlformats.org/officeDocument/2006/math"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&gt;</m:t>
                    </m:r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𝑘</m:t>
                    </m:r>
                  </m:oMath>
                </a14:m>
                <a:r>
                  <a:rPr lang="en-US" dirty="0">
                    <a:latin typeface="Calibri" panose="020F0502020204030204"/>
                  </a:rPr>
                  <a:t>, </a:t>
                </a:r>
                <a14:m>
                  <m:oMath xmlns:m="http://schemas.openxmlformats.org/officeDocument/2006/math"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𝑘</m:t>
                    </m:r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de-AT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max</m:t>
                    </m:r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⁡(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</m:e>
                      <m:sub>
                        <m:r>
                          <a:rPr lang="de-AT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de-AT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</m:e>
                      <m:sub>
                        <m:r>
                          <a:rPr lang="de-AT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 </m:t>
                    </m:r>
                  </m:oMath>
                </a14:m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we have:</a:t>
                </a:r>
              </a:p>
              <a:p>
                <a:pPr marL="0" lvl="0" indent="0">
                  <a:spcBef>
                    <a:spcPts val="64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|(</m:t>
                          </m:r>
                          <m:r>
                            <a:rPr lang="de-AT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𝑓</m:t>
                          </m:r>
                        </m:e>
                        <m:sub>
                          <m:r>
                            <a:rPr lang="de-AT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𝑓</m:t>
                          </m:r>
                        </m:e>
                        <m:sub>
                          <m:r>
                            <a:rPr lang="de-AT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sub>
                      </m:sSub>
                      <m:r>
                        <a:rPr lang="de-AT" i="1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)</m:t>
                      </m:r>
                      <m:d>
                        <m:dPr>
                          <m:ctrlPr>
                            <a:rPr lang="de-AT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de-AT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𝑥</m:t>
                          </m:r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de-AT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de-AT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|</m:t>
                              </m:r>
                              <m:r>
                                <a:rPr lang="de-AT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de-AT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de-AT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de-AT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de-AT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AT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de-AT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de-AT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de-AT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de-AT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de-AT" i="1" dirty="0">
                  <a:latin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lvl="0" indent="0">
                  <a:spcBef>
                    <a:spcPts val="640"/>
                  </a:spcBef>
                </a:pPr>
                <a:r>
                  <a:rPr kumimoji="0" lang="de-AT" sz="1800" b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Calibri" panose="020F0502020204030204" pitchFamily="34" charset="0"/>
                    <a:sym typeface="Arial"/>
                  </a:rPr>
                  <a:t>               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&lt;</m:t>
                    </m:r>
                    <m:sSub>
                      <m:sSubPr>
                        <m:ctrlPr>
                          <a:rPr kumimoji="0" lang="de-AT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kumimoji="0" lang="de-AT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𝐶</m:t>
                        </m:r>
                      </m:e>
                      <m:sub>
                        <m:r>
                          <a:rPr kumimoji="0" lang="de-AT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d>
                      <m:dPr>
                        <m:begChr m:val="|"/>
                        <m:endChr m:val="|"/>
                        <m:ctrlPr>
                          <a:rPr kumimoji="0" lang="de-AT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de-AT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kumimoji="0" lang="de-AT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  <m:t>𝑔</m:t>
                            </m:r>
                          </m:e>
                          <m:sub>
                            <m:r>
                              <a:rPr kumimoji="0" lang="de-AT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kumimoji="0" lang="de-AT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kumimoji="0" lang="de-AT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  <m:t>𝑥</m:t>
                            </m:r>
                          </m:e>
                        </m:d>
                      </m:e>
                    </m:d>
                    <m:sSub>
                      <m:sSubPr>
                        <m:ctrlPr>
                          <a:rPr kumimoji="0" lang="de-AT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kumimoji="0" lang="de-AT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𝐶</m:t>
                        </m:r>
                      </m:e>
                      <m:sub>
                        <m:r>
                          <a:rPr kumimoji="0" lang="de-AT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d>
                      <m:dPr>
                        <m:begChr m:val="|"/>
                        <m:endChr m:val="|"/>
                        <m:ctrlPr>
                          <a:rPr kumimoji="0" lang="de-AT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de-AT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kumimoji="0" lang="de-AT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  <m:t>𝑔</m:t>
                            </m:r>
                          </m:e>
                          <m:sub>
                            <m:r>
                              <a:rPr kumimoji="0" lang="de-AT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kumimoji="0" lang="de-AT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kumimoji="0" lang="de-AT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endParaRPr kumimoji="0" lang="de-AT" sz="18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0" lvl="0" indent="0">
                  <a:spcBef>
                    <a:spcPts val="640"/>
                  </a:spcBef>
                </a:pPr>
                <a:r>
                  <a:rPr kumimoji="0" lang="de-AT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	 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≤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𝐶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𝐶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de-AT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|(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𝑔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AT" dirty="0"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𝑔</m:t>
                        </m:r>
                      </m:e>
                      <m:sub>
                        <m:r>
                          <a:rPr lang="de-AT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de-AT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  <m:r>
                      <a:rPr lang="de-AT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|</m:t>
                    </m:r>
                  </m:oMath>
                </a14:m>
                <a:endParaRPr kumimoji="0" lang="de-AT" sz="18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0" indent="0">
                  <a:spcBef>
                    <a:spcPts val="640"/>
                  </a:spcBef>
                </a:pPr>
                <a:r>
                  <a:rPr kumimoji="0" lang="de-AT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	 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kumimoji="0" lang="de-AT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𝐶</m:t>
                    </m:r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|(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𝑔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de-AT" dirty="0"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𝑔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  <m:r>
                      <a:rPr lang="de-AT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|</m:t>
                    </m:r>
                  </m:oMath>
                </a14:m>
                <a:endParaRPr lang="de-AT" sz="2400" i="1" dirty="0">
                  <a:latin typeface="Cambria Math" panose="020405030504060302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64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Arial"/>
                    <a:sym typeface="Arial"/>
                  </a:rPr>
                  <a:t>where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𝐶</m:t>
                    </m:r>
                    <m:r>
                      <a:rPr kumimoji="0" lang="de-AT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= </m:t>
                    </m:r>
                    <m:sSub>
                      <m:sSubPr>
                        <m:ctrlPr>
                          <a:rPr kumimoji="0" lang="de-AT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kumimoji="0" lang="de-AT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𝐶</m:t>
                        </m:r>
                      </m:e>
                      <m:sub>
                        <m:r>
                          <a:rPr kumimoji="0" lang="de-AT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kumimoji="0" lang="de-AT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kumimoji="0" lang="de-AT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𝐶</m:t>
                        </m:r>
                      </m:e>
                      <m:sub>
                        <m:r>
                          <a:rPr kumimoji="0" lang="de-AT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Arial"/>
                    <a:sym typeface="Arial"/>
                  </a:rPr>
                  <a:t>.</a:t>
                </a:r>
              </a:p>
            </p:txBody>
          </p:sp>
        </mc:Choice>
        <mc:Fallback xmlns="">
          <p:sp>
            <p:nvSpPr>
              <p:cNvPr id="6" name="Google Shape;87;p2">
                <a:extLst>
                  <a:ext uri="{FF2B5EF4-FFF2-40B4-BE49-F238E27FC236}">
                    <a16:creationId xmlns:a16="http://schemas.microsoft.com/office/drawing/2014/main" id="{AD3629A6-A5D0-439A-AA8F-A285ABE2F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600" y="2030894"/>
                <a:ext cx="8229600" cy="3397906"/>
              </a:xfrm>
              <a:prstGeom prst="rect">
                <a:avLst/>
              </a:prstGeom>
              <a:blipFill>
                <a:blip r:embed="rId4"/>
                <a:stretch>
                  <a:fillRect l="-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7701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B1B97866-D3B0-43FD-8E20-C3BDD96EEFF7}"/>
                  </a:ext>
                </a:extLst>
              </p:cNvPr>
              <p:cNvSpPr txBox="1"/>
              <p:nvPr/>
            </p:nvSpPr>
            <p:spPr>
              <a:xfrm>
                <a:off x="457200" y="3574801"/>
                <a:ext cx="8229300" cy="2782799"/>
              </a:xfrm>
              <a:prstGeom prst="rect">
                <a:avLst/>
              </a:prstGeom>
              <a:solidFill>
                <a:srgbClr val="DAE3F3"/>
              </a:solidFill>
              <a:ln w="0">
                <a:noFill/>
              </a:ln>
            </p:spPr>
            <p:txBody>
              <a:bodyPr lIns="63607" tIns="31804" rIns="63607" bIns="31804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800" b="1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Example 10. </a:t>
                </a:r>
                <a:r>
                  <a:rPr kumimoji="0" lang="de-AT" sz="1800" b="0" i="0" u="none" strike="noStrike" kern="0" cap="none" spc="-1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Give</a:t>
                </a:r>
                <a:r>
                  <a:rPr kumimoji="0" lang="de-AT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a Big-O </a:t>
                </a:r>
                <a:r>
                  <a:rPr kumimoji="0" lang="de-AT" sz="1800" b="0" i="0" u="none" strike="noStrike" kern="0" cap="none" spc="-1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estimate</a:t>
                </a:r>
                <a:r>
                  <a:rPr kumimoji="0" lang="de-AT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AT" sz="1800" b="0" i="0" u="none" strike="noStrike" kern="0" cap="none" spc="-1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for</a:t>
                </a:r>
                <a:r>
                  <a:rPr kumimoji="0" lang="de-AT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𝑓</m:t>
                    </m:r>
                    <m:d>
                      <m:dPr>
                        <m:ctrlP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</m:e>
                    </m:d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d>
                      <m:dPr>
                        <m:ctrlP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  <m: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+1</m:t>
                        </m:r>
                      </m:e>
                    </m:d>
                    <m:func>
                      <m:funcPr>
                        <m:ctrlP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0" lang="de-AT" sz="1800" b="0" i="0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kumimoji="0" lang="de-AT" sz="1800" b="0" i="1" u="none" strike="noStrike" kern="0" cap="none" spc="-1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0" lang="de-AT" sz="1800" b="0" i="1" u="none" strike="noStrike" kern="0" cap="none" spc="-1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sSupPr>
                              <m:e>
                                <m:r>
                                  <a:rPr kumimoji="0" lang="de-AT" sz="1800" b="0" i="1" u="none" strike="noStrike" kern="0" cap="none" spc="-1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kumimoji="0" lang="de-AT" sz="1800" b="0" i="1" u="none" strike="noStrike" kern="0" cap="none" spc="-1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kumimoji="0" lang="de-AT" sz="1800" b="0" i="1" u="none" strike="noStrike" kern="0" cap="none" spc="-1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  <m:t>+1</m:t>
                            </m:r>
                          </m:e>
                        </m:d>
                      </m:e>
                    </m:func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+3</m:t>
                    </m:r>
                    <m:sSup>
                      <m:sSupPr>
                        <m:ctrlP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</m:e>
                      <m:sup>
                        <m: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p>
                    </m:sSup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.</m:t>
                    </m:r>
                  </m:oMath>
                </a14:m>
                <a:endParaRPr kumimoji="0" lang="en-US" sz="1800" b="0" i="0" u="none" strike="noStrike" kern="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800" b="1" i="0" u="none" strike="noStrike" kern="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lvl="0"/>
                <a:r>
                  <a:rPr kumimoji="0" lang="en-US" sz="1800" b="1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Solution</a:t>
                </a:r>
                <a:r>
                  <a:rPr kumimoji="0" lang="en-US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</a:t>
                </a:r>
                <a:r>
                  <a:rPr kumimoji="0" lang="en-US" sz="1800" b="0" i="0" u="none" strike="noStrike" kern="0" cap="none" spc="-1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lang="en-US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 start with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+1</m:t>
                        </m:r>
                      </m:e>
                    </m:d>
                    <m:func>
                      <m:funcPr>
                        <m:ctrlP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AT" sz="1800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de-AT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de-AT" sz="1800" i="1" spc="-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de-AT" sz="1800" i="1" spc="-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de-AT" sz="1800" i="1" spc="-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de-AT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+1</m:t>
                            </m:r>
                          </m:e>
                        </m:d>
                      </m:e>
                    </m:func>
                  </m:oMath>
                </a14:m>
                <a:r>
                  <a:rPr kumimoji="0" lang="en-US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+1</m:t>
                        </m:r>
                      </m:e>
                    </m:d>
                  </m:oMath>
                </a14:m>
                <a:r>
                  <a:rPr kumimoji="0" lang="en-US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𝑂</m:t>
                    </m:r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𝑥</m:t>
                    </m:r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kumimoji="0" lang="en-US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 Also,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</m:e>
                      <m:sup>
                        <m: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p>
                    </m:sSup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+1≤2</m:t>
                    </m:r>
                    <m:sSup>
                      <m:sSupPr>
                        <m:ctrlP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</m:e>
                      <m:sup>
                        <m: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en-US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𝑥</m:t>
                    </m:r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&gt;1. </m:t>
                    </m:r>
                  </m:oMath>
                </a14:m>
                <a:r>
                  <a:rPr kumimoji="0" lang="en-US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Then:</a:t>
                </a:r>
              </a:p>
              <a:p>
                <a:pPr lvl="0"/>
                <a14:m>
                  <m:oMath xmlns:m="http://schemas.openxmlformats.org/officeDocument/2006/math">
                    <m:func>
                      <m:funcPr>
                        <m:ctrlP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0" lang="de-AT" sz="1800" b="0" i="0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kumimoji="0" lang="de-AT" sz="1800" b="0" i="1" u="none" strike="noStrike" kern="0" cap="none" spc="-1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0" lang="de-AT" sz="1800" b="0" i="1" u="none" strike="noStrike" kern="0" cap="none" spc="-1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sSupPr>
                              <m:e>
                                <m:r>
                                  <a:rPr kumimoji="0" lang="de-AT" sz="1800" b="0" i="1" u="none" strike="noStrike" kern="0" cap="none" spc="-1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kumimoji="0" lang="de-AT" sz="1800" b="0" i="1" u="none" strike="noStrike" kern="0" cap="none" spc="-1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kumimoji="0" lang="de-AT" sz="1800" b="0" i="1" u="none" strike="noStrike" kern="0" cap="none" spc="-1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  <m:t>+1</m:t>
                            </m:r>
                          </m:e>
                        </m:d>
                      </m:e>
                    </m:func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≤</m:t>
                    </m:r>
                    <m:func>
                      <m:funcPr>
                        <m:ctrlP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0" lang="de-AT" sz="1800" b="0" i="0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kumimoji="0" lang="de-AT" sz="1800" b="0" i="1" u="none" strike="noStrike" kern="0" cap="none" spc="-1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kumimoji="0" lang="de-AT" sz="1800" b="0" i="1" u="none" strike="noStrike" kern="0" cap="none" spc="-1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kumimoji="0" lang="de-AT" sz="1800" b="0" i="1" u="none" strike="noStrike" kern="0" cap="none" spc="-1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sSupPr>
                              <m:e>
                                <m:r>
                                  <a:rPr kumimoji="0" lang="de-AT" sz="1800" b="0" i="1" u="none" strike="noStrike" kern="0" cap="none" spc="-1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kumimoji="0" lang="de-AT" sz="1800" b="0" i="1" u="none" strike="noStrike" kern="0" cap="none" spc="-1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func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func>
                      <m:funcPr>
                        <m:ctrlP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0" lang="de-AT" sz="1800" b="0" i="0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log</m:t>
                        </m:r>
                      </m:fName>
                      <m:e>
                        <m: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e>
                    </m:func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func>
                      <m:funcPr>
                        <m:ctrlP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0" lang="de-AT" sz="1800" b="0" i="0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log</m:t>
                        </m:r>
                      </m:fName>
                      <m:e>
                        <m:sSup>
                          <m:sSupPr>
                            <m:ctrlPr>
                              <a:rPr kumimoji="0" lang="de-AT" sz="1800" b="0" i="1" u="none" strike="noStrike" kern="0" cap="none" spc="-1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kumimoji="0" lang="de-AT" sz="1800" b="0" i="1" u="none" strike="noStrike" kern="0" cap="none" spc="-1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  <m:t>𝑥</m:t>
                            </m:r>
                          </m:e>
                          <m:sup>
                            <m:r>
                              <a:rPr kumimoji="0" lang="de-AT" sz="1800" b="0" i="1" u="none" strike="noStrike" kern="0" cap="none" spc="-1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p>
                        </m:sSup>
                      </m:e>
                    </m:func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func>
                      <m:funcPr>
                        <m:ctrlP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0" lang="de-AT" sz="1800" b="0" i="0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log</m:t>
                        </m:r>
                      </m:fName>
                      <m:e>
                        <m:r>
                          <a:rPr kumimoji="0" lang="de-AT" sz="1800" b="0" i="1" u="none" strike="noStrike" kern="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2+2</m:t>
                        </m:r>
                        <m:func>
                          <m:funcPr>
                            <m:ctrlPr>
                              <a:rPr kumimoji="0" lang="de-AT" sz="1800" b="0" i="1" u="none" strike="noStrike" kern="0" cap="none" spc="-1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0" lang="de-AT" sz="1800" b="0" i="0" u="none" strike="noStrike" kern="0" cap="none" spc="-1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  <m:t>log</m:t>
                            </m:r>
                          </m:fName>
                          <m:e>
                            <m:r>
                              <a:rPr kumimoji="0" lang="de-AT" sz="1800" b="0" i="1" u="none" strike="noStrike" kern="0" cap="none" spc="-1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  <m:t>𝑥</m:t>
                            </m:r>
                            <m:r>
                              <a:rPr kumimoji="0" lang="de-AT" sz="1800" b="0" i="1" u="none" strike="noStrike" kern="0" cap="none" spc="-1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  <m:t>≤2</m:t>
                            </m:r>
                            <m:func>
                              <m:funcPr>
                                <m:ctrlPr>
                                  <a:rPr kumimoji="0" lang="de-AT" sz="1800" b="0" i="1" u="none" strike="noStrike" kern="0" cap="none" spc="-1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0" lang="de-AT" sz="1800" b="0" i="0" u="none" strike="noStrike" kern="0" cap="none" spc="-1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kumimoji="0" lang="de-AT" sz="1800" b="0" i="1" u="none" strike="noStrike" kern="0" cap="none" spc="-1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𝑥</m:t>
                                </m:r>
                              </m:e>
                            </m:func>
                          </m:e>
                        </m:func>
                      </m:e>
                    </m:func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</m:oMath>
                </a14:m>
                <a:r>
                  <a:rPr kumimoji="0" lang="en-US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if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𝑥</m:t>
                    </m:r>
                    <m:r>
                      <a:rPr kumimoji="0" lang="de-AT" sz="1800" b="0" i="1" u="none" strike="noStrike" kern="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&gt;2.</m:t>
                    </m:r>
                  </m:oMath>
                </a14:m>
                <a:endParaRPr kumimoji="0" lang="de-AT" sz="1800" b="0" i="0" u="none" strike="noStrike" kern="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lvl="0"/>
                <a:r>
                  <a:rPr lang="de-AT" sz="1800" spc="-1" noProof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Hence</a:t>
                </a:r>
                <a:r>
                  <a:rPr lang="de-AT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AT" sz="1800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de-AT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de-AT" sz="1800" i="1" spc="-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de-AT" sz="1800" i="1" spc="-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de-AT" sz="1800" i="1" spc="-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de-AT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+1</m:t>
                            </m:r>
                          </m:e>
                        </m:d>
                      </m:e>
                    </m:func>
                  </m:oMath>
                </a14:m>
                <a:r>
                  <a:rPr kumimoji="0" lang="de-AT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func>
                      <m:funcPr>
                        <m:ctrlPr>
                          <a:rPr lang="de-AT" sz="1800" b="0" i="1" spc="-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AT" sz="1800" b="0" i="0" spc="-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log</m:t>
                        </m:r>
                      </m:fName>
                      <m:e>
                        <m:r>
                          <a:rPr lang="de-AT" sz="1800" b="0" i="1" spc="-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func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kumimoji="0" lang="de-AT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</a:t>
                </a:r>
              </a:p>
              <a:p>
                <a:pPr lvl="0"/>
                <a:r>
                  <a:rPr lang="de-AT" sz="1800" spc="-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From</a:t>
                </a:r>
                <a:r>
                  <a:rPr lang="de-AT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spc="-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spc="-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theorem</a:t>
                </a:r>
                <a:r>
                  <a:rPr lang="de-AT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spc="-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about</a:t>
                </a:r>
                <a:r>
                  <a:rPr lang="de-AT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spc="-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spc="-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products</a:t>
                </a:r>
                <a:r>
                  <a:rPr lang="de-AT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spc="-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Big-O </a:t>
                </a:r>
                <a:r>
                  <a:rPr lang="de-AT" sz="1800" spc="-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estimates</a:t>
                </a:r>
                <a:r>
                  <a:rPr lang="de-AT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+1</m:t>
                        </m:r>
                      </m:e>
                    </m:d>
                    <m:func>
                      <m:funcPr>
                        <m:ctrlP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AT" sz="1800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de-AT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de-AT" sz="1800" i="1" spc="-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de-AT" sz="1800" i="1" spc="-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de-AT" sz="1800" i="1" spc="-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de-AT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+1</m:t>
                            </m:r>
                          </m:e>
                        </m:d>
                      </m:e>
                    </m:func>
                  </m:oMath>
                </a14:m>
                <a:r>
                  <a:rPr kumimoji="0" lang="de-AT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de-AT" sz="1800" b="0" i="1" spc="-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𝑥</m:t>
                    </m:r>
                    <m:func>
                      <m:funcPr>
                        <m:ctrlP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AT" sz="1800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log</m:t>
                        </m:r>
                      </m:fName>
                      <m:e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func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de-AT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:r>
                  <a:rPr lang="de-AT" sz="1800" spc="-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also </a:t>
                </a:r>
                <a:r>
                  <a:rPr lang="de-AT" sz="1800" spc="-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have</a:t>
                </a:r>
                <a:r>
                  <a:rPr lang="de-AT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spc="-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that</a:t>
                </a:r>
                <a:r>
                  <a:rPr lang="de-AT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3</m:t>
                    </m:r>
                    <m:sSup>
                      <m:sSupPr>
                        <m:ctrlP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de-AT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de-AT" sz="1800" i="1" spc="-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b="0" i="1" spc="-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de-AT" sz="1800" b="0" i="1" spc="-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de-AT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:r>
                  <a:rPr lang="de-AT" sz="1800" spc="-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From</a:t>
                </a:r>
                <a:r>
                  <a:rPr lang="de-AT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spc="-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spc="-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theorem</a:t>
                </a:r>
                <a:r>
                  <a:rPr lang="de-AT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spc="-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about</a:t>
                </a:r>
                <a:r>
                  <a:rPr lang="de-AT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spc="-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spc="-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sum</a:t>
                </a:r>
                <a:r>
                  <a:rPr lang="de-AT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spc="-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Big-O </a:t>
                </a:r>
                <a:r>
                  <a:rPr lang="de-AT" sz="1800" spc="-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estimates</a:t>
                </a:r>
                <a:r>
                  <a:rPr lang="de-AT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+1</m:t>
                        </m:r>
                      </m:e>
                    </m:d>
                    <m:func>
                      <m:funcPr>
                        <m:ctrlP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AT" sz="1800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de-AT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de-AT" sz="1800" i="1" spc="-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de-AT" sz="1800" i="1" spc="-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de-AT" sz="1800" i="1" spc="-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de-AT" sz="1800" i="1" spc="-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+1</m:t>
                            </m:r>
                          </m:e>
                        </m:d>
                      </m:e>
                    </m:func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+3</m:t>
                    </m:r>
                    <m:sSup>
                      <m:sSupPr>
                        <m:ctrlP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de-AT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de-AT" sz="1800" i="1" spc="-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i="1" spc="-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de-AT" sz="1800" i="1" spc="-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kumimoji="0" lang="de-AT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de-AT" sz="1800" i="1" spc="-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i="1" spc="-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de-AT" sz="1800" i="1" spc="-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kumimoji="0" lang="de-AT" sz="1800" b="0" i="0" u="none" strike="noStrike" kern="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dominates </a:t>
                </a:r>
                <a14:m>
                  <m:oMath xmlns:m="http://schemas.openxmlformats.org/officeDocument/2006/math"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𝑥</m:t>
                    </m:r>
                    <m:func>
                      <m:funcPr>
                        <m:ctrlP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AT" sz="1800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log</m:t>
                        </m:r>
                      </m:fName>
                      <m:e>
                        <m:r>
                          <a:rPr lang="de-AT" sz="1800" i="1" spc="-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func>
                    <m:r>
                      <a:rPr lang="de-AT" sz="1800" i="1" spc="-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de-AT" sz="1800" spc="-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:endParaRPr kumimoji="0" lang="de-AT" sz="1800" b="0" i="0" u="none" strike="noStrike" kern="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lvl="0"/>
                <a:endParaRPr kumimoji="0" lang="en-US" sz="1800" b="0" i="0" u="none" strike="noStrike" kern="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B1B97866-D3B0-43FD-8E20-C3BDD96EE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574801"/>
                <a:ext cx="8229300" cy="2782799"/>
              </a:xfrm>
              <a:prstGeom prst="rect">
                <a:avLst/>
              </a:prstGeom>
              <a:blipFill>
                <a:blip r:embed="rId3"/>
                <a:stretch>
                  <a:fillRect l="-963" t="-656" r="-889" b="-2188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87;p2">
            <a:extLst>
              <a:ext uri="{FF2B5EF4-FFF2-40B4-BE49-F238E27FC236}">
                <a16:creationId xmlns:a16="http://schemas.microsoft.com/office/drawing/2014/main" id="{98D37467-7E7E-4223-8A45-C1C07EBE3949}"/>
              </a:ext>
            </a:extLst>
          </p:cNvPr>
          <p:cNvSpPr txBox="1">
            <a:spLocks/>
          </p:cNvSpPr>
          <p:nvPr/>
        </p:nvSpPr>
        <p:spPr>
          <a:xfrm>
            <a:off x="457200" y="1519571"/>
            <a:ext cx="8229600" cy="7628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Remark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: 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Growth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product</a:t>
            </a:r>
            <a:r>
              <a:rPr kumimoji="0" lang="de-AT" sz="1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kumimoji="0" lang="de-AT" sz="1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two</a:t>
            </a:r>
            <a:r>
              <a:rPr kumimoji="0" lang="de-AT" sz="1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functions</a:t>
            </a:r>
            <a:r>
              <a:rPr kumimoji="0" lang="de-AT" sz="1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kumimoji="0" lang="de-AT" sz="1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kumimoji="0" lang="de-AT" sz="1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product</a:t>
            </a:r>
            <a:r>
              <a:rPr kumimoji="0" lang="de-AT" sz="1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kumimoji="0" lang="de-AT" sz="1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growth</a:t>
            </a:r>
            <a:r>
              <a:rPr kumimoji="0" lang="de-AT" sz="1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kumimoji="0" lang="de-AT" sz="1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individual </a:t>
            </a:r>
            <a:r>
              <a:rPr kumimoji="0" lang="de-AT" sz="1800" b="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functions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" name="Google Shape;87;p2">
            <a:extLst>
              <a:ext uri="{FF2B5EF4-FFF2-40B4-BE49-F238E27FC236}">
                <a16:creationId xmlns:a16="http://schemas.microsoft.com/office/drawing/2014/main" id="{83669815-10E4-481D-8F18-493EB0259CC3}"/>
              </a:ext>
            </a:extLst>
          </p:cNvPr>
          <p:cNvSpPr txBox="1">
            <a:spLocks/>
          </p:cNvSpPr>
          <p:nvPr/>
        </p:nvSpPr>
        <p:spPr>
          <a:xfrm>
            <a:off x="457200" y="2327400"/>
            <a:ext cx="8229600" cy="1164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Remark 8: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If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your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main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program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calls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another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function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, e.g.,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from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a loop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time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complexity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will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be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complexity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main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program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(i.e.,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loop)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times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complexity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subprocedure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D4B5F7EE-B403-4671-A5C4-FC18C1131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</p:spPr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Big-O of the sum of two functions</a:t>
            </a:r>
          </a:p>
        </p:txBody>
      </p:sp>
    </p:spTree>
    <p:extLst>
      <p:ext uri="{BB962C8B-B14F-4D97-AF65-F5344CB8AC3E}">
        <p14:creationId xmlns:p14="http://schemas.microsoft.com/office/powerpoint/2010/main" val="3046892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Exercise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93176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Student task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/>
              <p:nvPr/>
            </p:nvSpPr>
            <p:spPr>
              <a:xfrm>
                <a:off x="461938" y="1605600"/>
                <a:ext cx="8229600" cy="95898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de-DE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Task 4: </a:t>
                </a:r>
                <a:r>
                  <a:rPr kumimoji="0" lang="de-AT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Give</a:t>
                </a:r>
                <a:r>
                  <a:rPr kumimoji="0" lang="de-AT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a Big-O </a:t>
                </a:r>
                <a:r>
                  <a:rPr kumimoji="0" lang="de-AT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estimate</a:t>
                </a:r>
                <a:r>
                  <a:rPr kumimoji="0" lang="de-AT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AT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for</a:t>
                </a:r>
                <a:r>
                  <a:rPr kumimoji="0" lang="de-AT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AT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the</a:t>
                </a:r>
                <a:r>
                  <a:rPr kumimoji="0" lang="de-AT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AT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following</a:t>
                </a:r>
                <a:r>
                  <a:rPr kumimoji="0" lang="de-AT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AT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functions</a:t>
                </a:r>
                <a:r>
                  <a:rPr kumimoji="0" lang="de-AT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</a:t>
                </a:r>
                <a:endParaRPr kumimoji="0" lang="de-AT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+mj-lt"/>
                  <a:buAutoNum type="alphaLcPeriod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de-AT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𝑛</m:t>
                    </m:r>
                    <m:func>
                      <m:funcPr>
                        <m:ctrlP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0" lang="de-AT" sz="1800" b="0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kumimoji="0" lang="de-AT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0" lang="de-AT" sz="18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sSupPr>
                              <m:e>
                                <m:r>
                                  <a:rPr kumimoji="0" lang="de-AT" sz="18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kumimoji="0" lang="de-AT" sz="18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kumimoji="0" lang="de-AT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  <m:t>+1</m:t>
                            </m:r>
                          </m:e>
                        </m:d>
                        <m: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+ </m:t>
                        </m:r>
                        <m:sSup>
                          <m:sSupPr>
                            <m:ctrlPr>
                              <a:rPr kumimoji="0" lang="de-AT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kumimoji="0" lang="de-AT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  <m:t>𝑛</m:t>
                            </m:r>
                          </m:e>
                          <m:sup>
                            <m:r>
                              <a:rPr kumimoji="0" lang="de-AT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p>
                        </m:sSup>
                      </m:e>
                    </m:func>
                    <m:func>
                      <m:funcPr>
                        <m:ctrlP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0" lang="de-AT" sz="1800" b="0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log</m:t>
                        </m:r>
                      </m:fName>
                      <m:e>
                        <m: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𝑛</m:t>
                        </m:r>
                      </m:e>
                    </m:func>
                  </m:oMath>
                </a14:m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342900" lvl="0" indent="-342900">
                  <a:buFont typeface="+mj-lt"/>
                  <a:buAutoNum type="alphaLcPeriod"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de-AT" sz="18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(</m:t>
                        </m:r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  <m:func>
                          <m:funcPr>
                            <m:ctrlPr>
                              <a:rPr lang="de-AT" sz="18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de-AT" sz="18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de-AT" sz="18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𝑛</m:t>
                            </m:r>
                            <m:r>
                              <a:rPr lang="de-AT" sz="18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+1)</m:t>
                            </m:r>
                          </m:e>
                        </m:func>
                      </m:e>
                      <m:sup>
                        <m:r>
                          <a:rPr kumimoji="0" lang="de-AT" sz="18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p>
                    </m:sSup>
                    <m:r>
                      <a:rPr kumimoji="0" lang="de-AT" sz="1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d>
                      <m:dPr>
                        <m:ctrlPr>
                          <a:rPr kumimoji="0" lang="de-AT" sz="18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kumimoji="0" lang="de-AT" sz="1800" b="0" i="1" u="none" strike="noStrike" kern="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0" lang="de-AT" sz="1800" b="0" i="0" u="none" strike="noStrike" kern="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  <m:t>log</m:t>
                            </m:r>
                          </m:fName>
                          <m:e>
                            <m:r>
                              <a:rPr kumimoji="0" lang="de-AT" sz="1800" b="0" i="1" u="none" strike="noStrike" kern="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Arial"/>
                              </a:rPr>
                              <m:t>𝑛</m:t>
                            </m:r>
                          </m:e>
                        </m:func>
                        <m:r>
                          <a:rPr kumimoji="0" lang="de-AT" sz="18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+1</m:t>
                        </m:r>
                      </m:e>
                    </m:d>
                    <m:r>
                      <a:rPr kumimoji="0" lang="de-AT" sz="1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p>
                      <m:sSupPr>
                        <m:ctrlPr>
                          <a:rPr kumimoji="0" lang="de-AT" sz="18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kumimoji="0" lang="de-AT" sz="18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𝑛</m:t>
                        </m:r>
                      </m:e>
                      <m:sup>
                        <m:r>
                          <a:rPr kumimoji="0" lang="de-AT" sz="18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p>
                    </m:sSup>
                    <m:r>
                      <a:rPr kumimoji="0" lang="de-AT" sz="1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+1)</m:t>
                    </m:r>
                  </m:oMath>
                </a14:m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4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938" y="1605600"/>
                <a:ext cx="8229600" cy="958980"/>
              </a:xfrm>
              <a:prstGeom prst="rect">
                <a:avLst/>
              </a:prstGeom>
              <a:blipFill>
                <a:blip r:embed="rId3"/>
                <a:stretch>
                  <a:fillRect l="-667" t="-3165" b="-6962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27808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Tractable vs. intractable complexity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52094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Tractable vs. intractable complexity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90734"/>
            <a:ext cx="8229300" cy="335806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problem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solvable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a polynomial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worst-case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AT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tractable</a:t>
            </a:r>
            <a:r>
              <a:rPr lang="de-AT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problem</a:t>
            </a:r>
            <a:endParaRPr lang="de-AT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Searching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sorting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etc.</a:t>
            </a:r>
          </a:p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However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time</a:t>
            </a: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Exponential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complexity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Factorial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complexity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called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intractable</a:t>
            </a:r>
            <a:endParaRPr lang="de-AT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not solvable in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practice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large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size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solvable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smaller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sizes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practice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harder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not solvable at all</a:t>
            </a: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Neither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practice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theory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will not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discuss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them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any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further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2823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Exponential complexity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890734"/>
                <a:ext cx="8229300" cy="3358066"/>
              </a:xfrm>
            </p:spPr>
            <p:txBody>
              <a:bodyPr/>
              <a:lstStyle/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Exponential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complexity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d>
                      <m:dPr>
                        <m:ctrlP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de-AT" sz="18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de-AT" sz="18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de-AT" sz="18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some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constant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𝑐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857250" lvl="1" indent="-285750"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Typically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𝑐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=2</m:t>
                    </m:r>
                  </m:oMath>
                </a14:m>
                <a:endParaRPr lang="de-AT" sz="1800" b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Complexity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grows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𝑐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power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input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size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This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much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faster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then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polynomial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growth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example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computing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power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all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subsets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d>
                      <m:dPr>
                        <m:ctrlP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de-AT" sz="18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de-AT" sz="18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e>
                          <m:sup>
                            <m:r>
                              <a:rPr lang="de-AT" sz="18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every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element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decide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whether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include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in a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subset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or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not:</a:t>
                </a:r>
              </a:p>
              <a:p>
                <a:pPr marL="857250" lvl="1" indent="-285750"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Hence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can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encode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every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subset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binary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string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0s and 1s</a:t>
                </a:r>
              </a:p>
              <a:p>
                <a:pPr marL="857250" lvl="1" indent="-285750"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length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string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number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elements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in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e.g.,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</m:oMath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57250" lvl="1" indent="-285750"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How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many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binary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numbers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can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represent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with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bits</a:t>
                </a:r>
              </a:p>
              <a:p>
                <a:pPr marL="857250" lvl="1" indent="-285750"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e>
                      <m:sup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</m:sup>
                    </m:sSup>
                  </m:oMath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890734"/>
                <a:ext cx="8229300" cy="3358066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5478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Factorial complexity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890734"/>
                <a:ext cx="8229300" cy="2256466"/>
              </a:xfrm>
            </p:spPr>
            <p:txBody>
              <a:bodyPr/>
              <a:lstStyle/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Factorial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complexity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d>
                      <m:dPr>
                        <m:ctrlP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!</m:t>
                        </m:r>
                      </m:e>
                    </m:d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Complexity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grows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product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all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numbers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up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</m:oMath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This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even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faster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than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exponential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complexity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sequence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elements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want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compute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all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permutations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 marL="857250" lvl="1" indent="-285750"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There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are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!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permutations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possible</a:t>
                </a:r>
              </a:p>
              <a:p>
                <a:pPr marL="857250" lvl="1" indent="-285750"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Hence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an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algorithm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computing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all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permutations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has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factorial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complexity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890734"/>
                <a:ext cx="8229300" cy="2256466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11752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Exercise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1152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Student task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/>
              <p:nvPr/>
            </p:nvSpPr>
            <p:spPr>
              <a:xfrm>
                <a:off x="461938" y="1605600"/>
                <a:ext cx="8229600" cy="646331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tabLst/>
                  <a:defRPr/>
                </a:pPr>
                <a:r>
                  <a:rPr lang="en-US" sz="18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Task 5. </a:t>
                </a: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Give Big-O estimates for the factorial function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𝑓</m:t>
                    </m:r>
                    <m:d>
                      <m:dPr>
                        <m:ctrlP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</m:e>
                    </m:d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!</m:t>
                    </m:r>
                  </m:oMath>
                </a14:m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r>
                  <a:rPr kumimoji="0" lang="en-US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nd</a:t>
                </a:r>
                <a:r>
                  <a:rPr kumimoji="0" lang="en-US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the logarithm of the factorial function.</a:t>
                </a:r>
                <a:endPara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4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938" y="1605600"/>
                <a:ext cx="8229600" cy="646331"/>
              </a:xfrm>
              <a:prstGeom prst="rect">
                <a:avLst/>
              </a:prstGeom>
              <a:blipFill>
                <a:blip r:embed="rId3"/>
                <a:stretch>
                  <a:fillRect l="-667" t="-4717" b="-14151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15453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Complexity table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83960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Complexity 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elle 5">
                <a:extLst>
                  <a:ext uri="{FF2B5EF4-FFF2-40B4-BE49-F238E27FC236}">
                    <a16:creationId xmlns:a16="http://schemas.microsoft.com/office/drawing/2014/main" id="{BB7FF6EF-8524-4DBA-A1C4-912A7830AB8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864905389"/>
                  </p:ext>
                </p:extLst>
              </p:nvPr>
            </p:nvGraphicFramePr>
            <p:xfrm>
              <a:off x="2044600" y="1952878"/>
              <a:ext cx="5159930" cy="2711568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41156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74836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80042">
                    <a:tc>
                      <a:txBody>
                        <a:bodyPr/>
                        <a:lstStyle/>
                        <a:p>
                          <a:r>
                            <a:rPr lang="en-US" sz="1800" b="1" strike="noStrike" spc="-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Complexity</a:t>
                          </a:r>
                        </a:p>
                      </a:txBody>
                      <a:tcPr marL="63607" marR="63607" marT="32313" marB="323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strike="noStrike" spc="-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Description</a:t>
                          </a:r>
                        </a:p>
                      </a:txBody>
                      <a:tcPr marL="63607" marR="63607" marT="32313" marB="32313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8004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𝑂</m:t>
                                </m:r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strike="noStrike" spc="-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Constant complexity</a:t>
                          </a:r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8004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𝑂</m:t>
                                </m:r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de-AT" sz="1800" b="0" i="1" strike="noStrike" spc="-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de-AT" sz="1800" b="0" i="0" strike="noStrike" spc="-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de-AT" sz="1800" b="0" i="1" strike="noStrike" spc="-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strike="noStrike" spc="-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Logarithmic complexity</a:t>
                          </a:r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8004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𝑂</m:t>
                                </m:r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(</m:t>
                                </m:r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𝑛</m:t>
                                </m:r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strike="noStrike" spc="-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Linear complexity</a:t>
                          </a:r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8004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de-AT" sz="1800" b="0" i="1" strike="noStrike" spc="-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de-AT" sz="1800" b="0" i="1" strike="noStrike" spc="-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𝑛</m:t>
                                    </m:r>
                                    <m:func>
                                      <m:funcPr>
                                        <m:ctrlPr>
                                          <a:rPr lang="de-AT" sz="1800" b="0" i="1" strike="noStrike" spc="-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de-AT" sz="1800" b="0" i="0" strike="noStrike" spc="-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de-AT" sz="1800" b="0" i="1" strike="noStrike" spc="-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𝑛</m:t>
                                        </m:r>
                                      </m:e>
                                    </m:func>
                                  </m:e>
                                </m:d>
                              </m:oMath>
                            </m:oMathPara>
                          </a14:m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Log-linear (n-</a:t>
                          </a:r>
                          <a:r>
                            <a:rPr lang="en-US" sz="1800" b="0" strike="noStrike" spc="-1" dirty="0" err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logn</a:t>
                          </a:r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 complexity</a:t>
                          </a: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1789822921"/>
                      </a:ext>
                    </a:extLst>
                  </a:tr>
                  <a:tr h="28004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b="0" i="1" strike="noStrike" spc="-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AT" sz="1800" b="0" i="1" strike="noStrike" spc="-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𝑂</m:t>
                                    </m:r>
                                    <m:r>
                                      <a:rPr lang="de-AT" sz="1800" b="0" i="1" strike="noStrike" spc="-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(</m:t>
                                    </m:r>
                                    <m:r>
                                      <a:rPr lang="de-AT" sz="1800" b="0" i="1" strike="noStrike" spc="-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de-AT" sz="1800" b="0" i="1" strike="noStrike" spc="-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sup>
                                </m:sSup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Polynomial complexity</a:t>
                          </a: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3644088934"/>
                      </a:ext>
                    </a:extLst>
                  </a:tr>
                  <a:tr h="28004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0" i="1" strike="noStrike" spc="-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strike="noStrike" spc="-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𝑂</m:t>
                                  </m:r>
                                  <m:r>
                                    <a:rPr lang="de-AT" sz="1800" b="0" i="1" strike="noStrike" spc="-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(</m:t>
                                  </m:r>
                                  <m:r>
                                    <a:rPr lang="de-AT" sz="1800" b="0" i="1" strike="noStrike" spc="-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de-AT" sz="1800" b="0" i="1" strike="noStrike" spc="-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de-AT" sz="1800" b="0" i="1" strike="noStrike" spc="-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de-AT" sz="1800" b="0" i="1" strike="noStrike" spc="-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𝑐</m:t>
                              </m:r>
                              <m:r>
                                <a:rPr lang="de-AT" sz="1800" b="0" i="1" strike="noStrike" spc="-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&gt;1</m:t>
                              </m:r>
                            </m:oMath>
                          </a14:m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Exponential complexity</a:t>
                          </a: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1427484794"/>
                      </a:ext>
                    </a:extLst>
                  </a:tr>
                  <a:tr h="28004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𝑂</m:t>
                                </m:r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(</m:t>
                                </m:r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𝑛</m:t>
                                </m:r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!)</m:t>
                                </m:r>
                              </m:oMath>
                            </m:oMathPara>
                          </a14:m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Factorial complexity</a:t>
                          </a: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32492494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elle 5">
                <a:extLst>
                  <a:ext uri="{FF2B5EF4-FFF2-40B4-BE49-F238E27FC236}">
                    <a16:creationId xmlns:a16="http://schemas.microsoft.com/office/drawing/2014/main" id="{BB7FF6EF-8524-4DBA-A1C4-912A7830AB8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864905389"/>
                  </p:ext>
                </p:extLst>
              </p:nvPr>
            </p:nvGraphicFramePr>
            <p:xfrm>
              <a:off x="2044600" y="1952878"/>
              <a:ext cx="5159930" cy="2711568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41156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74836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38946">
                    <a:tc>
                      <a:txBody>
                        <a:bodyPr/>
                        <a:lstStyle/>
                        <a:p>
                          <a:r>
                            <a:rPr lang="en-US" sz="1800" b="1" strike="noStrike" spc="-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Complexity</a:t>
                          </a:r>
                        </a:p>
                      </a:txBody>
                      <a:tcPr marL="63607" marR="63607" marT="32313" marB="323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strike="noStrike" spc="-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Description</a:t>
                          </a:r>
                        </a:p>
                      </a:txBody>
                      <a:tcPr marL="63607" marR="63607" marT="32313" marB="32313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38946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431" t="-112500" r="-267241" b="-626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strike="noStrike" spc="-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Constant complexity</a:t>
                          </a:r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38946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431" t="-216364" r="-267241" b="-53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strike="noStrike" spc="-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Logarithmic complexity</a:t>
                          </a:r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38946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431" t="-310714" r="-267241" b="-4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strike="noStrike" spc="-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Linear complexity</a:t>
                          </a:r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38946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431" t="-410714" r="-267241" b="-3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Log-linear (n-</a:t>
                          </a:r>
                          <a:r>
                            <a:rPr lang="en-US" sz="1800" b="0" strike="noStrike" spc="-1" dirty="0" err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logn</a:t>
                          </a:r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 complexity</a:t>
                          </a: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1789822921"/>
                      </a:ext>
                    </a:extLst>
                  </a:tr>
                  <a:tr h="338946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431" t="-510714" r="-267241" b="-2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Polynomial complexity</a:t>
                          </a: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3644088934"/>
                      </a:ext>
                    </a:extLst>
                  </a:tr>
                  <a:tr h="338946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431" t="-621818" r="-267241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Exponential complexity</a:t>
                          </a: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1427484794"/>
                      </a:ext>
                    </a:extLst>
                  </a:tr>
                  <a:tr h="338946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431" t="-708929" r="-267241" b="-303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Factorial complexity</a:t>
                          </a: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324924949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platzhalter 2">
            <a:extLst>
              <a:ext uri="{FF2B5EF4-FFF2-40B4-BE49-F238E27FC236}">
                <a16:creationId xmlns:a16="http://schemas.microsoft.com/office/drawing/2014/main" id="{D2B1BD13-A487-46DC-81D1-85282FE88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4600" y="4745001"/>
            <a:ext cx="5152613" cy="453923"/>
          </a:xfrm>
        </p:spPr>
        <p:txBody>
          <a:bodyPr/>
          <a:lstStyle/>
          <a:p>
            <a:pPr marL="114300" indent="0" algn="ctr"/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Complexity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grows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top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bottom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2373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Exercise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35283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Student task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/>
              <p:nvPr/>
            </p:nvSpPr>
            <p:spPr>
              <a:xfrm>
                <a:off x="461938" y="1605599"/>
                <a:ext cx="8229600" cy="1200329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tabLst/>
                  <a:defRPr/>
                </a:pPr>
                <a:r>
                  <a:rPr lang="en-US" sz="1800" b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Task 6.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Suppose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that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can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express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complexity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algorithms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in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number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bit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operations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perform.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Suppose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that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modern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computers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take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10</m:t>
                        </m:r>
                      </m:e>
                      <m:sup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−12</m:t>
                        </m:r>
                      </m:sup>
                    </m:sSup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seconds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one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bit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operation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Fill in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missing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times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in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following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table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If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you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get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times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larger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than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10</m:t>
                        </m:r>
                      </m:e>
                      <m:sup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100</m:t>
                        </m:r>
                      </m:sup>
                    </m:sSup>
                  </m:oMath>
                </a14:m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en-US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years replace</a:t>
                </a:r>
                <a:r>
                  <a:rPr kumimoji="0" lang="en-US" sz="1800" i="0" u="none" strike="noStrike" kern="0" cap="none" spc="0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it with a *.</a:t>
                </a:r>
                <a:endParaRPr kumimoji="0" lang="en-US" sz="18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4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938" y="1605599"/>
                <a:ext cx="8229600" cy="1200329"/>
              </a:xfrm>
              <a:prstGeom prst="rect">
                <a:avLst/>
              </a:prstGeom>
              <a:blipFill>
                <a:blip r:embed="rId3"/>
                <a:stretch>
                  <a:fillRect l="-667" t="-2538" b="-7107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le 4">
                <a:extLst>
                  <a:ext uri="{FF2B5EF4-FFF2-40B4-BE49-F238E27FC236}">
                    <a16:creationId xmlns:a16="http://schemas.microsoft.com/office/drawing/2014/main" id="{32AA667C-1EE1-499D-B990-92ADEF77BDD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276314271"/>
                  </p:ext>
                </p:extLst>
              </p:nvPr>
            </p:nvGraphicFramePr>
            <p:xfrm>
              <a:off x="915253" y="2933646"/>
              <a:ext cx="7036139" cy="2711568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41156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8970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97850">
                      <a:extLst>
                        <a:ext uri="{9D8B030D-6E8A-4147-A177-3AD203B41FA5}">
                          <a16:colId xmlns:a16="http://schemas.microsoft.com/office/drawing/2014/main" val="430841217"/>
                        </a:ext>
                      </a:extLst>
                    </a:gridCol>
                    <a:gridCol w="1289709">
                      <a:extLst>
                        <a:ext uri="{9D8B030D-6E8A-4147-A177-3AD203B41FA5}">
                          <a16:colId xmlns:a16="http://schemas.microsoft.com/office/drawing/2014/main" val="3914872805"/>
                        </a:ext>
                      </a:extLst>
                    </a:gridCol>
                    <a:gridCol w="897850">
                      <a:extLst>
                        <a:ext uri="{9D8B030D-6E8A-4147-A177-3AD203B41FA5}">
                          <a16:colId xmlns:a16="http://schemas.microsoft.com/office/drawing/2014/main" val="656155859"/>
                        </a:ext>
                      </a:extLst>
                    </a:gridCol>
                    <a:gridCol w="624728">
                      <a:extLst>
                        <a:ext uri="{9D8B030D-6E8A-4147-A177-3AD203B41FA5}">
                          <a16:colId xmlns:a16="http://schemas.microsoft.com/office/drawing/2014/main" val="2515435585"/>
                        </a:ext>
                      </a:extLst>
                    </a:gridCol>
                    <a:gridCol w="624728">
                      <a:extLst>
                        <a:ext uri="{9D8B030D-6E8A-4147-A177-3AD203B41FA5}">
                          <a16:colId xmlns:a16="http://schemas.microsoft.com/office/drawing/2014/main" val="1849410334"/>
                        </a:ext>
                      </a:extLst>
                    </a:gridCol>
                  </a:tblGrid>
                  <a:tr h="169473">
                    <a:tc>
                      <a:txBody>
                        <a:bodyPr/>
                        <a:lstStyle/>
                        <a:p>
                          <a:r>
                            <a:rPr lang="en-US" sz="1800" b="1" strike="noStrike" spc="-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Problem size</a:t>
                          </a:r>
                        </a:p>
                      </a:txBody>
                      <a:tcPr marL="63607" marR="63607" marT="32313" marB="32313" anchor="ctr"/>
                    </a:tc>
                    <a:tc gridSpan="6">
                      <a:txBody>
                        <a:bodyPr/>
                        <a:lstStyle/>
                        <a:p>
                          <a:r>
                            <a:rPr lang="en-US" sz="1800" b="1" strike="noStrike" spc="-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Bit operations used</a:t>
                          </a:r>
                        </a:p>
                      </a:txBody>
                      <a:tcPr marL="63607" marR="63607" marT="32313" marB="32313" anchor="ctr"/>
                    </a:tc>
                    <a:tc hMerge="1">
                      <a:txBody>
                        <a:bodyPr/>
                        <a:lstStyle/>
                        <a:p>
                          <a:endParaRPr lang="de-AT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AT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AT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AT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AT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6947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1800" b="1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de-AT" sz="1800" b="0" i="1" strike="noStrike" spc="-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de-AT" sz="1800" b="0" i="0" strike="noStrike" spc="-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de-AT" sz="1800" b="0" i="1" strike="noStrike" spc="-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𝑛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sz="1800" b="1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1800" b="1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𝑛</m:t>
                                </m:r>
                                <m:func>
                                  <m:funcPr>
                                    <m:ctrlPr>
                                      <a:rPr lang="de-AT" sz="1800" b="0" i="1" strike="noStrike" spc="-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de-AT" sz="1800" b="0" i="0" strike="noStrike" spc="-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de-AT" sz="1800" b="0" i="1" strike="noStrike" spc="-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𝑛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sz="1800" b="1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b="0" i="1" strike="noStrike" spc="-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AT" sz="1800" b="0" i="1" strike="noStrike" spc="-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de-AT" sz="1800" b="0" i="1" strike="noStrike" spc="-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800" b="1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b="0" i="1" strike="noStrike" spc="-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AT" sz="1800" b="0" i="1" strike="noStrike" spc="-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de-AT" sz="1800" b="0" i="1" strike="noStrike" spc="-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𝑛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800" b="1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𝑛</m:t>
                                </m:r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!</m:t>
                                </m:r>
                              </m:oMath>
                            </m:oMathPara>
                          </a14:m>
                          <a:endParaRPr lang="en-US" sz="1800" b="1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 anchor="ctr"/>
                    </a:tc>
                    <a:extLst>
                      <a:ext uri="{0D108BD9-81ED-4DB2-BD59-A6C34878D82A}">
                        <a16:rowId xmlns:a16="http://schemas.microsoft.com/office/drawing/2014/main" val="3275973435"/>
                      </a:ext>
                    </a:extLst>
                  </a:tr>
                  <a:tr h="280042">
                    <a:tc>
                      <a:txBody>
                        <a:bodyPr/>
                        <a:lstStyle/>
                        <a:p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de-AT" sz="1800" b="0" i="1" strike="noStrike" spc="-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3</m:t>
                              </m:r>
                              <m:r>
                                <a:rPr lang="de-AT" sz="1800" b="0" i="1" strike="noStrike" spc="-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de-AT" sz="1800" b="0" i="1" strike="noStrike" spc="-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strike="noStrike" spc="-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de-AT" sz="1800" b="0" i="1" strike="noStrike" spc="-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−12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s</a:t>
                          </a: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0" i="1" strike="noStrike" spc="-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strike="noStrike" spc="-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de-AT" sz="1800" b="0" i="1" strike="noStrike" spc="-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−11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s</a:t>
                          </a: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de-AT" sz="1800" b="0" i="1" strike="noStrike" spc="-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3</m:t>
                              </m:r>
                              <m:r>
                                <a:rPr lang="de-AT" sz="1800" b="0" i="1" strike="noStrike" spc="-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de-AT" sz="1800" b="0" i="1" strike="noStrike" spc="-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strike="noStrike" spc="-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de-AT" sz="1800" b="0" i="1" strike="noStrike" spc="-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−11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s</a:t>
                          </a: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0" i="1" strike="noStrike" spc="-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strike="noStrike" spc="-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de-AT" sz="1800" b="0" i="1" strike="noStrike" spc="-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−10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s</a:t>
                          </a: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80042">
                    <a:tc>
                      <a:txBody>
                        <a:bodyPr/>
                        <a:lstStyle/>
                        <a:p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100</a:t>
                          </a: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de-AT" sz="1800" b="0" i="1" strike="noStrike" spc="-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7</m:t>
                              </m:r>
                              <m:r>
                                <a:rPr lang="de-AT" sz="1800" b="0" i="1" strike="noStrike" spc="-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de-AT" sz="1800" b="0" i="1" strike="noStrike" spc="-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strike="noStrike" spc="-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de-AT" sz="1800" b="0" i="1" strike="noStrike" spc="-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−12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s</a:t>
                          </a: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0" i="1" strike="noStrike" spc="-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strike="noStrike" spc="-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de-AT" sz="1800" b="0" i="1" strike="noStrike" spc="-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−10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s</a:t>
                          </a: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de-AT" sz="1800" b="0" i="1" strike="noStrike" spc="-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7</m:t>
                              </m:r>
                              <m:r>
                                <a:rPr lang="de-AT" sz="1800" b="0" i="1" strike="noStrike" spc="-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de-AT" sz="1800" b="0" i="1" strike="noStrike" spc="-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strike="noStrike" spc="-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de-AT" sz="1800" b="0" i="1" strike="noStrike" spc="-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−10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s</a:t>
                          </a: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8004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1000</a:t>
                          </a: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8004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10000</a:t>
                          </a: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1789822921"/>
                      </a:ext>
                    </a:extLst>
                  </a:tr>
                  <a:tr h="28004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100000</a:t>
                          </a: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3644088934"/>
                      </a:ext>
                    </a:extLst>
                  </a:tr>
                  <a:tr h="28004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1000000</a:t>
                          </a: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1427484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le 4">
                <a:extLst>
                  <a:ext uri="{FF2B5EF4-FFF2-40B4-BE49-F238E27FC236}">
                    <a16:creationId xmlns:a16="http://schemas.microsoft.com/office/drawing/2014/main" id="{32AA667C-1EE1-499D-B990-92ADEF77BDD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276314271"/>
                  </p:ext>
                </p:extLst>
              </p:nvPr>
            </p:nvGraphicFramePr>
            <p:xfrm>
              <a:off x="915253" y="2933646"/>
              <a:ext cx="7036139" cy="2711568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41156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8970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97850">
                      <a:extLst>
                        <a:ext uri="{9D8B030D-6E8A-4147-A177-3AD203B41FA5}">
                          <a16:colId xmlns:a16="http://schemas.microsoft.com/office/drawing/2014/main" val="430841217"/>
                        </a:ext>
                      </a:extLst>
                    </a:gridCol>
                    <a:gridCol w="1289709">
                      <a:extLst>
                        <a:ext uri="{9D8B030D-6E8A-4147-A177-3AD203B41FA5}">
                          <a16:colId xmlns:a16="http://schemas.microsoft.com/office/drawing/2014/main" val="3914872805"/>
                        </a:ext>
                      </a:extLst>
                    </a:gridCol>
                    <a:gridCol w="897850">
                      <a:extLst>
                        <a:ext uri="{9D8B030D-6E8A-4147-A177-3AD203B41FA5}">
                          <a16:colId xmlns:a16="http://schemas.microsoft.com/office/drawing/2014/main" val="656155859"/>
                        </a:ext>
                      </a:extLst>
                    </a:gridCol>
                    <a:gridCol w="624728">
                      <a:extLst>
                        <a:ext uri="{9D8B030D-6E8A-4147-A177-3AD203B41FA5}">
                          <a16:colId xmlns:a16="http://schemas.microsoft.com/office/drawing/2014/main" val="2515435585"/>
                        </a:ext>
                      </a:extLst>
                    </a:gridCol>
                    <a:gridCol w="624728">
                      <a:extLst>
                        <a:ext uri="{9D8B030D-6E8A-4147-A177-3AD203B41FA5}">
                          <a16:colId xmlns:a16="http://schemas.microsoft.com/office/drawing/2014/main" val="1849410334"/>
                        </a:ext>
                      </a:extLst>
                    </a:gridCol>
                  </a:tblGrid>
                  <a:tr h="338946">
                    <a:tc>
                      <a:txBody>
                        <a:bodyPr/>
                        <a:lstStyle/>
                        <a:p>
                          <a:r>
                            <a:rPr lang="en-US" sz="1800" b="1" strike="noStrike" spc="-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Problem size</a:t>
                          </a:r>
                        </a:p>
                      </a:txBody>
                      <a:tcPr marL="63607" marR="63607" marT="32313" marB="32313" anchor="ctr"/>
                    </a:tc>
                    <a:tc gridSpan="6">
                      <a:txBody>
                        <a:bodyPr/>
                        <a:lstStyle/>
                        <a:p>
                          <a:r>
                            <a:rPr lang="en-US" sz="1800" b="1" strike="noStrike" spc="-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Bit operations used</a:t>
                          </a:r>
                        </a:p>
                      </a:txBody>
                      <a:tcPr marL="63607" marR="63607" marT="32313" marB="32313" anchor="ctr"/>
                    </a:tc>
                    <a:tc hMerge="1">
                      <a:txBody>
                        <a:bodyPr/>
                        <a:lstStyle/>
                        <a:p>
                          <a:endParaRPr lang="de-AT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AT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AT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AT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AT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38946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3607" marR="63607" marT="32313" marB="32313" anchor="ctr">
                        <a:blipFill>
                          <a:blip r:embed="rId4"/>
                          <a:stretch>
                            <a:fillRect l="-431" t="-112500" r="-399569" b="-626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3607" marR="63607" marT="32313" marB="32313" anchor="ctr">
                        <a:blipFill>
                          <a:blip r:embed="rId4"/>
                          <a:stretch>
                            <a:fillRect l="-110427" t="-112500" r="-339336" b="-626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3607" marR="63607" marT="32313" marB="32313" anchor="ctr">
                        <a:blipFill>
                          <a:blip r:embed="rId4"/>
                          <a:stretch>
                            <a:fillRect l="-300000" t="-112500" r="-383784" b="-626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3607" marR="63607" marT="32313" marB="32313" anchor="ctr">
                        <a:blipFill>
                          <a:blip r:embed="rId4"/>
                          <a:stretch>
                            <a:fillRect l="-279245" t="-112500" r="-167925" b="-626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3607" marR="63607" marT="32313" marB="32313" anchor="ctr">
                        <a:blipFill>
                          <a:blip r:embed="rId4"/>
                          <a:stretch>
                            <a:fillRect l="-546939" t="-112500" r="-142177" b="-626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3607" marR="63607" marT="32313" marB="32313" anchor="ctr">
                        <a:blipFill>
                          <a:blip r:embed="rId4"/>
                          <a:stretch>
                            <a:fillRect l="-932353" t="-112500" r="-104902" b="-626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3607" marR="63607" marT="32313" marB="32313" anchor="ctr">
                        <a:blipFill>
                          <a:blip r:embed="rId4"/>
                          <a:stretch>
                            <a:fillRect l="-1022330" t="-112500" r="-3883" b="-6267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5973435"/>
                      </a:ext>
                    </a:extLst>
                  </a:tr>
                  <a:tr h="338946">
                    <a:tc>
                      <a:txBody>
                        <a:bodyPr/>
                        <a:lstStyle/>
                        <a:p>
                          <a:pPr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3607" marR="63607" marT="32313" marB="32313">
                        <a:blipFill>
                          <a:blip r:embed="rId4"/>
                          <a:stretch>
                            <a:fillRect l="-110427" t="-216364" r="-339336" b="-53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3607" marR="63607" marT="32313" marB="32313">
                        <a:blipFill>
                          <a:blip r:embed="rId4"/>
                          <a:stretch>
                            <a:fillRect l="-300000" t="-216364" r="-383784" b="-53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3607" marR="63607" marT="32313" marB="32313">
                        <a:blipFill>
                          <a:blip r:embed="rId4"/>
                          <a:stretch>
                            <a:fillRect l="-279245" t="-216364" r="-167925" b="-53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3607" marR="63607" marT="32313" marB="32313">
                        <a:blipFill>
                          <a:blip r:embed="rId4"/>
                          <a:stretch>
                            <a:fillRect l="-546939" t="-216364" r="-142177" b="-53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38946">
                    <a:tc>
                      <a:txBody>
                        <a:bodyPr/>
                        <a:lstStyle/>
                        <a:p>
                          <a:pPr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100</a:t>
                          </a: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3607" marR="63607" marT="32313" marB="32313">
                        <a:blipFill>
                          <a:blip r:embed="rId4"/>
                          <a:stretch>
                            <a:fillRect l="-110427" t="-310714" r="-339336" b="-4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3607" marR="63607" marT="32313" marB="32313">
                        <a:blipFill>
                          <a:blip r:embed="rId4"/>
                          <a:stretch>
                            <a:fillRect l="-300000" t="-310714" r="-383784" b="-4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3607" marR="63607" marT="32313" marB="32313">
                        <a:blipFill>
                          <a:blip r:embed="rId4"/>
                          <a:stretch>
                            <a:fillRect l="-279245" t="-310714" r="-167925" b="-4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3894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1000</a:t>
                          </a: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3894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10000</a:t>
                          </a: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1789822921"/>
                      </a:ext>
                    </a:extLst>
                  </a:tr>
                  <a:tr h="33894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100000</a:t>
                          </a: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3644088934"/>
                      </a:ext>
                    </a:extLst>
                  </a:tr>
                  <a:tr h="33894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1000000</a:t>
                          </a: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1427484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98680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2525</Words>
  <Application>Microsoft Macintosh PowerPoint</Application>
  <PresentationFormat>On-screen Show (4:3)</PresentationFormat>
  <Paragraphs>243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Wingdings</vt:lpstr>
      <vt:lpstr>Arial</vt:lpstr>
      <vt:lpstr>Calibri</vt:lpstr>
      <vt:lpstr>Cambria Math</vt:lpstr>
      <vt:lpstr>Blackadder ITC</vt:lpstr>
      <vt:lpstr>Office Theme</vt:lpstr>
      <vt:lpstr>1_Office Theme</vt:lpstr>
      <vt:lpstr>Fundamentals of Computer Science and Programming </vt:lpstr>
      <vt:lpstr>Outline</vt:lpstr>
      <vt:lpstr>Growth of functions</vt:lpstr>
      <vt:lpstr>Big-O notation</vt:lpstr>
      <vt:lpstr>Big-O notation</vt:lpstr>
      <vt:lpstr>Big-O notation</vt:lpstr>
      <vt:lpstr>Big-O notation</vt:lpstr>
      <vt:lpstr>Big-O notation</vt:lpstr>
      <vt:lpstr>Big-O notation</vt:lpstr>
      <vt:lpstr>Big-O notation</vt:lpstr>
      <vt:lpstr>Exercise</vt:lpstr>
      <vt:lpstr>Student task</vt:lpstr>
      <vt:lpstr>Big-O for polynomials</vt:lpstr>
      <vt:lpstr>Big-O of polynomials</vt:lpstr>
      <vt:lpstr>Big-O of polynomials</vt:lpstr>
      <vt:lpstr>Big-O notation</vt:lpstr>
      <vt:lpstr>Big-O notation</vt:lpstr>
      <vt:lpstr>Big-O notation</vt:lpstr>
      <vt:lpstr>Exercise</vt:lpstr>
      <vt:lpstr>Student task</vt:lpstr>
      <vt:lpstr>Growth of function combinations</vt:lpstr>
      <vt:lpstr>Big-O for function combinations</vt:lpstr>
      <vt:lpstr>Big-O of the sum of two functions</vt:lpstr>
      <vt:lpstr>Big-O of the sum of two functions</vt:lpstr>
      <vt:lpstr>Big-O of the product of two functions</vt:lpstr>
      <vt:lpstr>Big-O of the sum of two functions</vt:lpstr>
      <vt:lpstr>Exercise</vt:lpstr>
      <vt:lpstr>Student task</vt:lpstr>
      <vt:lpstr>Tractable vs. intractable complexity</vt:lpstr>
      <vt:lpstr>Tractable vs. intractable complexity</vt:lpstr>
      <vt:lpstr>Exponential complexity</vt:lpstr>
      <vt:lpstr>Factorial complexity</vt:lpstr>
      <vt:lpstr>Exercise</vt:lpstr>
      <vt:lpstr>Student task</vt:lpstr>
      <vt:lpstr>Complexity table</vt:lpstr>
      <vt:lpstr>Complexity table</vt:lpstr>
      <vt:lpstr>Exercise</vt:lpstr>
      <vt:lpstr>Student 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 Basics of Computer Programming</dc:title>
  <dc:creator>Lyndon Nixon</dc:creator>
  <cp:lastModifiedBy>Ingo Frommholz</cp:lastModifiedBy>
  <cp:revision>1179</cp:revision>
  <dcterms:modified xsi:type="dcterms:W3CDTF">2025-12-11T00:27:22Z</dcterms:modified>
</cp:coreProperties>
</file>